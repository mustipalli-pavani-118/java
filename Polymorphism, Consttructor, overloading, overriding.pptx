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6"/>
  </p:notesMasterIdLst>
  <p:sldIdLst>
    <p:sldId id="256" r:id="rId5"/>
    <p:sldId id="288" r:id="rId6"/>
    <p:sldId id="434" r:id="rId7"/>
    <p:sldId id="433" r:id="rId8"/>
    <p:sldId id="439" r:id="rId9"/>
    <p:sldId id="435" r:id="rId10"/>
    <p:sldId id="436" r:id="rId11"/>
    <p:sldId id="437" r:id="rId12"/>
    <p:sldId id="438" r:id="rId13"/>
    <p:sldId id="263" r:id="rId14"/>
    <p:sldId id="264" r:id="rId15"/>
    <p:sldId id="265" r:id="rId16"/>
    <p:sldId id="266" r:id="rId17"/>
    <p:sldId id="267" r:id="rId18"/>
    <p:sldId id="268" r:id="rId19"/>
    <p:sldId id="269" r:id="rId20"/>
    <p:sldId id="270" r:id="rId21"/>
    <p:sldId id="271" r:id="rId22"/>
    <p:sldId id="272" r:id="rId23"/>
    <p:sldId id="451" r:id="rId24"/>
    <p:sldId id="452" r:id="rId25"/>
    <p:sldId id="474" r:id="rId26"/>
    <p:sldId id="475" r:id="rId27"/>
    <p:sldId id="453" r:id="rId28"/>
    <p:sldId id="440" r:id="rId29"/>
    <p:sldId id="443" r:id="rId30"/>
    <p:sldId id="444" r:id="rId31"/>
    <p:sldId id="442" r:id="rId32"/>
    <p:sldId id="445" r:id="rId33"/>
    <p:sldId id="477" r:id="rId34"/>
    <p:sldId id="284" r:id="rId35"/>
    <p:sldId id="478" r:id="rId36"/>
    <p:sldId id="285" r:id="rId37"/>
    <p:sldId id="286" r:id="rId38"/>
    <p:sldId id="287" r:id="rId39"/>
    <p:sldId id="454" r:id="rId40"/>
    <p:sldId id="289" r:id="rId41"/>
    <p:sldId id="479" r:id="rId42"/>
    <p:sldId id="290" r:id="rId43"/>
    <p:sldId id="291" r:id="rId44"/>
    <p:sldId id="292" r:id="rId45"/>
    <p:sldId id="293" r:id="rId46"/>
    <p:sldId id="294" r:id="rId47"/>
    <p:sldId id="295" r:id="rId48"/>
    <p:sldId id="296" r:id="rId49"/>
    <p:sldId id="441" r:id="rId50"/>
    <p:sldId id="447" r:id="rId51"/>
    <p:sldId id="448" r:id="rId52"/>
    <p:sldId id="446" r:id="rId53"/>
    <p:sldId id="476" r:id="rId54"/>
    <p:sldId id="449" r:id="rId55"/>
    <p:sldId id="455" r:id="rId56"/>
    <p:sldId id="456" r:id="rId57"/>
    <p:sldId id="457" r:id="rId58"/>
    <p:sldId id="458" r:id="rId59"/>
    <p:sldId id="464" r:id="rId60"/>
    <p:sldId id="465" r:id="rId61"/>
    <p:sldId id="466" r:id="rId62"/>
    <p:sldId id="467" r:id="rId63"/>
    <p:sldId id="468" r:id="rId64"/>
    <p:sldId id="459" r:id="rId65"/>
    <p:sldId id="460" r:id="rId66"/>
    <p:sldId id="461" r:id="rId67"/>
    <p:sldId id="462" r:id="rId68"/>
    <p:sldId id="463" r:id="rId69"/>
    <p:sldId id="469" r:id="rId70"/>
    <p:sldId id="470" r:id="rId71"/>
    <p:sldId id="471" r:id="rId72"/>
    <p:sldId id="472" r:id="rId73"/>
    <p:sldId id="473" r:id="rId74"/>
    <p:sldId id="306"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eedevi - A. G [CSE]" initials="S-AG[" lastIdx="1" clrIdx="0">
    <p:extLst>
      <p:ext uri="{19B8F6BF-5375-455C-9EA6-DF929625EA0E}">
        <p15:presenceInfo xmlns:p15="http://schemas.microsoft.com/office/powerpoint/2012/main" userId="S::ag_sreedevi@ch.amrita.edu::5cf47449-855e-499b-bb03-097a232ec3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2EFC44"/>
    <a:srgbClr val="F93548"/>
    <a:srgbClr val="FF8837"/>
    <a:srgbClr val="FFFF87"/>
    <a:srgbClr val="FFA365"/>
    <a:srgbClr val="FFCCFF"/>
    <a:srgbClr val="5AA3E6"/>
    <a:srgbClr val="FFCC99"/>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0E4A07-028E-324F-8CE5-622EC5325506}" v="6" dt="2023-09-01T17:06:40.720"/>
    <p1510:client id="{66684DBC-60AF-77FD-B815-AFEB94FABF95}" v="1" dt="2023-11-17T18:14:19.3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nth - [CH.EN.U4CSE21170]" userId="S::ch.en.u4cse21170@ch.students.amrita.edu::2e9ed4ad-aee5-4479-a661-26093f0abd40" providerId="AD" clId="Web-{3D24860C-90C1-49D6-9CB7-4A648DE3941A}"/>
    <pc:docChg chg="modSld">
      <pc:chgData name="Sumanth - [CH.EN.U4CSE21170]" userId="S::ch.en.u4cse21170@ch.students.amrita.edu::2e9ed4ad-aee5-4479-a661-26093f0abd40" providerId="AD" clId="Web-{3D24860C-90C1-49D6-9CB7-4A648DE3941A}" dt="2022-12-27T16:07:45.567" v="0" actId="688"/>
      <pc:docMkLst>
        <pc:docMk/>
      </pc:docMkLst>
      <pc:sldChg chg="modSp">
        <pc:chgData name="Sumanth - [CH.EN.U4CSE21170]" userId="S::ch.en.u4cse21170@ch.students.amrita.edu::2e9ed4ad-aee5-4479-a661-26093f0abd40" providerId="AD" clId="Web-{3D24860C-90C1-49D6-9CB7-4A648DE3941A}" dt="2022-12-27T16:07:45.567" v="0" actId="688"/>
        <pc:sldMkLst>
          <pc:docMk/>
          <pc:sldMk cId="2962058690" sldId="434"/>
        </pc:sldMkLst>
        <pc:spChg chg="mod">
          <ac:chgData name="Sumanth - [CH.EN.U4CSE21170]" userId="S::ch.en.u4cse21170@ch.students.amrita.edu::2e9ed4ad-aee5-4479-a661-26093f0abd40" providerId="AD" clId="Web-{3D24860C-90C1-49D6-9CB7-4A648DE3941A}" dt="2022-12-27T16:07:45.567" v="0" actId="688"/>
          <ac:spMkLst>
            <pc:docMk/>
            <pc:sldMk cId="2962058690" sldId="434"/>
            <ac:spMk id="49" creationId="{5205AFC6-C414-4A4C-B0AC-D59FD45F3C6A}"/>
          </ac:spMkLst>
        </pc:spChg>
      </pc:sldChg>
    </pc:docChg>
  </pc:docChgLst>
  <pc:docChgLst>
    <pc:chgData name="RAMYA R - [CH.EN.U4CSE21153]" userId="S::ch.en.u4cse21153@ch.students.amrita.edu::a1505be6-ee43-4d0b-8663-0b5598eaa677" providerId="AD" clId="Web-{129F6BF4-AD71-A28B-E35B-98ABDA2762FC}"/>
    <pc:docChg chg="sldOrd">
      <pc:chgData name="RAMYA R - [CH.EN.U4CSE21153]" userId="S::ch.en.u4cse21153@ch.students.amrita.edu::a1505be6-ee43-4d0b-8663-0b5598eaa677" providerId="AD" clId="Web-{129F6BF4-AD71-A28B-E35B-98ABDA2762FC}" dt="2022-11-26T12:24:23.676" v="1"/>
      <pc:docMkLst>
        <pc:docMk/>
      </pc:docMkLst>
      <pc:sldChg chg="ord">
        <pc:chgData name="RAMYA R - [CH.EN.U4CSE21153]" userId="S::ch.en.u4cse21153@ch.students.amrita.edu::a1505be6-ee43-4d0b-8663-0b5598eaa677" providerId="AD" clId="Web-{129F6BF4-AD71-A28B-E35B-98ABDA2762FC}" dt="2022-11-26T12:24:23.676" v="1"/>
        <pc:sldMkLst>
          <pc:docMk/>
          <pc:sldMk cId="3790920986" sldId="440"/>
        </pc:sldMkLst>
      </pc:sldChg>
    </pc:docChg>
  </pc:docChgLst>
  <pc:docChgLst>
    <pc:chgData name="CHINTAKAYALA YASASWINI [CH.EN.U4CSE22165]" userId="cc89c0d5-a6cf-4a24-87b6-cf691f92d272" providerId="ADAL" clId="{3D0E4A07-028E-324F-8CE5-622EC5325506}"/>
    <pc:docChg chg="undo custSel modSld">
      <pc:chgData name="CHINTAKAYALA YASASWINI [CH.EN.U4CSE22165]" userId="cc89c0d5-a6cf-4a24-87b6-cf691f92d272" providerId="ADAL" clId="{3D0E4A07-028E-324F-8CE5-622EC5325506}" dt="2023-09-01T17:06:40.721" v="5" actId="1076"/>
      <pc:docMkLst>
        <pc:docMk/>
      </pc:docMkLst>
      <pc:sldChg chg="modSp">
        <pc:chgData name="CHINTAKAYALA YASASWINI [CH.EN.U4CSE22165]" userId="cc89c0d5-a6cf-4a24-87b6-cf691f92d272" providerId="ADAL" clId="{3D0E4A07-028E-324F-8CE5-622EC5325506}" dt="2023-09-01T17:06:40.721" v="5" actId="1076"/>
        <pc:sldMkLst>
          <pc:docMk/>
          <pc:sldMk cId="2962058690" sldId="434"/>
        </pc:sldMkLst>
        <pc:spChg chg="mod">
          <ac:chgData name="CHINTAKAYALA YASASWINI [CH.EN.U4CSE22165]" userId="cc89c0d5-a6cf-4a24-87b6-cf691f92d272" providerId="ADAL" clId="{3D0E4A07-028E-324F-8CE5-622EC5325506}" dt="2023-09-01T17:06:40.721" v="5" actId="1076"/>
          <ac:spMkLst>
            <pc:docMk/>
            <pc:sldMk cId="2962058690" sldId="434"/>
            <ac:spMk id="49" creationId="{5205AFC6-C414-4A4C-B0AC-D59FD45F3C6A}"/>
          </ac:spMkLst>
        </pc:spChg>
      </pc:sldChg>
    </pc:docChg>
  </pc:docChgLst>
  <pc:docChgLst>
    <pc:chgData name="TARUN R G - [CH.EN.U4CSE21070]" userId="S::ch.en.u4cse21070@ch.students.amrita.edu::4db2bfa2-379f-4f80-a817-27e399362841" providerId="AD" clId="Web-{C5C6182D-7F64-1EAC-DBA1-CF91921C09D3}"/>
    <pc:docChg chg="modSld">
      <pc:chgData name="TARUN R G - [CH.EN.U4CSE21070]" userId="S::ch.en.u4cse21070@ch.students.amrita.edu::4db2bfa2-379f-4f80-a817-27e399362841" providerId="AD" clId="Web-{C5C6182D-7F64-1EAC-DBA1-CF91921C09D3}" dt="2022-11-27T18:07:57.569" v="2" actId="20577"/>
      <pc:docMkLst>
        <pc:docMk/>
      </pc:docMkLst>
      <pc:sldChg chg="modSp">
        <pc:chgData name="TARUN R G - [CH.EN.U4CSE21070]" userId="S::ch.en.u4cse21070@ch.students.amrita.edu::4db2bfa2-379f-4f80-a817-27e399362841" providerId="AD" clId="Web-{C5C6182D-7F64-1EAC-DBA1-CF91921C09D3}" dt="2022-11-27T18:07:57.569" v="2" actId="20577"/>
        <pc:sldMkLst>
          <pc:docMk/>
          <pc:sldMk cId="347477050" sldId="442"/>
        </pc:sldMkLst>
        <pc:spChg chg="mod">
          <ac:chgData name="TARUN R G - [CH.EN.U4CSE21070]" userId="S::ch.en.u4cse21070@ch.students.amrita.edu::4db2bfa2-379f-4f80-a817-27e399362841" providerId="AD" clId="Web-{C5C6182D-7F64-1EAC-DBA1-CF91921C09D3}" dt="2022-11-27T18:07:57.569" v="2" actId="20577"/>
          <ac:spMkLst>
            <pc:docMk/>
            <pc:sldMk cId="347477050" sldId="442"/>
            <ac:spMk id="5" creationId="{A246F8E5-16BF-43C5-A01C-789E8C0610C0}"/>
          </ac:spMkLst>
        </pc:spChg>
      </pc:sldChg>
    </pc:docChg>
  </pc:docChgLst>
  <pc:docChgLst>
    <pc:chgData name="CHINTA VIJAYA PANDU RANGA REDDY - [CH.EN.U4CSE21210]" userId="S::ch.en.u4cse21210@ch.students.amrita.edu::4ac09ad5-7829-4cca-9b81-e4f56e17a209" providerId="AD" clId="Web-{B70EFAFE-D541-160A-2417-36BFAC27615E}"/>
    <pc:docChg chg="modSld">
      <pc:chgData name="CHINTA VIJAYA PANDU RANGA REDDY - [CH.EN.U4CSE21210]" userId="S::ch.en.u4cse21210@ch.students.amrita.edu::4ac09ad5-7829-4cca-9b81-e4f56e17a209" providerId="AD" clId="Web-{B70EFAFE-D541-160A-2417-36BFAC27615E}" dt="2022-11-26T17:00:34.453" v="1"/>
      <pc:docMkLst>
        <pc:docMk/>
      </pc:docMkLst>
      <pc:sldChg chg="modSp">
        <pc:chgData name="CHINTA VIJAYA PANDU RANGA REDDY - [CH.EN.U4CSE21210]" userId="S::ch.en.u4cse21210@ch.students.amrita.edu::4ac09ad5-7829-4cca-9b81-e4f56e17a209" providerId="AD" clId="Web-{B70EFAFE-D541-160A-2417-36BFAC27615E}" dt="2022-11-26T17:00:34.453" v="1"/>
        <pc:sldMkLst>
          <pc:docMk/>
          <pc:sldMk cId="3328230181" sldId="449"/>
        </pc:sldMkLst>
        <pc:graphicFrameChg chg="mod modGraphic">
          <ac:chgData name="CHINTA VIJAYA PANDU RANGA REDDY - [CH.EN.U4CSE21210]" userId="S::ch.en.u4cse21210@ch.students.amrita.edu::4ac09ad5-7829-4cca-9b81-e4f56e17a209" providerId="AD" clId="Web-{B70EFAFE-D541-160A-2417-36BFAC27615E}" dt="2022-11-26T17:00:34.453" v="1"/>
          <ac:graphicFrameMkLst>
            <pc:docMk/>
            <pc:sldMk cId="3328230181" sldId="449"/>
            <ac:graphicFrameMk id="5" creationId="{3E53DC78-45D0-4FFB-981B-751319CE7132}"/>
          </ac:graphicFrameMkLst>
        </pc:graphicFrameChg>
      </pc:sldChg>
    </pc:docChg>
  </pc:docChgLst>
  <pc:docChgLst>
    <pc:chgData name="Lakshmi Sravya M - [CH.EN.U4CSE21035]" userId="S::ch.en.u4cse21035@ch.students.amrita.edu::c33bece1-2017-4a2e-b771-7a3f706772d7" providerId="AD" clId="Web-{146E3682-E8D4-65D6-62C9-0BBEF28548FE}"/>
    <pc:docChg chg="sldOrd">
      <pc:chgData name="Lakshmi Sravya M - [CH.EN.U4CSE21035]" userId="S::ch.en.u4cse21035@ch.students.amrita.edu::c33bece1-2017-4a2e-b771-7a3f706772d7" providerId="AD" clId="Web-{146E3682-E8D4-65D6-62C9-0BBEF28548FE}" dt="2022-11-27T13:28:11.170" v="0"/>
      <pc:docMkLst>
        <pc:docMk/>
      </pc:docMkLst>
      <pc:sldChg chg="ord">
        <pc:chgData name="Lakshmi Sravya M - [CH.EN.U4CSE21035]" userId="S::ch.en.u4cse21035@ch.students.amrita.edu::c33bece1-2017-4a2e-b771-7a3f706772d7" providerId="AD" clId="Web-{146E3682-E8D4-65D6-62C9-0BBEF28548FE}" dt="2022-11-27T13:28:11.170" v="0"/>
        <pc:sldMkLst>
          <pc:docMk/>
          <pc:sldMk cId="2307250073" sldId="433"/>
        </pc:sldMkLst>
      </pc:sldChg>
    </pc:docChg>
  </pc:docChgLst>
  <pc:docChgLst>
    <pc:chgData name="TARUN R G - [CH.EN.U4CSE21070]" userId="S::ch.en.u4cse21070@ch.students.amrita.edu::4db2bfa2-379f-4f80-a817-27e399362841" providerId="AD" clId="Web-{2A084AFD-AFBE-3534-03BF-DAE5D01F0334}"/>
    <pc:docChg chg="addSld delSld">
      <pc:chgData name="TARUN R G - [CH.EN.U4CSE21070]" userId="S::ch.en.u4cse21070@ch.students.amrita.edu::4db2bfa2-379f-4f80-a817-27e399362841" providerId="AD" clId="Web-{2A084AFD-AFBE-3534-03BF-DAE5D01F0334}" dt="2022-11-27T09:58:32.761" v="3"/>
      <pc:docMkLst>
        <pc:docMk/>
      </pc:docMkLst>
      <pc:sldChg chg="add del">
        <pc:chgData name="TARUN R G - [CH.EN.U4CSE21070]" userId="S::ch.en.u4cse21070@ch.students.amrita.edu::4db2bfa2-379f-4f80-a817-27e399362841" providerId="AD" clId="Web-{2A084AFD-AFBE-3534-03BF-DAE5D01F0334}" dt="2022-11-27T09:58:26.214" v="2"/>
        <pc:sldMkLst>
          <pc:docMk/>
          <pc:sldMk cId="2307250073" sldId="433"/>
        </pc:sldMkLst>
      </pc:sldChg>
      <pc:sldChg chg="new del">
        <pc:chgData name="TARUN R G - [CH.EN.U4CSE21070]" userId="S::ch.en.u4cse21070@ch.students.amrita.edu::4db2bfa2-379f-4f80-a817-27e399362841" providerId="AD" clId="Web-{2A084AFD-AFBE-3534-03BF-DAE5D01F0334}" dt="2022-11-27T09:58:32.761" v="3"/>
        <pc:sldMkLst>
          <pc:docMk/>
          <pc:sldMk cId="4072379634" sldId="451"/>
        </pc:sldMkLst>
      </pc:sldChg>
    </pc:docChg>
  </pc:docChgLst>
  <pc:docChgLst>
    <pc:chgData name="AVINASH A-[CH.EN.U4CSE22104]" userId="S::ch.en.u4cse22104@ch.students.amrita.edu::158c8489-352f-4fa5-8bf7-49b243957f67" providerId="AD" clId="Web-{66684DBC-60AF-77FD-B815-AFEB94FABF95}"/>
    <pc:docChg chg="modSld">
      <pc:chgData name="AVINASH A-[CH.EN.U4CSE22104]" userId="S::ch.en.u4cse22104@ch.students.amrita.edu::158c8489-352f-4fa5-8bf7-49b243957f67" providerId="AD" clId="Web-{66684DBC-60AF-77FD-B815-AFEB94FABF95}" dt="2023-11-17T18:14:19.386" v="0" actId="1076"/>
      <pc:docMkLst>
        <pc:docMk/>
      </pc:docMkLst>
      <pc:sldChg chg="modSp">
        <pc:chgData name="AVINASH A-[CH.EN.U4CSE22104]" userId="S::ch.en.u4cse22104@ch.students.amrita.edu::158c8489-352f-4fa5-8bf7-49b243957f67" providerId="AD" clId="Web-{66684DBC-60AF-77FD-B815-AFEB94FABF95}" dt="2023-11-17T18:14:19.386" v="0" actId="1076"/>
        <pc:sldMkLst>
          <pc:docMk/>
          <pc:sldMk cId="2301738049" sldId="256"/>
        </pc:sldMkLst>
        <pc:picChg chg="mod">
          <ac:chgData name="AVINASH A-[CH.EN.U4CSE22104]" userId="S::ch.en.u4cse22104@ch.students.amrita.edu::158c8489-352f-4fa5-8bf7-49b243957f67" providerId="AD" clId="Web-{66684DBC-60AF-77FD-B815-AFEB94FABF95}" dt="2023-11-17T18:14:19.386" v="0" actId="1076"/>
          <ac:picMkLst>
            <pc:docMk/>
            <pc:sldMk cId="2301738049" sldId="256"/>
            <ac:picMk id="11" creationId="{DFA40875-641A-4F85-B78E-C29139C71A6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2D97A-1407-4E8F-8F30-E399DDE4DFDF}"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21B57-168A-4CE2-BCF1-703E6820F04A}" type="slidenum">
              <a:rPr lang="en-IN" smtClean="0"/>
              <a:t>‹#›</a:t>
            </a:fld>
            <a:endParaRPr lang="en-IN"/>
          </a:p>
        </p:txBody>
      </p:sp>
    </p:spTree>
    <p:extLst>
      <p:ext uri="{BB962C8B-B14F-4D97-AF65-F5344CB8AC3E}">
        <p14:creationId xmlns:p14="http://schemas.microsoft.com/office/powerpoint/2010/main" val="24638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F21B57-168A-4CE2-BCF1-703E6820F04A}" type="slidenum">
              <a:rPr lang="en-IN" smtClean="0"/>
              <a:t>55</a:t>
            </a:fld>
            <a:endParaRPr lang="en-IN"/>
          </a:p>
        </p:txBody>
      </p:sp>
    </p:spTree>
    <p:extLst>
      <p:ext uri="{BB962C8B-B14F-4D97-AF65-F5344CB8AC3E}">
        <p14:creationId xmlns:p14="http://schemas.microsoft.com/office/powerpoint/2010/main" val="394624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C770-91F0-4AFA-80C7-D527820F6B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C339D1-0D54-4F61-826A-FAFE3778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A824DA-7770-42EA-9A25-FA0AA626DF42}"/>
              </a:ext>
            </a:extLst>
          </p:cNvPr>
          <p:cNvSpPr>
            <a:spLocks noGrp="1"/>
          </p:cNvSpPr>
          <p:nvPr>
            <p:ph type="dt" sz="half" idx="10"/>
          </p:nvPr>
        </p:nvSpPr>
        <p:spPr/>
        <p:txBody>
          <a:bodyPr/>
          <a:lstStyle/>
          <a:p>
            <a:fld id="{815428A1-51D2-4B35-AAB2-60176B5FB9B7}" type="datetime1">
              <a:rPr lang="en-IN" smtClean="0"/>
              <a:t>12-02-2026</a:t>
            </a:fld>
            <a:endParaRPr lang="en-IN"/>
          </a:p>
        </p:txBody>
      </p:sp>
      <p:sp>
        <p:nvSpPr>
          <p:cNvPr id="5" name="Footer Placeholder 4">
            <a:extLst>
              <a:ext uri="{FF2B5EF4-FFF2-40B4-BE49-F238E27FC236}">
                <a16:creationId xmlns:a16="http://schemas.microsoft.com/office/drawing/2014/main" id="{E3536185-6C52-4EC5-B8F1-61F30B825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A653B4-10D2-4BD0-8727-C955F8C06E4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01270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5D6C6-334C-465C-8F8C-C5E1A0498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E027B3-EC04-4EC3-B190-C46030301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421D69-53C4-4406-873C-07DB89DACEB1}"/>
              </a:ext>
            </a:extLst>
          </p:cNvPr>
          <p:cNvSpPr>
            <a:spLocks noGrp="1"/>
          </p:cNvSpPr>
          <p:nvPr>
            <p:ph type="dt" sz="half" idx="10"/>
          </p:nvPr>
        </p:nvSpPr>
        <p:spPr/>
        <p:txBody>
          <a:bodyPr/>
          <a:lstStyle>
            <a:lvl1pPr>
              <a:defRPr sz="1400" b="1">
                <a:solidFill>
                  <a:schemeClr val="tx1"/>
                </a:solidFill>
              </a:defRPr>
            </a:lvl1pPr>
          </a:lstStyle>
          <a:p>
            <a:fld id="{28A7E088-5FD3-4403-B2FC-7AD87DA1C227}" type="datetime1">
              <a:rPr lang="en-IN" smtClean="0"/>
              <a:pPr/>
              <a:t>12-02-2026</a:t>
            </a:fld>
            <a:endParaRPr lang="en-IN"/>
          </a:p>
        </p:txBody>
      </p:sp>
      <p:sp>
        <p:nvSpPr>
          <p:cNvPr id="5" name="Footer Placeholder 4">
            <a:extLst>
              <a:ext uri="{FF2B5EF4-FFF2-40B4-BE49-F238E27FC236}">
                <a16:creationId xmlns:a16="http://schemas.microsoft.com/office/drawing/2014/main" id="{8D3AEAE1-FF8A-467F-9BE4-289C63730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73C72-52F8-4738-8A6A-E87936D43B1C}"/>
              </a:ext>
            </a:extLst>
          </p:cNvPr>
          <p:cNvSpPr>
            <a:spLocks noGrp="1"/>
          </p:cNvSpPr>
          <p:nvPr>
            <p:ph type="sldNum" sz="quarter" idx="12"/>
          </p:nvPr>
        </p:nvSpPr>
        <p:spPr/>
        <p:txBody>
          <a:bodyPr/>
          <a:lstStyle>
            <a:lvl1pPr>
              <a:defRPr sz="1400" b="1">
                <a:solidFill>
                  <a:schemeClr val="tx1"/>
                </a:solidFill>
              </a:defRPr>
            </a:lvl1pPr>
          </a:lstStyle>
          <a:p>
            <a:fld id="{4DAC0951-10B0-4509-9BA5-FD8683A6F967}" type="slidenum">
              <a:rPr lang="en-IN" smtClean="0"/>
              <a:pPr/>
              <a:t>‹#›</a:t>
            </a:fld>
            <a:endParaRPr lang="en-IN"/>
          </a:p>
        </p:txBody>
      </p:sp>
    </p:spTree>
    <p:extLst>
      <p:ext uri="{BB962C8B-B14F-4D97-AF65-F5344CB8AC3E}">
        <p14:creationId xmlns:p14="http://schemas.microsoft.com/office/powerpoint/2010/main" val="484643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3CCC-B690-4797-85E4-BEBD2949CA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4F46D8-50C7-4F18-9547-D4A778635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B5E9C5-A3B9-4867-82AB-5A23F1840B56}"/>
              </a:ext>
            </a:extLst>
          </p:cNvPr>
          <p:cNvSpPr>
            <a:spLocks noGrp="1"/>
          </p:cNvSpPr>
          <p:nvPr>
            <p:ph type="dt" sz="half" idx="10"/>
          </p:nvPr>
        </p:nvSpPr>
        <p:spPr/>
        <p:txBody>
          <a:bodyPr/>
          <a:lstStyle/>
          <a:p>
            <a:fld id="{F4418229-6F9F-4226-BB17-192C79651F7C}" type="datetime1">
              <a:rPr lang="en-IN" smtClean="0"/>
              <a:t>12-02-2026</a:t>
            </a:fld>
            <a:endParaRPr lang="en-IN"/>
          </a:p>
        </p:txBody>
      </p:sp>
      <p:sp>
        <p:nvSpPr>
          <p:cNvPr id="5" name="Footer Placeholder 4">
            <a:extLst>
              <a:ext uri="{FF2B5EF4-FFF2-40B4-BE49-F238E27FC236}">
                <a16:creationId xmlns:a16="http://schemas.microsoft.com/office/drawing/2014/main" id="{3758326D-2C06-4A41-95A9-871F336D3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F952D-7976-49B3-8AD5-71AF23D6B67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4132120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C872-B3F4-45B2-9BCC-E456481CC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F4D8C-DBD7-471B-9982-AFCFF996F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073A56-8C1C-4891-8873-3F05D4BFE4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436B58-C3C0-49EF-A244-BD5B7688A0BD}"/>
              </a:ext>
            </a:extLst>
          </p:cNvPr>
          <p:cNvSpPr>
            <a:spLocks noGrp="1"/>
          </p:cNvSpPr>
          <p:nvPr>
            <p:ph type="dt" sz="half" idx="10"/>
          </p:nvPr>
        </p:nvSpPr>
        <p:spPr/>
        <p:txBody>
          <a:bodyPr/>
          <a:lstStyle/>
          <a:p>
            <a:fld id="{BBF69600-D767-48E1-A443-21DBAB46CB44}" type="datetime1">
              <a:rPr lang="en-IN" smtClean="0"/>
              <a:t>12-02-2026</a:t>
            </a:fld>
            <a:endParaRPr lang="en-IN"/>
          </a:p>
        </p:txBody>
      </p:sp>
      <p:sp>
        <p:nvSpPr>
          <p:cNvPr id="6" name="Footer Placeholder 5">
            <a:extLst>
              <a:ext uri="{FF2B5EF4-FFF2-40B4-BE49-F238E27FC236}">
                <a16:creationId xmlns:a16="http://schemas.microsoft.com/office/drawing/2014/main" id="{A9EB5343-8193-4185-B446-56483E7285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339485-F2E7-4BD9-B29C-CB95BEC7EB5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33861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E1D5-65A5-403F-9C2D-A5BC3D5002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2BDE18-2684-47B2-9B83-A10F0E556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4AF027-4D02-4FAA-A906-0327D95378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5324CC-92D4-484F-ABE8-8040B04BB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60E1AE-BA8D-4245-BA67-5A25DD05AD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272E07-39DD-4C61-9DAD-28B6D26B30B2}"/>
              </a:ext>
            </a:extLst>
          </p:cNvPr>
          <p:cNvSpPr>
            <a:spLocks noGrp="1"/>
          </p:cNvSpPr>
          <p:nvPr>
            <p:ph type="dt" sz="half" idx="10"/>
          </p:nvPr>
        </p:nvSpPr>
        <p:spPr/>
        <p:txBody>
          <a:bodyPr/>
          <a:lstStyle/>
          <a:p>
            <a:fld id="{6F1FD97B-47B0-4904-8A18-AFC52508C61D}" type="datetime1">
              <a:rPr lang="en-IN" smtClean="0"/>
              <a:t>12-02-2026</a:t>
            </a:fld>
            <a:endParaRPr lang="en-IN"/>
          </a:p>
        </p:txBody>
      </p:sp>
      <p:sp>
        <p:nvSpPr>
          <p:cNvPr id="8" name="Footer Placeholder 7">
            <a:extLst>
              <a:ext uri="{FF2B5EF4-FFF2-40B4-BE49-F238E27FC236}">
                <a16:creationId xmlns:a16="http://schemas.microsoft.com/office/drawing/2014/main" id="{656B9D7D-5E0F-4760-9735-237ACCD73F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CE69EB-8813-483E-B820-8B3396D1768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884238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0DD22-058F-461D-830B-FE58A2AAF4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F38C4-FB4E-424A-AD89-1BA27C0BCC2A}"/>
              </a:ext>
            </a:extLst>
          </p:cNvPr>
          <p:cNvSpPr>
            <a:spLocks noGrp="1"/>
          </p:cNvSpPr>
          <p:nvPr>
            <p:ph type="dt" sz="half" idx="10"/>
          </p:nvPr>
        </p:nvSpPr>
        <p:spPr/>
        <p:txBody>
          <a:bodyPr/>
          <a:lstStyle/>
          <a:p>
            <a:fld id="{58FE2C50-D6DB-4615-AA11-8096AC399FAD}" type="datetime1">
              <a:rPr lang="en-IN" smtClean="0"/>
              <a:t>12-02-2026</a:t>
            </a:fld>
            <a:endParaRPr lang="en-IN"/>
          </a:p>
        </p:txBody>
      </p:sp>
      <p:sp>
        <p:nvSpPr>
          <p:cNvPr id="4" name="Footer Placeholder 3">
            <a:extLst>
              <a:ext uri="{FF2B5EF4-FFF2-40B4-BE49-F238E27FC236}">
                <a16:creationId xmlns:a16="http://schemas.microsoft.com/office/drawing/2014/main" id="{698D5047-2290-465B-A46F-6CDD6C1CB1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BFA423-27DB-4E39-9334-F4E7B36F393E}"/>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76557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C7A968-0704-440C-9F04-D19B341A5CDB}"/>
              </a:ext>
            </a:extLst>
          </p:cNvPr>
          <p:cNvSpPr>
            <a:spLocks noGrp="1"/>
          </p:cNvSpPr>
          <p:nvPr>
            <p:ph type="dt" sz="half" idx="10"/>
          </p:nvPr>
        </p:nvSpPr>
        <p:spPr/>
        <p:txBody>
          <a:bodyPr/>
          <a:lstStyle/>
          <a:p>
            <a:fld id="{521947D4-6749-4E47-8224-885558CBADF7}" type="datetime1">
              <a:rPr lang="en-IN" smtClean="0"/>
              <a:t>12-02-2026</a:t>
            </a:fld>
            <a:endParaRPr lang="en-IN"/>
          </a:p>
        </p:txBody>
      </p:sp>
      <p:sp>
        <p:nvSpPr>
          <p:cNvPr id="3" name="Footer Placeholder 2">
            <a:extLst>
              <a:ext uri="{FF2B5EF4-FFF2-40B4-BE49-F238E27FC236}">
                <a16:creationId xmlns:a16="http://schemas.microsoft.com/office/drawing/2014/main" id="{13310CA8-90AD-4E50-A5E8-0DC95120EE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D711EC-EBBC-437E-84D5-BFBEF4A70CE9}"/>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59780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A045-B561-4BF0-A203-2F3F676876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22B3B2-8437-4AE9-800D-08D4FC302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A7AEEF-0240-427C-AF07-A281B6D91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F6BFF4-EB8D-4790-ABB0-0653061572D8}"/>
              </a:ext>
            </a:extLst>
          </p:cNvPr>
          <p:cNvSpPr>
            <a:spLocks noGrp="1"/>
          </p:cNvSpPr>
          <p:nvPr>
            <p:ph type="dt" sz="half" idx="10"/>
          </p:nvPr>
        </p:nvSpPr>
        <p:spPr/>
        <p:txBody>
          <a:bodyPr/>
          <a:lstStyle/>
          <a:p>
            <a:fld id="{74C22B4F-B292-471B-B926-22823FC782DA}" type="datetime1">
              <a:rPr lang="en-IN" smtClean="0"/>
              <a:t>12-02-2026</a:t>
            </a:fld>
            <a:endParaRPr lang="en-IN"/>
          </a:p>
        </p:txBody>
      </p:sp>
      <p:sp>
        <p:nvSpPr>
          <p:cNvPr id="6" name="Footer Placeholder 5">
            <a:extLst>
              <a:ext uri="{FF2B5EF4-FFF2-40B4-BE49-F238E27FC236}">
                <a16:creationId xmlns:a16="http://schemas.microsoft.com/office/drawing/2014/main" id="{807F5910-5403-4054-AD1F-FC45FC875D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AF775F-F69B-4461-B67D-A4B7D335CA8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923280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DAB8-760D-429B-9092-588F356D9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2D72EE-CC1D-47B3-9C38-FCCC07AE96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95416E-FA79-455F-8D3A-5114BC017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85144-8B3D-40BC-B447-6BA8A6DC09E3}"/>
              </a:ext>
            </a:extLst>
          </p:cNvPr>
          <p:cNvSpPr>
            <a:spLocks noGrp="1"/>
          </p:cNvSpPr>
          <p:nvPr>
            <p:ph type="dt" sz="half" idx="10"/>
          </p:nvPr>
        </p:nvSpPr>
        <p:spPr/>
        <p:txBody>
          <a:bodyPr/>
          <a:lstStyle/>
          <a:p>
            <a:fld id="{9C280BAA-1C15-4FB7-A6BF-92229E431826}" type="datetime1">
              <a:rPr lang="en-IN" smtClean="0"/>
              <a:t>12-02-2026</a:t>
            </a:fld>
            <a:endParaRPr lang="en-IN"/>
          </a:p>
        </p:txBody>
      </p:sp>
      <p:sp>
        <p:nvSpPr>
          <p:cNvPr id="6" name="Footer Placeholder 5">
            <a:extLst>
              <a:ext uri="{FF2B5EF4-FFF2-40B4-BE49-F238E27FC236}">
                <a16:creationId xmlns:a16="http://schemas.microsoft.com/office/drawing/2014/main" id="{F372C76E-BE0A-41E9-B0C5-B0C3CA759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C8B49-D02B-48E5-8E7F-5D2B46738598}"/>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87535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D4AF2-0B51-43C1-AD13-EA8EFA02B3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A26132-B590-4B2E-9F96-342AC64624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7F43AB-4C78-44FA-B366-822F49DEED54}"/>
              </a:ext>
            </a:extLst>
          </p:cNvPr>
          <p:cNvSpPr>
            <a:spLocks noGrp="1"/>
          </p:cNvSpPr>
          <p:nvPr>
            <p:ph type="dt" sz="half" idx="10"/>
          </p:nvPr>
        </p:nvSpPr>
        <p:spPr/>
        <p:txBody>
          <a:bodyPr/>
          <a:lstStyle/>
          <a:p>
            <a:fld id="{BE75BB07-B820-4C3D-81FF-35B04E5A4C30}" type="datetime1">
              <a:rPr lang="en-IN" smtClean="0"/>
              <a:t>12-02-2026</a:t>
            </a:fld>
            <a:endParaRPr lang="en-IN"/>
          </a:p>
        </p:txBody>
      </p:sp>
      <p:sp>
        <p:nvSpPr>
          <p:cNvPr id="5" name="Footer Placeholder 4">
            <a:extLst>
              <a:ext uri="{FF2B5EF4-FFF2-40B4-BE49-F238E27FC236}">
                <a16:creationId xmlns:a16="http://schemas.microsoft.com/office/drawing/2014/main" id="{39B0D936-D793-4FC5-84F3-806ACB11CA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F02659-66E4-4F2D-BB92-2A26C278938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55511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29C94E-C13B-4F87-9B7B-761097737B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95177C-1587-4072-81EA-E20D0202A2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EE284B-1E23-492D-8777-03C8141B19BE}"/>
              </a:ext>
            </a:extLst>
          </p:cNvPr>
          <p:cNvSpPr>
            <a:spLocks noGrp="1"/>
          </p:cNvSpPr>
          <p:nvPr>
            <p:ph type="dt" sz="half" idx="10"/>
          </p:nvPr>
        </p:nvSpPr>
        <p:spPr/>
        <p:txBody>
          <a:bodyPr/>
          <a:lstStyle/>
          <a:p>
            <a:fld id="{9C0456F9-570F-483E-A695-A39CF42E2564}" type="datetime1">
              <a:rPr lang="en-IN" smtClean="0"/>
              <a:t>12-02-2026</a:t>
            </a:fld>
            <a:endParaRPr lang="en-IN"/>
          </a:p>
        </p:txBody>
      </p:sp>
      <p:sp>
        <p:nvSpPr>
          <p:cNvPr id="5" name="Footer Placeholder 4">
            <a:extLst>
              <a:ext uri="{FF2B5EF4-FFF2-40B4-BE49-F238E27FC236}">
                <a16:creationId xmlns:a16="http://schemas.microsoft.com/office/drawing/2014/main" id="{1ABA4BF7-8258-481A-86CB-E3AC157A9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5C52C-4020-4491-BC3A-BEF09E3FC055}"/>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18042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C4392B-314A-46B8-AE28-BAA109D5B7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FF787F-3313-44FE-8C16-BF492EBC0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7C93B2-D083-4E5B-96F5-91BCFB1AEE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4B441A-B6F0-42A1-B5E5-E0EFF40211F0}" type="datetime1">
              <a:rPr lang="en-IN" smtClean="0"/>
              <a:t>12-02-2026</a:t>
            </a:fld>
            <a:endParaRPr lang="en-IN"/>
          </a:p>
        </p:txBody>
      </p:sp>
      <p:sp>
        <p:nvSpPr>
          <p:cNvPr id="5" name="Footer Placeholder 4">
            <a:extLst>
              <a:ext uri="{FF2B5EF4-FFF2-40B4-BE49-F238E27FC236}">
                <a16:creationId xmlns:a16="http://schemas.microsoft.com/office/drawing/2014/main" id="{B73DDB0F-4801-43B8-B6A6-DCADD75216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0561CB-1EEA-43B1-AD45-7A02E53A8E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C0951-10B0-4509-9BA5-FD8683A6F967}" type="slidenum">
              <a:rPr lang="en-IN" smtClean="0"/>
              <a:t>‹#›</a:t>
            </a:fld>
            <a:endParaRPr lang="en-IN"/>
          </a:p>
        </p:txBody>
      </p:sp>
    </p:spTree>
    <p:extLst>
      <p:ext uri="{BB962C8B-B14F-4D97-AF65-F5344CB8AC3E}">
        <p14:creationId xmlns:p14="http://schemas.microsoft.com/office/powerpoint/2010/main" val="227073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javatpoint.com/object-and-class-in-java"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www.javatpoint.com/method-overloading-in-jav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4562-6CE1-46F3-B102-EECFED916131}"/>
              </a:ext>
            </a:extLst>
          </p:cNvPr>
          <p:cNvSpPr>
            <a:spLocks noGrp="1"/>
          </p:cNvSpPr>
          <p:nvPr>
            <p:ph type="ctrTitle"/>
          </p:nvPr>
        </p:nvSpPr>
        <p:spPr>
          <a:xfrm>
            <a:off x="233516" y="698203"/>
            <a:ext cx="9144000" cy="1312926"/>
          </a:xfrm>
        </p:spPr>
        <p:txBody>
          <a:bodyPr/>
          <a:lstStyle/>
          <a:p>
            <a:r>
              <a:rPr lang="en-IN">
                <a:latin typeface="Baskerville Old Face" panose="02020602080505020303" pitchFamily="18" charset="0"/>
              </a:rPr>
              <a:t>Object Oriented Paradigm</a:t>
            </a:r>
          </a:p>
        </p:txBody>
      </p:sp>
      <p:pic>
        <p:nvPicPr>
          <p:cNvPr id="7" name="Picture 6">
            <a:extLst>
              <a:ext uri="{FF2B5EF4-FFF2-40B4-BE49-F238E27FC236}">
                <a16:creationId xmlns:a16="http://schemas.microsoft.com/office/drawing/2014/main" id="{035FF23D-E4B7-4992-B8A6-61CE80F99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7207" y="31136"/>
            <a:ext cx="3051277" cy="3051277"/>
          </a:xfrm>
          <a:prstGeom prst="rect">
            <a:avLst/>
          </a:prstGeom>
        </p:spPr>
      </p:pic>
      <p:sp>
        <p:nvSpPr>
          <p:cNvPr id="10" name="Slide Number Placeholder 9">
            <a:extLst>
              <a:ext uri="{FF2B5EF4-FFF2-40B4-BE49-F238E27FC236}">
                <a16:creationId xmlns:a16="http://schemas.microsoft.com/office/drawing/2014/main" id="{42AE514C-AF9E-4168-96D8-E74B769390D6}"/>
              </a:ext>
            </a:extLst>
          </p:cNvPr>
          <p:cNvSpPr>
            <a:spLocks noGrp="1"/>
          </p:cNvSpPr>
          <p:nvPr>
            <p:ph type="sldNum" sz="quarter" idx="12"/>
          </p:nvPr>
        </p:nvSpPr>
        <p:spPr/>
        <p:txBody>
          <a:bodyPr/>
          <a:lstStyle/>
          <a:p>
            <a:fld id="{4DAC0951-10B0-4509-9BA5-FD8683A6F967}" type="slidenum">
              <a:rPr lang="en-IN" smtClean="0"/>
              <a:t>1</a:t>
            </a:fld>
            <a:endParaRPr lang="en-IN"/>
          </a:p>
        </p:txBody>
      </p:sp>
      <p:pic>
        <p:nvPicPr>
          <p:cNvPr id="11" name="Picture 10">
            <a:extLst>
              <a:ext uri="{FF2B5EF4-FFF2-40B4-BE49-F238E27FC236}">
                <a16:creationId xmlns:a16="http://schemas.microsoft.com/office/drawing/2014/main" id="{DFA40875-641A-4F85-B78E-C29139C71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2575" y="2175315"/>
            <a:ext cx="3453280" cy="3758454"/>
          </a:xfrm>
          <a:prstGeom prst="rect">
            <a:avLst/>
          </a:prstGeom>
        </p:spPr>
      </p:pic>
      <p:sp>
        <p:nvSpPr>
          <p:cNvPr id="3" name="Subtitle 2">
            <a:extLst>
              <a:ext uri="{FF2B5EF4-FFF2-40B4-BE49-F238E27FC236}">
                <a16:creationId xmlns:a16="http://schemas.microsoft.com/office/drawing/2014/main" id="{F6D0CCD5-C118-44B3-9342-5F0A35938909}"/>
              </a:ext>
            </a:extLst>
          </p:cNvPr>
          <p:cNvSpPr>
            <a:spLocks noGrp="1"/>
          </p:cNvSpPr>
          <p:nvPr>
            <p:ph type="subTitle" idx="1"/>
          </p:nvPr>
        </p:nvSpPr>
        <p:spPr>
          <a:xfrm>
            <a:off x="4101918" y="3356632"/>
            <a:ext cx="3453280" cy="935149"/>
          </a:xfrm>
        </p:spPr>
        <p:txBody>
          <a:bodyPr>
            <a:normAutofit fontScale="70000" lnSpcReduction="20000"/>
          </a:bodyPr>
          <a:lstStyle/>
          <a:p>
            <a:r>
              <a:rPr lang="en-IN" dirty="0">
                <a:solidFill>
                  <a:schemeClr val="bg1"/>
                </a:solidFill>
                <a:latin typeface="Baskerville Old Face" panose="02020602080505020303" pitchFamily="18" charset="0"/>
              </a:rPr>
              <a:t>Topic: JAVA</a:t>
            </a:r>
          </a:p>
          <a:p>
            <a:r>
              <a:rPr lang="en-IN" dirty="0">
                <a:solidFill>
                  <a:schemeClr val="bg1"/>
                </a:solidFill>
                <a:latin typeface="Baskerville Old Face" panose="02020602080505020303" pitchFamily="18" charset="0"/>
              </a:rPr>
              <a:t>Inheritance and </a:t>
            </a:r>
          </a:p>
          <a:p>
            <a:r>
              <a:rPr lang="en-IN" dirty="0">
                <a:solidFill>
                  <a:schemeClr val="bg1"/>
                </a:solidFill>
                <a:latin typeface="Baskerville Old Face" panose="02020602080505020303" pitchFamily="18" charset="0"/>
              </a:rPr>
              <a:t>Polymorphism</a:t>
            </a:r>
          </a:p>
        </p:txBody>
      </p:sp>
    </p:spTree>
    <p:extLst>
      <p:ext uri="{BB962C8B-B14F-4D97-AF65-F5344CB8AC3E}">
        <p14:creationId xmlns:p14="http://schemas.microsoft.com/office/powerpoint/2010/main" val="230173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D0C4-91A6-4F6F-82A4-AB8906400E8C}"/>
              </a:ext>
            </a:extLst>
          </p:cNvPr>
          <p:cNvSpPr>
            <a:spLocks noGrp="1"/>
          </p:cNvSpPr>
          <p:nvPr>
            <p:ph type="title"/>
          </p:nvPr>
        </p:nvSpPr>
        <p:spPr>
          <a:xfrm>
            <a:off x="3436374" y="304522"/>
            <a:ext cx="7167716" cy="1037153"/>
          </a:xfrm>
        </p:spPr>
        <p:txBody>
          <a:bodyPr>
            <a:normAutofit/>
          </a:bodyPr>
          <a:lstStyle/>
          <a:p>
            <a:r>
              <a:rPr lang="en-IN" b="1">
                <a:solidFill>
                  <a:srgbClr val="C00000"/>
                </a:solidFill>
                <a:latin typeface="Arial Rounded MT Bold" panose="020F0704030504030204" pitchFamily="34" charset="0"/>
              </a:rPr>
              <a:t>Contents - Inheritance</a:t>
            </a:r>
          </a:p>
        </p:txBody>
      </p:sp>
      <p:sp>
        <p:nvSpPr>
          <p:cNvPr id="3" name="Content Placeholder 2">
            <a:extLst>
              <a:ext uri="{FF2B5EF4-FFF2-40B4-BE49-F238E27FC236}">
                <a16:creationId xmlns:a16="http://schemas.microsoft.com/office/drawing/2014/main" id="{55DE4E36-9622-4BC4-9DEC-E7A385560935}"/>
              </a:ext>
            </a:extLst>
          </p:cNvPr>
          <p:cNvSpPr>
            <a:spLocks noGrp="1"/>
          </p:cNvSpPr>
          <p:nvPr>
            <p:ph idx="1"/>
          </p:nvPr>
        </p:nvSpPr>
        <p:spPr>
          <a:xfrm>
            <a:off x="5685707" y="1537854"/>
            <a:ext cx="6021384" cy="3823855"/>
          </a:xfrm>
        </p:spPr>
        <p:txBody>
          <a:bodyPr>
            <a:noAutofit/>
          </a:bodyPr>
          <a:lstStyle/>
          <a:p>
            <a:pPr marL="457200" lvl="1" indent="0">
              <a:lnSpc>
                <a:spcPct val="80000"/>
              </a:lnSpc>
              <a:buNone/>
            </a:pPr>
            <a:endParaRPr lang="en-IN" sz="3200">
              <a:solidFill>
                <a:srgbClr val="0070C0"/>
              </a:solidFill>
              <a:latin typeface="Gill Sans MT" panose="020B0502020104020203" pitchFamily="34" charset="0"/>
            </a:endParaRPr>
          </a:p>
          <a:p>
            <a:pPr>
              <a:lnSpc>
                <a:spcPct val="80000"/>
              </a:lnSpc>
            </a:pPr>
            <a:r>
              <a:rPr lang="en-IN" sz="3200" b="1">
                <a:solidFill>
                  <a:srgbClr val="4A4A4A"/>
                </a:solidFill>
                <a:latin typeface="Gill Sans MT" panose="020B0502020104020203" pitchFamily="34" charset="0"/>
              </a:rPr>
              <a:t>Rules of Inheritance in JAVA</a:t>
            </a:r>
          </a:p>
          <a:p>
            <a:pPr>
              <a:lnSpc>
                <a:spcPct val="80000"/>
              </a:lnSpc>
            </a:pPr>
            <a:r>
              <a:rPr lang="en-IN" sz="3200" b="1">
                <a:solidFill>
                  <a:srgbClr val="4A4A4A"/>
                </a:solidFill>
                <a:latin typeface="Gill Sans MT" panose="020B0502020104020203" pitchFamily="34" charset="0"/>
              </a:rPr>
              <a:t>Method Overloading and Overriding</a:t>
            </a:r>
          </a:p>
          <a:p>
            <a:pPr>
              <a:lnSpc>
                <a:spcPct val="80000"/>
              </a:lnSpc>
            </a:pPr>
            <a:r>
              <a:rPr lang="en-IN" sz="3200" b="1">
                <a:solidFill>
                  <a:srgbClr val="4A4A4A"/>
                </a:solidFill>
                <a:latin typeface="Gill Sans MT" panose="020B0502020104020203" pitchFamily="34" charset="0"/>
              </a:rPr>
              <a:t>Doubt: transient modifier</a:t>
            </a:r>
          </a:p>
          <a:p>
            <a:pPr>
              <a:lnSpc>
                <a:spcPct val="80000"/>
              </a:lnSpc>
            </a:pPr>
            <a:r>
              <a:rPr lang="en-IN" sz="3200" b="1">
                <a:solidFill>
                  <a:srgbClr val="4A4A4A"/>
                </a:solidFill>
                <a:latin typeface="Gill Sans MT" panose="020B0502020104020203" pitchFamily="34" charset="0"/>
              </a:rPr>
              <a:t>Revision</a:t>
            </a: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lvl="1">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0C22DB99-D9E4-4FC8-83E0-5BF45619E1A7}"/>
              </a:ext>
            </a:extLst>
          </p:cNvPr>
          <p:cNvSpPr>
            <a:spLocks noGrp="1"/>
          </p:cNvSpPr>
          <p:nvPr>
            <p:ph type="sldNum" sz="quarter" idx="12"/>
          </p:nvPr>
        </p:nvSpPr>
        <p:spPr/>
        <p:txBody>
          <a:bodyPr/>
          <a:lstStyle/>
          <a:p>
            <a:fld id="{4DAC0951-10B0-4509-9BA5-FD8683A6F967}" type="slidenum">
              <a:rPr lang="en-IN" smtClean="0"/>
              <a:pPr/>
              <a:t>2</a:t>
            </a:fld>
            <a:endParaRPr lang="en-IN"/>
          </a:p>
        </p:txBody>
      </p:sp>
      <p:pic>
        <p:nvPicPr>
          <p:cNvPr id="17" name="Picture 16">
            <a:extLst>
              <a:ext uri="{FF2B5EF4-FFF2-40B4-BE49-F238E27FC236}">
                <a16:creationId xmlns:a16="http://schemas.microsoft.com/office/drawing/2014/main" id="{04FF4C17-FAD4-4370-9248-F92C43F957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580" y="1032090"/>
            <a:ext cx="4394367" cy="5390424"/>
          </a:xfrm>
          <a:prstGeom prst="rect">
            <a:avLst/>
          </a:prstGeom>
        </p:spPr>
      </p:pic>
    </p:spTree>
    <p:extLst>
      <p:ext uri="{BB962C8B-B14F-4D97-AF65-F5344CB8AC3E}">
        <p14:creationId xmlns:p14="http://schemas.microsoft.com/office/powerpoint/2010/main" val="135974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p:txBody>
          <a:bodyPr>
            <a:normAutofit/>
          </a:bodyPr>
          <a:lstStyle/>
          <a:p>
            <a:r>
              <a:rPr lang="en-US" sz="3200" b="1" i="0">
                <a:solidFill>
                  <a:srgbClr val="4A4A4A"/>
                </a:solidFill>
                <a:effectLst/>
                <a:latin typeface="Gill Sans MT" panose="020B0502020104020203" pitchFamily="34" charset="0"/>
              </a:rPr>
              <a:t>RULE 1: Multiple Inheritance is NOT permitted in Java</a:t>
            </a: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3</a:t>
            </a:fld>
            <a:endParaRPr lang="en-IN"/>
          </a:p>
        </p:txBody>
      </p:sp>
      <p:sp>
        <p:nvSpPr>
          <p:cNvPr id="5" name="Rectangle 4">
            <a:extLst>
              <a:ext uri="{FF2B5EF4-FFF2-40B4-BE49-F238E27FC236}">
                <a16:creationId xmlns:a16="http://schemas.microsoft.com/office/drawing/2014/main" id="{F67ED5DD-37BD-418F-8B9F-E76A649E40CF}"/>
              </a:ext>
            </a:extLst>
          </p:cNvPr>
          <p:cNvSpPr/>
          <p:nvPr/>
        </p:nvSpPr>
        <p:spPr>
          <a:xfrm>
            <a:off x="2677147" y="1690688"/>
            <a:ext cx="1641949"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6" name="Rectangle 5">
            <a:extLst>
              <a:ext uri="{FF2B5EF4-FFF2-40B4-BE49-F238E27FC236}">
                <a16:creationId xmlns:a16="http://schemas.microsoft.com/office/drawing/2014/main" id="{B7978E51-2479-4F92-94EB-2AC759F5BA9B}"/>
              </a:ext>
            </a:extLst>
          </p:cNvPr>
          <p:cNvSpPr/>
          <p:nvPr/>
        </p:nvSpPr>
        <p:spPr>
          <a:xfrm>
            <a:off x="243736" y="3286092"/>
            <a:ext cx="1357075"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B</a:t>
            </a:r>
          </a:p>
        </p:txBody>
      </p:sp>
      <p:sp>
        <p:nvSpPr>
          <p:cNvPr id="7" name="Rectangle 6">
            <a:extLst>
              <a:ext uri="{FF2B5EF4-FFF2-40B4-BE49-F238E27FC236}">
                <a16:creationId xmlns:a16="http://schemas.microsoft.com/office/drawing/2014/main" id="{5632E2D5-D5FC-4D30-B3FB-0EDD41676257}"/>
              </a:ext>
            </a:extLst>
          </p:cNvPr>
          <p:cNvSpPr/>
          <p:nvPr/>
        </p:nvSpPr>
        <p:spPr>
          <a:xfrm>
            <a:off x="2788817" y="5188002"/>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D</a:t>
            </a:r>
          </a:p>
        </p:txBody>
      </p:sp>
      <p:sp>
        <p:nvSpPr>
          <p:cNvPr id="9" name="Rectangle 8">
            <a:extLst>
              <a:ext uri="{FF2B5EF4-FFF2-40B4-BE49-F238E27FC236}">
                <a16:creationId xmlns:a16="http://schemas.microsoft.com/office/drawing/2014/main" id="{C7206486-6F93-4891-BFAA-C64FE021AE47}"/>
              </a:ext>
            </a:extLst>
          </p:cNvPr>
          <p:cNvSpPr/>
          <p:nvPr/>
        </p:nvSpPr>
        <p:spPr>
          <a:xfrm>
            <a:off x="5289758" y="3278718"/>
            <a:ext cx="1418607"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C</a:t>
            </a:r>
          </a:p>
        </p:txBody>
      </p:sp>
      <p:cxnSp>
        <p:nvCxnSpPr>
          <p:cNvPr id="10" name="Straight Arrow Connector 9">
            <a:extLst>
              <a:ext uri="{FF2B5EF4-FFF2-40B4-BE49-F238E27FC236}">
                <a16:creationId xmlns:a16="http://schemas.microsoft.com/office/drawing/2014/main" id="{801A7090-A173-47CC-A737-0342E4A4B23B}"/>
              </a:ext>
            </a:extLst>
          </p:cNvPr>
          <p:cNvCxnSpPr>
            <a:cxnSpLocks/>
            <a:stCxn id="6" idx="0"/>
            <a:endCxn id="5" idx="2"/>
          </p:cNvCxnSpPr>
          <p:nvPr/>
        </p:nvCxnSpPr>
        <p:spPr>
          <a:xfrm flipV="1">
            <a:off x="922274" y="2134404"/>
            <a:ext cx="2575848" cy="115168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9D5F4A3-4DA4-4A2E-B0C8-374B689F2F57}"/>
              </a:ext>
            </a:extLst>
          </p:cNvPr>
          <p:cNvCxnSpPr>
            <a:cxnSpLocks/>
            <a:stCxn id="9" idx="0"/>
            <a:endCxn id="5" idx="2"/>
          </p:cNvCxnSpPr>
          <p:nvPr/>
        </p:nvCxnSpPr>
        <p:spPr>
          <a:xfrm flipH="1" flipV="1">
            <a:off x="3498122" y="2134404"/>
            <a:ext cx="2500940" cy="114431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FF4B2A6-F5D9-42FC-AEF7-C586E9B27130}"/>
              </a:ext>
            </a:extLst>
          </p:cNvPr>
          <p:cNvCxnSpPr>
            <a:stCxn id="7" idx="0"/>
            <a:endCxn id="9" idx="2"/>
          </p:cNvCxnSpPr>
          <p:nvPr/>
        </p:nvCxnSpPr>
        <p:spPr>
          <a:xfrm flipV="1">
            <a:off x="3498121" y="3722434"/>
            <a:ext cx="2500941" cy="146556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5A11820-41B8-42AB-AF12-C882D3BAECE5}"/>
              </a:ext>
            </a:extLst>
          </p:cNvPr>
          <p:cNvCxnSpPr>
            <a:cxnSpLocks/>
            <a:stCxn id="7" idx="0"/>
            <a:endCxn id="6" idx="2"/>
          </p:cNvCxnSpPr>
          <p:nvPr/>
        </p:nvCxnSpPr>
        <p:spPr>
          <a:xfrm flipH="1" flipV="1">
            <a:off x="922274" y="3729808"/>
            <a:ext cx="2575847" cy="145819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96B6459-3D60-47D2-B31F-E4018333E4BE}"/>
              </a:ext>
            </a:extLst>
          </p:cNvPr>
          <p:cNvSpPr txBox="1"/>
          <p:nvPr/>
        </p:nvSpPr>
        <p:spPr>
          <a:xfrm>
            <a:off x="5188684" y="1537890"/>
            <a:ext cx="5666129" cy="461665"/>
          </a:xfrm>
          <a:prstGeom prst="rect">
            <a:avLst/>
          </a:prstGeom>
          <a:noFill/>
          <a:ln>
            <a:solidFill>
              <a:srgbClr val="00B050"/>
            </a:solidFill>
          </a:ln>
        </p:spPr>
        <p:txBody>
          <a:bodyPr wrap="square" rtlCol="0">
            <a:spAutoFit/>
          </a:bodyPr>
          <a:lstStyle/>
          <a:p>
            <a:pPr algn="just"/>
            <a:r>
              <a:rPr lang="en-US" sz="2400">
                <a:solidFill>
                  <a:srgbClr val="00B0F0"/>
                </a:solidFill>
                <a:latin typeface="Gill Sans MT" panose="020B0502020104020203" pitchFamily="34" charset="0"/>
              </a:rPr>
              <a:t>Class A is a parent class for Class B and C.</a:t>
            </a:r>
            <a:endParaRPr lang="en-IN" sz="2400">
              <a:solidFill>
                <a:srgbClr val="00B0F0"/>
              </a:solidFill>
              <a:latin typeface="Gill Sans MT" panose="020B0502020104020203" pitchFamily="34" charset="0"/>
            </a:endParaRPr>
          </a:p>
        </p:txBody>
      </p:sp>
      <p:sp>
        <p:nvSpPr>
          <p:cNvPr id="31" name="TextBox 30">
            <a:extLst>
              <a:ext uri="{FF2B5EF4-FFF2-40B4-BE49-F238E27FC236}">
                <a16:creationId xmlns:a16="http://schemas.microsoft.com/office/drawing/2014/main" id="{1D9CCABA-4D89-4AF2-9E91-780F264237FB}"/>
              </a:ext>
            </a:extLst>
          </p:cNvPr>
          <p:cNvSpPr txBox="1"/>
          <p:nvPr/>
        </p:nvSpPr>
        <p:spPr>
          <a:xfrm>
            <a:off x="6218319" y="2401788"/>
            <a:ext cx="5666129" cy="461665"/>
          </a:xfrm>
          <a:prstGeom prst="rect">
            <a:avLst/>
          </a:prstGeom>
          <a:noFill/>
          <a:ln>
            <a:solidFill>
              <a:srgbClr val="00B050"/>
            </a:solidFill>
          </a:ln>
        </p:spPr>
        <p:txBody>
          <a:bodyPr wrap="square" rtlCol="0">
            <a:spAutoFit/>
          </a:bodyPr>
          <a:lstStyle/>
          <a:p>
            <a:pPr algn="just"/>
            <a:r>
              <a:rPr lang="en-US" sz="2400">
                <a:solidFill>
                  <a:schemeClr val="accent1"/>
                </a:solidFill>
                <a:latin typeface="Gill Sans MT" panose="020B0502020104020203" pitchFamily="34" charset="0"/>
              </a:rPr>
              <a:t>Class D has properties from A, B and C.</a:t>
            </a:r>
            <a:endParaRPr lang="en-IN" sz="2400">
              <a:solidFill>
                <a:schemeClr val="accent1"/>
              </a:solidFill>
              <a:latin typeface="Gill Sans MT" panose="020B0502020104020203" pitchFamily="34" charset="0"/>
            </a:endParaRPr>
          </a:p>
        </p:txBody>
      </p:sp>
      <p:sp>
        <p:nvSpPr>
          <p:cNvPr id="32" name="TextBox 31">
            <a:extLst>
              <a:ext uri="{FF2B5EF4-FFF2-40B4-BE49-F238E27FC236}">
                <a16:creationId xmlns:a16="http://schemas.microsoft.com/office/drawing/2014/main" id="{34A0B326-39B4-40A3-83EF-CDCCDA1517C3}"/>
              </a:ext>
            </a:extLst>
          </p:cNvPr>
          <p:cNvSpPr txBox="1"/>
          <p:nvPr/>
        </p:nvSpPr>
        <p:spPr>
          <a:xfrm>
            <a:off x="7584365" y="4002661"/>
            <a:ext cx="3552888" cy="584775"/>
          </a:xfrm>
          <a:prstGeom prst="rect">
            <a:avLst/>
          </a:prstGeom>
          <a:solidFill>
            <a:srgbClr val="002060"/>
          </a:solidFill>
          <a:ln>
            <a:solidFill>
              <a:srgbClr val="00B050"/>
            </a:solidFill>
          </a:ln>
        </p:spPr>
        <p:txBody>
          <a:bodyPr wrap="square" rtlCol="0">
            <a:spAutoFit/>
          </a:bodyPr>
          <a:lstStyle/>
          <a:p>
            <a:pPr algn="just"/>
            <a:r>
              <a:rPr lang="en-US" sz="3200">
                <a:solidFill>
                  <a:schemeClr val="bg1"/>
                </a:solidFill>
                <a:latin typeface="Gill Sans MT" panose="020B0502020104020203" pitchFamily="34" charset="0"/>
              </a:rPr>
              <a:t>Diamond Problem</a:t>
            </a:r>
            <a:endParaRPr lang="en-IN" sz="3200">
              <a:solidFill>
                <a:schemeClr val="bg1"/>
              </a:solidFill>
              <a:latin typeface="Gill Sans MT" panose="020B0502020104020203" pitchFamily="34" charset="0"/>
            </a:endParaRPr>
          </a:p>
        </p:txBody>
      </p:sp>
      <p:sp>
        <p:nvSpPr>
          <p:cNvPr id="33" name="TextBox 32">
            <a:extLst>
              <a:ext uri="{FF2B5EF4-FFF2-40B4-BE49-F238E27FC236}">
                <a16:creationId xmlns:a16="http://schemas.microsoft.com/office/drawing/2014/main" id="{8FCCB249-9037-469D-BD89-A0FE87ACA1F7}"/>
              </a:ext>
            </a:extLst>
          </p:cNvPr>
          <p:cNvSpPr txBox="1"/>
          <p:nvPr/>
        </p:nvSpPr>
        <p:spPr>
          <a:xfrm>
            <a:off x="6903164" y="3548205"/>
            <a:ext cx="3729196" cy="461665"/>
          </a:xfrm>
          <a:prstGeom prst="rect">
            <a:avLst/>
          </a:prstGeom>
          <a:noFill/>
          <a:ln>
            <a:noFill/>
          </a:ln>
        </p:spPr>
        <p:txBody>
          <a:bodyPr wrap="square" rtlCol="0">
            <a:spAutoFit/>
          </a:bodyPr>
          <a:lstStyle/>
          <a:p>
            <a:pPr algn="just"/>
            <a:r>
              <a:rPr lang="en-US" sz="2400">
                <a:latin typeface="Gill Sans MT" panose="020B0502020104020203" pitchFamily="34" charset="0"/>
              </a:rPr>
              <a:t>Now, we have……</a:t>
            </a:r>
            <a:endParaRPr lang="en-IN" sz="2400">
              <a:latin typeface="Gill Sans MT" panose="020B0502020104020203" pitchFamily="34" charset="0"/>
            </a:endParaRPr>
          </a:p>
        </p:txBody>
      </p:sp>
      <p:sp>
        <p:nvSpPr>
          <p:cNvPr id="34" name="TextBox 33">
            <a:extLst>
              <a:ext uri="{FF2B5EF4-FFF2-40B4-BE49-F238E27FC236}">
                <a16:creationId xmlns:a16="http://schemas.microsoft.com/office/drawing/2014/main" id="{2C576A3B-F593-4A3D-8998-F8EF8E252B16}"/>
              </a:ext>
            </a:extLst>
          </p:cNvPr>
          <p:cNvSpPr txBox="1"/>
          <p:nvPr/>
        </p:nvSpPr>
        <p:spPr>
          <a:xfrm>
            <a:off x="243736" y="3830523"/>
            <a:ext cx="944489" cy="369332"/>
          </a:xfrm>
          <a:prstGeom prst="rect">
            <a:avLst/>
          </a:prstGeom>
          <a:noFill/>
        </p:spPr>
        <p:txBody>
          <a:bodyPr wrap="none" rtlCol="0">
            <a:spAutoFit/>
          </a:bodyPr>
          <a:lstStyle/>
          <a:p>
            <a:r>
              <a:rPr lang="en-IN">
                <a:latin typeface="Consolas" panose="020B0609020204030204" pitchFamily="49" charset="0"/>
              </a:rPr>
              <a:t>Show()</a:t>
            </a:r>
          </a:p>
        </p:txBody>
      </p:sp>
      <p:sp>
        <p:nvSpPr>
          <p:cNvPr id="36" name="TextBox 35">
            <a:extLst>
              <a:ext uri="{FF2B5EF4-FFF2-40B4-BE49-F238E27FC236}">
                <a16:creationId xmlns:a16="http://schemas.microsoft.com/office/drawing/2014/main" id="{54432D54-7EDF-4BFC-AF94-72250EB716F6}"/>
              </a:ext>
            </a:extLst>
          </p:cNvPr>
          <p:cNvSpPr txBox="1"/>
          <p:nvPr/>
        </p:nvSpPr>
        <p:spPr>
          <a:xfrm>
            <a:off x="5875756" y="3789444"/>
            <a:ext cx="944489" cy="369332"/>
          </a:xfrm>
          <a:prstGeom prst="rect">
            <a:avLst/>
          </a:prstGeom>
          <a:noFill/>
        </p:spPr>
        <p:txBody>
          <a:bodyPr wrap="none" rtlCol="0">
            <a:spAutoFit/>
          </a:bodyPr>
          <a:lstStyle/>
          <a:p>
            <a:r>
              <a:rPr lang="en-IN">
                <a:latin typeface="Consolas" panose="020B0609020204030204" pitchFamily="49" charset="0"/>
              </a:rPr>
              <a:t>Show()</a:t>
            </a:r>
          </a:p>
        </p:txBody>
      </p:sp>
      <p:sp>
        <p:nvSpPr>
          <p:cNvPr id="37" name="TextBox 36">
            <a:extLst>
              <a:ext uri="{FF2B5EF4-FFF2-40B4-BE49-F238E27FC236}">
                <a16:creationId xmlns:a16="http://schemas.microsoft.com/office/drawing/2014/main" id="{7C467F28-AB5A-4752-98D2-A8CBA1C2B9EA}"/>
              </a:ext>
            </a:extLst>
          </p:cNvPr>
          <p:cNvSpPr txBox="1"/>
          <p:nvPr/>
        </p:nvSpPr>
        <p:spPr>
          <a:xfrm>
            <a:off x="2344372" y="3797253"/>
            <a:ext cx="2442976" cy="369332"/>
          </a:xfrm>
          <a:prstGeom prst="rect">
            <a:avLst/>
          </a:prstGeom>
          <a:noFill/>
        </p:spPr>
        <p:txBody>
          <a:bodyPr wrap="none" rtlCol="0">
            <a:spAutoFit/>
          </a:bodyPr>
          <a:lstStyle/>
          <a:p>
            <a:r>
              <a:rPr lang="en-IN"/>
              <a:t>Different Functionalities</a:t>
            </a:r>
          </a:p>
        </p:txBody>
      </p:sp>
      <p:cxnSp>
        <p:nvCxnSpPr>
          <p:cNvPr id="39" name="Straight Connector 38">
            <a:extLst>
              <a:ext uri="{FF2B5EF4-FFF2-40B4-BE49-F238E27FC236}">
                <a16:creationId xmlns:a16="http://schemas.microsoft.com/office/drawing/2014/main" id="{8C554CD6-D10E-45CA-84E2-C5F41184D149}"/>
              </a:ext>
            </a:extLst>
          </p:cNvPr>
          <p:cNvCxnSpPr>
            <a:cxnSpLocks/>
            <a:stCxn id="37" idx="3"/>
          </p:cNvCxnSpPr>
          <p:nvPr/>
        </p:nvCxnSpPr>
        <p:spPr>
          <a:xfrm>
            <a:off x="4787348" y="3981919"/>
            <a:ext cx="891151" cy="0"/>
          </a:xfrm>
          <a:prstGeom prst="line">
            <a:avLst/>
          </a:prstGeom>
          <a:ln w="38100">
            <a:prstDash val="sysDot"/>
          </a:ln>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5E15421E-307D-4411-88F5-3CC59D0099F1}"/>
              </a:ext>
            </a:extLst>
          </p:cNvPr>
          <p:cNvCxnSpPr>
            <a:cxnSpLocks/>
          </p:cNvCxnSpPr>
          <p:nvPr/>
        </p:nvCxnSpPr>
        <p:spPr>
          <a:xfrm>
            <a:off x="1188225" y="4015189"/>
            <a:ext cx="1021972" cy="0"/>
          </a:xfrm>
          <a:prstGeom prst="line">
            <a:avLst/>
          </a:prstGeom>
          <a:ln w="38100">
            <a:prstDash val="sysDot"/>
          </a:ln>
        </p:spPr>
        <p:style>
          <a:lnRef idx="1">
            <a:schemeClr val="accent2"/>
          </a:lnRef>
          <a:fillRef idx="0">
            <a:schemeClr val="accent2"/>
          </a:fillRef>
          <a:effectRef idx="0">
            <a:schemeClr val="accent2"/>
          </a:effectRef>
          <a:fontRef idx="minor">
            <a:schemeClr val="tx1"/>
          </a:fontRef>
        </p:style>
      </p:cxnSp>
      <p:sp>
        <p:nvSpPr>
          <p:cNvPr id="44" name="TextBox 43">
            <a:extLst>
              <a:ext uri="{FF2B5EF4-FFF2-40B4-BE49-F238E27FC236}">
                <a16:creationId xmlns:a16="http://schemas.microsoft.com/office/drawing/2014/main" id="{C029F576-31AA-470D-9939-DA1BA46B5B50}"/>
              </a:ext>
            </a:extLst>
          </p:cNvPr>
          <p:cNvSpPr txBox="1"/>
          <p:nvPr/>
        </p:nvSpPr>
        <p:spPr>
          <a:xfrm>
            <a:off x="3560942" y="5777036"/>
            <a:ext cx="944489" cy="369332"/>
          </a:xfrm>
          <a:prstGeom prst="rect">
            <a:avLst/>
          </a:prstGeom>
          <a:noFill/>
        </p:spPr>
        <p:txBody>
          <a:bodyPr wrap="none" rtlCol="0">
            <a:spAutoFit/>
          </a:bodyPr>
          <a:lstStyle/>
          <a:p>
            <a:r>
              <a:rPr lang="en-IN">
                <a:latin typeface="Consolas" panose="020B0609020204030204" pitchFamily="49" charset="0"/>
              </a:rPr>
              <a:t>Show()</a:t>
            </a:r>
          </a:p>
        </p:txBody>
      </p:sp>
      <p:sp>
        <p:nvSpPr>
          <p:cNvPr id="46" name="TextBox 45">
            <a:extLst>
              <a:ext uri="{FF2B5EF4-FFF2-40B4-BE49-F238E27FC236}">
                <a16:creationId xmlns:a16="http://schemas.microsoft.com/office/drawing/2014/main" id="{4E7C1BB1-BBE4-4670-B72C-8C77AFC2BA2A}"/>
              </a:ext>
            </a:extLst>
          </p:cNvPr>
          <p:cNvSpPr txBox="1"/>
          <p:nvPr/>
        </p:nvSpPr>
        <p:spPr>
          <a:xfrm>
            <a:off x="2344372" y="5777036"/>
            <a:ext cx="944489" cy="369332"/>
          </a:xfrm>
          <a:prstGeom prst="rect">
            <a:avLst/>
          </a:prstGeom>
          <a:noFill/>
        </p:spPr>
        <p:txBody>
          <a:bodyPr wrap="none" rtlCol="0">
            <a:spAutoFit/>
          </a:bodyPr>
          <a:lstStyle/>
          <a:p>
            <a:r>
              <a:rPr lang="en-IN">
                <a:latin typeface="Consolas" panose="020B0609020204030204" pitchFamily="49" charset="0"/>
              </a:rPr>
              <a:t>Show()</a:t>
            </a:r>
          </a:p>
        </p:txBody>
      </p:sp>
      <p:sp>
        <p:nvSpPr>
          <p:cNvPr id="48" name="TextBox 47">
            <a:extLst>
              <a:ext uri="{FF2B5EF4-FFF2-40B4-BE49-F238E27FC236}">
                <a16:creationId xmlns:a16="http://schemas.microsoft.com/office/drawing/2014/main" id="{8C7DD6FF-BC4D-4DD2-B12D-F378F0846730}"/>
              </a:ext>
            </a:extLst>
          </p:cNvPr>
          <p:cNvSpPr txBox="1"/>
          <p:nvPr/>
        </p:nvSpPr>
        <p:spPr>
          <a:xfrm>
            <a:off x="5289758" y="5265249"/>
            <a:ext cx="6064042" cy="923330"/>
          </a:xfrm>
          <a:prstGeom prst="rect">
            <a:avLst/>
          </a:prstGeom>
          <a:noFill/>
          <a:ln>
            <a:solidFill>
              <a:srgbClr val="FFC000"/>
            </a:solidFill>
          </a:ln>
        </p:spPr>
        <p:txBody>
          <a:bodyPr wrap="square">
            <a:spAutoFit/>
          </a:bodyPr>
          <a:lstStyle/>
          <a:p>
            <a:pPr algn="just"/>
            <a:r>
              <a:rPr lang="en-US" b="0" i="0">
                <a:solidFill>
                  <a:srgbClr val="C00000"/>
                </a:solidFill>
                <a:effectLst/>
                <a:latin typeface="Gill Sans MT" panose="020B0502020104020203" pitchFamily="34" charset="0"/>
              </a:rPr>
              <a:t>Now, when you try to invoke show() of class B, the compiler will get confused as to which show() to be invoked ( either from class B or class C ). Hence it leads to ambiguity.</a:t>
            </a:r>
            <a:endParaRPr lang="en-IN">
              <a:solidFill>
                <a:srgbClr val="C00000"/>
              </a:solidFill>
              <a:latin typeface="Gill Sans MT" panose="020B0502020104020203" pitchFamily="34" charset="0"/>
            </a:endParaRPr>
          </a:p>
        </p:txBody>
      </p:sp>
      <p:sp>
        <p:nvSpPr>
          <p:cNvPr id="49" name="TextBox 48">
            <a:extLst>
              <a:ext uri="{FF2B5EF4-FFF2-40B4-BE49-F238E27FC236}">
                <a16:creationId xmlns:a16="http://schemas.microsoft.com/office/drawing/2014/main" id="{5205AFC6-C414-4A4C-B0AC-D59FD45F3C6A}"/>
              </a:ext>
            </a:extLst>
          </p:cNvPr>
          <p:cNvSpPr txBox="1"/>
          <p:nvPr/>
        </p:nvSpPr>
        <p:spPr>
          <a:xfrm rot="20220000">
            <a:off x="-440286" y="3238966"/>
            <a:ext cx="12827935" cy="523220"/>
          </a:xfrm>
          <a:prstGeom prst="rect">
            <a:avLst/>
          </a:prstGeom>
          <a:solidFill>
            <a:srgbClr val="FF0000"/>
          </a:solidFill>
        </p:spPr>
        <p:txBody>
          <a:bodyPr wrap="square" rtlCol="0">
            <a:spAutoFit/>
          </a:bodyPr>
          <a:lstStyle/>
          <a:p>
            <a:r>
              <a:rPr lang="en-US" sz="2800">
                <a:latin typeface="Gill Sans MT" panose="020B0502020104020203" pitchFamily="34" charset="0"/>
              </a:rPr>
              <a:t>Multiple inheritance is not supported in Java but you can still achieve it using interfaces.</a:t>
            </a:r>
            <a:endParaRPr lang="en-IN" sz="2800">
              <a:latin typeface="Gill Sans MT" panose="020B0502020104020203" pitchFamily="34" charset="0"/>
            </a:endParaRPr>
          </a:p>
        </p:txBody>
      </p:sp>
    </p:spTree>
    <p:extLst>
      <p:ext uri="{BB962C8B-B14F-4D97-AF65-F5344CB8AC3E}">
        <p14:creationId xmlns:p14="http://schemas.microsoft.com/office/powerpoint/2010/main" val="296205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000"/>
                                        <p:tgtEl>
                                          <p:spTgt spid="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ircle(in)">
                                      <p:cBhvr>
                                        <p:cTn id="16" dur="2000"/>
                                        <p:tgtEl>
                                          <p:spTgt spid="9"/>
                                        </p:tgtEl>
                                      </p:cBhvr>
                                    </p:animEffect>
                                  </p:childTnLst>
                                </p:cTn>
                              </p:par>
                              <p:par>
                                <p:cTn id="17" presetID="6" presetClass="entr" presetSubtype="16"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circle(in)">
                                      <p:cBhvr>
                                        <p:cTn id="19" dur="2000"/>
                                        <p:tgtEl>
                                          <p:spTgt spid="10"/>
                                        </p:tgtEl>
                                      </p:cBhvr>
                                    </p:animEffect>
                                  </p:childTnLst>
                                </p:cTn>
                              </p:par>
                              <p:par>
                                <p:cTn id="20" presetID="6"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circle(in)">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2000"/>
                                        <p:tgtEl>
                                          <p:spTgt spid="15"/>
                                        </p:tgtEl>
                                      </p:cBhvr>
                                    </p:animEffect>
                                  </p:childTnLst>
                                </p:cTn>
                              </p:par>
                              <p:par>
                                <p:cTn id="28" presetID="6" presetClass="entr" presetSubtype="16"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circle(in)">
                                      <p:cBhvr>
                                        <p:cTn id="30" dur="2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1000"/>
                                        <p:tgtEl>
                                          <p:spTgt spid="34"/>
                                        </p:tgtEl>
                                      </p:cBhvr>
                                    </p:animEffect>
                                    <p:anim calcmode="lin" valueType="num">
                                      <p:cBhvr>
                                        <p:cTn id="52" dur="1000" fill="hold"/>
                                        <p:tgtEl>
                                          <p:spTgt spid="34"/>
                                        </p:tgtEl>
                                        <p:attrNameLst>
                                          <p:attrName>ppt_x</p:attrName>
                                        </p:attrNameLst>
                                      </p:cBhvr>
                                      <p:tavLst>
                                        <p:tav tm="0">
                                          <p:val>
                                            <p:strVal val="#ppt_x"/>
                                          </p:val>
                                        </p:tav>
                                        <p:tav tm="100000">
                                          <p:val>
                                            <p:strVal val="#ppt_x"/>
                                          </p:val>
                                        </p:tav>
                                      </p:tavLst>
                                    </p:anim>
                                    <p:anim calcmode="lin" valueType="num">
                                      <p:cBhvr>
                                        <p:cTn id="53" dur="1000" fill="hold"/>
                                        <p:tgtEl>
                                          <p:spTgt spid="34"/>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anim calcmode="lin" valueType="num">
                                      <p:cBhvr>
                                        <p:cTn id="57" dur="1000" fill="hold"/>
                                        <p:tgtEl>
                                          <p:spTgt spid="36"/>
                                        </p:tgtEl>
                                        <p:attrNameLst>
                                          <p:attrName>ppt_x</p:attrName>
                                        </p:attrNameLst>
                                      </p:cBhvr>
                                      <p:tavLst>
                                        <p:tav tm="0">
                                          <p:val>
                                            <p:strVal val="#ppt_x"/>
                                          </p:val>
                                        </p:tav>
                                        <p:tav tm="100000">
                                          <p:val>
                                            <p:strVal val="#ppt_x"/>
                                          </p:val>
                                        </p:tav>
                                      </p:tavLst>
                                    </p:anim>
                                    <p:anim calcmode="lin" valueType="num">
                                      <p:cBhvr>
                                        <p:cTn id="5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barn(inVertical)">
                                      <p:cBhvr>
                                        <p:cTn id="63" dur="500"/>
                                        <p:tgtEl>
                                          <p:spTgt spid="37"/>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nodeType="click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circle(in)">
                                      <p:cBhvr>
                                        <p:cTn id="68" dur="2000"/>
                                        <p:tgtEl>
                                          <p:spTgt spid="41"/>
                                        </p:tgtEl>
                                      </p:cBhvr>
                                    </p:animEffect>
                                  </p:childTnLst>
                                </p:cTn>
                              </p:par>
                              <p:par>
                                <p:cTn id="69" presetID="6" presetClass="entr" presetSubtype="16" fill="hold"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circle(in)">
                                      <p:cBhvr>
                                        <p:cTn id="71" dur="2000"/>
                                        <p:tgtEl>
                                          <p:spTgt spid="39"/>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1000"/>
                                        <p:tgtEl>
                                          <p:spTgt spid="46"/>
                                        </p:tgtEl>
                                      </p:cBhvr>
                                    </p:animEffect>
                                    <p:anim calcmode="lin" valueType="num">
                                      <p:cBhvr>
                                        <p:cTn id="77" dur="1000" fill="hold"/>
                                        <p:tgtEl>
                                          <p:spTgt spid="46"/>
                                        </p:tgtEl>
                                        <p:attrNameLst>
                                          <p:attrName>ppt_x</p:attrName>
                                        </p:attrNameLst>
                                      </p:cBhvr>
                                      <p:tavLst>
                                        <p:tav tm="0">
                                          <p:val>
                                            <p:strVal val="#ppt_x"/>
                                          </p:val>
                                        </p:tav>
                                        <p:tav tm="100000">
                                          <p:val>
                                            <p:strVal val="#ppt_x"/>
                                          </p:val>
                                        </p:tav>
                                      </p:tavLst>
                                    </p:anim>
                                    <p:anim calcmode="lin" valueType="num">
                                      <p:cBhvr>
                                        <p:cTn id="78" dur="1000" fill="hold"/>
                                        <p:tgtEl>
                                          <p:spTgt spid="46"/>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1000"/>
                                        <p:tgtEl>
                                          <p:spTgt spid="44"/>
                                        </p:tgtEl>
                                      </p:cBhvr>
                                    </p:animEffect>
                                    <p:anim calcmode="lin" valueType="num">
                                      <p:cBhvr>
                                        <p:cTn id="82" dur="1000" fill="hold"/>
                                        <p:tgtEl>
                                          <p:spTgt spid="44"/>
                                        </p:tgtEl>
                                        <p:attrNameLst>
                                          <p:attrName>ppt_x</p:attrName>
                                        </p:attrNameLst>
                                      </p:cBhvr>
                                      <p:tavLst>
                                        <p:tav tm="0">
                                          <p:val>
                                            <p:strVal val="#ppt_x"/>
                                          </p:val>
                                        </p:tav>
                                        <p:tav tm="100000">
                                          <p:val>
                                            <p:strVal val="#ppt_x"/>
                                          </p:val>
                                        </p:tav>
                                      </p:tavLst>
                                    </p:anim>
                                    <p:anim calcmode="lin" valueType="num">
                                      <p:cBhvr>
                                        <p:cTn id="83"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31" presetClass="entr" presetSubtype="0" fill="hold" grpId="0" nodeType="clickEffect">
                                  <p:stCondLst>
                                    <p:cond delay="0"/>
                                  </p:stCondLst>
                                  <p:childTnLst>
                                    <p:set>
                                      <p:cBhvr>
                                        <p:cTn id="91" dur="1" fill="hold">
                                          <p:stCondLst>
                                            <p:cond delay="0"/>
                                          </p:stCondLst>
                                        </p:cTn>
                                        <p:tgtEl>
                                          <p:spTgt spid="49"/>
                                        </p:tgtEl>
                                        <p:attrNameLst>
                                          <p:attrName>style.visibility</p:attrName>
                                        </p:attrNameLst>
                                      </p:cBhvr>
                                      <p:to>
                                        <p:strVal val="visible"/>
                                      </p:to>
                                    </p:set>
                                    <p:anim calcmode="lin" valueType="num">
                                      <p:cBhvr>
                                        <p:cTn id="92" dur="1000" fill="hold"/>
                                        <p:tgtEl>
                                          <p:spTgt spid="49"/>
                                        </p:tgtEl>
                                        <p:attrNameLst>
                                          <p:attrName>ppt_w</p:attrName>
                                        </p:attrNameLst>
                                      </p:cBhvr>
                                      <p:tavLst>
                                        <p:tav tm="0">
                                          <p:val>
                                            <p:fltVal val="0"/>
                                          </p:val>
                                        </p:tav>
                                        <p:tav tm="100000">
                                          <p:val>
                                            <p:strVal val="#ppt_w"/>
                                          </p:val>
                                        </p:tav>
                                      </p:tavLst>
                                    </p:anim>
                                    <p:anim calcmode="lin" valueType="num">
                                      <p:cBhvr>
                                        <p:cTn id="93" dur="1000" fill="hold"/>
                                        <p:tgtEl>
                                          <p:spTgt spid="49"/>
                                        </p:tgtEl>
                                        <p:attrNameLst>
                                          <p:attrName>ppt_h</p:attrName>
                                        </p:attrNameLst>
                                      </p:cBhvr>
                                      <p:tavLst>
                                        <p:tav tm="0">
                                          <p:val>
                                            <p:fltVal val="0"/>
                                          </p:val>
                                        </p:tav>
                                        <p:tav tm="100000">
                                          <p:val>
                                            <p:strVal val="#ppt_h"/>
                                          </p:val>
                                        </p:tav>
                                      </p:tavLst>
                                    </p:anim>
                                    <p:anim calcmode="lin" valueType="num">
                                      <p:cBhvr>
                                        <p:cTn id="94" dur="1000" fill="hold"/>
                                        <p:tgtEl>
                                          <p:spTgt spid="49"/>
                                        </p:tgtEl>
                                        <p:attrNameLst>
                                          <p:attrName>style.rotation</p:attrName>
                                        </p:attrNameLst>
                                      </p:cBhvr>
                                      <p:tavLst>
                                        <p:tav tm="0">
                                          <p:val>
                                            <p:fltVal val="90"/>
                                          </p:val>
                                        </p:tav>
                                        <p:tav tm="100000">
                                          <p:val>
                                            <p:fltVal val="0"/>
                                          </p:val>
                                        </p:tav>
                                      </p:tavLst>
                                    </p:anim>
                                    <p:animEffect transition="in" filter="fade">
                                      <p:cBhvr>
                                        <p:cTn id="95" dur="1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30" grpId="0" animBg="1"/>
      <p:bldP spid="31" grpId="0" animBg="1"/>
      <p:bldP spid="32" grpId="0" animBg="1"/>
      <p:bldP spid="33" grpId="0" animBg="1"/>
      <p:bldP spid="34" grpId="0"/>
      <p:bldP spid="36" grpId="0"/>
      <p:bldP spid="37" grpId="0"/>
      <p:bldP spid="44" grpId="0"/>
      <p:bldP spid="46" grpId="0"/>
      <p:bldP spid="48" grpId="0" animBg="1"/>
      <p:bldP spid="4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5A96-AAF9-47D5-878D-12A902CC3EFD}"/>
              </a:ext>
            </a:extLst>
          </p:cNvPr>
          <p:cNvSpPr>
            <a:spLocks noGrp="1"/>
          </p:cNvSpPr>
          <p:nvPr>
            <p:ph type="title"/>
          </p:nvPr>
        </p:nvSpPr>
        <p:spPr/>
        <p:txBody>
          <a:bodyPr/>
          <a:lstStyle/>
          <a:p>
            <a:r>
              <a:rPr lang="en-IN" b="1">
                <a:solidFill>
                  <a:srgbClr val="C00000"/>
                </a:solidFill>
                <a:latin typeface="Arial Rounded MT Bold" panose="020F0704030504030204" pitchFamily="34" charset="0"/>
              </a:rPr>
              <a:t>Rules of Inheritance in JAVA</a:t>
            </a:r>
          </a:p>
        </p:txBody>
      </p:sp>
      <p:sp>
        <p:nvSpPr>
          <p:cNvPr id="3" name="Content Placeholder 2">
            <a:extLst>
              <a:ext uri="{FF2B5EF4-FFF2-40B4-BE49-F238E27FC236}">
                <a16:creationId xmlns:a16="http://schemas.microsoft.com/office/drawing/2014/main" id="{92072E76-6C73-464C-8A93-3014B2389E2A}"/>
              </a:ext>
            </a:extLst>
          </p:cNvPr>
          <p:cNvSpPr>
            <a:spLocks noGrp="1"/>
          </p:cNvSpPr>
          <p:nvPr>
            <p:ph idx="1"/>
          </p:nvPr>
        </p:nvSpPr>
        <p:spPr>
          <a:xfrm>
            <a:off x="838199" y="1825625"/>
            <a:ext cx="10765221" cy="3581948"/>
          </a:xfrm>
        </p:spPr>
        <p:txBody>
          <a:bodyPr/>
          <a:lstStyle/>
          <a:p>
            <a:pPr marL="0" indent="0" algn="just">
              <a:buNone/>
            </a:pPr>
            <a:r>
              <a:rPr lang="en-US" b="1" i="0">
                <a:solidFill>
                  <a:srgbClr val="4A4A4A"/>
                </a:solidFill>
                <a:effectLst/>
                <a:latin typeface="Gill Sans MT" panose="020B0502020104020203" pitchFamily="34" charset="0"/>
              </a:rPr>
              <a:t>RULE 1: Multiple Inheritance is NOT permitted in Java.</a:t>
            </a:r>
          </a:p>
          <a:p>
            <a:pPr marL="0" indent="0" algn="just">
              <a:buNone/>
            </a:pPr>
            <a:r>
              <a:rPr lang="en-US" sz="2800" b="1" i="0">
                <a:solidFill>
                  <a:srgbClr val="4A4A4A"/>
                </a:solidFill>
                <a:effectLst/>
                <a:latin typeface="Gill Sans MT" panose="020B0502020104020203" pitchFamily="34" charset="0"/>
              </a:rPr>
              <a:t>RULE 2: Cyclic Inheritance is NOT permitted in Java.</a:t>
            </a:r>
          </a:p>
          <a:p>
            <a:pPr marL="0" indent="0" algn="just">
              <a:buNone/>
            </a:pPr>
            <a:r>
              <a:rPr lang="en-US" sz="2800" b="1" i="0">
                <a:solidFill>
                  <a:srgbClr val="4A4A4A"/>
                </a:solidFill>
                <a:effectLst/>
                <a:latin typeface="Gill Sans MT" panose="020B0502020104020203" pitchFamily="34" charset="0"/>
              </a:rPr>
              <a:t>RULE 3: Private members do NOT get inherited.</a:t>
            </a:r>
          </a:p>
          <a:p>
            <a:pPr marL="0" indent="0" algn="just">
              <a:buNone/>
            </a:pPr>
            <a:r>
              <a:rPr lang="en-US" sz="2800" b="1" i="0">
                <a:solidFill>
                  <a:srgbClr val="4A4A4A"/>
                </a:solidFill>
                <a:effectLst/>
                <a:latin typeface="Gill Sans MT" panose="020B0502020104020203" pitchFamily="34" charset="0"/>
              </a:rPr>
              <a:t>RULE 4: Constructors cannot be Inherited in Java.</a:t>
            </a:r>
          </a:p>
          <a:p>
            <a:pPr marL="0" indent="0" algn="just">
              <a:buNone/>
            </a:pPr>
            <a:r>
              <a:rPr lang="en-US" sz="2800" b="1" i="0">
                <a:solidFill>
                  <a:srgbClr val="4A4A4A"/>
                </a:solidFill>
                <a:effectLst/>
                <a:latin typeface="Gill Sans MT" panose="020B0502020104020203" pitchFamily="34" charset="0"/>
              </a:rPr>
              <a:t>RULE 5: In Java, we assign parent reference to child objects.</a:t>
            </a:r>
          </a:p>
          <a:p>
            <a:pPr marL="0" indent="0" algn="just">
              <a:buNone/>
            </a:pPr>
            <a:r>
              <a:rPr lang="en-US" sz="2800" b="1" i="0">
                <a:solidFill>
                  <a:srgbClr val="4A4A4A"/>
                </a:solidFill>
                <a:effectLst/>
                <a:latin typeface="Gill Sans MT" panose="020B0502020104020203" pitchFamily="34" charset="0"/>
              </a:rPr>
              <a:t>RULE 6: Constructors get executed because of super() present in the constructor.</a:t>
            </a:r>
            <a:endParaRPr lang="en-US" b="1" i="0">
              <a:solidFill>
                <a:srgbClr val="4A4A4A"/>
              </a:solidFill>
              <a:effectLst/>
              <a:latin typeface="Gill Sans MT" panose="020B0502020104020203" pitchFamily="34" charset="0"/>
            </a:endParaRPr>
          </a:p>
          <a:p>
            <a:pPr marL="0" indent="0" algn="just">
              <a:buNone/>
            </a:pPr>
            <a:endParaRPr lang="en-US" b="0" i="0">
              <a:solidFill>
                <a:srgbClr val="4A4A4A"/>
              </a:solidFill>
              <a:effectLst/>
              <a:latin typeface="Gill Sans MT" panose="020B0502020104020203" pitchFamily="34" charset="0"/>
            </a:endParaRPr>
          </a:p>
        </p:txBody>
      </p:sp>
      <p:sp>
        <p:nvSpPr>
          <p:cNvPr id="4" name="Slide Number Placeholder 3">
            <a:extLst>
              <a:ext uri="{FF2B5EF4-FFF2-40B4-BE49-F238E27FC236}">
                <a16:creationId xmlns:a16="http://schemas.microsoft.com/office/drawing/2014/main" id="{62BAC0CC-620F-409C-A0B3-0C24C7B3C988}"/>
              </a:ext>
            </a:extLst>
          </p:cNvPr>
          <p:cNvSpPr>
            <a:spLocks noGrp="1"/>
          </p:cNvSpPr>
          <p:nvPr>
            <p:ph type="sldNum" sz="quarter" idx="12"/>
          </p:nvPr>
        </p:nvSpPr>
        <p:spPr/>
        <p:txBody>
          <a:bodyPr/>
          <a:lstStyle/>
          <a:p>
            <a:fld id="{4DAC0951-10B0-4509-9BA5-FD8683A6F967}" type="slidenum">
              <a:rPr lang="en-IN" smtClean="0"/>
              <a:pPr/>
              <a:t>4</a:t>
            </a:fld>
            <a:endParaRPr lang="en-IN"/>
          </a:p>
        </p:txBody>
      </p:sp>
    </p:spTree>
    <p:extLst>
      <p:ext uri="{BB962C8B-B14F-4D97-AF65-F5344CB8AC3E}">
        <p14:creationId xmlns:p14="http://schemas.microsoft.com/office/powerpoint/2010/main" val="230725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a:xfrm>
            <a:off x="838200" y="365126"/>
            <a:ext cx="10515600" cy="1155376"/>
          </a:xfrm>
        </p:spPr>
        <p:txBody>
          <a:bodyPr>
            <a:normAutofit/>
          </a:bodyPr>
          <a:lstStyle/>
          <a:p>
            <a:r>
              <a:rPr lang="en-US" sz="3200" b="1" i="0">
                <a:solidFill>
                  <a:srgbClr val="4A4A4A"/>
                </a:solidFill>
                <a:effectLst/>
                <a:latin typeface="Gill Sans MT" panose="020B0502020104020203" pitchFamily="34" charset="0"/>
              </a:rPr>
              <a:t>RULE 2: Cyclic Inheritance is NOT permitted in Java.</a:t>
            </a:r>
            <a:endParaRPr lang="en-IN" sz="3200">
              <a:latin typeface="Gill Sans MT" panose="020B0502020104020203" pitchFamily="34" charset="0"/>
            </a:endParaRP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5</a:t>
            </a:fld>
            <a:endParaRPr lang="en-IN"/>
          </a:p>
        </p:txBody>
      </p:sp>
      <p:sp>
        <p:nvSpPr>
          <p:cNvPr id="5" name="Rectangle 4">
            <a:extLst>
              <a:ext uri="{FF2B5EF4-FFF2-40B4-BE49-F238E27FC236}">
                <a16:creationId xmlns:a16="http://schemas.microsoft.com/office/drawing/2014/main" id="{112379E2-FC73-453F-A3B8-10F99E669DCD}"/>
              </a:ext>
            </a:extLst>
          </p:cNvPr>
          <p:cNvSpPr/>
          <p:nvPr/>
        </p:nvSpPr>
        <p:spPr>
          <a:xfrm>
            <a:off x="1078005" y="1742360"/>
            <a:ext cx="1641949"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A</a:t>
            </a:r>
          </a:p>
        </p:txBody>
      </p:sp>
      <p:sp>
        <p:nvSpPr>
          <p:cNvPr id="6" name="Rectangle 5">
            <a:extLst>
              <a:ext uri="{FF2B5EF4-FFF2-40B4-BE49-F238E27FC236}">
                <a16:creationId xmlns:a16="http://schemas.microsoft.com/office/drawing/2014/main" id="{C0B86D7B-12C6-4CD6-B1D2-5802AF18F1F2}"/>
              </a:ext>
            </a:extLst>
          </p:cNvPr>
          <p:cNvSpPr/>
          <p:nvPr/>
        </p:nvSpPr>
        <p:spPr>
          <a:xfrm>
            <a:off x="1078005" y="4047800"/>
            <a:ext cx="1641949" cy="4437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C00000"/>
                </a:solidFill>
                <a:latin typeface="Gill Sans MT" panose="020B0502020104020203" pitchFamily="34" charset="0"/>
              </a:rPr>
              <a:t>Class C</a:t>
            </a:r>
          </a:p>
        </p:txBody>
      </p:sp>
      <p:cxnSp>
        <p:nvCxnSpPr>
          <p:cNvPr id="7" name="Straight Arrow Connector 6">
            <a:extLst>
              <a:ext uri="{FF2B5EF4-FFF2-40B4-BE49-F238E27FC236}">
                <a16:creationId xmlns:a16="http://schemas.microsoft.com/office/drawing/2014/main" id="{A703C83A-9FCD-4801-9516-C0916FAD9FAA}"/>
              </a:ext>
            </a:extLst>
          </p:cNvPr>
          <p:cNvCxnSpPr>
            <a:cxnSpLocks/>
            <a:stCxn id="6" idx="0"/>
            <a:endCxn id="5" idx="2"/>
          </p:cNvCxnSpPr>
          <p:nvPr/>
        </p:nvCxnSpPr>
        <p:spPr>
          <a:xfrm flipV="1">
            <a:off x="1898980" y="2186076"/>
            <a:ext cx="0" cy="186172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9DBB9A-BDB6-4F5A-9595-65C34539DACC}"/>
              </a:ext>
            </a:extLst>
          </p:cNvPr>
          <p:cNvCxnSpPr>
            <a:stCxn id="5" idx="3"/>
          </p:cNvCxnSpPr>
          <p:nvPr/>
        </p:nvCxnSpPr>
        <p:spPr>
          <a:xfrm>
            <a:off x="2719954" y="1964218"/>
            <a:ext cx="657427"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18726E-F743-4854-9BB4-111044E97877}"/>
              </a:ext>
            </a:extLst>
          </p:cNvPr>
          <p:cNvCxnSpPr/>
          <p:nvPr/>
        </p:nvCxnSpPr>
        <p:spPr>
          <a:xfrm>
            <a:off x="3377381" y="1964218"/>
            <a:ext cx="0" cy="231281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7C39557-8380-4FFE-BDB6-D358FBC27B1D}"/>
              </a:ext>
            </a:extLst>
          </p:cNvPr>
          <p:cNvCxnSpPr>
            <a:cxnSpLocks/>
            <a:endCxn id="6" idx="3"/>
          </p:cNvCxnSpPr>
          <p:nvPr/>
        </p:nvCxnSpPr>
        <p:spPr>
          <a:xfrm flipH="1">
            <a:off x="2719954" y="4269658"/>
            <a:ext cx="657427"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BED1A1DE-C380-43AE-9BBA-A6BB2B8236E6}"/>
              </a:ext>
            </a:extLst>
          </p:cNvPr>
          <p:cNvSpPr txBox="1">
            <a:spLocks/>
          </p:cNvSpPr>
          <p:nvPr/>
        </p:nvSpPr>
        <p:spPr>
          <a:xfrm>
            <a:off x="4628407" y="1580417"/>
            <a:ext cx="5632658" cy="3073041"/>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0070C0"/>
                </a:solidFill>
                <a:latin typeface="Consolas" panose="020B0609020204030204" pitchFamily="49" charset="0"/>
              </a:rPr>
              <a:t>class </a:t>
            </a:r>
            <a:r>
              <a:rPr lang="en-US" sz="1800">
                <a:latin typeface="Consolas" panose="020B0609020204030204" pitchFamily="49" charset="0"/>
              </a:rPr>
              <a:t>Demo1</a:t>
            </a:r>
            <a:r>
              <a:rPr lang="en-US" sz="1800">
                <a:solidFill>
                  <a:srgbClr val="0070C0"/>
                </a:solidFill>
                <a:latin typeface="Consolas" panose="020B0609020204030204" pitchFamily="49" charset="0"/>
              </a:rPr>
              <a:t> extends </a:t>
            </a:r>
            <a:r>
              <a:rPr lang="en-US" sz="1800">
                <a:latin typeface="Consolas" panose="020B0609020204030204" pitchFamily="49" charset="0"/>
              </a:rPr>
              <a:t>Demo2</a:t>
            </a:r>
          </a:p>
          <a:p>
            <a:pPr marL="0" indent="0">
              <a:buNone/>
            </a:pPr>
            <a:r>
              <a:rPr lang="en-US" sz="1800">
                <a:latin typeface="Consolas" panose="020B0609020204030204" pitchFamily="49" charset="0"/>
              </a:rPr>
              <a:t>{</a:t>
            </a:r>
          </a:p>
          <a:p>
            <a:pPr marL="0" indent="0">
              <a:buNone/>
            </a:pPr>
            <a:r>
              <a:rPr lang="en-US" sz="1800">
                <a:solidFill>
                  <a:srgbClr val="00B050"/>
                </a:solidFill>
                <a:latin typeface="Consolas" panose="020B0609020204030204" pitchFamily="49" charset="0"/>
              </a:rPr>
              <a:t>//code here</a:t>
            </a:r>
          </a:p>
          <a:p>
            <a:pPr marL="0" indent="0">
              <a:buNone/>
            </a:pPr>
            <a:r>
              <a:rPr lang="en-US" sz="1800">
                <a:latin typeface="Consolas" panose="020B0609020204030204" pitchFamily="49" charset="0"/>
              </a:rPr>
              <a:t>}</a:t>
            </a:r>
          </a:p>
          <a:p>
            <a:pPr marL="0" indent="0">
              <a:buNone/>
            </a:pPr>
            <a:r>
              <a:rPr lang="en-US" sz="1800">
                <a:solidFill>
                  <a:srgbClr val="0070C0"/>
                </a:solidFill>
                <a:latin typeface="Consolas" panose="020B0609020204030204" pitchFamily="49" charset="0"/>
              </a:rPr>
              <a:t>class </a:t>
            </a:r>
            <a:r>
              <a:rPr lang="en-US" sz="1800">
                <a:latin typeface="Consolas" panose="020B0609020204030204" pitchFamily="49" charset="0"/>
              </a:rPr>
              <a:t>Demo2</a:t>
            </a:r>
            <a:r>
              <a:rPr lang="en-US" sz="1800">
                <a:solidFill>
                  <a:srgbClr val="0070C0"/>
                </a:solidFill>
                <a:latin typeface="Consolas" panose="020B0609020204030204" pitchFamily="49" charset="0"/>
              </a:rPr>
              <a:t> extends </a:t>
            </a:r>
            <a:r>
              <a:rPr lang="en-US" sz="1800">
                <a:latin typeface="Consolas" panose="020B0609020204030204" pitchFamily="49" charset="0"/>
              </a:rPr>
              <a:t>Demo1</a:t>
            </a:r>
          </a:p>
          <a:p>
            <a:pPr marL="0" indent="0">
              <a:buNone/>
            </a:pPr>
            <a:r>
              <a:rPr lang="en-US" sz="1800">
                <a:latin typeface="Consolas" panose="020B0609020204030204" pitchFamily="49" charset="0"/>
              </a:rPr>
              <a:t>{</a:t>
            </a:r>
          </a:p>
          <a:p>
            <a:pPr marL="0" indent="0">
              <a:buNone/>
            </a:pPr>
            <a:r>
              <a:rPr lang="en-US" sz="1800">
                <a:solidFill>
                  <a:srgbClr val="00B050"/>
                </a:solidFill>
                <a:latin typeface="Consolas" panose="020B0609020204030204" pitchFamily="49" charset="0"/>
              </a:rPr>
              <a:t>//code here</a:t>
            </a:r>
          </a:p>
          <a:p>
            <a:pPr marL="0" indent="0">
              <a:buNone/>
            </a:pPr>
            <a:r>
              <a:rPr lang="en-US" sz="1800">
                <a:latin typeface="Consolas" panose="020B0609020204030204" pitchFamily="49" charset="0"/>
              </a:rPr>
              <a:t>}</a:t>
            </a:r>
            <a:endParaRPr lang="en-IN" sz="1800">
              <a:latin typeface="Consolas" panose="020B0609020204030204" pitchFamily="49" charset="0"/>
            </a:endParaRPr>
          </a:p>
        </p:txBody>
      </p:sp>
      <p:sp>
        <p:nvSpPr>
          <p:cNvPr id="8" name="TextBox 7">
            <a:extLst>
              <a:ext uri="{FF2B5EF4-FFF2-40B4-BE49-F238E27FC236}">
                <a16:creationId xmlns:a16="http://schemas.microsoft.com/office/drawing/2014/main" id="{F5C17D84-B04E-4A54-B6AC-1058429872D0}"/>
              </a:ext>
            </a:extLst>
          </p:cNvPr>
          <p:cNvSpPr txBox="1"/>
          <p:nvPr/>
        </p:nvSpPr>
        <p:spPr>
          <a:xfrm>
            <a:off x="3377381" y="5091406"/>
            <a:ext cx="2554930" cy="461665"/>
          </a:xfrm>
          <a:prstGeom prst="rect">
            <a:avLst/>
          </a:prstGeom>
          <a:solidFill>
            <a:srgbClr val="2EFC44"/>
          </a:solidFill>
          <a:ln>
            <a:solidFill>
              <a:schemeClr val="accent1"/>
            </a:solidFill>
          </a:ln>
        </p:spPr>
        <p:txBody>
          <a:bodyPr wrap="none" rtlCol="0">
            <a:spAutoFit/>
          </a:bodyPr>
          <a:lstStyle/>
          <a:p>
            <a:r>
              <a:rPr lang="en-IN" sz="2400">
                <a:latin typeface="Gill Sans MT" panose="020B0502020104020203" pitchFamily="34" charset="0"/>
              </a:rPr>
              <a:t>Leads to ambiguity.</a:t>
            </a:r>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7C5E3FC7-5D52-0EAD-846E-993F57F249DC}"/>
                  </a:ext>
                </a:extLst>
              </p:cNvPr>
              <p:cNvGraphicFramePr>
                <a:graphicFrameLocks noChangeAspect="1"/>
              </p:cNvGraphicFramePr>
              <p:nvPr>
                <p:extLst>
                  <p:ext uri="{D42A27DB-BD31-4B8C-83A1-F6EECF244321}">
                    <p14:modId xmlns:p14="http://schemas.microsoft.com/office/powerpoint/2010/main" val="1398045434"/>
                  </p:ext>
                </p:extLst>
              </p:nvPr>
            </p:nvGraphicFramePr>
            <p:xfrm>
              <a:off x="3382297" y="2296644"/>
              <a:ext cx="3048000" cy="1714500"/>
            </p:xfrm>
            <a:graphic>
              <a:graphicData uri="http://schemas.microsoft.com/office/powerpoint/2016/slidezoom">
                <pslz:sldZm>
                  <pslz:sldZmObj sldId="439" cId="3615257784">
                    <pslz:zmPr id="{DC8D4CEB-AB9A-4124-8857-5732FB920A62}"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9" name="Slide Zoom 8">
                <a:hlinkClick r:id="rId3" action="ppaction://hlinksldjump"/>
                <a:extLst>
                  <a:ext uri="{FF2B5EF4-FFF2-40B4-BE49-F238E27FC236}">
                    <a16:creationId xmlns:a16="http://schemas.microsoft.com/office/drawing/2014/main" id="{7C5E3FC7-5D52-0EAD-846E-993F57F249DC}"/>
                  </a:ext>
                </a:extLst>
              </p:cNvPr>
              <p:cNvPicPr>
                <a:picLocks noGrp="1" noRot="1" noChangeAspect="1" noMove="1" noResize="1" noEditPoints="1" noAdjustHandles="1" noChangeArrowheads="1" noChangeShapeType="1"/>
              </p:cNvPicPr>
              <p:nvPr/>
            </p:nvPicPr>
            <p:blipFill>
              <a:blip r:embed="rId4"/>
              <a:stretch>
                <a:fillRect/>
              </a:stretch>
            </p:blipFill>
            <p:spPr>
              <a:xfrm>
                <a:off x="3382297" y="2296644"/>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61525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circle(in)">
                                      <p:cBhvr>
                                        <p:cTn id="18" dur="2000"/>
                                        <p:tgtEl>
                                          <p:spTgt spid="12"/>
                                        </p:tgtEl>
                                      </p:cBhvr>
                                    </p:animEffect>
                                  </p:childTnLst>
                                </p:cTn>
                              </p:par>
                              <p:par>
                                <p:cTn id="19" presetID="6" presetClass="entr" presetSubtype="16"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circle(in)">
                                      <p:cBhvr>
                                        <p:cTn id="21" dur="2000"/>
                                        <p:tgtEl>
                                          <p:spTgt spid="14"/>
                                        </p:tgtEl>
                                      </p:cBhvr>
                                    </p:animEffect>
                                  </p:childTnLst>
                                </p:cTn>
                              </p:par>
                              <p:par>
                                <p:cTn id="22" presetID="6" presetClass="entr" presetSubtype="16"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circle(in)">
                                      <p:cBhvr>
                                        <p:cTn id="24" dur="20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wd">
                                    <p:tmAbs val="500"/>
                                  </p:iterate>
                                  <p:childTnLst>
                                    <p:set>
                                      <p:cBhvr>
                                        <p:cTn id="28" dur="1" fill="hold">
                                          <p:stCondLst>
                                            <p:cond delay="0"/>
                                          </p:stCondLst>
                                        </p:cTn>
                                        <p:tgtEl>
                                          <p:spTgt spid="10">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wd">
                                    <p:tmAbs val="500"/>
                                  </p:iterate>
                                  <p:childTnLst>
                                    <p:set>
                                      <p:cBhvr>
                                        <p:cTn id="3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wd">
                                    <p:tmAbs val="500"/>
                                  </p:iterate>
                                  <p:childTnLst>
                                    <p:set>
                                      <p:cBhvr>
                                        <p:cTn id="3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type="wd">
                                    <p:tmAbs val="500"/>
                                  </p:iterate>
                                  <p:childTnLst>
                                    <p:set>
                                      <p:cBhvr>
                                        <p:cTn id="4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wd">
                                    <p:tmAbs val="500"/>
                                  </p:iterate>
                                  <p:childTnLst>
                                    <p:set>
                                      <p:cBhvr>
                                        <p:cTn id="4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type="wd">
                                    <p:tmAbs val="500"/>
                                  </p:iterate>
                                  <p:childTnLst>
                                    <p:set>
                                      <p:cBhvr>
                                        <p:cTn id="4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type="wd">
                                    <p:tmAbs val="500"/>
                                  </p:iterate>
                                  <p:childTnLst>
                                    <p:set>
                                      <p:cBhvr>
                                        <p:cTn id="5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type="wd">
                                    <p:tmAbs val="500"/>
                                  </p:iterate>
                                  <p:childTnLst>
                                    <p:set>
                                      <p:cBhvr>
                                        <p:cTn id="5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type="wd">
                                    <p:tmAbs val="500"/>
                                  </p:iterate>
                                  <p:childTnLst>
                                    <p:set>
                                      <p:cBhvr>
                                        <p:cTn id="6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build="p"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p:txBody>
          <a:bodyPr>
            <a:normAutofit/>
          </a:bodyPr>
          <a:lstStyle/>
          <a:p>
            <a:r>
              <a:rPr lang="en-US" sz="3200" b="1" i="0">
                <a:solidFill>
                  <a:srgbClr val="4A4A4A"/>
                </a:solidFill>
                <a:effectLst/>
                <a:latin typeface="Gill Sans MT" panose="020B0502020104020203" pitchFamily="34" charset="0"/>
              </a:rPr>
              <a:t>RULE 3: Private members do NOT get inherited.</a:t>
            </a:r>
            <a:endParaRPr lang="en-IN" sz="3200">
              <a:latin typeface="Gill Sans MT" panose="020B0502020104020203" pitchFamily="34" charset="0"/>
            </a:endParaRP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6</a:t>
            </a:fld>
            <a:endParaRPr lang="en-IN"/>
          </a:p>
        </p:txBody>
      </p:sp>
      <p:sp>
        <p:nvSpPr>
          <p:cNvPr id="5" name="Content Placeholder 2">
            <a:extLst>
              <a:ext uri="{FF2B5EF4-FFF2-40B4-BE49-F238E27FC236}">
                <a16:creationId xmlns:a16="http://schemas.microsoft.com/office/drawing/2014/main" id="{9B11D1CA-7506-4927-9A8A-1C1326FD6FB9}"/>
              </a:ext>
            </a:extLst>
          </p:cNvPr>
          <p:cNvSpPr txBox="1">
            <a:spLocks/>
          </p:cNvSpPr>
          <p:nvPr/>
        </p:nvSpPr>
        <p:spPr>
          <a:xfrm>
            <a:off x="307258" y="1670564"/>
            <a:ext cx="3026005" cy="3358636"/>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chemeClr val="accent1"/>
                </a:solidFill>
                <a:latin typeface="Consolas" panose="020B0609020204030204" pitchFamily="49" charset="0"/>
              </a:rPr>
              <a:t>class</a:t>
            </a:r>
            <a:r>
              <a:rPr lang="en-US" sz="1800">
                <a:latin typeface="Consolas" panose="020B0609020204030204" pitchFamily="49" charset="0"/>
              </a:rPr>
              <a:t> You</a:t>
            </a:r>
          </a:p>
          <a:p>
            <a:pPr marL="0" indent="0">
              <a:buNone/>
            </a:pPr>
            <a:r>
              <a:rPr lang="en-US" sz="1800">
                <a:latin typeface="Consolas" panose="020B0609020204030204" pitchFamily="49" charset="0"/>
              </a:rPr>
              <a:t>{</a:t>
            </a:r>
          </a:p>
          <a:p>
            <a:pPr marL="0" indent="0">
              <a:buNone/>
            </a:pPr>
            <a:r>
              <a:rPr lang="en-US" sz="1800">
                <a:solidFill>
                  <a:schemeClr val="accent1"/>
                </a:solidFill>
                <a:latin typeface="Consolas" panose="020B0609020204030204" pitchFamily="49" charset="0"/>
              </a:rPr>
              <a:t>  private</a:t>
            </a:r>
            <a:r>
              <a:rPr lang="en-US" sz="1800">
                <a:latin typeface="Consolas" panose="020B0609020204030204" pitchFamily="49" charset="0"/>
              </a:rPr>
              <a:t> int an;</a:t>
            </a:r>
          </a:p>
          <a:p>
            <a:pPr marL="0" indent="0">
              <a:buNone/>
            </a:pPr>
            <a:r>
              <a:rPr lang="en-US" sz="1800">
                <a:solidFill>
                  <a:schemeClr val="accent1"/>
                </a:solidFill>
                <a:latin typeface="Consolas" panose="020B0609020204030204" pitchFamily="49" charset="0"/>
              </a:rPr>
              <a:t>  private</a:t>
            </a:r>
            <a:r>
              <a:rPr lang="en-US" sz="1800">
                <a:latin typeface="Consolas" panose="020B0609020204030204" pitchFamily="49" charset="0"/>
              </a:rPr>
              <a:t> int pw;</a:t>
            </a:r>
          </a:p>
          <a:p>
            <a:pPr marL="0" indent="0">
              <a:buNone/>
            </a:pPr>
            <a:r>
              <a:rPr lang="en-US" sz="1800">
                <a:latin typeface="Consolas" panose="020B0609020204030204" pitchFamily="49" charset="0"/>
              </a:rPr>
              <a:t>  You{</a:t>
            </a:r>
          </a:p>
          <a:p>
            <a:pPr marL="0" indent="0">
              <a:buNone/>
            </a:pPr>
            <a:r>
              <a:rPr lang="en-US" sz="1800">
                <a:latin typeface="Consolas" panose="020B0609020204030204" pitchFamily="49" charset="0"/>
              </a:rPr>
              <a:t>    an =111;</a:t>
            </a:r>
          </a:p>
          <a:p>
            <a:pPr marL="0" indent="0">
              <a:buNone/>
            </a:pPr>
            <a:r>
              <a:rPr lang="en-US" sz="1800">
                <a:latin typeface="Consolas" panose="020B0609020204030204" pitchFamily="49" charset="0"/>
              </a:rPr>
              <a:t>    pw= 222;</a:t>
            </a:r>
          </a:p>
          <a:p>
            <a:pPr marL="0" indent="0">
              <a:buNone/>
            </a:pPr>
            <a:r>
              <a:rPr lang="en-US" sz="1800">
                <a:latin typeface="Consolas" panose="020B0609020204030204" pitchFamily="49" charset="0"/>
              </a:rPr>
              <a:t>  }</a:t>
            </a:r>
          </a:p>
          <a:p>
            <a:pPr marL="0" indent="0">
              <a:buNone/>
            </a:pPr>
            <a:r>
              <a:rPr lang="en-US" sz="1800">
                <a:latin typeface="Consolas" panose="020B0609020204030204" pitchFamily="49" charset="0"/>
              </a:rPr>
              <a:t>}</a:t>
            </a:r>
          </a:p>
        </p:txBody>
      </p:sp>
      <p:sp>
        <p:nvSpPr>
          <p:cNvPr id="7" name="Content Placeholder 2">
            <a:extLst>
              <a:ext uri="{FF2B5EF4-FFF2-40B4-BE49-F238E27FC236}">
                <a16:creationId xmlns:a16="http://schemas.microsoft.com/office/drawing/2014/main" id="{61C7C9AE-7D34-4F7A-9396-0F9B0CF59BEF}"/>
              </a:ext>
            </a:extLst>
          </p:cNvPr>
          <p:cNvSpPr txBox="1">
            <a:spLocks/>
          </p:cNvSpPr>
          <p:nvPr/>
        </p:nvSpPr>
        <p:spPr>
          <a:xfrm>
            <a:off x="7388813" y="1493583"/>
            <a:ext cx="4478722" cy="3712598"/>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chemeClr val="accent1"/>
                </a:solidFill>
                <a:latin typeface="Consolas" panose="020B0609020204030204" pitchFamily="49" charset="0"/>
              </a:rPr>
              <a:t>class</a:t>
            </a:r>
            <a:r>
              <a:rPr lang="en-US" sz="1800">
                <a:latin typeface="Consolas" panose="020B0609020204030204" pitchFamily="49" charset="0"/>
              </a:rPr>
              <a:t> Launch</a:t>
            </a:r>
          </a:p>
          <a:p>
            <a:pPr marL="0" indent="0">
              <a:buNone/>
            </a:pPr>
            <a:r>
              <a:rPr lang="en-US" sz="1800">
                <a:latin typeface="Consolas" panose="020B0609020204030204" pitchFamily="49" charset="0"/>
              </a:rPr>
              <a:t>{</a:t>
            </a:r>
          </a:p>
          <a:p>
            <a:pPr marL="0" indent="0">
              <a:buNone/>
            </a:pPr>
            <a:r>
              <a:rPr lang="en-US" sz="1800">
                <a:latin typeface="Consolas" panose="020B0609020204030204" pitchFamily="49" charset="0"/>
              </a:rPr>
              <a:t>  </a:t>
            </a:r>
            <a:r>
              <a:rPr lang="en-US" sz="1800">
                <a:solidFill>
                  <a:schemeClr val="accent1"/>
                </a:solidFill>
                <a:latin typeface="Consolas" panose="020B0609020204030204" pitchFamily="49" charset="0"/>
              </a:rPr>
              <a:t>public static void </a:t>
            </a:r>
            <a:r>
              <a:rPr lang="en-US" sz="1800">
                <a:latin typeface="Consolas" panose="020B0609020204030204" pitchFamily="49" charset="0"/>
              </a:rPr>
              <a:t>main(</a:t>
            </a:r>
            <a:r>
              <a:rPr lang="en-US" sz="1800">
                <a:solidFill>
                  <a:srgbClr val="C00000"/>
                </a:solidFill>
                <a:latin typeface="Consolas" panose="020B0609020204030204" pitchFamily="49" charset="0"/>
              </a:rPr>
              <a:t>String</a:t>
            </a:r>
            <a:r>
              <a:rPr lang="en-US" sz="1800">
                <a:latin typeface="Consolas" panose="020B0609020204030204" pitchFamily="49" charset="0"/>
              </a:rPr>
              <a:t> </a:t>
            </a:r>
            <a:r>
              <a:rPr lang="en-US" sz="1800" err="1">
                <a:latin typeface="Consolas" panose="020B0609020204030204" pitchFamily="49" charset="0"/>
              </a:rPr>
              <a:t>args</a:t>
            </a:r>
            <a:r>
              <a:rPr lang="en-US" sz="1800">
                <a:latin typeface="Consolas" panose="020B0609020204030204" pitchFamily="49" charset="0"/>
              </a:rPr>
              <a:t>[])</a:t>
            </a:r>
          </a:p>
          <a:p>
            <a:pPr marL="0" indent="0">
              <a:buNone/>
            </a:pPr>
            <a:r>
              <a:rPr lang="en-US" sz="1800">
                <a:latin typeface="Consolas" panose="020B0609020204030204" pitchFamily="49" charset="0"/>
              </a:rPr>
              <a:t>  {</a:t>
            </a:r>
          </a:p>
          <a:p>
            <a:pPr marL="0" indent="0">
              <a:buNone/>
            </a:pPr>
            <a:r>
              <a:rPr lang="en-US" sz="1800">
                <a:latin typeface="Consolas" panose="020B0609020204030204" pitchFamily="49" charset="0"/>
              </a:rPr>
              <a:t>    Friend f =</a:t>
            </a:r>
            <a:r>
              <a:rPr lang="en-US" sz="1800">
                <a:solidFill>
                  <a:srgbClr val="C00000"/>
                </a:solidFill>
                <a:latin typeface="Consolas" panose="020B0609020204030204" pitchFamily="49" charset="0"/>
              </a:rPr>
              <a:t> new </a:t>
            </a:r>
            <a:r>
              <a:rPr lang="en-US" sz="1800">
                <a:latin typeface="Consolas" panose="020B0609020204030204" pitchFamily="49" charset="0"/>
              </a:rPr>
              <a:t>Friend();</a:t>
            </a:r>
          </a:p>
          <a:p>
            <a:pPr marL="0" indent="0">
              <a:buNone/>
            </a:pPr>
            <a:r>
              <a:rPr lang="en-US" sz="1800">
                <a:latin typeface="Consolas" panose="020B0609020204030204" pitchFamily="49" charset="0"/>
              </a:rPr>
              <a:t>    </a:t>
            </a:r>
            <a:r>
              <a:rPr lang="en-US" sz="1800" err="1">
                <a:latin typeface="Consolas" panose="020B0609020204030204" pitchFamily="49" charset="0"/>
              </a:rPr>
              <a:t>f.changeData</a:t>
            </a:r>
            <a:r>
              <a:rPr lang="en-US" sz="1800">
                <a:latin typeface="Consolas" panose="020B0609020204030204" pitchFamily="49" charset="0"/>
              </a:rPr>
              <a:t>();</a:t>
            </a:r>
          </a:p>
          <a:p>
            <a:pPr marL="0" indent="0">
              <a:buNone/>
            </a:pPr>
            <a:r>
              <a:rPr lang="en-US" sz="1800">
                <a:latin typeface="Consolas" panose="020B0609020204030204" pitchFamily="49" charset="0"/>
              </a:rPr>
              <a:t>    </a:t>
            </a:r>
            <a:r>
              <a:rPr lang="en-US" sz="1800">
                <a:solidFill>
                  <a:srgbClr val="00B050"/>
                </a:solidFill>
                <a:latin typeface="Consolas" panose="020B0609020204030204" pitchFamily="49" charset="0"/>
              </a:rPr>
              <a:t>//</a:t>
            </a:r>
            <a:r>
              <a:rPr lang="en-US" sz="1800" err="1">
                <a:solidFill>
                  <a:srgbClr val="00B050"/>
                </a:solidFill>
                <a:latin typeface="Consolas" panose="020B0609020204030204" pitchFamily="49" charset="0"/>
              </a:rPr>
              <a:t>f.disp</a:t>
            </a:r>
            <a:r>
              <a:rPr lang="en-US" sz="1800">
                <a:solidFill>
                  <a:srgbClr val="00B050"/>
                </a:solidFill>
                <a:latin typeface="Consolas" panose="020B0609020204030204" pitchFamily="49" charset="0"/>
              </a:rPr>
              <a:t>();</a:t>
            </a:r>
          </a:p>
          <a:p>
            <a:pPr marL="0" indent="0">
              <a:buNone/>
            </a:pPr>
            <a:r>
              <a:rPr lang="en-US" sz="1800">
                <a:latin typeface="Consolas" panose="020B0609020204030204" pitchFamily="49" charset="0"/>
              </a:rPr>
              <a:t>  }</a:t>
            </a:r>
          </a:p>
          <a:p>
            <a:pPr marL="0" indent="0">
              <a:buNone/>
            </a:pPr>
            <a:r>
              <a:rPr lang="en-US" sz="1800">
                <a:latin typeface="Consolas" panose="020B0609020204030204" pitchFamily="49" charset="0"/>
              </a:rPr>
              <a:t>}</a:t>
            </a:r>
            <a:endParaRPr lang="en-IN" sz="1800">
              <a:latin typeface="Consolas" panose="020B0609020204030204" pitchFamily="49" charset="0"/>
            </a:endParaRPr>
          </a:p>
        </p:txBody>
      </p:sp>
      <p:sp>
        <p:nvSpPr>
          <p:cNvPr id="8" name="Content Placeholder 2">
            <a:extLst>
              <a:ext uri="{FF2B5EF4-FFF2-40B4-BE49-F238E27FC236}">
                <a16:creationId xmlns:a16="http://schemas.microsoft.com/office/drawing/2014/main" id="{6A826D8D-2B21-4F7D-B28F-FDE809C83A91}"/>
              </a:ext>
            </a:extLst>
          </p:cNvPr>
          <p:cNvSpPr txBox="1">
            <a:spLocks/>
          </p:cNvSpPr>
          <p:nvPr/>
        </p:nvSpPr>
        <p:spPr>
          <a:xfrm>
            <a:off x="3690751" y="1670564"/>
            <a:ext cx="3340574" cy="3358636"/>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chemeClr val="accent1"/>
                </a:solidFill>
                <a:latin typeface="Consolas" panose="020B0609020204030204" pitchFamily="49" charset="0"/>
              </a:rPr>
              <a:t>class</a:t>
            </a:r>
            <a:r>
              <a:rPr lang="en-US" sz="1800">
                <a:latin typeface="Consolas" panose="020B0609020204030204" pitchFamily="49" charset="0"/>
              </a:rPr>
              <a:t> Friend </a:t>
            </a:r>
            <a:r>
              <a:rPr lang="en-US" sz="1800">
                <a:solidFill>
                  <a:schemeClr val="accent1"/>
                </a:solidFill>
                <a:latin typeface="Consolas" panose="020B0609020204030204" pitchFamily="49" charset="0"/>
              </a:rPr>
              <a:t>extends</a:t>
            </a:r>
            <a:r>
              <a:rPr lang="en-US" sz="1800">
                <a:latin typeface="Consolas" panose="020B0609020204030204" pitchFamily="49" charset="0"/>
              </a:rPr>
              <a:t> You</a:t>
            </a:r>
          </a:p>
          <a:p>
            <a:pPr marL="0" indent="0">
              <a:buNone/>
            </a:pPr>
            <a:r>
              <a:rPr lang="en-US" sz="1800">
                <a:latin typeface="Consolas" panose="020B0609020204030204" pitchFamily="49" charset="0"/>
              </a:rPr>
              <a:t>{</a:t>
            </a:r>
          </a:p>
          <a:p>
            <a:pPr marL="0" indent="0">
              <a:buNone/>
            </a:pPr>
            <a:r>
              <a:rPr lang="en-US" sz="1800">
                <a:solidFill>
                  <a:schemeClr val="accent1"/>
                </a:solidFill>
                <a:latin typeface="Consolas" panose="020B0609020204030204" pitchFamily="49" charset="0"/>
              </a:rPr>
              <a:t>   void</a:t>
            </a:r>
            <a:r>
              <a:rPr lang="en-US" sz="1800">
                <a:latin typeface="Consolas" panose="020B0609020204030204" pitchFamily="49" charset="0"/>
              </a:rPr>
              <a:t> </a:t>
            </a:r>
            <a:r>
              <a:rPr lang="en-US" sz="1800" err="1">
                <a:latin typeface="Consolas" panose="020B0609020204030204" pitchFamily="49" charset="0"/>
              </a:rPr>
              <a:t>changeData</a:t>
            </a:r>
            <a:r>
              <a:rPr lang="en-US" sz="1800">
                <a:latin typeface="Consolas" panose="020B0609020204030204" pitchFamily="49" charset="0"/>
              </a:rPr>
              <a:t>()</a:t>
            </a:r>
          </a:p>
          <a:p>
            <a:pPr marL="0" indent="0">
              <a:buNone/>
            </a:pPr>
            <a:r>
              <a:rPr lang="en-US" sz="1800">
                <a:latin typeface="Consolas" panose="020B0609020204030204" pitchFamily="49" charset="0"/>
              </a:rPr>
              <a:t>   {</a:t>
            </a:r>
          </a:p>
          <a:p>
            <a:pPr marL="0" indent="0">
              <a:buNone/>
            </a:pPr>
            <a:r>
              <a:rPr lang="en-US" sz="1800">
                <a:latin typeface="Consolas" panose="020B0609020204030204" pitchFamily="49" charset="0"/>
              </a:rPr>
              <a:t>     an =8888;</a:t>
            </a:r>
          </a:p>
          <a:p>
            <a:pPr marL="0" indent="0">
              <a:buNone/>
            </a:pPr>
            <a:r>
              <a:rPr lang="en-US" sz="1800">
                <a:latin typeface="Consolas" panose="020B0609020204030204" pitchFamily="49" charset="0"/>
              </a:rPr>
              <a:t>     pw=9999;</a:t>
            </a:r>
          </a:p>
          <a:p>
            <a:pPr marL="0" indent="0">
              <a:buNone/>
            </a:pPr>
            <a:r>
              <a:rPr lang="en-US" sz="1800">
                <a:latin typeface="Consolas" panose="020B0609020204030204" pitchFamily="49" charset="0"/>
              </a:rPr>
              <a:t>   }</a:t>
            </a:r>
          </a:p>
          <a:p>
            <a:pPr marL="0" indent="0">
              <a:buNone/>
            </a:pPr>
            <a:r>
              <a:rPr lang="en-US" sz="1800">
                <a:latin typeface="Consolas" panose="020B0609020204030204" pitchFamily="49" charset="0"/>
              </a:rPr>
              <a:t>}</a:t>
            </a:r>
          </a:p>
          <a:p>
            <a:pPr marL="0" indent="0">
              <a:buNone/>
            </a:pPr>
            <a:endParaRPr lang="en-IN" sz="1800">
              <a:latin typeface="Consolas" panose="020B0609020204030204" pitchFamily="49" charset="0"/>
            </a:endParaRPr>
          </a:p>
        </p:txBody>
      </p:sp>
      <p:sp>
        <p:nvSpPr>
          <p:cNvPr id="9" name="TextBox 8">
            <a:extLst>
              <a:ext uri="{FF2B5EF4-FFF2-40B4-BE49-F238E27FC236}">
                <a16:creationId xmlns:a16="http://schemas.microsoft.com/office/drawing/2014/main" id="{E928BEC1-3443-4272-A652-CF6F1BB3F997}"/>
              </a:ext>
            </a:extLst>
          </p:cNvPr>
          <p:cNvSpPr txBox="1"/>
          <p:nvPr/>
        </p:nvSpPr>
        <p:spPr>
          <a:xfrm>
            <a:off x="5054319" y="5525353"/>
            <a:ext cx="6277359" cy="830997"/>
          </a:xfrm>
          <a:prstGeom prst="rect">
            <a:avLst/>
          </a:prstGeom>
          <a:solidFill>
            <a:srgbClr val="2EFC44"/>
          </a:solidFill>
          <a:ln>
            <a:solidFill>
              <a:schemeClr val="accent1"/>
            </a:solidFill>
          </a:ln>
        </p:spPr>
        <p:txBody>
          <a:bodyPr wrap="none" rtlCol="0">
            <a:spAutoFit/>
          </a:bodyPr>
          <a:lstStyle/>
          <a:p>
            <a:r>
              <a:rPr lang="en-IN" sz="2400">
                <a:latin typeface="Gill Sans MT" panose="020B0502020104020203" pitchFamily="34" charset="0"/>
              </a:rPr>
              <a:t>Private variables: </a:t>
            </a:r>
            <a:r>
              <a:rPr lang="en-IN" sz="2400">
                <a:solidFill>
                  <a:srgbClr val="FF0000"/>
                </a:solidFill>
                <a:latin typeface="Gill Sans MT" panose="020B0502020104020203" pitchFamily="34" charset="0"/>
              </a:rPr>
              <a:t>pw</a:t>
            </a:r>
            <a:r>
              <a:rPr lang="en-IN" sz="2400">
                <a:latin typeface="Gill Sans MT" panose="020B0502020104020203" pitchFamily="34" charset="0"/>
              </a:rPr>
              <a:t> and </a:t>
            </a:r>
            <a:r>
              <a:rPr lang="en-IN" sz="2400">
                <a:solidFill>
                  <a:srgbClr val="FF0000"/>
                </a:solidFill>
                <a:latin typeface="Gill Sans MT" panose="020B0502020104020203" pitchFamily="34" charset="0"/>
              </a:rPr>
              <a:t>an</a:t>
            </a:r>
            <a:r>
              <a:rPr lang="en-IN" sz="2400">
                <a:latin typeface="Gill Sans MT" panose="020B0502020104020203" pitchFamily="34" charset="0"/>
              </a:rPr>
              <a:t> will not be inherited.</a:t>
            </a:r>
          </a:p>
          <a:p>
            <a:r>
              <a:rPr lang="en-IN" sz="2400">
                <a:latin typeface="Gill Sans MT" panose="020B0502020104020203" pitchFamily="34" charset="0"/>
              </a:rPr>
              <a:t>They are specific to the particular class.</a:t>
            </a:r>
          </a:p>
        </p:txBody>
      </p:sp>
      <p:sp>
        <p:nvSpPr>
          <p:cNvPr id="6" name="Rectangle 5">
            <a:extLst>
              <a:ext uri="{FF2B5EF4-FFF2-40B4-BE49-F238E27FC236}">
                <a16:creationId xmlns:a16="http://schemas.microsoft.com/office/drawing/2014/main" id="{BF54BC69-25DB-4D89-AD98-C3E0485ADEB1}"/>
              </a:ext>
            </a:extLst>
          </p:cNvPr>
          <p:cNvSpPr/>
          <p:nvPr/>
        </p:nvSpPr>
        <p:spPr>
          <a:xfrm>
            <a:off x="860322" y="5216538"/>
            <a:ext cx="3731342" cy="147523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a:t>error: an has private access in You                                                                          an =8888;                                                                                                             error: pw has private access in You                                                                          pw=9999;                                                                                                                </a:t>
            </a:r>
          </a:p>
        </p:txBody>
      </p:sp>
      <p:sp>
        <p:nvSpPr>
          <p:cNvPr id="11" name="Rectangle 10">
            <a:extLst>
              <a:ext uri="{FF2B5EF4-FFF2-40B4-BE49-F238E27FC236}">
                <a16:creationId xmlns:a16="http://schemas.microsoft.com/office/drawing/2014/main" id="{6B094866-5909-45BE-ADCC-D0DBB80A8449}"/>
              </a:ext>
            </a:extLst>
          </p:cNvPr>
          <p:cNvSpPr/>
          <p:nvPr/>
        </p:nvSpPr>
        <p:spPr>
          <a:xfrm>
            <a:off x="4026310" y="2374490"/>
            <a:ext cx="2462980" cy="190254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5612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8">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7">
                                            <p:bg/>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wd">
                                    <p:tmAbs val="500"/>
                                  </p:iterate>
                                  <p:childTnLst>
                                    <p:set>
                                      <p:cBhvr>
                                        <p:cTn id="10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wd">
                                    <p:tmAbs val="500"/>
                                  </p:iterate>
                                  <p:childTnLst>
                                    <p:set>
                                      <p:cBhvr>
                                        <p:cTn id="1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iterate type="wd">
                                    <p:tmAbs val="500"/>
                                  </p:iterate>
                                  <p:childTnLst>
                                    <p:set>
                                      <p:cBhvr>
                                        <p:cTn id="1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iterate type="wd">
                                    <p:tmAbs val="500"/>
                                  </p:iterate>
                                  <p:childTnLst>
                                    <p:set>
                                      <p:cBhvr>
                                        <p:cTn id="1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6" presetClass="entr" presetSubtype="16" fill="hold" grpId="0" nodeType="clickEffect">
                                  <p:stCondLst>
                                    <p:cond delay="0"/>
                                  </p:stCondLst>
                                  <p:childTnLst>
                                    <p:set>
                                      <p:cBhvr>
                                        <p:cTn id="130" dur="1" fill="hold">
                                          <p:stCondLst>
                                            <p:cond delay="0"/>
                                          </p:stCondLst>
                                        </p:cTn>
                                        <p:tgtEl>
                                          <p:spTgt spid="11"/>
                                        </p:tgtEl>
                                        <p:attrNameLst>
                                          <p:attrName>style.visibility</p:attrName>
                                        </p:attrNameLst>
                                      </p:cBhvr>
                                      <p:to>
                                        <p:strVal val="visible"/>
                                      </p:to>
                                    </p:set>
                                    <p:animEffect transition="in" filter="circle(in)">
                                      <p:cBhvr>
                                        <p:cTn id="13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P spid="8" grpId="0" build="p" animBg="1"/>
      <p:bldP spid="9" grpId="0" animBg="1"/>
      <p:bldP spid="6"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p:txBody>
          <a:bodyPr>
            <a:normAutofit/>
          </a:bodyPr>
          <a:lstStyle/>
          <a:p>
            <a:r>
              <a:rPr lang="en-US" sz="3200" b="1" i="0">
                <a:solidFill>
                  <a:srgbClr val="4A4A4A"/>
                </a:solidFill>
                <a:effectLst/>
                <a:latin typeface="Gill Sans MT" panose="020B0502020104020203" pitchFamily="34" charset="0"/>
              </a:rPr>
              <a:t>RULE 4: Constructors cannot be Inherited in Java.</a:t>
            </a:r>
            <a:endParaRPr lang="en-IN" sz="3200">
              <a:latin typeface="Gill Sans MT" panose="020B0502020104020203" pitchFamily="34" charset="0"/>
            </a:endParaRP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7</a:t>
            </a:fld>
            <a:endParaRPr lang="en-IN"/>
          </a:p>
        </p:txBody>
      </p:sp>
      <p:sp>
        <p:nvSpPr>
          <p:cNvPr id="8" name="TextBox 7">
            <a:extLst>
              <a:ext uri="{FF2B5EF4-FFF2-40B4-BE49-F238E27FC236}">
                <a16:creationId xmlns:a16="http://schemas.microsoft.com/office/drawing/2014/main" id="{1107A204-722E-4AD7-8482-1F16B3442150}"/>
              </a:ext>
            </a:extLst>
          </p:cNvPr>
          <p:cNvSpPr txBox="1"/>
          <p:nvPr/>
        </p:nvSpPr>
        <p:spPr>
          <a:xfrm>
            <a:off x="4468761" y="1724089"/>
            <a:ext cx="6098458" cy="707886"/>
          </a:xfrm>
          <a:prstGeom prst="rect">
            <a:avLst/>
          </a:prstGeom>
          <a:noFill/>
          <a:ln>
            <a:solidFill>
              <a:srgbClr val="00B050"/>
            </a:solidFill>
          </a:ln>
        </p:spPr>
        <p:txBody>
          <a:bodyPr wrap="square">
            <a:spAutoFit/>
          </a:bodyPr>
          <a:lstStyle/>
          <a:p>
            <a:r>
              <a:rPr lang="en-US" sz="2000">
                <a:latin typeface="Gill Sans MT" panose="020B0502020104020203" pitchFamily="34" charset="0"/>
              </a:rPr>
              <a:t>A constructor cannot be inherited, as the subclasses always have a different name.</a:t>
            </a:r>
            <a:endParaRPr lang="en-IN" sz="2000">
              <a:latin typeface="Gill Sans MT" panose="020B0502020104020203" pitchFamily="34" charset="0"/>
            </a:endParaRPr>
          </a:p>
        </p:txBody>
      </p:sp>
      <p:sp>
        <p:nvSpPr>
          <p:cNvPr id="9" name="Content Placeholder 2">
            <a:extLst>
              <a:ext uri="{FF2B5EF4-FFF2-40B4-BE49-F238E27FC236}">
                <a16:creationId xmlns:a16="http://schemas.microsoft.com/office/drawing/2014/main" id="{B7F9FE74-6276-4E1B-A0FA-64C09D9FE8F4}"/>
              </a:ext>
            </a:extLst>
          </p:cNvPr>
          <p:cNvSpPr txBox="1">
            <a:spLocks/>
          </p:cNvSpPr>
          <p:nvPr/>
        </p:nvSpPr>
        <p:spPr>
          <a:xfrm>
            <a:off x="714005" y="1541507"/>
            <a:ext cx="3026005" cy="2336810"/>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0070C0"/>
                </a:solidFill>
                <a:latin typeface="Consolas" panose="020B0609020204030204" pitchFamily="49" charset="0"/>
              </a:rPr>
              <a:t>class </a:t>
            </a:r>
            <a:r>
              <a:rPr lang="en-US" sz="1800">
                <a:latin typeface="Consolas" panose="020B0609020204030204" pitchFamily="49" charset="0"/>
              </a:rPr>
              <a:t>A {</a:t>
            </a:r>
          </a:p>
          <a:p>
            <a:pPr marL="0" indent="0">
              <a:buNone/>
            </a:pPr>
            <a:r>
              <a:rPr lang="en-US" sz="1800">
                <a:latin typeface="Consolas" panose="020B0609020204030204" pitchFamily="49" charset="0"/>
              </a:rPr>
              <a:t>   A();</a:t>
            </a:r>
          </a:p>
          <a:p>
            <a:pPr marL="0" indent="0">
              <a:buNone/>
            </a:pPr>
            <a:r>
              <a:rPr lang="en-US" sz="1800">
                <a:latin typeface="Consolas" panose="020B0609020204030204" pitchFamily="49" charset="0"/>
              </a:rPr>
              <a:t>}</a:t>
            </a:r>
          </a:p>
          <a:p>
            <a:pPr marL="0" indent="0">
              <a:buNone/>
            </a:pPr>
            <a:r>
              <a:rPr lang="en-US" sz="1800">
                <a:solidFill>
                  <a:srgbClr val="0070C0"/>
                </a:solidFill>
                <a:latin typeface="Consolas" panose="020B0609020204030204" pitchFamily="49" charset="0"/>
              </a:rPr>
              <a:t>class </a:t>
            </a:r>
            <a:r>
              <a:rPr lang="en-US" sz="1800">
                <a:latin typeface="Consolas" panose="020B0609020204030204" pitchFamily="49" charset="0"/>
              </a:rPr>
              <a:t>B </a:t>
            </a:r>
            <a:r>
              <a:rPr lang="en-US" sz="1800">
                <a:solidFill>
                  <a:srgbClr val="C00000"/>
                </a:solidFill>
                <a:latin typeface="Consolas" panose="020B0609020204030204" pitchFamily="49" charset="0"/>
              </a:rPr>
              <a:t>extends</a:t>
            </a:r>
            <a:r>
              <a:rPr lang="en-US" sz="1800">
                <a:latin typeface="Consolas" panose="020B0609020204030204" pitchFamily="49" charset="0"/>
              </a:rPr>
              <a:t> A{</a:t>
            </a:r>
          </a:p>
          <a:p>
            <a:pPr marL="0" indent="0">
              <a:buNone/>
            </a:pPr>
            <a:r>
              <a:rPr lang="en-US" sz="1800">
                <a:latin typeface="Consolas" panose="020B0609020204030204" pitchFamily="49" charset="0"/>
              </a:rPr>
              <a:t>   B();</a:t>
            </a:r>
          </a:p>
          <a:p>
            <a:pPr marL="0" indent="0">
              <a:buNone/>
            </a:pPr>
            <a:r>
              <a:rPr lang="en-US" sz="1800">
                <a:latin typeface="Consolas" panose="020B0609020204030204" pitchFamily="49" charset="0"/>
              </a:rPr>
              <a:t>}</a:t>
            </a:r>
          </a:p>
        </p:txBody>
      </p:sp>
      <p:sp>
        <p:nvSpPr>
          <p:cNvPr id="11" name="TextBox 10">
            <a:extLst>
              <a:ext uri="{FF2B5EF4-FFF2-40B4-BE49-F238E27FC236}">
                <a16:creationId xmlns:a16="http://schemas.microsoft.com/office/drawing/2014/main" id="{A67A56E5-62D7-4B21-8B89-A55FE0997E9A}"/>
              </a:ext>
            </a:extLst>
          </p:cNvPr>
          <p:cNvSpPr txBox="1"/>
          <p:nvPr/>
        </p:nvSpPr>
        <p:spPr>
          <a:xfrm>
            <a:off x="4468761" y="2772697"/>
            <a:ext cx="1770100" cy="369332"/>
          </a:xfrm>
          <a:prstGeom prst="rect">
            <a:avLst/>
          </a:prstGeom>
          <a:noFill/>
          <a:ln>
            <a:solidFill>
              <a:srgbClr val="00B050"/>
            </a:solidFill>
          </a:ln>
        </p:spPr>
        <p:txBody>
          <a:bodyPr wrap="none" rtlCol="0">
            <a:spAutoFit/>
          </a:bodyPr>
          <a:lstStyle/>
          <a:p>
            <a:r>
              <a:rPr lang="en-IN">
                <a:latin typeface="Gill Sans MT" panose="020B0502020104020203" pitchFamily="34" charset="0"/>
              </a:rPr>
              <a:t>You can do only: </a:t>
            </a:r>
          </a:p>
        </p:txBody>
      </p:sp>
      <p:sp>
        <p:nvSpPr>
          <p:cNvPr id="12" name="Content Placeholder 2">
            <a:extLst>
              <a:ext uri="{FF2B5EF4-FFF2-40B4-BE49-F238E27FC236}">
                <a16:creationId xmlns:a16="http://schemas.microsoft.com/office/drawing/2014/main" id="{C41B0AC6-D28F-4CBF-8E73-B40542D91CFB}"/>
              </a:ext>
            </a:extLst>
          </p:cNvPr>
          <p:cNvSpPr txBox="1">
            <a:spLocks/>
          </p:cNvSpPr>
          <p:nvPr/>
        </p:nvSpPr>
        <p:spPr>
          <a:xfrm>
            <a:off x="5319252" y="3350576"/>
            <a:ext cx="5247967" cy="414400"/>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onsolas" panose="020B0609020204030204" pitchFamily="49" charset="0"/>
              </a:rPr>
              <a:t>B </a:t>
            </a:r>
            <a:r>
              <a:rPr lang="en-US" sz="1800" err="1">
                <a:latin typeface="Consolas" panose="020B0609020204030204" pitchFamily="49" charset="0"/>
              </a:rPr>
              <a:t>b</a:t>
            </a:r>
            <a:r>
              <a:rPr lang="en-US" sz="1800">
                <a:latin typeface="Consolas" panose="020B0609020204030204" pitchFamily="49" charset="0"/>
              </a:rPr>
              <a:t> = </a:t>
            </a:r>
            <a:r>
              <a:rPr lang="en-US" sz="1800">
                <a:solidFill>
                  <a:srgbClr val="C00000"/>
                </a:solidFill>
                <a:latin typeface="Consolas" panose="020B0609020204030204" pitchFamily="49" charset="0"/>
              </a:rPr>
              <a:t>new</a:t>
            </a:r>
            <a:r>
              <a:rPr lang="en-US" sz="1800">
                <a:latin typeface="Consolas" panose="020B0609020204030204" pitchFamily="49" charset="0"/>
              </a:rPr>
              <a:t> B();  </a:t>
            </a:r>
            <a:r>
              <a:rPr lang="en-US" sz="1800">
                <a:solidFill>
                  <a:srgbClr val="00B050"/>
                </a:solidFill>
                <a:latin typeface="Consolas" panose="020B0609020204030204" pitchFamily="49" charset="0"/>
              </a:rPr>
              <a:t>// and not new A()</a:t>
            </a:r>
          </a:p>
        </p:txBody>
      </p:sp>
      <p:sp>
        <p:nvSpPr>
          <p:cNvPr id="18" name="TextBox 17">
            <a:extLst>
              <a:ext uri="{FF2B5EF4-FFF2-40B4-BE49-F238E27FC236}">
                <a16:creationId xmlns:a16="http://schemas.microsoft.com/office/drawing/2014/main" id="{1D89BA51-83DB-4432-BD66-928FF8174B2D}"/>
              </a:ext>
            </a:extLst>
          </p:cNvPr>
          <p:cNvSpPr txBox="1"/>
          <p:nvPr/>
        </p:nvSpPr>
        <p:spPr>
          <a:xfrm>
            <a:off x="1109010" y="4110772"/>
            <a:ext cx="9296230" cy="461665"/>
          </a:xfrm>
          <a:prstGeom prst="rect">
            <a:avLst/>
          </a:prstGeom>
          <a:noFill/>
        </p:spPr>
        <p:txBody>
          <a:bodyPr wrap="square">
            <a:spAutoFit/>
          </a:bodyPr>
          <a:lstStyle/>
          <a:p>
            <a:r>
              <a:rPr lang="en-US" sz="2400">
                <a:latin typeface="Gill Sans MT" panose="020B0502020104020203" pitchFamily="34" charset="0"/>
              </a:rPr>
              <a:t>You can still use constructors from A inside B’s implementation though:</a:t>
            </a:r>
            <a:endParaRPr lang="en-IN" sz="2400">
              <a:latin typeface="Gill Sans MT" panose="020B0502020104020203" pitchFamily="34" charset="0"/>
            </a:endParaRPr>
          </a:p>
        </p:txBody>
      </p:sp>
      <p:sp>
        <p:nvSpPr>
          <p:cNvPr id="19" name="Content Placeholder 2">
            <a:extLst>
              <a:ext uri="{FF2B5EF4-FFF2-40B4-BE49-F238E27FC236}">
                <a16:creationId xmlns:a16="http://schemas.microsoft.com/office/drawing/2014/main" id="{63083F0A-2F48-497A-B788-FD58E33EC416}"/>
              </a:ext>
            </a:extLst>
          </p:cNvPr>
          <p:cNvSpPr txBox="1">
            <a:spLocks/>
          </p:cNvSpPr>
          <p:nvPr/>
        </p:nvSpPr>
        <p:spPr>
          <a:xfrm>
            <a:off x="4468761" y="4724069"/>
            <a:ext cx="3026005" cy="1824504"/>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C00000"/>
                </a:solidFill>
                <a:latin typeface="Consolas" panose="020B0609020204030204" pitchFamily="49" charset="0"/>
              </a:rPr>
              <a:t>class</a:t>
            </a:r>
            <a:r>
              <a:rPr lang="en-US" sz="1800">
                <a:latin typeface="Consolas" panose="020B0609020204030204" pitchFamily="49" charset="0"/>
              </a:rPr>
              <a:t> B </a:t>
            </a:r>
            <a:r>
              <a:rPr lang="en-US" sz="1800">
                <a:solidFill>
                  <a:srgbClr val="C00000"/>
                </a:solidFill>
                <a:latin typeface="Consolas" panose="020B0609020204030204" pitchFamily="49" charset="0"/>
              </a:rPr>
              <a:t>extends</a:t>
            </a:r>
            <a:r>
              <a:rPr lang="en-US" sz="1800">
                <a:latin typeface="Consolas" panose="020B0609020204030204" pitchFamily="49" charset="0"/>
              </a:rPr>
              <a:t> A{</a:t>
            </a:r>
          </a:p>
          <a:p>
            <a:pPr marL="0" indent="0">
              <a:buNone/>
            </a:pPr>
            <a:r>
              <a:rPr lang="en-US" sz="1800">
                <a:latin typeface="Consolas" panose="020B0609020204030204" pitchFamily="49" charset="0"/>
              </a:rPr>
              <a:t>   B() { </a:t>
            </a:r>
          </a:p>
          <a:p>
            <a:pPr marL="0" indent="0">
              <a:buNone/>
            </a:pPr>
            <a:r>
              <a:rPr lang="en-US" sz="1800">
                <a:solidFill>
                  <a:srgbClr val="C00000"/>
                </a:solidFill>
                <a:latin typeface="Consolas" panose="020B0609020204030204" pitchFamily="49" charset="0"/>
              </a:rPr>
              <a:t>       super(); </a:t>
            </a:r>
          </a:p>
          <a:p>
            <a:pPr marL="0" indent="0">
              <a:buNone/>
            </a:pPr>
            <a:r>
              <a:rPr lang="en-US" sz="1800">
                <a:solidFill>
                  <a:srgbClr val="C00000"/>
                </a:solidFill>
                <a:latin typeface="Consolas" panose="020B0609020204030204" pitchFamily="49" charset="0"/>
              </a:rPr>
              <a:t>   </a:t>
            </a:r>
            <a:r>
              <a:rPr lang="en-US" sz="1800">
                <a:latin typeface="Consolas" panose="020B0609020204030204" pitchFamily="49" charset="0"/>
              </a:rPr>
              <a:t>}</a:t>
            </a:r>
          </a:p>
          <a:p>
            <a:pPr marL="0" indent="0">
              <a:buNone/>
            </a:pPr>
            <a:r>
              <a:rPr lang="en-US" sz="1800">
                <a:latin typeface="Consolas" panose="020B0609020204030204" pitchFamily="49" charset="0"/>
              </a:rPr>
              <a:t>}</a:t>
            </a:r>
          </a:p>
        </p:txBody>
      </p:sp>
    </p:spTree>
    <p:extLst>
      <p:ext uri="{BB962C8B-B14F-4D97-AF65-F5344CB8AC3E}">
        <p14:creationId xmlns:p14="http://schemas.microsoft.com/office/powerpoint/2010/main" val="186578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12">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19">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build="p" animBg="1"/>
      <p:bldP spid="11" grpId="0" animBg="1"/>
      <p:bldP spid="12" grpId="0" build="p" animBg="1"/>
      <p:bldP spid="18" grpId="0"/>
      <p:bldP spid="19"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a:xfrm>
            <a:off x="153628" y="0"/>
            <a:ext cx="11884743" cy="1325563"/>
          </a:xfrm>
        </p:spPr>
        <p:txBody>
          <a:bodyPr>
            <a:normAutofit/>
          </a:bodyPr>
          <a:lstStyle/>
          <a:p>
            <a:r>
              <a:rPr lang="en-US" sz="3200" b="1" i="0">
                <a:solidFill>
                  <a:srgbClr val="4A4A4A"/>
                </a:solidFill>
                <a:effectLst/>
                <a:latin typeface="Gill Sans MT" panose="020B0502020104020203" pitchFamily="34" charset="0"/>
              </a:rPr>
              <a:t>RULE 5: In Java, we assign parent reference to child objects.</a:t>
            </a:r>
            <a:endParaRPr lang="en-IN" sz="3200">
              <a:latin typeface="Gill Sans MT" panose="020B0502020104020203" pitchFamily="34" charset="0"/>
            </a:endParaRP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8</a:t>
            </a:fld>
            <a:endParaRPr lang="en-IN"/>
          </a:p>
        </p:txBody>
      </p:sp>
      <p:sp>
        <p:nvSpPr>
          <p:cNvPr id="5" name="Content Placeholder 2">
            <a:extLst>
              <a:ext uri="{FF2B5EF4-FFF2-40B4-BE49-F238E27FC236}">
                <a16:creationId xmlns:a16="http://schemas.microsoft.com/office/drawing/2014/main" id="{07AC82C7-AB77-40A1-BC1E-4BA225BFFB15}"/>
              </a:ext>
            </a:extLst>
          </p:cNvPr>
          <p:cNvSpPr txBox="1">
            <a:spLocks/>
          </p:cNvSpPr>
          <p:nvPr/>
        </p:nvSpPr>
        <p:spPr>
          <a:xfrm>
            <a:off x="307257" y="1186869"/>
            <a:ext cx="4166417" cy="2401869"/>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chemeClr val="accent1"/>
                </a:solidFill>
                <a:latin typeface="Consolas" panose="020B0609020204030204" pitchFamily="49" charset="0"/>
              </a:rPr>
              <a:t>public</a:t>
            </a:r>
            <a:r>
              <a:rPr lang="en-US" sz="1600">
                <a:latin typeface="Consolas" panose="020B0609020204030204" pitchFamily="49" charset="0"/>
              </a:rPr>
              <a:t> </a:t>
            </a:r>
            <a:r>
              <a:rPr lang="en-US" sz="1600">
                <a:solidFill>
                  <a:schemeClr val="accent1"/>
                </a:solidFill>
                <a:latin typeface="Consolas" panose="020B0609020204030204" pitchFamily="49" charset="0"/>
              </a:rPr>
              <a:t>class</a:t>
            </a:r>
            <a:r>
              <a:rPr lang="en-US" sz="1600">
                <a:latin typeface="Consolas" panose="020B0609020204030204" pitchFamily="49" charset="0"/>
              </a:rPr>
              <a:t> Parent {</a:t>
            </a:r>
          </a:p>
          <a:p>
            <a:pPr marL="0" indent="0">
              <a:buNone/>
            </a:pPr>
            <a:r>
              <a:rPr lang="en-US" sz="1600">
                <a:latin typeface="Consolas" panose="020B0609020204030204" pitchFamily="49" charset="0"/>
              </a:rPr>
              <a:t>  </a:t>
            </a:r>
            <a:r>
              <a:rPr lang="en-US" sz="1600">
                <a:solidFill>
                  <a:srgbClr val="00B050"/>
                </a:solidFill>
                <a:latin typeface="Consolas" panose="020B0609020204030204" pitchFamily="49" charset="0"/>
              </a:rPr>
              <a:t>-----------------</a:t>
            </a:r>
          </a:p>
          <a:p>
            <a:pPr marL="0" indent="0">
              <a:buNone/>
            </a:pPr>
            <a:r>
              <a:rPr lang="en-US" sz="1600">
                <a:latin typeface="Consolas" panose="020B0609020204030204" pitchFamily="49" charset="0"/>
              </a:rPr>
              <a:t>  </a:t>
            </a:r>
            <a:r>
              <a:rPr lang="en-US" sz="1600">
                <a:solidFill>
                  <a:srgbClr val="C00000"/>
                </a:solidFill>
                <a:latin typeface="Consolas" panose="020B0609020204030204" pitchFamily="49" charset="0"/>
              </a:rPr>
              <a:t>String</a:t>
            </a:r>
            <a:r>
              <a:rPr lang="en-US" sz="1600">
                <a:latin typeface="Consolas" panose="020B0609020204030204" pitchFamily="49" charset="0"/>
              </a:rPr>
              <a:t> </a:t>
            </a:r>
            <a:r>
              <a:rPr lang="en-US" sz="1600" err="1">
                <a:latin typeface="Consolas" panose="020B0609020204030204" pitchFamily="49" charset="0"/>
              </a:rPr>
              <a:t>getEmployeeDetails</a:t>
            </a:r>
            <a:r>
              <a:rPr lang="en-US" sz="1600">
                <a:latin typeface="Consolas" panose="020B0609020204030204" pitchFamily="49" charset="0"/>
              </a:rPr>
              <a:t>() {</a:t>
            </a:r>
          </a:p>
          <a:p>
            <a:pPr marL="0" indent="0">
              <a:buNone/>
            </a:pPr>
            <a:r>
              <a:rPr lang="en-US" sz="1600">
                <a:latin typeface="Consolas" panose="020B0609020204030204" pitchFamily="49" charset="0"/>
              </a:rPr>
              <a:t>    </a:t>
            </a:r>
            <a:r>
              <a:rPr lang="en-US" sz="1600">
                <a:solidFill>
                  <a:schemeClr val="accent1"/>
                </a:solidFill>
                <a:latin typeface="Consolas" panose="020B0609020204030204" pitchFamily="49" charset="0"/>
              </a:rPr>
              <a:t>return</a:t>
            </a:r>
            <a:r>
              <a:rPr lang="en-US" sz="1600">
                <a:latin typeface="Consolas" panose="020B0609020204030204" pitchFamily="49" charset="0"/>
              </a:rPr>
              <a:t> "</a:t>
            </a:r>
            <a:r>
              <a:rPr lang="en-US" sz="1600">
                <a:solidFill>
                  <a:srgbClr val="00B050"/>
                </a:solidFill>
                <a:latin typeface="Consolas" panose="020B0609020204030204" pitchFamily="49" charset="0"/>
              </a:rPr>
              <a:t>Name:</a:t>
            </a:r>
            <a:r>
              <a:rPr lang="en-US" sz="1600">
                <a:latin typeface="Consolas" panose="020B0609020204030204" pitchFamily="49" charset="0"/>
              </a:rPr>
              <a:t> " + name;</a:t>
            </a:r>
          </a:p>
          <a:p>
            <a:pPr marL="0" indent="0">
              <a:buNone/>
            </a:pPr>
            <a:r>
              <a:rPr lang="en-US" sz="1600">
                <a:latin typeface="Consolas" panose="020B0609020204030204" pitchFamily="49" charset="0"/>
              </a:rPr>
              <a:t>}</a:t>
            </a:r>
          </a:p>
          <a:p>
            <a:pPr marL="0" indent="0">
              <a:buNone/>
            </a:pPr>
            <a:r>
              <a:rPr lang="en-US" sz="1600">
                <a:latin typeface="Consolas" panose="020B0609020204030204" pitchFamily="49" charset="0"/>
              </a:rPr>
              <a:t>}</a:t>
            </a:r>
          </a:p>
        </p:txBody>
      </p:sp>
      <p:sp>
        <p:nvSpPr>
          <p:cNvPr id="9" name="Content Placeholder 2">
            <a:extLst>
              <a:ext uri="{FF2B5EF4-FFF2-40B4-BE49-F238E27FC236}">
                <a16:creationId xmlns:a16="http://schemas.microsoft.com/office/drawing/2014/main" id="{7E456A76-F92B-4A46-9234-9A6EE0B3FF05}"/>
              </a:ext>
            </a:extLst>
          </p:cNvPr>
          <p:cNvSpPr txBox="1">
            <a:spLocks/>
          </p:cNvSpPr>
          <p:nvPr/>
        </p:nvSpPr>
        <p:spPr>
          <a:xfrm>
            <a:off x="1818255" y="3612387"/>
            <a:ext cx="6875207" cy="3082403"/>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latin typeface="Consolas" panose="020B0609020204030204" pitchFamily="49" charset="0"/>
              </a:rPr>
              <a:t>Parent </a:t>
            </a:r>
            <a:r>
              <a:rPr lang="en-US" sz="1600" err="1">
                <a:latin typeface="Consolas" panose="020B0609020204030204" pitchFamily="49" charset="0"/>
              </a:rPr>
              <a:t>parent</a:t>
            </a:r>
            <a:r>
              <a:rPr lang="en-US" sz="1600">
                <a:latin typeface="Consolas" panose="020B0609020204030204" pitchFamily="49" charset="0"/>
              </a:rPr>
              <a:t> =</a:t>
            </a:r>
            <a:r>
              <a:rPr lang="en-US" sz="1600">
                <a:solidFill>
                  <a:schemeClr val="accent1"/>
                </a:solidFill>
                <a:latin typeface="Consolas" panose="020B0609020204030204" pitchFamily="49" charset="0"/>
              </a:rPr>
              <a:t> new </a:t>
            </a:r>
            <a:r>
              <a:rPr lang="en-US" sz="1600">
                <a:latin typeface="Consolas" panose="020B0609020204030204" pitchFamily="49" charset="0"/>
              </a:rPr>
              <a:t>Parent();</a:t>
            </a:r>
          </a:p>
          <a:p>
            <a:pPr marL="0" indent="0">
              <a:buNone/>
            </a:pPr>
            <a:r>
              <a:rPr lang="en-US" sz="1600">
                <a:latin typeface="Consolas" panose="020B0609020204030204" pitchFamily="49" charset="0"/>
              </a:rPr>
              <a:t>parent.name = 1;</a:t>
            </a:r>
          </a:p>
          <a:p>
            <a:pPr marL="0" indent="0">
              <a:buNone/>
            </a:pPr>
            <a:r>
              <a:rPr lang="en-US" sz="1600">
                <a:latin typeface="Consolas" panose="020B0609020204030204" pitchFamily="49" charset="0"/>
              </a:rPr>
              <a:t>Child </a:t>
            </a:r>
            <a:r>
              <a:rPr lang="en-US" sz="1600" err="1">
                <a:latin typeface="Consolas" panose="020B0609020204030204" pitchFamily="49" charset="0"/>
              </a:rPr>
              <a:t>child</a:t>
            </a:r>
            <a:r>
              <a:rPr lang="en-US" sz="1600">
                <a:latin typeface="Consolas" panose="020B0609020204030204" pitchFamily="49" charset="0"/>
              </a:rPr>
              <a:t> = </a:t>
            </a:r>
            <a:r>
              <a:rPr lang="en-US" sz="1600">
                <a:solidFill>
                  <a:schemeClr val="accent1"/>
                </a:solidFill>
                <a:latin typeface="Consolas" panose="020B0609020204030204" pitchFamily="49" charset="0"/>
              </a:rPr>
              <a:t>new</a:t>
            </a:r>
            <a:r>
              <a:rPr lang="en-US" sz="1600">
                <a:latin typeface="Consolas" panose="020B0609020204030204" pitchFamily="49" charset="0"/>
              </a:rPr>
              <a:t> Child();</a:t>
            </a:r>
          </a:p>
          <a:p>
            <a:pPr marL="0" indent="0">
              <a:buNone/>
            </a:pPr>
            <a:r>
              <a:rPr lang="en-US" sz="1600">
                <a:latin typeface="Consolas" panose="020B0609020204030204" pitchFamily="49" charset="0"/>
              </a:rPr>
              <a:t>child.name = 2;</a:t>
            </a:r>
          </a:p>
          <a:p>
            <a:pPr marL="0" indent="0">
              <a:buNone/>
            </a:pPr>
            <a:r>
              <a:rPr lang="en-US" sz="1600" err="1">
                <a:latin typeface="Consolas" panose="020B0609020204030204" pitchFamily="49" charset="0"/>
              </a:rPr>
              <a:t>child.salary</a:t>
            </a:r>
            <a:r>
              <a:rPr lang="en-US" sz="1600">
                <a:latin typeface="Consolas" panose="020B0609020204030204" pitchFamily="49" charset="0"/>
              </a:rPr>
              <a:t> = 2000;</a:t>
            </a:r>
          </a:p>
          <a:p>
            <a:pPr marL="0" indent="0">
              <a:buNone/>
            </a:pPr>
            <a:r>
              <a:rPr lang="en-US" sz="1600">
                <a:latin typeface="Consolas" panose="020B0609020204030204" pitchFamily="49" charset="0"/>
              </a:rPr>
              <a:t>Parent[] employees = </a:t>
            </a:r>
            <a:r>
              <a:rPr lang="en-US" sz="1600">
                <a:solidFill>
                  <a:schemeClr val="accent1"/>
                </a:solidFill>
                <a:latin typeface="Consolas" panose="020B0609020204030204" pitchFamily="49" charset="0"/>
              </a:rPr>
              <a:t>new</a:t>
            </a:r>
            <a:r>
              <a:rPr lang="en-US" sz="1600">
                <a:latin typeface="Consolas" panose="020B0609020204030204" pitchFamily="49" charset="0"/>
              </a:rPr>
              <a:t> Parent[] { parent, child };</a:t>
            </a:r>
          </a:p>
          <a:p>
            <a:pPr marL="0" indent="0">
              <a:buNone/>
            </a:pPr>
            <a:r>
              <a:rPr lang="en-US" sz="1600">
                <a:solidFill>
                  <a:schemeClr val="accent1"/>
                </a:solidFill>
                <a:latin typeface="Consolas" panose="020B0609020204030204" pitchFamily="49" charset="0"/>
              </a:rPr>
              <a:t>for</a:t>
            </a:r>
            <a:r>
              <a:rPr lang="en-US" sz="1600">
                <a:latin typeface="Consolas" panose="020B0609020204030204" pitchFamily="49" charset="0"/>
              </a:rPr>
              <a:t> (Parent employee : employees) {</a:t>
            </a:r>
          </a:p>
          <a:p>
            <a:pPr marL="0" indent="0">
              <a:buNone/>
            </a:pPr>
            <a:r>
              <a:rPr lang="en-US" sz="1600">
                <a:latin typeface="Consolas" panose="020B0609020204030204" pitchFamily="49" charset="0"/>
              </a:rPr>
              <a:t>    </a:t>
            </a:r>
            <a:r>
              <a:rPr lang="en-US" sz="1600" err="1">
                <a:latin typeface="Consolas" panose="020B0609020204030204" pitchFamily="49" charset="0"/>
              </a:rPr>
              <a:t>employee.getEmployeeDetails</a:t>
            </a:r>
            <a:r>
              <a:rPr lang="en-US" sz="1600">
                <a:latin typeface="Consolas" panose="020B0609020204030204" pitchFamily="49" charset="0"/>
              </a:rPr>
              <a:t>();</a:t>
            </a:r>
          </a:p>
          <a:p>
            <a:pPr marL="0" indent="0">
              <a:buNone/>
            </a:pPr>
            <a:r>
              <a:rPr lang="en-US" sz="1600">
                <a:latin typeface="Consolas" panose="020B0609020204030204" pitchFamily="49" charset="0"/>
              </a:rPr>
              <a:t>}</a:t>
            </a:r>
          </a:p>
        </p:txBody>
      </p:sp>
      <p:sp>
        <p:nvSpPr>
          <p:cNvPr id="11" name="Content Placeholder 2">
            <a:extLst>
              <a:ext uri="{FF2B5EF4-FFF2-40B4-BE49-F238E27FC236}">
                <a16:creationId xmlns:a16="http://schemas.microsoft.com/office/drawing/2014/main" id="{948E5590-9E1F-4E80-8E23-34578015F2A7}"/>
              </a:ext>
            </a:extLst>
          </p:cNvPr>
          <p:cNvSpPr txBox="1">
            <a:spLocks/>
          </p:cNvSpPr>
          <p:nvPr/>
        </p:nvSpPr>
        <p:spPr>
          <a:xfrm>
            <a:off x="4627303" y="1194753"/>
            <a:ext cx="7257440" cy="2393985"/>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chemeClr val="accent1"/>
                </a:solidFill>
                <a:latin typeface="Consolas" panose="020B0609020204030204" pitchFamily="49" charset="0"/>
              </a:rPr>
              <a:t>public class </a:t>
            </a:r>
            <a:r>
              <a:rPr lang="en-US" sz="1600">
                <a:latin typeface="Consolas" panose="020B0609020204030204" pitchFamily="49" charset="0"/>
              </a:rPr>
              <a:t>Child </a:t>
            </a:r>
            <a:r>
              <a:rPr lang="en-US" sz="1600">
                <a:solidFill>
                  <a:srgbClr val="C00000"/>
                </a:solidFill>
                <a:latin typeface="Consolas" panose="020B0609020204030204" pitchFamily="49" charset="0"/>
              </a:rPr>
              <a:t>extends</a:t>
            </a:r>
            <a:r>
              <a:rPr lang="en-US" sz="1600">
                <a:latin typeface="Consolas" panose="020B0609020204030204" pitchFamily="49" charset="0"/>
              </a:rPr>
              <a:t> Parent {</a:t>
            </a:r>
          </a:p>
          <a:p>
            <a:pPr marL="0" indent="0">
              <a:buNone/>
            </a:pPr>
            <a:r>
              <a:rPr lang="en-US" sz="1600">
                <a:latin typeface="Consolas" panose="020B0609020204030204" pitchFamily="49" charset="0"/>
              </a:rPr>
              <a:t>  </a:t>
            </a:r>
            <a:r>
              <a:rPr lang="en-US" sz="1600">
                <a:solidFill>
                  <a:srgbClr val="00B050"/>
                </a:solidFill>
                <a:latin typeface="Consolas" panose="020B0609020204030204" pitchFamily="49" charset="0"/>
              </a:rPr>
              <a:t>-----------------</a:t>
            </a:r>
          </a:p>
          <a:p>
            <a:pPr marL="0" indent="0">
              <a:buNone/>
            </a:pPr>
            <a:r>
              <a:rPr lang="en-US" sz="1600">
                <a:latin typeface="Consolas" panose="020B0609020204030204" pitchFamily="49" charset="0"/>
              </a:rPr>
              <a:t>  </a:t>
            </a:r>
            <a:r>
              <a:rPr lang="en-US" sz="1600">
                <a:solidFill>
                  <a:schemeClr val="bg1">
                    <a:lumMod val="50000"/>
                  </a:schemeClr>
                </a:solidFill>
                <a:latin typeface="Consolas" panose="020B0609020204030204" pitchFamily="49" charset="0"/>
              </a:rPr>
              <a:t>@Override</a:t>
            </a:r>
          </a:p>
          <a:p>
            <a:pPr marL="0" indent="0">
              <a:buNone/>
            </a:pPr>
            <a:r>
              <a:rPr lang="en-US" sz="1600">
                <a:solidFill>
                  <a:schemeClr val="accent1"/>
                </a:solidFill>
                <a:latin typeface="Consolas" panose="020B0609020204030204" pitchFamily="49" charset="0"/>
              </a:rPr>
              <a:t>  public</a:t>
            </a:r>
            <a:r>
              <a:rPr lang="en-US" sz="1600">
                <a:latin typeface="Consolas" panose="020B0609020204030204" pitchFamily="49" charset="0"/>
              </a:rPr>
              <a:t> </a:t>
            </a:r>
            <a:r>
              <a:rPr lang="en-US" sz="1600">
                <a:solidFill>
                  <a:srgbClr val="C00000"/>
                </a:solidFill>
                <a:latin typeface="Consolas" panose="020B0609020204030204" pitchFamily="49" charset="0"/>
              </a:rPr>
              <a:t>String</a:t>
            </a:r>
            <a:r>
              <a:rPr lang="en-US" sz="1600">
                <a:latin typeface="Consolas" panose="020B0609020204030204" pitchFamily="49" charset="0"/>
              </a:rPr>
              <a:t> </a:t>
            </a:r>
            <a:r>
              <a:rPr lang="en-US" sz="1600" err="1">
                <a:latin typeface="Consolas" panose="020B0609020204030204" pitchFamily="49" charset="0"/>
              </a:rPr>
              <a:t>getEmployeeDetails</a:t>
            </a:r>
            <a:r>
              <a:rPr lang="en-US" sz="1600">
                <a:latin typeface="Consolas" panose="020B0609020204030204" pitchFamily="49" charset="0"/>
              </a:rPr>
              <a:t>() {</a:t>
            </a:r>
          </a:p>
          <a:p>
            <a:pPr marL="0" indent="0">
              <a:buNone/>
            </a:pPr>
            <a:r>
              <a:rPr lang="en-US" sz="1600">
                <a:latin typeface="Consolas" panose="020B0609020204030204" pitchFamily="49" charset="0"/>
              </a:rPr>
              <a:t>    </a:t>
            </a:r>
            <a:r>
              <a:rPr lang="en-US" sz="1600">
                <a:solidFill>
                  <a:schemeClr val="accent1"/>
                </a:solidFill>
                <a:latin typeface="Consolas" panose="020B0609020204030204" pitchFamily="49" charset="0"/>
              </a:rPr>
              <a:t>return</a:t>
            </a:r>
            <a:r>
              <a:rPr lang="en-US" sz="1600">
                <a:latin typeface="Consolas" panose="020B0609020204030204" pitchFamily="49" charset="0"/>
              </a:rPr>
              <a:t> "</a:t>
            </a:r>
            <a:r>
              <a:rPr lang="en-US" sz="1600">
                <a:solidFill>
                  <a:srgbClr val="00B050"/>
                </a:solidFill>
                <a:latin typeface="Consolas" panose="020B0609020204030204" pitchFamily="49" charset="0"/>
              </a:rPr>
              <a:t>Name: </a:t>
            </a:r>
            <a:r>
              <a:rPr lang="en-US" sz="1600">
                <a:latin typeface="Consolas" panose="020B0609020204030204" pitchFamily="49" charset="0"/>
              </a:rPr>
              <a:t>" + name + " </a:t>
            </a:r>
            <a:r>
              <a:rPr lang="en-US" sz="1600">
                <a:solidFill>
                  <a:srgbClr val="00B050"/>
                </a:solidFill>
                <a:latin typeface="Consolas" panose="020B0609020204030204" pitchFamily="49" charset="0"/>
              </a:rPr>
              <a:t>Salary:</a:t>
            </a:r>
            <a:r>
              <a:rPr lang="en-US" sz="1600">
                <a:latin typeface="Consolas" panose="020B0609020204030204" pitchFamily="49" charset="0"/>
              </a:rPr>
              <a:t> " + salary;</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p:txBody>
      </p:sp>
      <p:sp>
        <p:nvSpPr>
          <p:cNvPr id="3" name="Rectangle 2">
            <a:extLst>
              <a:ext uri="{FF2B5EF4-FFF2-40B4-BE49-F238E27FC236}">
                <a16:creationId xmlns:a16="http://schemas.microsoft.com/office/drawing/2014/main" id="{32D83907-671A-425F-8A6A-A9FC78737372}"/>
              </a:ext>
            </a:extLst>
          </p:cNvPr>
          <p:cNvSpPr/>
          <p:nvPr/>
        </p:nvSpPr>
        <p:spPr>
          <a:xfrm>
            <a:off x="7180860" y="4093175"/>
            <a:ext cx="4627418" cy="447018"/>
          </a:xfrm>
          <a:prstGeom prst="rect">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a:solidFill>
                  <a:schemeClr val="tx1"/>
                </a:solidFill>
              </a:rPr>
              <a:t>Child object is stored in parent reference.</a:t>
            </a:r>
          </a:p>
        </p:txBody>
      </p:sp>
    </p:spTree>
    <p:extLst>
      <p:ext uri="{BB962C8B-B14F-4D97-AF65-F5344CB8AC3E}">
        <p14:creationId xmlns:p14="http://schemas.microsoft.com/office/powerpoint/2010/main" val="327955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11">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9">
                                            <p:bg/>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9" grpId="0" build="p" animBg="1"/>
      <p:bldP spid="11" grpId="0" build="p"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725D-67E0-4F4C-A9EC-641F5D523D49}"/>
              </a:ext>
            </a:extLst>
          </p:cNvPr>
          <p:cNvSpPr>
            <a:spLocks noGrp="1"/>
          </p:cNvSpPr>
          <p:nvPr>
            <p:ph type="title"/>
          </p:nvPr>
        </p:nvSpPr>
        <p:spPr/>
        <p:txBody>
          <a:bodyPr>
            <a:normAutofit/>
          </a:bodyPr>
          <a:lstStyle/>
          <a:p>
            <a:r>
              <a:rPr lang="en-US" sz="3200" b="1" i="0">
                <a:solidFill>
                  <a:srgbClr val="4A4A4A"/>
                </a:solidFill>
                <a:effectLst/>
                <a:latin typeface="Gill Sans MT" panose="020B0502020104020203" pitchFamily="34" charset="0"/>
              </a:rPr>
              <a:t>RULE 6: Constructors get executed because of super() present in the constructor.</a:t>
            </a:r>
            <a:endParaRPr lang="en-IN" sz="3200">
              <a:latin typeface="Gill Sans MT" panose="020B0502020104020203" pitchFamily="34" charset="0"/>
            </a:endParaRPr>
          </a:p>
        </p:txBody>
      </p:sp>
      <p:sp>
        <p:nvSpPr>
          <p:cNvPr id="3" name="Content Placeholder 2">
            <a:extLst>
              <a:ext uri="{FF2B5EF4-FFF2-40B4-BE49-F238E27FC236}">
                <a16:creationId xmlns:a16="http://schemas.microsoft.com/office/drawing/2014/main" id="{7E2547AC-95C5-4329-ADDB-3035A6124CA4}"/>
              </a:ext>
            </a:extLst>
          </p:cNvPr>
          <p:cNvSpPr>
            <a:spLocks noGrp="1"/>
          </p:cNvSpPr>
          <p:nvPr>
            <p:ph idx="1"/>
          </p:nvPr>
        </p:nvSpPr>
        <p:spPr>
          <a:xfrm>
            <a:off x="838200" y="1825625"/>
            <a:ext cx="10515600" cy="917575"/>
          </a:xfrm>
        </p:spPr>
        <p:txBody>
          <a:bodyPr/>
          <a:lstStyle/>
          <a:p>
            <a:pPr marL="0" indent="0">
              <a:buNone/>
            </a:pPr>
            <a:r>
              <a:rPr lang="en-US">
                <a:latin typeface="Gill Sans MT" panose="020B0502020104020203" pitchFamily="34" charset="0"/>
              </a:rPr>
              <a:t>Constructors do not get inherited, but it gets executed because of the super() keyword.</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B660C53B-D773-4C27-BDEC-E8A24AD858A7}"/>
              </a:ext>
            </a:extLst>
          </p:cNvPr>
          <p:cNvSpPr>
            <a:spLocks noGrp="1"/>
          </p:cNvSpPr>
          <p:nvPr>
            <p:ph type="sldNum" sz="quarter" idx="12"/>
          </p:nvPr>
        </p:nvSpPr>
        <p:spPr/>
        <p:txBody>
          <a:bodyPr/>
          <a:lstStyle/>
          <a:p>
            <a:fld id="{4DAC0951-10B0-4509-9BA5-FD8683A6F967}" type="slidenum">
              <a:rPr lang="en-IN" smtClean="0"/>
              <a:pPr/>
              <a:t>9</a:t>
            </a:fld>
            <a:endParaRPr lang="en-IN"/>
          </a:p>
        </p:txBody>
      </p:sp>
      <p:sp>
        <p:nvSpPr>
          <p:cNvPr id="5" name="Content Placeholder 2">
            <a:extLst>
              <a:ext uri="{FF2B5EF4-FFF2-40B4-BE49-F238E27FC236}">
                <a16:creationId xmlns:a16="http://schemas.microsoft.com/office/drawing/2014/main" id="{B9312C1C-8F69-48E9-8DA8-6EB3CD5205AC}"/>
              </a:ext>
            </a:extLst>
          </p:cNvPr>
          <p:cNvSpPr txBox="1">
            <a:spLocks/>
          </p:cNvSpPr>
          <p:nvPr/>
        </p:nvSpPr>
        <p:spPr>
          <a:xfrm>
            <a:off x="3867429" y="2743200"/>
            <a:ext cx="3173361" cy="3613150"/>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A{</a:t>
            </a:r>
          </a:p>
          <a:p>
            <a:pPr marL="0" indent="0">
              <a:buNone/>
            </a:pPr>
            <a:r>
              <a:rPr lang="en-US" sz="1600">
                <a:latin typeface="Consolas" panose="020B0609020204030204" pitchFamily="49" charset="0"/>
              </a:rPr>
              <a:t>   A(){</a:t>
            </a:r>
          </a:p>
          <a:p>
            <a:pPr marL="0" indent="0">
              <a:buNone/>
            </a:pPr>
            <a:r>
              <a:rPr lang="en-US" sz="1600">
                <a:latin typeface="Consolas" panose="020B0609020204030204" pitchFamily="49" charset="0"/>
              </a:rPr>
              <a:t>   </a:t>
            </a:r>
            <a:r>
              <a:rPr lang="en-US" sz="1600">
                <a:solidFill>
                  <a:srgbClr val="00B050"/>
                </a:solidFill>
                <a:latin typeface="Consolas" panose="020B0609020204030204" pitchFamily="49" charset="0"/>
              </a:rPr>
              <a:t>----------</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B</a:t>
            </a:r>
            <a:r>
              <a:rPr lang="en-US" sz="1600">
                <a:solidFill>
                  <a:srgbClr val="0070C0"/>
                </a:solidFill>
                <a:latin typeface="Consolas" panose="020B0609020204030204" pitchFamily="49" charset="0"/>
              </a:rPr>
              <a:t> extends </a:t>
            </a:r>
            <a:r>
              <a:rPr lang="en-US" sz="1600">
                <a:latin typeface="Consolas" panose="020B0609020204030204" pitchFamily="49" charset="0"/>
              </a:rPr>
              <a:t>A{</a:t>
            </a:r>
          </a:p>
          <a:p>
            <a:pPr marL="0" indent="0">
              <a:buNone/>
            </a:pPr>
            <a:r>
              <a:rPr lang="en-US" sz="1600">
                <a:latin typeface="Consolas" panose="020B0609020204030204" pitchFamily="49" charset="0"/>
              </a:rPr>
              <a:t>   B(){</a:t>
            </a:r>
          </a:p>
          <a:p>
            <a:pPr marL="0" indent="0">
              <a:buNone/>
            </a:pPr>
            <a:r>
              <a:rPr lang="en-US" sz="1600">
                <a:latin typeface="Consolas" panose="020B0609020204030204" pitchFamily="49" charset="0"/>
              </a:rPr>
              <a:t>       </a:t>
            </a:r>
            <a:r>
              <a:rPr lang="en-US" sz="1600">
                <a:solidFill>
                  <a:srgbClr val="C00000"/>
                </a:solidFill>
                <a:latin typeface="Consolas" panose="020B0609020204030204" pitchFamily="49" charset="0"/>
              </a:rPr>
              <a:t>super();</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p:txBody>
      </p:sp>
    </p:spTree>
    <p:extLst>
      <p:ext uri="{BB962C8B-B14F-4D97-AF65-F5344CB8AC3E}">
        <p14:creationId xmlns:p14="http://schemas.microsoft.com/office/powerpoint/2010/main" val="395788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2568" y="947149"/>
            <a:ext cx="6158271" cy="866453"/>
          </a:xfrm>
          <a:prstGeom prst="rect">
            <a:avLst/>
          </a:prstGeom>
        </p:spPr>
        <p:txBody>
          <a:bodyPr vert="horz" wrap="square" lIns="0" tIns="187513" rIns="0" bIns="0" rtlCol="0" anchor="ctr">
            <a:spAutoFit/>
          </a:bodyPr>
          <a:lstStyle/>
          <a:p>
            <a:pPr marL="16933">
              <a:lnSpc>
                <a:spcPct val="100000"/>
              </a:lnSpc>
              <a:spcBef>
                <a:spcPts val="133"/>
              </a:spcBef>
            </a:pPr>
            <a:r>
              <a:rPr b="1" spc="-13" dirty="0">
                <a:latin typeface="Arial"/>
                <a:cs typeface="Arial"/>
              </a:rPr>
              <a:t>Constructors</a:t>
            </a:r>
            <a:r>
              <a:rPr b="1" spc="-73" dirty="0">
                <a:latin typeface="Arial"/>
                <a:cs typeface="Arial"/>
              </a:rPr>
              <a:t> </a:t>
            </a:r>
            <a:r>
              <a:rPr b="1" dirty="0">
                <a:latin typeface="Arial"/>
                <a:cs typeface="Arial"/>
              </a:rPr>
              <a:t>in</a:t>
            </a:r>
            <a:r>
              <a:rPr b="1" spc="-73" dirty="0">
                <a:latin typeface="Arial"/>
                <a:cs typeface="Arial"/>
              </a:rPr>
              <a:t> </a:t>
            </a:r>
            <a:r>
              <a:rPr b="1" spc="-27" dirty="0">
                <a:latin typeface="Arial"/>
                <a:cs typeface="Arial"/>
              </a:rPr>
              <a:t>Java</a:t>
            </a:r>
          </a:p>
        </p:txBody>
      </p:sp>
      <p:sp>
        <p:nvSpPr>
          <p:cNvPr id="3" name="object 3"/>
          <p:cNvSpPr txBox="1">
            <a:spLocks noGrp="1"/>
          </p:cNvSpPr>
          <p:nvPr>
            <p:ph type="body" idx="1"/>
          </p:nvPr>
        </p:nvSpPr>
        <p:spPr>
          <a:xfrm>
            <a:off x="1117600" y="2168697"/>
            <a:ext cx="9953523" cy="2814296"/>
          </a:xfrm>
          <a:prstGeom prst="rect">
            <a:avLst/>
          </a:prstGeom>
        </p:spPr>
        <p:txBody>
          <a:bodyPr vert="horz" wrap="square" lIns="0" tIns="119379" rIns="0" bIns="0" rtlCol="0">
            <a:spAutoFit/>
          </a:bodyPr>
          <a:lstStyle/>
          <a:p>
            <a:pPr marL="625671" marR="6773" indent="-479201">
              <a:lnSpc>
                <a:spcPct val="113999"/>
              </a:lnSpc>
              <a:spcBef>
                <a:spcPts val="133"/>
              </a:spcBef>
              <a:buClr>
                <a:srgbClr val="434343"/>
              </a:buClr>
              <a:buFont typeface="Arial MT"/>
              <a:buChar char="●"/>
              <a:tabLst>
                <a:tab pos="626518" algn="l"/>
              </a:tabLst>
            </a:pPr>
            <a:r>
              <a:rPr sz="2267" dirty="0">
                <a:solidFill>
                  <a:srgbClr val="333333"/>
                </a:solidFill>
                <a:latin typeface="Times New Roman"/>
                <a:cs typeface="Times New Roman"/>
              </a:rPr>
              <a:t>In</a:t>
            </a:r>
            <a:r>
              <a:rPr sz="2267" spc="413" dirty="0">
                <a:solidFill>
                  <a:srgbClr val="333333"/>
                </a:solidFill>
                <a:latin typeface="Times New Roman"/>
                <a:cs typeface="Times New Roman"/>
              </a:rPr>
              <a:t> </a:t>
            </a:r>
            <a:r>
              <a:rPr sz="2267" dirty="0">
                <a:solidFill>
                  <a:srgbClr val="008000"/>
                </a:solidFill>
                <a:latin typeface="Times New Roman"/>
                <a:cs typeface="Times New Roman"/>
                <a:hlinkClick r:id="rId2"/>
              </a:rPr>
              <a:t>Java</a:t>
            </a:r>
            <a:r>
              <a:rPr sz="2267" dirty="0">
                <a:solidFill>
                  <a:srgbClr val="333333"/>
                </a:solidFill>
                <a:latin typeface="Times New Roman"/>
                <a:cs typeface="Times New Roman"/>
              </a:rPr>
              <a:t>,</a:t>
            </a:r>
            <a:r>
              <a:rPr sz="2267" spc="420" dirty="0">
                <a:solidFill>
                  <a:srgbClr val="333333"/>
                </a:solidFill>
                <a:latin typeface="Times New Roman"/>
                <a:cs typeface="Times New Roman"/>
              </a:rPr>
              <a:t> </a:t>
            </a:r>
            <a:r>
              <a:rPr sz="2267" dirty="0">
                <a:solidFill>
                  <a:srgbClr val="333333"/>
                </a:solidFill>
                <a:latin typeface="Times New Roman"/>
                <a:cs typeface="Times New Roman"/>
              </a:rPr>
              <a:t>a</a:t>
            </a:r>
            <a:r>
              <a:rPr sz="2267" spc="420" dirty="0">
                <a:solidFill>
                  <a:srgbClr val="333333"/>
                </a:solidFill>
                <a:latin typeface="Times New Roman"/>
                <a:cs typeface="Times New Roman"/>
              </a:rPr>
              <a:t> </a:t>
            </a:r>
            <a:r>
              <a:rPr sz="2267" dirty="0">
                <a:solidFill>
                  <a:srgbClr val="333333"/>
                </a:solidFill>
                <a:latin typeface="Times New Roman"/>
                <a:cs typeface="Times New Roman"/>
              </a:rPr>
              <a:t>constructor</a:t>
            </a:r>
            <a:r>
              <a:rPr sz="2267" spc="413" dirty="0">
                <a:solidFill>
                  <a:srgbClr val="333333"/>
                </a:solidFill>
                <a:latin typeface="Times New Roman"/>
                <a:cs typeface="Times New Roman"/>
              </a:rPr>
              <a:t> </a:t>
            </a:r>
            <a:r>
              <a:rPr sz="2267" dirty="0">
                <a:solidFill>
                  <a:srgbClr val="333333"/>
                </a:solidFill>
                <a:latin typeface="Times New Roman"/>
                <a:cs typeface="Times New Roman"/>
              </a:rPr>
              <a:t>is</a:t>
            </a:r>
            <a:r>
              <a:rPr sz="2267" spc="420" dirty="0">
                <a:solidFill>
                  <a:srgbClr val="333333"/>
                </a:solidFill>
                <a:latin typeface="Times New Roman"/>
                <a:cs typeface="Times New Roman"/>
              </a:rPr>
              <a:t> </a:t>
            </a:r>
            <a:r>
              <a:rPr sz="2267" dirty="0">
                <a:solidFill>
                  <a:srgbClr val="333333"/>
                </a:solidFill>
                <a:latin typeface="Times New Roman"/>
                <a:cs typeface="Times New Roman"/>
              </a:rPr>
              <a:t>a</a:t>
            </a:r>
            <a:r>
              <a:rPr sz="2267" spc="413" dirty="0">
                <a:solidFill>
                  <a:srgbClr val="333333"/>
                </a:solidFill>
                <a:latin typeface="Times New Roman"/>
                <a:cs typeface="Times New Roman"/>
              </a:rPr>
              <a:t> </a:t>
            </a:r>
            <a:r>
              <a:rPr sz="2267" dirty="0">
                <a:solidFill>
                  <a:srgbClr val="333333"/>
                </a:solidFill>
                <a:latin typeface="Times New Roman"/>
                <a:cs typeface="Times New Roman"/>
              </a:rPr>
              <a:t>block</a:t>
            </a:r>
            <a:r>
              <a:rPr sz="2267" spc="420" dirty="0">
                <a:solidFill>
                  <a:srgbClr val="333333"/>
                </a:solidFill>
                <a:latin typeface="Times New Roman"/>
                <a:cs typeface="Times New Roman"/>
              </a:rPr>
              <a:t> </a:t>
            </a:r>
            <a:r>
              <a:rPr sz="2267" dirty="0">
                <a:solidFill>
                  <a:srgbClr val="333333"/>
                </a:solidFill>
                <a:latin typeface="Times New Roman"/>
                <a:cs typeface="Times New Roman"/>
              </a:rPr>
              <a:t>of</a:t>
            </a:r>
            <a:r>
              <a:rPr sz="2267" spc="420" dirty="0">
                <a:solidFill>
                  <a:srgbClr val="333333"/>
                </a:solidFill>
                <a:latin typeface="Times New Roman"/>
                <a:cs typeface="Times New Roman"/>
              </a:rPr>
              <a:t> </a:t>
            </a:r>
            <a:r>
              <a:rPr sz="2267" dirty="0">
                <a:solidFill>
                  <a:srgbClr val="333333"/>
                </a:solidFill>
                <a:latin typeface="Times New Roman"/>
                <a:cs typeface="Times New Roman"/>
              </a:rPr>
              <a:t>codes</a:t>
            </a:r>
            <a:r>
              <a:rPr sz="2267" spc="413" dirty="0">
                <a:solidFill>
                  <a:srgbClr val="333333"/>
                </a:solidFill>
                <a:latin typeface="Times New Roman"/>
                <a:cs typeface="Times New Roman"/>
              </a:rPr>
              <a:t> </a:t>
            </a:r>
            <a:r>
              <a:rPr sz="2267" dirty="0">
                <a:solidFill>
                  <a:srgbClr val="333333"/>
                </a:solidFill>
                <a:latin typeface="Times New Roman"/>
                <a:cs typeface="Times New Roman"/>
              </a:rPr>
              <a:t>similar</a:t>
            </a:r>
            <a:r>
              <a:rPr sz="2267" spc="420" dirty="0">
                <a:solidFill>
                  <a:srgbClr val="333333"/>
                </a:solidFill>
                <a:latin typeface="Times New Roman"/>
                <a:cs typeface="Times New Roman"/>
              </a:rPr>
              <a:t> </a:t>
            </a:r>
            <a:r>
              <a:rPr sz="2267" dirty="0">
                <a:solidFill>
                  <a:srgbClr val="333333"/>
                </a:solidFill>
                <a:latin typeface="Times New Roman"/>
                <a:cs typeface="Times New Roman"/>
              </a:rPr>
              <a:t>to</a:t>
            </a:r>
            <a:r>
              <a:rPr sz="2267" spc="4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413" dirty="0">
                <a:solidFill>
                  <a:srgbClr val="333333"/>
                </a:solidFill>
                <a:latin typeface="Times New Roman"/>
                <a:cs typeface="Times New Roman"/>
              </a:rPr>
              <a:t> </a:t>
            </a:r>
            <a:r>
              <a:rPr sz="2267" dirty="0">
                <a:solidFill>
                  <a:srgbClr val="333333"/>
                </a:solidFill>
                <a:latin typeface="Times New Roman"/>
                <a:cs typeface="Times New Roman"/>
              </a:rPr>
              <a:t>method.</a:t>
            </a:r>
            <a:r>
              <a:rPr sz="2267" spc="420" dirty="0">
                <a:solidFill>
                  <a:srgbClr val="333333"/>
                </a:solidFill>
                <a:latin typeface="Times New Roman"/>
                <a:cs typeface="Times New Roman"/>
              </a:rPr>
              <a:t> </a:t>
            </a:r>
            <a:r>
              <a:rPr sz="2267" dirty="0">
                <a:solidFill>
                  <a:srgbClr val="333333"/>
                </a:solidFill>
                <a:latin typeface="Times New Roman"/>
                <a:cs typeface="Times New Roman"/>
              </a:rPr>
              <a:t>It</a:t>
            </a:r>
            <a:r>
              <a:rPr sz="2267" spc="420" dirty="0">
                <a:solidFill>
                  <a:srgbClr val="333333"/>
                </a:solidFill>
                <a:latin typeface="Times New Roman"/>
                <a:cs typeface="Times New Roman"/>
              </a:rPr>
              <a:t> </a:t>
            </a:r>
            <a:r>
              <a:rPr sz="2267" dirty="0">
                <a:solidFill>
                  <a:srgbClr val="333333"/>
                </a:solidFill>
                <a:latin typeface="Times New Roman"/>
                <a:cs typeface="Times New Roman"/>
              </a:rPr>
              <a:t>is</a:t>
            </a:r>
            <a:r>
              <a:rPr sz="2267" spc="413" dirty="0">
                <a:solidFill>
                  <a:srgbClr val="333333"/>
                </a:solidFill>
                <a:latin typeface="Times New Roman"/>
                <a:cs typeface="Times New Roman"/>
              </a:rPr>
              <a:t> </a:t>
            </a:r>
            <a:r>
              <a:rPr sz="2267" dirty="0">
                <a:solidFill>
                  <a:srgbClr val="333333"/>
                </a:solidFill>
                <a:latin typeface="Times New Roman"/>
                <a:cs typeface="Times New Roman"/>
              </a:rPr>
              <a:t>called</a:t>
            </a:r>
            <a:r>
              <a:rPr sz="2267" spc="420" dirty="0">
                <a:solidFill>
                  <a:srgbClr val="333333"/>
                </a:solidFill>
                <a:latin typeface="Times New Roman"/>
                <a:cs typeface="Times New Roman"/>
              </a:rPr>
              <a:t> </a:t>
            </a:r>
            <a:r>
              <a:rPr sz="2267" dirty="0">
                <a:solidFill>
                  <a:srgbClr val="333333"/>
                </a:solidFill>
                <a:latin typeface="Times New Roman"/>
                <a:cs typeface="Times New Roman"/>
              </a:rPr>
              <a:t>when</a:t>
            </a:r>
            <a:r>
              <a:rPr sz="2267" spc="420" dirty="0">
                <a:solidFill>
                  <a:srgbClr val="333333"/>
                </a:solidFill>
                <a:latin typeface="Times New Roman"/>
                <a:cs typeface="Times New Roman"/>
              </a:rPr>
              <a:t> </a:t>
            </a:r>
            <a:r>
              <a:rPr sz="2267" spc="-33" dirty="0">
                <a:solidFill>
                  <a:srgbClr val="333333"/>
                </a:solidFill>
                <a:latin typeface="Times New Roman"/>
                <a:cs typeface="Times New Roman"/>
              </a:rPr>
              <a:t>an </a:t>
            </a:r>
            <a:r>
              <a:rPr sz="2267" dirty="0">
                <a:solidFill>
                  <a:srgbClr val="333333"/>
                </a:solidFill>
                <a:latin typeface="Times New Roman"/>
                <a:cs typeface="Times New Roman"/>
              </a:rPr>
              <a:t>instance</a:t>
            </a:r>
            <a:r>
              <a:rPr sz="2267" spc="-33" dirty="0">
                <a:solidFill>
                  <a:srgbClr val="333333"/>
                </a:solidFill>
                <a:latin typeface="Times New Roman"/>
                <a:cs typeface="Times New Roman"/>
              </a:rPr>
              <a:t> </a:t>
            </a:r>
            <a:r>
              <a:rPr sz="2267" dirty="0">
                <a:solidFill>
                  <a:srgbClr val="333333"/>
                </a:solidFill>
                <a:latin typeface="Times New Roman"/>
                <a:cs typeface="Times New Roman"/>
              </a:rPr>
              <a:t>of</a:t>
            </a:r>
            <a:r>
              <a:rPr sz="2267" spc="-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13" dirty="0">
                <a:solidFill>
                  <a:srgbClr val="333333"/>
                </a:solidFill>
                <a:latin typeface="Times New Roman"/>
                <a:cs typeface="Times New Roman"/>
              </a:rPr>
              <a:t> </a:t>
            </a:r>
            <a:r>
              <a:rPr sz="2267" dirty="0">
                <a:solidFill>
                  <a:srgbClr val="008000"/>
                </a:solidFill>
                <a:latin typeface="Times New Roman"/>
                <a:cs typeface="Times New Roman"/>
                <a:hlinkClick r:id="rId3"/>
              </a:rPr>
              <a:t>class</a:t>
            </a:r>
            <a:r>
              <a:rPr sz="2267" spc="-33" dirty="0">
                <a:solidFill>
                  <a:srgbClr val="008000"/>
                </a:solidFill>
                <a:latin typeface="Times New Roman"/>
                <a:cs typeface="Times New Roman"/>
              </a:rPr>
              <a:t> </a:t>
            </a:r>
            <a:r>
              <a:rPr sz="2267" dirty="0">
                <a:solidFill>
                  <a:srgbClr val="333333"/>
                </a:solidFill>
                <a:latin typeface="Times New Roman"/>
                <a:cs typeface="Times New Roman"/>
              </a:rPr>
              <a:t>is</a:t>
            </a:r>
            <a:r>
              <a:rPr sz="2267" spc="-27" dirty="0">
                <a:solidFill>
                  <a:srgbClr val="333333"/>
                </a:solidFill>
                <a:latin typeface="Times New Roman"/>
                <a:cs typeface="Times New Roman"/>
              </a:rPr>
              <a:t> </a:t>
            </a:r>
            <a:r>
              <a:rPr sz="2267" spc="-13" dirty="0">
                <a:solidFill>
                  <a:srgbClr val="333333"/>
                </a:solidFill>
                <a:latin typeface="Times New Roman"/>
                <a:cs typeface="Times New Roman"/>
              </a:rPr>
              <a:t>created.</a:t>
            </a:r>
            <a:endParaRPr sz="2267" dirty="0">
              <a:latin typeface="Times New Roman"/>
              <a:cs typeface="Times New Roman"/>
            </a:endParaRPr>
          </a:p>
          <a:p>
            <a:pPr marL="625671" indent="-478355">
              <a:lnSpc>
                <a:spcPct val="100000"/>
              </a:lnSpc>
              <a:spcBef>
                <a:spcPts val="379"/>
              </a:spcBef>
              <a:buFont typeface="Arial MT"/>
              <a:buChar char="●"/>
              <a:tabLst>
                <a:tab pos="626518" algn="l"/>
              </a:tabLst>
            </a:pPr>
            <a:r>
              <a:rPr sz="2267" dirty="0">
                <a:solidFill>
                  <a:srgbClr val="333333"/>
                </a:solidFill>
                <a:latin typeface="Times New Roman"/>
                <a:cs typeface="Times New Roman"/>
              </a:rPr>
              <a:t>At</a:t>
            </a:r>
            <a:r>
              <a:rPr sz="2267" spc="-27" dirty="0">
                <a:solidFill>
                  <a:srgbClr val="333333"/>
                </a:solidFill>
                <a:latin typeface="Times New Roman"/>
                <a:cs typeface="Times New Roman"/>
              </a:rPr>
              <a:t> </a:t>
            </a:r>
            <a:r>
              <a:rPr sz="2267" dirty="0">
                <a:solidFill>
                  <a:srgbClr val="333333"/>
                </a:solidFill>
                <a:latin typeface="Times New Roman"/>
                <a:cs typeface="Times New Roman"/>
              </a:rPr>
              <a:t>the</a:t>
            </a:r>
            <a:r>
              <a:rPr sz="2267" spc="-27" dirty="0">
                <a:solidFill>
                  <a:srgbClr val="333333"/>
                </a:solidFill>
                <a:latin typeface="Times New Roman"/>
                <a:cs typeface="Times New Roman"/>
              </a:rPr>
              <a:t> </a:t>
            </a:r>
            <a:r>
              <a:rPr sz="2267" dirty="0">
                <a:solidFill>
                  <a:srgbClr val="333333"/>
                </a:solidFill>
                <a:latin typeface="Times New Roman"/>
                <a:cs typeface="Times New Roman"/>
              </a:rPr>
              <a:t>time</a:t>
            </a:r>
            <a:r>
              <a:rPr sz="2267" spc="-27" dirty="0">
                <a:solidFill>
                  <a:srgbClr val="333333"/>
                </a:solidFill>
                <a:latin typeface="Times New Roman"/>
                <a:cs typeface="Times New Roman"/>
              </a:rPr>
              <a:t> </a:t>
            </a:r>
            <a:r>
              <a:rPr sz="2267" dirty="0">
                <a:solidFill>
                  <a:srgbClr val="333333"/>
                </a:solidFill>
                <a:latin typeface="Times New Roman"/>
                <a:cs typeface="Times New Roman"/>
              </a:rPr>
              <a:t>of</a:t>
            </a:r>
            <a:r>
              <a:rPr sz="2267" spc="-20" dirty="0">
                <a:solidFill>
                  <a:srgbClr val="333333"/>
                </a:solidFill>
                <a:latin typeface="Times New Roman"/>
                <a:cs typeface="Times New Roman"/>
              </a:rPr>
              <a:t> </a:t>
            </a:r>
            <a:r>
              <a:rPr sz="2267" dirty="0">
                <a:solidFill>
                  <a:srgbClr val="333333"/>
                </a:solidFill>
                <a:latin typeface="Times New Roman"/>
                <a:cs typeface="Times New Roman"/>
              </a:rPr>
              <a:t>calling</a:t>
            </a:r>
            <a:r>
              <a:rPr sz="2267" spc="-20" dirty="0">
                <a:solidFill>
                  <a:srgbClr val="333333"/>
                </a:solidFill>
                <a:latin typeface="Times New Roman"/>
                <a:cs typeface="Times New Roman"/>
              </a:rPr>
              <a:t> </a:t>
            </a:r>
            <a:r>
              <a:rPr sz="2267" dirty="0">
                <a:solidFill>
                  <a:srgbClr val="333333"/>
                </a:solidFill>
                <a:latin typeface="Times New Roman"/>
                <a:cs typeface="Times New Roman"/>
              </a:rPr>
              <a:t>constructor,</a:t>
            </a:r>
            <a:r>
              <a:rPr sz="2267" spc="-20" dirty="0">
                <a:solidFill>
                  <a:srgbClr val="333333"/>
                </a:solidFill>
                <a:latin typeface="Times New Roman"/>
                <a:cs typeface="Times New Roman"/>
              </a:rPr>
              <a:t> </a:t>
            </a:r>
            <a:r>
              <a:rPr sz="2267" dirty="0">
                <a:solidFill>
                  <a:srgbClr val="333333"/>
                </a:solidFill>
                <a:latin typeface="Times New Roman"/>
                <a:cs typeface="Times New Roman"/>
              </a:rPr>
              <a:t>memory</a:t>
            </a:r>
            <a:r>
              <a:rPr sz="2267" spc="-20" dirty="0">
                <a:solidFill>
                  <a:srgbClr val="333333"/>
                </a:solidFill>
                <a:latin typeface="Times New Roman"/>
                <a:cs typeface="Times New Roman"/>
              </a:rPr>
              <a:t> </a:t>
            </a:r>
            <a:r>
              <a:rPr sz="2267" dirty="0">
                <a:solidFill>
                  <a:srgbClr val="333333"/>
                </a:solidFill>
                <a:latin typeface="Times New Roman"/>
                <a:cs typeface="Times New Roman"/>
              </a:rPr>
              <a:t>for</a:t>
            </a:r>
            <a:r>
              <a:rPr sz="2267" spc="-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27" dirty="0">
                <a:solidFill>
                  <a:srgbClr val="333333"/>
                </a:solidFill>
                <a:latin typeface="Times New Roman"/>
                <a:cs typeface="Times New Roman"/>
              </a:rPr>
              <a:t> </a:t>
            </a:r>
            <a:r>
              <a:rPr sz="2267" dirty="0">
                <a:solidFill>
                  <a:srgbClr val="333333"/>
                </a:solidFill>
                <a:latin typeface="Times New Roman"/>
                <a:cs typeface="Times New Roman"/>
              </a:rPr>
              <a:t>object</a:t>
            </a:r>
            <a:r>
              <a:rPr sz="2267" spc="-27" dirty="0">
                <a:solidFill>
                  <a:srgbClr val="333333"/>
                </a:solidFill>
                <a:latin typeface="Times New Roman"/>
                <a:cs typeface="Times New Roman"/>
              </a:rPr>
              <a:t> </a:t>
            </a:r>
            <a:r>
              <a:rPr sz="2267" dirty="0">
                <a:solidFill>
                  <a:srgbClr val="333333"/>
                </a:solidFill>
                <a:latin typeface="Times New Roman"/>
                <a:cs typeface="Times New Roman"/>
              </a:rPr>
              <a:t>is</a:t>
            </a:r>
            <a:r>
              <a:rPr sz="2267" spc="-27" dirty="0">
                <a:solidFill>
                  <a:srgbClr val="333333"/>
                </a:solidFill>
                <a:latin typeface="Times New Roman"/>
                <a:cs typeface="Times New Roman"/>
              </a:rPr>
              <a:t> </a:t>
            </a:r>
            <a:r>
              <a:rPr sz="2267" dirty="0">
                <a:solidFill>
                  <a:srgbClr val="333333"/>
                </a:solidFill>
                <a:latin typeface="Times New Roman"/>
                <a:cs typeface="Times New Roman"/>
              </a:rPr>
              <a:t>allocated</a:t>
            </a:r>
            <a:r>
              <a:rPr sz="2267" spc="-20" dirty="0">
                <a:solidFill>
                  <a:srgbClr val="333333"/>
                </a:solidFill>
                <a:latin typeface="Times New Roman"/>
                <a:cs typeface="Times New Roman"/>
              </a:rPr>
              <a:t> </a:t>
            </a:r>
            <a:r>
              <a:rPr sz="2267" dirty="0">
                <a:solidFill>
                  <a:srgbClr val="333333"/>
                </a:solidFill>
                <a:latin typeface="Times New Roman"/>
                <a:cs typeface="Times New Roman"/>
              </a:rPr>
              <a:t>in</a:t>
            </a:r>
            <a:r>
              <a:rPr sz="2267" spc="-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20" dirty="0">
                <a:solidFill>
                  <a:srgbClr val="333333"/>
                </a:solidFill>
                <a:latin typeface="Times New Roman"/>
                <a:cs typeface="Times New Roman"/>
              </a:rPr>
              <a:t> </a:t>
            </a:r>
            <a:r>
              <a:rPr sz="2267" spc="-13" dirty="0">
                <a:solidFill>
                  <a:srgbClr val="333333"/>
                </a:solidFill>
                <a:latin typeface="Times New Roman"/>
                <a:cs typeface="Times New Roman"/>
              </a:rPr>
              <a:t>memory.</a:t>
            </a:r>
            <a:endParaRPr sz="2267" dirty="0">
              <a:latin typeface="Times New Roman"/>
              <a:cs typeface="Times New Roman"/>
            </a:endParaRPr>
          </a:p>
          <a:p>
            <a:pPr marL="625671" indent="-478355">
              <a:lnSpc>
                <a:spcPct val="100000"/>
              </a:lnSpc>
              <a:spcBef>
                <a:spcPts val="379"/>
              </a:spcBef>
              <a:buFont typeface="Arial MT"/>
              <a:buChar char="●"/>
              <a:tabLst>
                <a:tab pos="626518" algn="l"/>
              </a:tabLst>
            </a:pPr>
            <a:r>
              <a:rPr sz="2267" dirty="0">
                <a:solidFill>
                  <a:srgbClr val="333333"/>
                </a:solidFill>
                <a:latin typeface="Times New Roman"/>
                <a:cs typeface="Times New Roman"/>
              </a:rPr>
              <a:t>It</a:t>
            </a:r>
            <a:r>
              <a:rPr sz="2267" spc="-27" dirty="0">
                <a:solidFill>
                  <a:srgbClr val="333333"/>
                </a:solidFill>
                <a:latin typeface="Times New Roman"/>
                <a:cs typeface="Times New Roman"/>
              </a:rPr>
              <a:t> </a:t>
            </a:r>
            <a:r>
              <a:rPr sz="2267" dirty="0">
                <a:solidFill>
                  <a:srgbClr val="333333"/>
                </a:solidFill>
                <a:latin typeface="Times New Roman"/>
                <a:cs typeface="Times New Roman"/>
              </a:rPr>
              <a:t>is</a:t>
            </a:r>
            <a:r>
              <a:rPr sz="2267" spc="-20" dirty="0">
                <a:solidFill>
                  <a:srgbClr val="333333"/>
                </a:solidFill>
                <a:latin typeface="Times New Roman"/>
                <a:cs typeface="Times New Roman"/>
              </a:rPr>
              <a:t> </a:t>
            </a:r>
            <a:r>
              <a:rPr sz="2267" dirty="0">
                <a:solidFill>
                  <a:srgbClr val="333333"/>
                </a:solidFill>
                <a:latin typeface="Times New Roman"/>
                <a:cs typeface="Times New Roman"/>
              </a:rPr>
              <a:t>a</a:t>
            </a:r>
            <a:r>
              <a:rPr sz="2267" spc="-27" dirty="0">
                <a:solidFill>
                  <a:srgbClr val="333333"/>
                </a:solidFill>
                <a:latin typeface="Times New Roman"/>
                <a:cs typeface="Times New Roman"/>
              </a:rPr>
              <a:t> </a:t>
            </a:r>
            <a:r>
              <a:rPr sz="2267" dirty="0">
                <a:solidFill>
                  <a:srgbClr val="333333"/>
                </a:solidFill>
                <a:latin typeface="Times New Roman"/>
                <a:cs typeface="Times New Roman"/>
              </a:rPr>
              <a:t>special</a:t>
            </a:r>
            <a:r>
              <a:rPr sz="2267" spc="-20" dirty="0">
                <a:solidFill>
                  <a:srgbClr val="333333"/>
                </a:solidFill>
                <a:latin typeface="Times New Roman"/>
                <a:cs typeface="Times New Roman"/>
              </a:rPr>
              <a:t> </a:t>
            </a:r>
            <a:r>
              <a:rPr sz="2267" dirty="0">
                <a:solidFill>
                  <a:srgbClr val="333333"/>
                </a:solidFill>
                <a:latin typeface="Times New Roman"/>
                <a:cs typeface="Times New Roman"/>
              </a:rPr>
              <a:t>type</a:t>
            </a:r>
            <a:r>
              <a:rPr sz="2267" spc="-27" dirty="0">
                <a:solidFill>
                  <a:srgbClr val="333333"/>
                </a:solidFill>
                <a:latin typeface="Times New Roman"/>
                <a:cs typeface="Times New Roman"/>
              </a:rPr>
              <a:t> </a:t>
            </a:r>
            <a:r>
              <a:rPr sz="2267" dirty="0">
                <a:solidFill>
                  <a:srgbClr val="333333"/>
                </a:solidFill>
                <a:latin typeface="Times New Roman"/>
                <a:cs typeface="Times New Roman"/>
              </a:rPr>
              <a:t>of</a:t>
            </a:r>
            <a:r>
              <a:rPr sz="2267" spc="-13" dirty="0">
                <a:solidFill>
                  <a:srgbClr val="333333"/>
                </a:solidFill>
                <a:latin typeface="Times New Roman"/>
                <a:cs typeface="Times New Roman"/>
              </a:rPr>
              <a:t> </a:t>
            </a:r>
            <a:r>
              <a:rPr sz="2267" dirty="0">
                <a:solidFill>
                  <a:srgbClr val="333333"/>
                </a:solidFill>
                <a:latin typeface="Times New Roman"/>
                <a:cs typeface="Times New Roman"/>
              </a:rPr>
              <a:t>method</a:t>
            </a:r>
            <a:r>
              <a:rPr sz="2267" spc="-20" dirty="0">
                <a:solidFill>
                  <a:srgbClr val="333333"/>
                </a:solidFill>
                <a:latin typeface="Times New Roman"/>
                <a:cs typeface="Times New Roman"/>
              </a:rPr>
              <a:t> </a:t>
            </a:r>
            <a:r>
              <a:rPr sz="2267" dirty="0">
                <a:solidFill>
                  <a:srgbClr val="333333"/>
                </a:solidFill>
                <a:latin typeface="Times New Roman"/>
                <a:cs typeface="Times New Roman"/>
              </a:rPr>
              <a:t>which</a:t>
            </a:r>
            <a:r>
              <a:rPr sz="2267" spc="-13" dirty="0">
                <a:solidFill>
                  <a:srgbClr val="333333"/>
                </a:solidFill>
                <a:latin typeface="Times New Roman"/>
                <a:cs typeface="Times New Roman"/>
              </a:rPr>
              <a:t> </a:t>
            </a:r>
            <a:r>
              <a:rPr sz="2267" dirty="0">
                <a:solidFill>
                  <a:srgbClr val="333333"/>
                </a:solidFill>
                <a:latin typeface="Times New Roman"/>
                <a:cs typeface="Times New Roman"/>
              </a:rPr>
              <a:t>is</a:t>
            </a:r>
            <a:r>
              <a:rPr sz="2267" spc="-27" dirty="0">
                <a:solidFill>
                  <a:srgbClr val="333333"/>
                </a:solidFill>
                <a:latin typeface="Times New Roman"/>
                <a:cs typeface="Times New Roman"/>
              </a:rPr>
              <a:t> </a:t>
            </a:r>
            <a:r>
              <a:rPr sz="2267" dirty="0">
                <a:solidFill>
                  <a:srgbClr val="333333"/>
                </a:solidFill>
                <a:latin typeface="Times New Roman"/>
                <a:cs typeface="Times New Roman"/>
              </a:rPr>
              <a:t>used</a:t>
            </a:r>
            <a:r>
              <a:rPr sz="2267" spc="-13" dirty="0">
                <a:solidFill>
                  <a:srgbClr val="333333"/>
                </a:solidFill>
                <a:latin typeface="Times New Roman"/>
                <a:cs typeface="Times New Roman"/>
              </a:rPr>
              <a:t> </a:t>
            </a:r>
            <a:r>
              <a:rPr sz="2267" dirty="0">
                <a:solidFill>
                  <a:srgbClr val="333333"/>
                </a:solidFill>
                <a:latin typeface="Times New Roman"/>
                <a:cs typeface="Times New Roman"/>
              </a:rPr>
              <a:t>to</a:t>
            </a:r>
            <a:r>
              <a:rPr sz="2267" spc="-20" dirty="0">
                <a:solidFill>
                  <a:srgbClr val="333333"/>
                </a:solidFill>
                <a:latin typeface="Times New Roman"/>
                <a:cs typeface="Times New Roman"/>
              </a:rPr>
              <a:t> </a:t>
            </a:r>
            <a:r>
              <a:rPr sz="2267" spc="-13" dirty="0">
                <a:solidFill>
                  <a:srgbClr val="333333"/>
                </a:solidFill>
                <a:latin typeface="Times New Roman"/>
                <a:cs typeface="Times New Roman"/>
              </a:rPr>
              <a:t>initialize</a:t>
            </a:r>
            <a:r>
              <a:rPr sz="2267" spc="-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27" dirty="0">
                <a:solidFill>
                  <a:srgbClr val="333333"/>
                </a:solidFill>
                <a:latin typeface="Times New Roman"/>
                <a:cs typeface="Times New Roman"/>
              </a:rPr>
              <a:t> </a:t>
            </a:r>
            <a:r>
              <a:rPr sz="2267" spc="-13" dirty="0">
                <a:solidFill>
                  <a:srgbClr val="333333"/>
                </a:solidFill>
                <a:latin typeface="Times New Roman"/>
                <a:cs typeface="Times New Roman"/>
              </a:rPr>
              <a:t>object.</a:t>
            </a:r>
            <a:endParaRPr sz="2267" dirty="0">
              <a:latin typeface="Times New Roman"/>
              <a:cs typeface="Times New Roman"/>
            </a:endParaRPr>
          </a:p>
          <a:p>
            <a:pPr marL="625671" indent="-478355">
              <a:lnSpc>
                <a:spcPct val="100000"/>
              </a:lnSpc>
              <a:spcBef>
                <a:spcPts val="379"/>
              </a:spcBef>
              <a:buFont typeface="Arial MT"/>
              <a:buChar char="●"/>
              <a:tabLst>
                <a:tab pos="626518" algn="l"/>
              </a:tabLst>
            </a:pPr>
            <a:r>
              <a:rPr sz="2267" dirty="0">
                <a:solidFill>
                  <a:srgbClr val="333333"/>
                </a:solidFill>
                <a:latin typeface="Times New Roman"/>
                <a:cs typeface="Times New Roman"/>
              </a:rPr>
              <a:t>Every</a:t>
            </a:r>
            <a:r>
              <a:rPr sz="2267" spc="-20" dirty="0">
                <a:solidFill>
                  <a:srgbClr val="333333"/>
                </a:solidFill>
                <a:latin typeface="Times New Roman"/>
                <a:cs typeface="Times New Roman"/>
              </a:rPr>
              <a:t> </a:t>
            </a:r>
            <a:r>
              <a:rPr sz="2267" dirty="0">
                <a:solidFill>
                  <a:srgbClr val="333333"/>
                </a:solidFill>
                <a:latin typeface="Times New Roman"/>
                <a:cs typeface="Times New Roman"/>
              </a:rPr>
              <a:t>time</a:t>
            </a:r>
            <a:r>
              <a:rPr sz="2267" spc="-20" dirty="0">
                <a:solidFill>
                  <a:srgbClr val="333333"/>
                </a:solidFill>
                <a:latin typeface="Times New Roman"/>
                <a:cs typeface="Times New Roman"/>
              </a:rPr>
              <a:t> </a:t>
            </a:r>
            <a:r>
              <a:rPr sz="2267" dirty="0">
                <a:solidFill>
                  <a:srgbClr val="333333"/>
                </a:solidFill>
                <a:latin typeface="Times New Roman"/>
                <a:cs typeface="Times New Roman"/>
              </a:rPr>
              <a:t>an</a:t>
            </a:r>
            <a:r>
              <a:rPr sz="2267" spc="-20" dirty="0">
                <a:solidFill>
                  <a:srgbClr val="333333"/>
                </a:solidFill>
                <a:latin typeface="Times New Roman"/>
                <a:cs typeface="Times New Roman"/>
              </a:rPr>
              <a:t> </a:t>
            </a:r>
            <a:r>
              <a:rPr sz="2267" dirty="0">
                <a:solidFill>
                  <a:srgbClr val="333333"/>
                </a:solidFill>
                <a:latin typeface="Times New Roman"/>
                <a:cs typeface="Times New Roman"/>
              </a:rPr>
              <a:t>object</a:t>
            </a:r>
            <a:r>
              <a:rPr sz="2267" spc="-20" dirty="0">
                <a:solidFill>
                  <a:srgbClr val="333333"/>
                </a:solidFill>
                <a:latin typeface="Times New Roman"/>
                <a:cs typeface="Times New Roman"/>
              </a:rPr>
              <a:t> </a:t>
            </a:r>
            <a:r>
              <a:rPr sz="2267" dirty="0">
                <a:solidFill>
                  <a:srgbClr val="333333"/>
                </a:solidFill>
                <a:latin typeface="Times New Roman"/>
                <a:cs typeface="Times New Roman"/>
              </a:rPr>
              <a:t>is</a:t>
            </a:r>
            <a:r>
              <a:rPr sz="2267" spc="-27" dirty="0">
                <a:solidFill>
                  <a:srgbClr val="333333"/>
                </a:solidFill>
                <a:latin typeface="Times New Roman"/>
                <a:cs typeface="Times New Roman"/>
              </a:rPr>
              <a:t> </a:t>
            </a:r>
            <a:r>
              <a:rPr sz="2267" dirty="0">
                <a:solidFill>
                  <a:srgbClr val="333333"/>
                </a:solidFill>
                <a:latin typeface="Times New Roman"/>
                <a:cs typeface="Times New Roman"/>
              </a:rPr>
              <a:t>created</a:t>
            </a:r>
            <a:r>
              <a:rPr sz="2267" spc="-13" dirty="0">
                <a:solidFill>
                  <a:srgbClr val="333333"/>
                </a:solidFill>
                <a:latin typeface="Times New Roman"/>
                <a:cs typeface="Times New Roman"/>
              </a:rPr>
              <a:t> </a:t>
            </a:r>
            <a:r>
              <a:rPr sz="2267" dirty="0">
                <a:solidFill>
                  <a:srgbClr val="333333"/>
                </a:solidFill>
                <a:latin typeface="Times New Roman"/>
                <a:cs typeface="Times New Roman"/>
              </a:rPr>
              <a:t>using</a:t>
            </a:r>
            <a:r>
              <a:rPr sz="2267" spc="-20" dirty="0">
                <a:solidFill>
                  <a:srgbClr val="333333"/>
                </a:solidFill>
                <a:latin typeface="Times New Roman"/>
                <a:cs typeface="Times New Roman"/>
              </a:rPr>
              <a:t> </a:t>
            </a:r>
            <a:r>
              <a:rPr sz="2267" dirty="0">
                <a:solidFill>
                  <a:srgbClr val="333333"/>
                </a:solidFill>
                <a:latin typeface="Times New Roman"/>
                <a:cs typeface="Times New Roman"/>
              </a:rPr>
              <a:t>the</a:t>
            </a:r>
            <a:r>
              <a:rPr sz="2267" spc="-20" dirty="0">
                <a:solidFill>
                  <a:srgbClr val="333333"/>
                </a:solidFill>
                <a:latin typeface="Times New Roman"/>
                <a:cs typeface="Times New Roman"/>
              </a:rPr>
              <a:t> </a:t>
            </a:r>
            <a:r>
              <a:rPr sz="2267" dirty="0">
                <a:solidFill>
                  <a:srgbClr val="333333"/>
                </a:solidFill>
                <a:latin typeface="Times New Roman"/>
                <a:cs typeface="Times New Roman"/>
              </a:rPr>
              <a:t>new()</a:t>
            </a:r>
            <a:r>
              <a:rPr sz="2267" spc="-20" dirty="0">
                <a:solidFill>
                  <a:srgbClr val="333333"/>
                </a:solidFill>
                <a:latin typeface="Times New Roman"/>
                <a:cs typeface="Times New Roman"/>
              </a:rPr>
              <a:t> </a:t>
            </a:r>
            <a:r>
              <a:rPr sz="2267" dirty="0">
                <a:solidFill>
                  <a:srgbClr val="333333"/>
                </a:solidFill>
                <a:latin typeface="Times New Roman"/>
                <a:cs typeface="Times New Roman"/>
              </a:rPr>
              <a:t>keyword,</a:t>
            </a:r>
            <a:r>
              <a:rPr sz="2267" spc="-13" dirty="0">
                <a:solidFill>
                  <a:srgbClr val="333333"/>
                </a:solidFill>
                <a:latin typeface="Times New Roman"/>
                <a:cs typeface="Times New Roman"/>
              </a:rPr>
              <a:t> </a:t>
            </a:r>
            <a:r>
              <a:rPr sz="2267" dirty="0">
                <a:solidFill>
                  <a:srgbClr val="333333"/>
                </a:solidFill>
                <a:latin typeface="Times New Roman"/>
                <a:cs typeface="Times New Roman"/>
              </a:rPr>
              <a:t>at</a:t>
            </a:r>
            <a:r>
              <a:rPr sz="2267" spc="-27" dirty="0">
                <a:solidFill>
                  <a:srgbClr val="333333"/>
                </a:solidFill>
                <a:latin typeface="Times New Roman"/>
                <a:cs typeface="Times New Roman"/>
              </a:rPr>
              <a:t> </a:t>
            </a:r>
            <a:r>
              <a:rPr sz="2267" dirty="0">
                <a:solidFill>
                  <a:srgbClr val="333333"/>
                </a:solidFill>
                <a:latin typeface="Times New Roman"/>
                <a:cs typeface="Times New Roman"/>
              </a:rPr>
              <a:t>least</a:t>
            </a:r>
            <a:r>
              <a:rPr sz="2267" spc="-20" dirty="0">
                <a:solidFill>
                  <a:srgbClr val="333333"/>
                </a:solidFill>
                <a:latin typeface="Times New Roman"/>
                <a:cs typeface="Times New Roman"/>
              </a:rPr>
              <a:t> </a:t>
            </a:r>
            <a:r>
              <a:rPr sz="2267" dirty="0">
                <a:solidFill>
                  <a:srgbClr val="333333"/>
                </a:solidFill>
                <a:latin typeface="Times New Roman"/>
                <a:cs typeface="Times New Roman"/>
              </a:rPr>
              <a:t>one</a:t>
            </a:r>
            <a:r>
              <a:rPr sz="2267" spc="-27" dirty="0">
                <a:solidFill>
                  <a:srgbClr val="333333"/>
                </a:solidFill>
                <a:latin typeface="Times New Roman"/>
                <a:cs typeface="Times New Roman"/>
              </a:rPr>
              <a:t> </a:t>
            </a:r>
            <a:r>
              <a:rPr sz="2267" dirty="0">
                <a:solidFill>
                  <a:srgbClr val="333333"/>
                </a:solidFill>
                <a:latin typeface="Times New Roman"/>
                <a:cs typeface="Times New Roman"/>
              </a:rPr>
              <a:t>constructor</a:t>
            </a:r>
            <a:r>
              <a:rPr sz="2267" spc="-13" dirty="0">
                <a:solidFill>
                  <a:srgbClr val="333333"/>
                </a:solidFill>
                <a:latin typeface="Times New Roman"/>
                <a:cs typeface="Times New Roman"/>
              </a:rPr>
              <a:t> </a:t>
            </a:r>
            <a:r>
              <a:rPr sz="2267" dirty="0">
                <a:solidFill>
                  <a:srgbClr val="333333"/>
                </a:solidFill>
                <a:latin typeface="Times New Roman"/>
                <a:cs typeface="Times New Roman"/>
              </a:rPr>
              <a:t>is</a:t>
            </a:r>
            <a:r>
              <a:rPr sz="2267" spc="-20" dirty="0">
                <a:solidFill>
                  <a:srgbClr val="333333"/>
                </a:solidFill>
                <a:latin typeface="Times New Roman"/>
                <a:cs typeface="Times New Roman"/>
              </a:rPr>
              <a:t> </a:t>
            </a:r>
            <a:r>
              <a:rPr sz="2267" spc="-13" dirty="0">
                <a:solidFill>
                  <a:srgbClr val="333333"/>
                </a:solidFill>
                <a:latin typeface="Times New Roman"/>
                <a:cs typeface="Times New Roman"/>
              </a:rPr>
              <a:t>called.</a:t>
            </a:r>
            <a:endParaRPr sz="2267" dirty="0">
              <a:latin typeface="Times New Roman"/>
              <a:cs typeface="Times New Roman"/>
            </a:endParaRPr>
          </a:p>
        </p:txBody>
      </p:sp>
    </p:spTree>
    <p:extLst>
      <p:ext uri="{BB962C8B-B14F-4D97-AF65-F5344CB8AC3E}">
        <p14:creationId xmlns:p14="http://schemas.microsoft.com/office/powerpoint/2010/main" val="317337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955181"/>
            <a:ext cx="5814142" cy="732400"/>
          </a:xfrm>
          <a:prstGeom prst="rect">
            <a:avLst/>
          </a:prstGeom>
        </p:spPr>
        <p:txBody>
          <a:bodyPr vert="horz" wrap="square" lIns="0" tIns="359557" rIns="0" bIns="0" rtlCol="0" anchor="ctr">
            <a:spAutoFit/>
          </a:bodyPr>
          <a:lstStyle/>
          <a:p>
            <a:pPr marL="16933">
              <a:lnSpc>
                <a:spcPct val="100000"/>
              </a:lnSpc>
              <a:spcBef>
                <a:spcPts val="133"/>
              </a:spcBef>
            </a:pPr>
            <a:r>
              <a:rPr sz="2400" b="1" dirty="0">
                <a:solidFill>
                  <a:srgbClr val="610B4B"/>
                </a:solidFill>
                <a:latin typeface="Arial"/>
                <a:cs typeface="Arial"/>
              </a:rPr>
              <a:t>Rules</a:t>
            </a:r>
            <a:r>
              <a:rPr sz="2400" b="1" spc="-47" dirty="0">
                <a:solidFill>
                  <a:srgbClr val="610B4B"/>
                </a:solidFill>
                <a:latin typeface="Arial"/>
                <a:cs typeface="Arial"/>
              </a:rPr>
              <a:t> </a:t>
            </a:r>
            <a:r>
              <a:rPr sz="2400" b="1" dirty="0">
                <a:solidFill>
                  <a:srgbClr val="610B4B"/>
                </a:solidFill>
                <a:latin typeface="Arial"/>
                <a:cs typeface="Arial"/>
              </a:rPr>
              <a:t>for</a:t>
            </a:r>
            <a:r>
              <a:rPr sz="2400" b="1" spc="-40" dirty="0">
                <a:solidFill>
                  <a:srgbClr val="610B4B"/>
                </a:solidFill>
                <a:latin typeface="Arial"/>
                <a:cs typeface="Arial"/>
              </a:rPr>
              <a:t> </a:t>
            </a:r>
            <a:r>
              <a:rPr sz="2400" b="1" dirty="0">
                <a:solidFill>
                  <a:srgbClr val="610B4B"/>
                </a:solidFill>
                <a:latin typeface="Arial"/>
                <a:cs typeface="Arial"/>
              </a:rPr>
              <a:t>creating</a:t>
            </a:r>
            <a:r>
              <a:rPr sz="2400" b="1" spc="-40" dirty="0">
                <a:solidFill>
                  <a:srgbClr val="610B4B"/>
                </a:solidFill>
                <a:latin typeface="Arial"/>
                <a:cs typeface="Arial"/>
              </a:rPr>
              <a:t> </a:t>
            </a:r>
            <a:r>
              <a:rPr sz="2400" b="1" dirty="0">
                <a:solidFill>
                  <a:srgbClr val="610B4B"/>
                </a:solidFill>
                <a:latin typeface="Arial"/>
                <a:cs typeface="Arial"/>
              </a:rPr>
              <a:t>Java</a:t>
            </a:r>
            <a:r>
              <a:rPr sz="2400" b="1" spc="-40" dirty="0">
                <a:solidFill>
                  <a:srgbClr val="610B4B"/>
                </a:solidFill>
                <a:latin typeface="Arial"/>
                <a:cs typeface="Arial"/>
              </a:rPr>
              <a:t> </a:t>
            </a:r>
            <a:r>
              <a:rPr sz="2400" b="1" spc="-13" dirty="0">
                <a:solidFill>
                  <a:srgbClr val="610B4B"/>
                </a:solidFill>
                <a:latin typeface="Arial"/>
                <a:cs typeface="Arial"/>
              </a:rPr>
              <a:t>constructor</a:t>
            </a:r>
            <a:endParaRPr sz="2400" dirty="0">
              <a:latin typeface="Arial"/>
              <a:cs typeface="Arial"/>
            </a:endParaRPr>
          </a:p>
        </p:txBody>
      </p:sp>
      <p:sp>
        <p:nvSpPr>
          <p:cNvPr id="3" name="object 3"/>
          <p:cNvSpPr txBox="1"/>
          <p:nvPr/>
        </p:nvSpPr>
        <p:spPr>
          <a:xfrm>
            <a:off x="512967" y="1929563"/>
            <a:ext cx="8059420" cy="1984047"/>
          </a:xfrm>
          <a:prstGeom prst="rect">
            <a:avLst/>
          </a:prstGeom>
        </p:spPr>
        <p:txBody>
          <a:bodyPr vert="horz" wrap="square" lIns="0" tIns="16933" rIns="0" bIns="0" rtlCol="0">
            <a:spAutoFit/>
          </a:bodyPr>
          <a:lstStyle/>
          <a:p>
            <a:pPr marL="16933">
              <a:spcBef>
                <a:spcPts val="133"/>
              </a:spcBef>
            </a:pPr>
            <a:r>
              <a:rPr sz="2133" dirty="0">
                <a:solidFill>
                  <a:srgbClr val="333333"/>
                </a:solidFill>
                <a:latin typeface="Times New Roman"/>
                <a:cs typeface="Times New Roman"/>
              </a:rPr>
              <a:t>There</a:t>
            </a:r>
            <a:r>
              <a:rPr sz="2133" spc="-53" dirty="0">
                <a:solidFill>
                  <a:srgbClr val="333333"/>
                </a:solidFill>
                <a:latin typeface="Times New Roman"/>
                <a:cs typeface="Times New Roman"/>
              </a:rPr>
              <a:t> </a:t>
            </a:r>
            <a:r>
              <a:rPr sz="2133" dirty="0">
                <a:solidFill>
                  <a:srgbClr val="333333"/>
                </a:solidFill>
                <a:latin typeface="Times New Roman"/>
                <a:cs typeface="Times New Roman"/>
              </a:rPr>
              <a:t>are</a:t>
            </a:r>
            <a:r>
              <a:rPr sz="2133" spc="-53" dirty="0">
                <a:solidFill>
                  <a:srgbClr val="333333"/>
                </a:solidFill>
                <a:latin typeface="Times New Roman"/>
                <a:cs typeface="Times New Roman"/>
              </a:rPr>
              <a:t> </a:t>
            </a:r>
            <a:r>
              <a:rPr sz="2133" dirty="0">
                <a:solidFill>
                  <a:srgbClr val="333333"/>
                </a:solidFill>
                <a:latin typeface="Times New Roman"/>
                <a:cs typeface="Times New Roman"/>
              </a:rPr>
              <a:t>two</a:t>
            </a:r>
            <a:r>
              <a:rPr sz="2133" spc="-47" dirty="0">
                <a:solidFill>
                  <a:srgbClr val="333333"/>
                </a:solidFill>
                <a:latin typeface="Times New Roman"/>
                <a:cs typeface="Times New Roman"/>
              </a:rPr>
              <a:t> </a:t>
            </a:r>
            <a:r>
              <a:rPr sz="2133" dirty="0">
                <a:solidFill>
                  <a:srgbClr val="333333"/>
                </a:solidFill>
                <a:latin typeface="Times New Roman"/>
                <a:cs typeface="Times New Roman"/>
              </a:rPr>
              <a:t>rules</a:t>
            </a:r>
            <a:r>
              <a:rPr sz="2133" spc="-47" dirty="0">
                <a:solidFill>
                  <a:srgbClr val="333333"/>
                </a:solidFill>
                <a:latin typeface="Times New Roman"/>
                <a:cs typeface="Times New Roman"/>
              </a:rPr>
              <a:t> </a:t>
            </a:r>
            <a:r>
              <a:rPr sz="2133" dirty="0">
                <a:solidFill>
                  <a:srgbClr val="333333"/>
                </a:solidFill>
                <a:latin typeface="Times New Roman"/>
                <a:cs typeface="Times New Roman"/>
              </a:rPr>
              <a:t>defined</a:t>
            </a:r>
            <a:r>
              <a:rPr sz="2133" spc="-47" dirty="0">
                <a:solidFill>
                  <a:srgbClr val="333333"/>
                </a:solidFill>
                <a:latin typeface="Times New Roman"/>
                <a:cs typeface="Times New Roman"/>
              </a:rPr>
              <a:t> </a:t>
            </a:r>
            <a:r>
              <a:rPr sz="2133" dirty="0">
                <a:solidFill>
                  <a:srgbClr val="333333"/>
                </a:solidFill>
                <a:latin typeface="Times New Roman"/>
                <a:cs typeface="Times New Roman"/>
              </a:rPr>
              <a:t>for</a:t>
            </a:r>
            <a:r>
              <a:rPr sz="2133" spc="-47" dirty="0">
                <a:solidFill>
                  <a:srgbClr val="333333"/>
                </a:solidFill>
                <a:latin typeface="Times New Roman"/>
                <a:cs typeface="Times New Roman"/>
              </a:rPr>
              <a:t> </a:t>
            </a:r>
            <a:r>
              <a:rPr sz="2133" dirty="0">
                <a:solidFill>
                  <a:srgbClr val="333333"/>
                </a:solidFill>
                <a:latin typeface="Times New Roman"/>
                <a:cs typeface="Times New Roman"/>
              </a:rPr>
              <a:t>the</a:t>
            </a:r>
            <a:r>
              <a:rPr sz="2133" spc="-47" dirty="0">
                <a:solidFill>
                  <a:srgbClr val="333333"/>
                </a:solidFill>
                <a:latin typeface="Times New Roman"/>
                <a:cs typeface="Times New Roman"/>
              </a:rPr>
              <a:t> </a:t>
            </a:r>
            <a:r>
              <a:rPr sz="2133" spc="-13" dirty="0">
                <a:solidFill>
                  <a:srgbClr val="333333"/>
                </a:solidFill>
                <a:latin typeface="Times New Roman"/>
                <a:cs typeface="Times New Roman"/>
              </a:rPr>
              <a:t>constructor.</a:t>
            </a:r>
            <a:endParaRPr sz="2133" dirty="0">
              <a:latin typeface="Times New Roman"/>
              <a:cs typeface="Times New Roman"/>
            </a:endParaRPr>
          </a:p>
          <a:p>
            <a:pPr marL="625671" indent="-507141">
              <a:spcBef>
                <a:spcPts val="2340"/>
              </a:spcBef>
              <a:buAutoNum type="arabicPeriod"/>
              <a:tabLst>
                <a:tab pos="625671" algn="l"/>
              </a:tabLst>
            </a:pPr>
            <a:r>
              <a:rPr sz="2133" dirty="0">
                <a:latin typeface="Times New Roman"/>
                <a:cs typeface="Times New Roman"/>
              </a:rPr>
              <a:t>Constructor</a:t>
            </a:r>
            <a:r>
              <a:rPr sz="2133" spc="-60" dirty="0">
                <a:latin typeface="Times New Roman"/>
                <a:cs typeface="Times New Roman"/>
              </a:rPr>
              <a:t> </a:t>
            </a:r>
            <a:r>
              <a:rPr sz="2133" dirty="0">
                <a:latin typeface="Times New Roman"/>
                <a:cs typeface="Times New Roman"/>
              </a:rPr>
              <a:t>name</a:t>
            </a:r>
            <a:r>
              <a:rPr sz="2133" spc="-60" dirty="0">
                <a:latin typeface="Times New Roman"/>
                <a:cs typeface="Times New Roman"/>
              </a:rPr>
              <a:t> </a:t>
            </a:r>
            <a:r>
              <a:rPr sz="2133" dirty="0">
                <a:latin typeface="Times New Roman"/>
                <a:cs typeface="Times New Roman"/>
              </a:rPr>
              <a:t>must</a:t>
            </a:r>
            <a:r>
              <a:rPr sz="2133" spc="-60" dirty="0">
                <a:latin typeface="Times New Roman"/>
                <a:cs typeface="Times New Roman"/>
              </a:rPr>
              <a:t> </a:t>
            </a:r>
            <a:r>
              <a:rPr sz="2133" dirty="0">
                <a:latin typeface="Times New Roman"/>
                <a:cs typeface="Times New Roman"/>
              </a:rPr>
              <a:t>be</a:t>
            </a:r>
            <a:r>
              <a:rPr sz="2133" spc="-60" dirty="0">
                <a:latin typeface="Times New Roman"/>
                <a:cs typeface="Times New Roman"/>
              </a:rPr>
              <a:t> </a:t>
            </a:r>
            <a:r>
              <a:rPr sz="2133" dirty="0">
                <a:latin typeface="Times New Roman"/>
                <a:cs typeface="Times New Roman"/>
              </a:rPr>
              <a:t>the</a:t>
            </a:r>
            <a:r>
              <a:rPr sz="2133" spc="-60" dirty="0">
                <a:latin typeface="Times New Roman"/>
                <a:cs typeface="Times New Roman"/>
              </a:rPr>
              <a:t> </a:t>
            </a:r>
            <a:r>
              <a:rPr sz="2133" dirty="0">
                <a:latin typeface="Times New Roman"/>
                <a:cs typeface="Times New Roman"/>
              </a:rPr>
              <a:t>same</a:t>
            </a:r>
            <a:r>
              <a:rPr sz="2133" spc="-60" dirty="0">
                <a:latin typeface="Times New Roman"/>
                <a:cs typeface="Times New Roman"/>
              </a:rPr>
              <a:t> </a:t>
            </a:r>
            <a:r>
              <a:rPr sz="2133" dirty="0">
                <a:latin typeface="Times New Roman"/>
                <a:cs typeface="Times New Roman"/>
              </a:rPr>
              <a:t>as</a:t>
            </a:r>
            <a:r>
              <a:rPr sz="2133" spc="-60" dirty="0">
                <a:latin typeface="Times New Roman"/>
                <a:cs typeface="Times New Roman"/>
              </a:rPr>
              <a:t> </a:t>
            </a:r>
            <a:r>
              <a:rPr sz="2133" dirty="0">
                <a:latin typeface="Times New Roman"/>
                <a:cs typeface="Times New Roman"/>
              </a:rPr>
              <a:t>its</a:t>
            </a:r>
            <a:r>
              <a:rPr sz="2133" spc="-60" dirty="0">
                <a:latin typeface="Times New Roman"/>
                <a:cs typeface="Times New Roman"/>
              </a:rPr>
              <a:t> </a:t>
            </a:r>
            <a:r>
              <a:rPr sz="2133" dirty="0">
                <a:latin typeface="Times New Roman"/>
                <a:cs typeface="Times New Roman"/>
              </a:rPr>
              <a:t>class</a:t>
            </a:r>
            <a:r>
              <a:rPr sz="2133" spc="-60" dirty="0">
                <a:latin typeface="Times New Roman"/>
                <a:cs typeface="Times New Roman"/>
              </a:rPr>
              <a:t> </a:t>
            </a:r>
            <a:r>
              <a:rPr sz="2133" spc="-27" dirty="0">
                <a:latin typeface="Times New Roman"/>
                <a:cs typeface="Times New Roman"/>
              </a:rPr>
              <a:t>name</a:t>
            </a:r>
            <a:endParaRPr sz="2133" dirty="0">
              <a:latin typeface="Times New Roman"/>
              <a:cs typeface="Times New Roman"/>
            </a:endParaRPr>
          </a:p>
          <a:p>
            <a:pPr marL="625671" indent="-507141">
              <a:spcBef>
                <a:spcPts val="1440"/>
              </a:spcBef>
              <a:buAutoNum type="arabicPeriod"/>
              <a:tabLst>
                <a:tab pos="625671" algn="l"/>
              </a:tabLst>
            </a:pPr>
            <a:r>
              <a:rPr sz="2133" dirty="0">
                <a:latin typeface="Times New Roman"/>
                <a:cs typeface="Times New Roman"/>
              </a:rPr>
              <a:t>A</a:t>
            </a:r>
            <a:r>
              <a:rPr sz="2133" spc="-133" dirty="0">
                <a:latin typeface="Times New Roman"/>
                <a:cs typeface="Times New Roman"/>
              </a:rPr>
              <a:t> </a:t>
            </a:r>
            <a:r>
              <a:rPr sz="2133" dirty="0">
                <a:latin typeface="Times New Roman"/>
                <a:cs typeface="Times New Roman"/>
              </a:rPr>
              <a:t>Constructor</a:t>
            </a:r>
            <a:r>
              <a:rPr sz="2133" spc="-93" dirty="0">
                <a:latin typeface="Times New Roman"/>
                <a:cs typeface="Times New Roman"/>
              </a:rPr>
              <a:t> </a:t>
            </a:r>
            <a:r>
              <a:rPr sz="2133" dirty="0">
                <a:latin typeface="Times New Roman"/>
                <a:cs typeface="Times New Roman"/>
              </a:rPr>
              <a:t>must</a:t>
            </a:r>
            <a:r>
              <a:rPr sz="2133" spc="-60" dirty="0">
                <a:latin typeface="Times New Roman"/>
                <a:cs typeface="Times New Roman"/>
              </a:rPr>
              <a:t> </a:t>
            </a:r>
            <a:r>
              <a:rPr sz="2133" dirty="0">
                <a:latin typeface="Times New Roman"/>
                <a:cs typeface="Times New Roman"/>
              </a:rPr>
              <a:t>have</a:t>
            </a:r>
            <a:r>
              <a:rPr sz="2133" spc="-67" dirty="0">
                <a:latin typeface="Times New Roman"/>
                <a:cs typeface="Times New Roman"/>
              </a:rPr>
              <a:t> </a:t>
            </a:r>
            <a:r>
              <a:rPr sz="2133" dirty="0">
                <a:latin typeface="Times New Roman"/>
                <a:cs typeface="Times New Roman"/>
              </a:rPr>
              <a:t>no</a:t>
            </a:r>
            <a:r>
              <a:rPr sz="2133" spc="-53" dirty="0">
                <a:latin typeface="Times New Roman"/>
                <a:cs typeface="Times New Roman"/>
              </a:rPr>
              <a:t> </a:t>
            </a:r>
            <a:r>
              <a:rPr sz="2133" dirty="0">
                <a:latin typeface="Times New Roman"/>
                <a:cs typeface="Times New Roman"/>
              </a:rPr>
              <a:t>explicit</a:t>
            </a:r>
            <a:r>
              <a:rPr sz="2133" spc="-67" dirty="0">
                <a:latin typeface="Times New Roman"/>
                <a:cs typeface="Times New Roman"/>
              </a:rPr>
              <a:t> </a:t>
            </a:r>
            <a:r>
              <a:rPr sz="2133" dirty="0">
                <a:latin typeface="Times New Roman"/>
                <a:cs typeface="Times New Roman"/>
              </a:rPr>
              <a:t>return</a:t>
            </a:r>
            <a:r>
              <a:rPr sz="2133" spc="-53" dirty="0">
                <a:latin typeface="Times New Roman"/>
                <a:cs typeface="Times New Roman"/>
              </a:rPr>
              <a:t> </a:t>
            </a:r>
            <a:r>
              <a:rPr sz="2133" spc="-27" dirty="0">
                <a:latin typeface="Times New Roman"/>
                <a:cs typeface="Times New Roman"/>
              </a:rPr>
              <a:t>type</a:t>
            </a:r>
            <a:endParaRPr sz="2133" dirty="0">
              <a:latin typeface="Times New Roman"/>
              <a:cs typeface="Times New Roman"/>
            </a:endParaRPr>
          </a:p>
          <a:p>
            <a:pPr marL="625671" indent="-507141">
              <a:spcBef>
                <a:spcPts val="1440"/>
              </a:spcBef>
              <a:buAutoNum type="arabicPeriod"/>
              <a:tabLst>
                <a:tab pos="625671" algn="l"/>
              </a:tabLst>
            </a:pPr>
            <a:r>
              <a:rPr sz="2133" dirty="0">
                <a:latin typeface="Times New Roman"/>
                <a:cs typeface="Times New Roman"/>
              </a:rPr>
              <a:t>A</a:t>
            </a:r>
            <a:r>
              <a:rPr sz="2133" spc="-133" dirty="0">
                <a:latin typeface="Times New Roman"/>
                <a:cs typeface="Times New Roman"/>
              </a:rPr>
              <a:t> </a:t>
            </a:r>
            <a:r>
              <a:rPr sz="2133" dirty="0">
                <a:latin typeface="Times New Roman"/>
                <a:cs typeface="Times New Roman"/>
              </a:rPr>
              <a:t>Java</a:t>
            </a:r>
            <a:r>
              <a:rPr sz="2133" spc="-93" dirty="0">
                <a:latin typeface="Times New Roman"/>
                <a:cs typeface="Times New Roman"/>
              </a:rPr>
              <a:t> </a:t>
            </a:r>
            <a:r>
              <a:rPr sz="2133" dirty="0">
                <a:latin typeface="Times New Roman"/>
                <a:cs typeface="Times New Roman"/>
              </a:rPr>
              <a:t>constructor</a:t>
            </a:r>
            <a:r>
              <a:rPr sz="2133" spc="-53" dirty="0">
                <a:latin typeface="Times New Roman"/>
                <a:cs typeface="Times New Roman"/>
              </a:rPr>
              <a:t> </a:t>
            </a:r>
            <a:r>
              <a:rPr sz="2133" dirty="0">
                <a:latin typeface="Times New Roman"/>
                <a:cs typeface="Times New Roman"/>
              </a:rPr>
              <a:t>cannot</a:t>
            </a:r>
            <a:r>
              <a:rPr sz="2133" spc="-60" dirty="0">
                <a:latin typeface="Times New Roman"/>
                <a:cs typeface="Times New Roman"/>
              </a:rPr>
              <a:t> </a:t>
            </a:r>
            <a:r>
              <a:rPr sz="2133" dirty="0">
                <a:latin typeface="Times New Roman"/>
                <a:cs typeface="Times New Roman"/>
              </a:rPr>
              <a:t>be</a:t>
            </a:r>
            <a:r>
              <a:rPr sz="2133" spc="-60" dirty="0">
                <a:latin typeface="Times New Roman"/>
                <a:cs typeface="Times New Roman"/>
              </a:rPr>
              <a:t> </a:t>
            </a:r>
            <a:r>
              <a:rPr sz="2133" dirty="0">
                <a:latin typeface="Times New Roman"/>
                <a:cs typeface="Times New Roman"/>
              </a:rPr>
              <a:t>abstract,</a:t>
            </a:r>
            <a:r>
              <a:rPr sz="2133" spc="-53" dirty="0">
                <a:latin typeface="Times New Roman"/>
                <a:cs typeface="Times New Roman"/>
              </a:rPr>
              <a:t> </a:t>
            </a:r>
            <a:r>
              <a:rPr sz="2133" dirty="0">
                <a:latin typeface="Times New Roman"/>
                <a:cs typeface="Times New Roman"/>
              </a:rPr>
              <a:t>static,</a:t>
            </a:r>
            <a:r>
              <a:rPr sz="2133" spc="-53" dirty="0">
                <a:latin typeface="Times New Roman"/>
                <a:cs typeface="Times New Roman"/>
              </a:rPr>
              <a:t> </a:t>
            </a:r>
            <a:r>
              <a:rPr sz="2133" dirty="0">
                <a:latin typeface="Times New Roman"/>
                <a:cs typeface="Times New Roman"/>
              </a:rPr>
              <a:t>final,</a:t>
            </a:r>
            <a:r>
              <a:rPr sz="2133" spc="-53" dirty="0">
                <a:latin typeface="Times New Roman"/>
                <a:cs typeface="Times New Roman"/>
              </a:rPr>
              <a:t> </a:t>
            </a:r>
            <a:r>
              <a:rPr sz="2133" dirty="0">
                <a:latin typeface="Times New Roman"/>
                <a:cs typeface="Times New Roman"/>
              </a:rPr>
              <a:t>and</a:t>
            </a:r>
            <a:r>
              <a:rPr sz="2133" spc="-53" dirty="0">
                <a:latin typeface="Times New Roman"/>
                <a:cs typeface="Times New Roman"/>
              </a:rPr>
              <a:t> </a:t>
            </a:r>
            <a:r>
              <a:rPr sz="2133" spc="-13" dirty="0">
                <a:latin typeface="Times New Roman"/>
                <a:cs typeface="Times New Roman"/>
              </a:rPr>
              <a:t>synchronized</a:t>
            </a:r>
            <a:endParaRPr sz="2133" dirty="0">
              <a:latin typeface="Times New Roman"/>
              <a:cs typeface="Times New Roman"/>
            </a:endParaRPr>
          </a:p>
        </p:txBody>
      </p:sp>
    </p:spTree>
    <p:extLst>
      <p:ext uri="{BB962C8B-B14F-4D97-AF65-F5344CB8AC3E}">
        <p14:creationId xmlns:p14="http://schemas.microsoft.com/office/powerpoint/2010/main" val="2251199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60867" y="465566"/>
            <a:ext cx="9294299" cy="6041265"/>
          </a:xfrm>
          <a:prstGeom prst="rect">
            <a:avLst/>
          </a:prstGeom>
        </p:spPr>
      </p:pic>
    </p:spTree>
    <p:extLst>
      <p:ext uri="{BB962C8B-B14F-4D97-AF65-F5344CB8AC3E}">
        <p14:creationId xmlns:p14="http://schemas.microsoft.com/office/powerpoint/2010/main" val="675199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960259"/>
            <a:ext cx="5902632" cy="820565"/>
          </a:xfrm>
          <a:prstGeom prst="rect">
            <a:avLst/>
          </a:prstGeom>
        </p:spPr>
        <p:txBody>
          <a:bodyPr vert="horz" wrap="square" lIns="0" tIns="426612" rIns="0" bIns="0" rtlCol="0" anchor="ctr">
            <a:spAutoFit/>
          </a:bodyPr>
          <a:lstStyle/>
          <a:p>
            <a:pPr marL="16933">
              <a:lnSpc>
                <a:spcPct val="100000"/>
              </a:lnSpc>
              <a:spcBef>
                <a:spcPts val="133"/>
              </a:spcBef>
            </a:pPr>
            <a:r>
              <a:rPr sz="2533" b="1" dirty="0">
                <a:latin typeface="Arial"/>
                <a:cs typeface="Arial"/>
              </a:rPr>
              <a:t>Java</a:t>
            </a:r>
            <a:r>
              <a:rPr sz="2533" b="1" spc="-93" dirty="0">
                <a:latin typeface="Arial"/>
                <a:cs typeface="Arial"/>
              </a:rPr>
              <a:t> </a:t>
            </a:r>
            <a:r>
              <a:rPr sz="2533" b="1" dirty="0">
                <a:latin typeface="Arial"/>
                <a:cs typeface="Arial"/>
              </a:rPr>
              <a:t>Default</a:t>
            </a:r>
            <a:r>
              <a:rPr sz="2533" b="1" spc="-87" dirty="0">
                <a:latin typeface="Arial"/>
                <a:cs typeface="Arial"/>
              </a:rPr>
              <a:t> </a:t>
            </a:r>
            <a:r>
              <a:rPr sz="2533" b="1" spc="-13" dirty="0">
                <a:latin typeface="Arial"/>
                <a:cs typeface="Arial"/>
              </a:rPr>
              <a:t>Constructor</a:t>
            </a:r>
            <a:endParaRPr sz="2533" dirty="0">
              <a:latin typeface="Arial"/>
              <a:cs typeface="Arial"/>
            </a:endParaRPr>
          </a:p>
        </p:txBody>
      </p:sp>
      <p:sp>
        <p:nvSpPr>
          <p:cNvPr id="3" name="object 3"/>
          <p:cNvSpPr txBox="1"/>
          <p:nvPr/>
        </p:nvSpPr>
        <p:spPr>
          <a:xfrm>
            <a:off x="512968" y="1930239"/>
            <a:ext cx="8294793" cy="2140693"/>
          </a:xfrm>
          <a:prstGeom prst="rect">
            <a:avLst/>
          </a:prstGeom>
        </p:spPr>
        <p:txBody>
          <a:bodyPr vert="horz" wrap="square" lIns="0" tIns="16933" rIns="0" bIns="0" rtlCol="0">
            <a:spAutoFit/>
          </a:bodyPr>
          <a:lstStyle/>
          <a:p>
            <a:pPr marL="16933">
              <a:spcBef>
                <a:spcPts val="133"/>
              </a:spcBef>
            </a:pPr>
            <a:r>
              <a:rPr sz="2000" spc="-27" dirty="0">
                <a:solidFill>
                  <a:srgbClr val="222222"/>
                </a:solidFill>
                <a:latin typeface="Times New Roman"/>
                <a:cs typeface="Times New Roman"/>
              </a:rPr>
              <a:t>A</a:t>
            </a:r>
            <a:r>
              <a:rPr sz="2000" spc="-113" dirty="0">
                <a:solidFill>
                  <a:srgbClr val="222222"/>
                </a:solidFill>
                <a:latin typeface="Times New Roman"/>
                <a:cs typeface="Times New Roman"/>
              </a:rPr>
              <a:t> </a:t>
            </a:r>
            <a:r>
              <a:rPr sz="2000" dirty="0">
                <a:solidFill>
                  <a:srgbClr val="222222"/>
                </a:solidFill>
                <a:latin typeface="Times New Roman"/>
                <a:cs typeface="Times New Roman"/>
              </a:rPr>
              <a:t>constructor</a:t>
            </a:r>
            <a:r>
              <a:rPr sz="2000" spc="-47" dirty="0">
                <a:solidFill>
                  <a:srgbClr val="222222"/>
                </a:solidFill>
                <a:latin typeface="Times New Roman"/>
                <a:cs typeface="Times New Roman"/>
              </a:rPr>
              <a:t> </a:t>
            </a:r>
            <a:r>
              <a:rPr sz="2000" dirty="0">
                <a:solidFill>
                  <a:srgbClr val="222222"/>
                </a:solidFill>
                <a:latin typeface="Times New Roman"/>
                <a:cs typeface="Times New Roman"/>
              </a:rPr>
              <a:t>is</a:t>
            </a:r>
            <a:r>
              <a:rPr sz="2000" spc="-33" dirty="0">
                <a:solidFill>
                  <a:srgbClr val="222222"/>
                </a:solidFill>
                <a:latin typeface="Times New Roman"/>
                <a:cs typeface="Times New Roman"/>
              </a:rPr>
              <a:t> </a:t>
            </a:r>
            <a:r>
              <a:rPr sz="2000" dirty="0">
                <a:solidFill>
                  <a:srgbClr val="222222"/>
                </a:solidFill>
                <a:latin typeface="Times New Roman"/>
                <a:cs typeface="Times New Roman"/>
              </a:rPr>
              <a:t>called</a:t>
            </a:r>
            <a:r>
              <a:rPr sz="2000" spc="-27" dirty="0">
                <a:solidFill>
                  <a:srgbClr val="222222"/>
                </a:solidFill>
                <a:latin typeface="Times New Roman"/>
                <a:cs typeface="Times New Roman"/>
              </a:rPr>
              <a:t> </a:t>
            </a:r>
            <a:r>
              <a:rPr sz="2000" dirty="0">
                <a:solidFill>
                  <a:srgbClr val="222222"/>
                </a:solidFill>
                <a:latin typeface="Times New Roman"/>
                <a:cs typeface="Times New Roman"/>
              </a:rPr>
              <a:t>"Default</a:t>
            </a:r>
            <a:r>
              <a:rPr sz="2000" spc="-27" dirty="0">
                <a:solidFill>
                  <a:srgbClr val="222222"/>
                </a:solidFill>
                <a:latin typeface="Times New Roman"/>
                <a:cs typeface="Times New Roman"/>
              </a:rPr>
              <a:t> </a:t>
            </a:r>
            <a:r>
              <a:rPr sz="2000" dirty="0">
                <a:solidFill>
                  <a:srgbClr val="222222"/>
                </a:solidFill>
                <a:latin typeface="Times New Roman"/>
                <a:cs typeface="Times New Roman"/>
              </a:rPr>
              <a:t>Constructor"</a:t>
            </a:r>
            <a:r>
              <a:rPr sz="2000" spc="-33" dirty="0">
                <a:solidFill>
                  <a:srgbClr val="222222"/>
                </a:solidFill>
                <a:latin typeface="Times New Roman"/>
                <a:cs typeface="Times New Roman"/>
              </a:rPr>
              <a:t> </a:t>
            </a:r>
            <a:r>
              <a:rPr sz="2000" dirty="0">
                <a:solidFill>
                  <a:srgbClr val="222222"/>
                </a:solidFill>
                <a:latin typeface="Times New Roman"/>
                <a:cs typeface="Times New Roman"/>
              </a:rPr>
              <a:t>when</a:t>
            </a:r>
            <a:r>
              <a:rPr sz="2000" spc="-27" dirty="0">
                <a:solidFill>
                  <a:srgbClr val="222222"/>
                </a:solidFill>
                <a:latin typeface="Times New Roman"/>
                <a:cs typeface="Times New Roman"/>
              </a:rPr>
              <a:t> </a:t>
            </a:r>
            <a:r>
              <a:rPr sz="2000" dirty="0">
                <a:solidFill>
                  <a:srgbClr val="222222"/>
                </a:solidFill>
                <a:latin typeface="Times New Roman"/>
                <a:cs typeface="Times New Roman"/>
              </a:rPr>
              <a:t>it</a:t>
            </a:r>
            <a:r>
              <a:rPr sz="2000" spc="-33" dirty="0">
                <a:solidFill>
                  <a:srgbClr val="222222"/>
                </a:solidFill>
                <a:latin typeface="Times New Roman"/>
                <a:cs typeface="Times New Roman"/>
              </a:rPr>
              <a:t> </a:t>
            </a:r>
            <a:r>
              <a:rPr sz="2000" dirty="0">
                <a:solidFill>
                  <a:srgbClr val="222222"/>
                </a:solidFill>
                <a:latin typeface="Times New Roman"/>
                <a:cs typeface="Times New Roman"/>
              </a:rPr>
              <a:t>doesn't</a:t>
            </a:r>
            <a:r>
              <a:rPr sz="2000" spc="-27" dirty="0">
                <a:solidFill>
                  <a:srgbClr val="222222"/>
                </a:solidFill>
                <a:latin typeface="Times New Roman"/>
                <a:cs typeface="Times New Roman"/>
              </a:rPr>
              <a:t> </a:t>
            </a:r>
            <a:r>
              <a:rPr sz="2000" dirty="0">
                <a:solidFill>
                  <a:srgbClr val="222222"/>
                </a:solidFill>
                <a:latin typeface="Times New Roman"/>
                <a:cs typeface="Times New Roman"/>
              </a:rPr>
              <a:t>have</a:t>
            </a:r>
            <a:r>
              <a:rPr sz="2000" spc="-33" dirty="0">
                <a:solidFill>
                  <a:srgbClr val="222222"/>
                </a:solidFill>
                <a:latin typeface="Times New Roman"/>
                <a:cs typeface="Times New Roman"/>
              </a:rPr>
              <a:t> </a:t>
            </a:r>
            <a:r>
              <a:rPr sz="2000" dirty="0">
                <a:solidFill>
                  <a:srgbClr val="222222"/>
                </a:solidFill>
                <a:latin typeface="Times New Roman"/>
                <a:cs typeface="Times New Roman"/>
              </a:rPr>
              <a:t>any</a:t>
            </a:r>
            <a:r>
              <a:rPr sz="2000" spc="-27" dirty="0">
                <a:solidFill>
                  <a:srgbClr val="222222"/>
                </a:solidFill>
                <a:latin typeface="Times New Roman"/>
                <a:cs typeface="Times New Roman"/>
              </a:rPr>
              <a:t> </a:t>
            </a:r>
            <a:r>
              <a:rPr sz="2000" spc="-13" dirty="0">
                <a:solidFill>
                  <a:srgbClr val="222222"/>
                </a:solidFill>
                <a:latin typeface="Times New Roman"/>
                <a:cs typeface="Times New Roman"/>
              </a:rPr>
              <a:t>parameter.</a:t>
            </a:r>
            <a:endParaRPr sz="2000">
              <a:latin typeface="Times New Roman"/>
              <a:cs typeface="Times New Roman"/>
            </a:endParaRPr>
          </a:p>
          <a:p>
            <a:pPr marL="16933">
              <a:spcBef>
                <a:spcPts val="2260"/>
              </a:spcBef>
            </a:pPr>
            <a:r>
              <a:rPr sz="2133" dirty="0">
                <a:solidFill>
                  <a:srgbClr val="222222"/>
                </a:solidFill>
                <a:latin typeface="Times New Roman"/>
                <a:cs typeface="Times New Roman"/>
              </a:rPr>
              <a:t>Syntax</a:t>
            </a:r>
            <a:r>
              <a:rPr sz="2133" spc="-60" dirty="0">
                <a:solidFill>
                  <a:srgbClr val="222222"/>
                </a:solidFill>
                <a:latin typeface="Times New Roman"/>
                <a:cs typeface="Times New Roman"/>
              </a:rPr>
              <a:t> </a:t>
            </a:r>
            <a:r>
              <a:rPr sz="2133" dirty="0">
                <a:solidFill>
                  <a:srgbClr val="222222"/>
                </a:solidFill>
                <a:latin typeface="Times New Roman"/>
                <a:cs typeface="Times New Roman"/>
              </a:rPr>
              <a:t>of</a:t>
            </a:r>
            <a:r>
              <a:rPr sz="2133" spc="-60" dirty="0">
                <a:solidFill>
                  <a:srgbClr val="222222"/>
                </a:solidFill>
                <a:latin typeface="Times New Roman"/>
                <a:cs typeface="Times New Roman"/>
              </a:rPr>
              <a:t> </a:t>
            </a:r>
            <a:r>
              <a:rPr sz="2133" dirty="0">
                <a:solidFill>
                  <a:srgbClr val="222222"/>
                </a:solidFill>
                <a:latin typeface="Times New Roman"/>
                <a:cs typeface="Times New Roman"/>
              </a:rPr>
              <a:t>default</a:t>
            </a:r>
            <a:r>
              <a:rPr sz="2133" spc="-67" dirty="0">
                <a:solidFill>
                  <a:srgbClr val="222222"/>
                </a:solidFill>
                <a:latin typeface="Times New Roman"/>
                <a:cs typeface="Times New Roman"/>
              </a:rPr>
              <a:t> </a:t>
            </a:r>
            <a:r>
              <a:rPr sz="2133" spc="-13" dirty="0">
                <a:solidFill>
                  <a:srgbClr val="222222"/>
                </a:solidFill>
                <a:latin typeface="Times New Roman"/>
                <a:cs typeface="Times New Roman"/>
              </a:rPr>
              <a:t>constructor:</a:t>
            </a:r>
            <a:endParaRPr sz="2133">
              <a:latin typeface="Times New Roman"/>
              <a:cs typeface="Times New Roman"/>
            </a:endParaRPr>
          </a:p>
          <a:p>
            <a:pPr marL="143930">
              <a:spcBef>
                <a:spcPts val="1947"/>
              </a:spcBef>
            </a:pPr>
            <a:r>
              <a:rPr sz="2000" spc="-13" dirty="0">
                <a:solidFill>
                  <a:srgbClr val="222222"/>
                </a:solidFill>
                <a:latin typeface="Times New Roman"/>
                <a:cs typeface="Times New Roman"/>
              </a:rPr>
              <a:t>&lt;class_name&gt;()</a:t>
            </a:r>
            <a:endParaRPr sz="2000">
              <a:latin typeface="Times New Roman"/>
              <a:cs typeface="Times New Roman"/>
            </a:endParaRPr>
          </a:p>
          <a:p>
            <a:pPr>
              <a:spcBef>
                <a:spcPts val="233"/>
              </a:spcBef>
            </a:pPr>
            <a:endParaRPr sz="2000">
              <a:latin typeface="Times New Roman"/>
              <a:cs typeface="Times New Roman"/>
            </a:endParaRPr>
          </a:p>
          <a:p>
            <a:pPr marL="626518"/>
            <a:r>
              <a:rPr sz="2000" dirty="0">
                <a:solidFill>
                  <a:srgbClr val="222222"/>
                </a:solidFill>
                <a:latin typeface="Times New Roman"/>
                <a:cs typeface="Times New Roman"/>
              </a:rPr>
              <a:t>{</a:t>
            </a:r>
            <a:r>
              <a:rPr sz="2000" spc="480" dirty="0">
                <a:solidFill>
                  <a:srgbClr val="222222"/>
                </a:solidFill>
                <a:latin typeface="Times New Roman"/>
                <a:cs typeface="Times New Roman"/>
              </a:rPr>
              <a:t> </a:t>
            </a:r>
            <a:r>
              <a:rPr sz="2000" spc="-67" dirty="0">
                <a:solidFill>
                  <a:srgbClr val="222222"/>
                </a:solidFill>
                <a:latin typeface="Times New Roman"/>
                <a:cs typeface="Times New Roman"/>
              </a:rPr>
              <a:t>}</a:t>
            </a:r>
            <a:endParaRPr sz="2000">
              <a:latin typeface="Times New Roman"/>
              <a:cs typeface="Times New Roman"/>
            </a:endParaRPr>
          </a:p>
        </p:txBody>
      </p:sp>
    </p:spTree>
    <p:extLst>
      <p:ext uri="{BB962C8B-B14F-4D97-AF65-F5344CB8AC3E}">
        <p14:creationId xmlns:p14="http://schemas.microsoft.com/office/powerpoint/2010/main" val="3098759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41669"/>
            <a:ext cx="1953260" cy="324875"/>
          </a:xfrm>
          <a:prstGeom prst="rect">
            <a:avLst/>
          </a:prstGeom>
        </p:spPr>
        <p:txBody>
          <a:bodyPr vert="horz" wrap="square" lIns="0" tIns="16933" rIns="0" bIns="0" rtlCol="0" anchor="ctr">
            <a:spAutoFit/>
          </a:bodyPr>
          <a:lstStyle/>
          <a:p>
            <a:pPr marL="16933">
              <a:lnSpc>
                <a:spcPct val="100000"/>
              </a:lnSpc>
              <a:spcBef>
                <a:spcPts val="133"/>
              </a:spcBef>
            </a:pPr>
            <a:r>
              <a:rPr sz="2000" b="1" dirty="0">
                <a:solidFill>
                  <a:srgbClr val="006699"/>
                </a:solidFill>
                <a:latin typeface="Times New Roman"/>
                <a:cs typeface="Times New Roman"/>
              </a:rPr>
              <a:t>public</a:t>
            </a:r>
            <a:r>
              <a:rPr sz="2000" b="1" spc="-40" dirty="0">
                <a:solidFill>
                  <a:srgbClr val="006699"/>
                </a:solidFill>
                <a:latin typeface="Times New Roman"/>
                <a:cs typeface="Times New Roman"/>
              </a:rPr>
              <a:t> </a:t>
            </a:r>
            <a:r>
              <a:rPr sz="2000" b="1" dirty="0">
                <a:solidFill>
                  <a:srgbClr val="006699"/>
                </a:solidFill>
                <a:latin typeface="Times New Roman"/>
                <a:cs typeface="Times New Roman"/>
              </a:rPr>
              <a:t>class</a:t>
            </a:r>
            <a:r>
              <a:rPr sz="2000" b="1" spc="-20" dirty="0">
                <a:solidFill>
                  <a:srgbClr val="006699"/>
                </a:solidFill>
                <a:latin typeface="Times New Roman"/>
                <a:cs typeface="Times New Roman"/>
              </a:rPr>
              <a:t> </a:t>
            </a:r>
            <a:r>
              <a:rPr sz="2000" spc="-13" dirty="0">
                <a:solidFill>
                  <a:srgbClr val="000000"/>
                </a:solidFill>
                <a:latin typeface="Times New Roman"/>
                <a:cs typeface="Times New Roman"/>
              </a:rPr>
              <a:t>Bike1</a:t>
            </a:r>
            <a:endParaRPr sz="2000">
              <a:latin typeface="Times New Roman"/>
              <a:cs typeface="Times New Roman"/>
            </a:endParaRPr>
          </a:p>
        </p:txBody>
      </p:sp>
      <p:sp>
        <p:nvSpPr>
          <p:cNvPr id="3" name="object 3"/>
          <p:cNvSpPr txBox="1"/>
          <p:nvPr/>
        </p:nvSpPr>
        <p:spPr>
          <a:xfrm>
            <a:off x="512968" y="939572"/>
            <a:ext cx="3895513" cy="4761987"/>
          </a:xfrm>
          <a:prstGeom prst="rect">
            <a:avLst/>
          </a:prstGeom>
        </p:spPr>
        <p:txBody>
          <a:bodyPr vert="horz" wrap="square" lIns="0" tIns="182033" rIns="0" bIns="0" rtlCol="0">
            <a:spAutoFit/>
          </a:bodyPr>
          <a:lstStyle/>
          <a:p>
            <a:pPr marL="16933">
              <a:spcBef>
                <a:spcPts val="1433"/>
              </a:spcBef>
            </a:pPr>
            <a:r>
              <a:rPr sz="2000" spc="-67" dirty="0">
                <a:latin typeface="Times New Roman"/>
                <a:cs typeface="Times New Roman"/>
              </a:rPr>
              <a:t>{</a:t>
            </a:r>
            <a:endParaRPr sz="2000">
              <a:latin typeface="Times New Roman"/>
              <a:cs typeface="Times New Roman"/>
            </a:endParaRPr>
          </a:p>
          <a:p>
            <a:pPr marL="16933">
              <a:spcBef>
                <a:spcPts val="1300"/>
              </a:spcBef>
            </a:pPr>
            <a:r>
              <a:rPr sz="2000" spc="-13" dirty="0">
                <a:latin typeface="Times New Roman"/>
                <a:cs typeface="Times New Roman"/>
              </a:rPr>
              <a:t>Bike1()</a:t>
            </a:r>
            <a:endParaRPr sz="2000">
              <a:latin typeface="Times New Roman"/>
              <a:cs typeface="Times New Roman"/>
            </a:endParaRPr>
          </a:p>
          <a:p>
            <a:pPr marL="16933">
              <a:spcBef>
                <a:spcPts val="1300"/>
              </a:spcBef>
            </a:pPr>
            <a:r>
              <a:rPr sz="2000" spc="-67" dirty="0">
                <a:latin typeface="Times New Roman"/>
                <a:cs typeface="Times New Roman"/>
              </a:rPr>
              <a:t>{</a:t>
            </a:r>
            <a:endParaRPr sz="2000">
              <a:latin typeface="Times New Roman"/>
              <a:cs typeface="Times New Roman"/>
            </a:endParaRPr>
          </a:p>
          <a:p>
            <a:pPr marL="16933">
              <a:spcBef>
                <a:spcPts val="1300"/>
              </a:spcBef>
            </a:pPr>
            <a:r>
              <a:rPr sz="2000" dirty="0">
                <a:latin typeface="Times New Roman"/>
                <a:cs typeface="Times New Roman"/>
              </a:rPr>
              <a:t>System.out.println(</a:t>
            </a:r>
            <a:r>
              <a:rPr sz="2000" dirty="0">
                <a:solidFill>
                  <a:srgbClr val="0000FF"/>
                </a:solidFill>
                <a:latin typeface="Times New Roman"/>
                <a:cs typeface="Times New Roman"/>
              </a:rPr>
              <a:t>"Bike</a:t>
            </a:r>
            <a:r>
              <a:rPr sz="2000" spc="-27" dirty="0">
                <a:solidFill>
                  <a:srgbClr val="0000FF"/>
                </a:solidFill>
                <a:latin typeface="Times New Roman"/>
                <a:cs typeface="Times New Roman"/>
              </a:rPr>
              <a:t> </a:t>
            </a:r>
            <a:r>
              <a:rPr sz="2000" dirty="0">
                <a:solidFill>
                  <a:srgbClr val="0000FF"/>
                </a:solidFill>
                <a:latin typeface="Times New Roman"/>
                <a:cs typeface="Times New Roman"/>
              </a:rPr>
              <a:t>is</a:t>
            </a:r>
            <a:r>
              <a:rPr sz="2000" spc="-20" dirty="0">
                <a:solidFill>
                  <a:srgbClr val="0000FF"/>
                </a:solidFill>
                <a:latin typeface="Times New Roman"/>
                <a:cs typeface="Times New Roman"/>
              </a:rPr>
              <a:t> </a:t>
            </a:r>
            <a:r>
              <a:rPr sz="2000" spc="-13" dirty="0">
                <a:solidFill>
                  <a:srgbClr val="0000FF"/>
                </a:solidFill>
                <a:latin typeface="Times New Roman"/>
                <a:cs typeface="Times New Roman"/>
              </a:rPr>
              <a:t>created"</a:t>
            </a:r>
            <a:r>
              <a:rPr sz="2000" spc="-13" dirty="0">
                <a:latin typeface="Times New Roman"/>
                <a:cs typeface="Times New Roman"/>
              </a:rPr>
              <a:t>);</a:t>
            </a:r>
            <a:endParaRPr sz="2000">
              <a:latin typeface="Times New Roman"/>
              <a:cs typeface="Times New Roman"/>
            </a:endParaRPr>
          </a:p>
          <a:p>
            <a:pPr marL="16933">
              <a:spcBef>
                <a:spcPts val="1300"/>
              </a:spcBef>
            </a:pPr>
            <a:r>
              <a:rPr sz="2000" spc="-67" dirty="0">
                <a:latin typeface="Times New Roman"/>
                <a:cs typeface="Times New Roman"/>
              </a:rPr>
              <a:t>}</a:t>
            </a:r>
            <a:endParaRPr sz="2000">
              <a:latin typeface="Times New Roman"/>
              <a:cs typeface="Times New Roman"/>
            </a:endParaRPr>
          </a:p>
          <a:p>
            <a:pPr marL="16933">
              <a:spcBef>
                <a:spcPts val="1300"/>
              </a:spcBef>
            </a:pPr>
            <a:r>
              <a:rPr sz="2000" b="1" dirty="0">
                <a:solidFill>
                  <a:srgbClr val="006699"/>
                </a:solidFill>
                <a:latin typeface="Times New Roman"/>
                <a:cs typeface="Times New Roman"/>
              </a:rPr>
              <a:t>public</a:t>
            </a:r>
            <a:r>
              <a:rPr sz="2000" b="1" spc="-20" dirty="0">
                <a:solidFill>
                  <a:srgbClr val="006699"/>
                </a:solidFill>
                <a:latin typeface="Times New Roman"/>
                <a:cs typeface="Times New Roman"/>
              </a:rPr>
              <a:t> </a:t>
            </a:r>
            <a:r>
              <a:rPr sz="2000" b="1" dirty="0">
                <a:solidFill>
                  <a:srgbClr val="006699"/>
                </a:solidFill>
                <a:latin typeface="Times New Roman"/>
                <a:cs typeface="Times New Roman"/>
              </a:rPr>
              <a:t>static</a:t>
            </a:r>
            <a:r>
              <a:rPr sz="2000" b="1" spc="-13" dirty="0">
                <a:solidFill>
                  <a:srgbClr val="006699"/>
                </a:solidFill>
                <a:latin typeface="Times New Roman"/>
                <a:cs typeface="Times New Roman"/>
              </a:rPr>
              <a:t> </a:t>
            </a:r>
            <a:r>
              <a:rPr sz="2000" b="1" dirty="0">
                <a:solidFill>
                  <a:srgbClr val="006699"/>
                </a:solidFill>
                <a:latin typeface="Times New Roman"/>
                <a:cs typeface="Times New Roman"/>
              </a:rPr>
              <a:t>void</a:t>
            </a:r>
            <a:r>
              <a:rPr sz="2000" b="1" spc="-20" dirty="0">
                <a:solidFill>
                  <a:srgbClr val="006699"/>
                </a:solidFill>
                <a:latin typeface="Times New Roman"/>
                <a:cs typeface="Times New Roman"/>
              </a:rPr>
              <a:t> </a:t>
            </a:r>
            <a:r>
              <a:rPr sz="2000" dirty="0">
                <a:latin typeface="Times New Roman"/>
                <a:cs typeface="Times New Roman"/>
              </a:rPr>
              <a:t>main(String</a:t>
            </a:r>
            <a:r>
              <a:rPr sz="2000" spc="-20" dirty="0">
                <a:latin typeface="Times New Roman"/>
                <a:cs typeface="Times New Roman"/>
              </a:rPr>
              <a:t> </a:t>
            </a:r>
            <a:r>
              <a:rPr sz="2000" spc="-13" dirty="0">
                <a:latin typeface="Times New Roman"/>
                <a:cs typeface="Times New Roman"/>
              </a:rPr>
              <a:t>args[])</a:t>
            </a:r>
            <a:endParaRPr sz="2000">
              <a:latin typeface="Times New Roman"/>
              <a:cs typeface="Times New Roman"/>
            </a:endParaRPr>
          </a:p>
          <a:p>
            <a:pPr marL="16933">
              <a:spcBef>
                <a:spcPts val="1300"/>
              </a:spcBef>
            </a:pPr>
            <a:r>
              <a:rPr sz="2000" spc="-67" dirty="0">
                <a:latin typeface="Times New Roman"/>
                <a:cs typeface="Times New Roman"/>
              </a:rPr>
              <a:t>{</a:t>
            </a:r>
            <a:endParaRPr sz="2000">
              <a:latin typeface="Times New Roman"/>
              <a:cs typeface="Times New Roman"/>
            </a:endParaRPr>
          </a:p>
          <a:p>
            <a:pPr marL="16933">
              <a:spcBef>
                <a:spcPts val="1300"/>
              </a:spcBef>
            </a:pPr>
            <a:r>
              <a:rPr sz="2000" dirty="0">
                <a:latin typeface="Times New Roman"/>
                <a:cs typeface="Times New Roman"/>
              </a:rPr>
              <a:t>Bike1</a:t>
            </a:r>
            <a:r>
              <a:rPr sz="2000" spc="-40" dirty="0">
                <a:latin typeface="Times New Roman"/>
                <a:cs typeface="Times New Roman"/>
              </a:rPr>
              <a:t> </a:t>
            </a:r>
            <a:r>
              <a:rPr sz="2000" dirty="0">
                <a:latin typeface="Times New Roman"/>
                <a:cs typeface="Times New Roman"/>
              </a:rPr>
              <a:t>b=</a:t>
            </a:r>
            <a:r>
              <a:rPr sz="2000" b="1" dirty="0">
                <a:solidFill>
                  <a:srgbClr val="006699"/>
                </a:solidFill>
                <a:latin typeface="Times New Roman"/>
                <a:cs typeface="Times New Roman"/>
              </a:rPr>
              <a:t>new</a:t>
            </a:r>
            <a:r>
              <a:rPr sz="2000" b="1" spc="-40" dirty="0">
                <a:solidFill>
                  <a:srgbClr val="006699"/>
                </a:solidFill>
                <a:latin typeface="Times New Roman"/>
                <a:cs typeface="Times New Roman"/>
              </a:rPr>
              <a:t> </a:t>
            </a:r>
            <a:r>
              <a:rPr sz="2000" spc="-13" dirty="0">
                <a:latin typeface="Times New Roman"/>
                <a:cs typeface="Times New Roman"/>
              </a:rPr>
              <a:t>Bike1();</a:t>
            </a:r>
            <a:endParaRPr sz="2000">
              <a:latin typeface="Times New Roman"/>
              <a:cs typeface="Times New Roman"/>
            </a:endParaRPr>
          </a:p>
          <a:p>
            <a:pPr marL="16933">
              <a:spcBef>
                <a:spcPts val="1300"/>
              </a:spcBef>
            </a:pPr>
            <a:r>
              <a:rPr sz="2000" spc="-67" dirty="0">
                <a:latin typeface="Times New Roman"/>
                <a:cs typeface="Times New Roman"/>
              </a:rPr>
              <a:t>}</a:t>
            </a:r>
            <a:endParaRPr sz="2000">
              <a:latin typeface="Times New Roman"/>
              <a:cs typeface="Times New Roman"/>
            </a:endParaRPr>
          </a:p>
          <a:p>
            <a:pPr marL="16933">
              <a:spcBef>
                <a:spcPts val="1300"/>
              </a:spcBef>
            </a:pPr>
            <a:r>
              <a:rPr sz="2000" spc="-67" dirty="0">
                <a:latin typeface="Times New Roman"/>
                <a:cs typeface="Times New Roman"/>
              </a:rPr>
              <a:t>}</a:t>
            </a:r>
            <a:endParaRPr sz="2000">
              <a:latin typeface="Times New Roman"/>
              <a:cs typeface="Times New Roman"/>
            </a:endParaRPr>
          </a:p>
        </p:txBody>
      </p:sp>
      <p:sp>
        <p:nvSpPr>
          <p:cNvPr id="4" name="object 4"/>
          <p:cNvSpPr txBox="1"/>
          <p:nvPr/>
        </p:nvSpPr>
        <p:spPr>
          <a:xfrm>
            <a:off x="6844033" y="1463941"/>
            <a:ext cx="2032000" cy="386430"/>
          </a:xfrm>
          <a:prstGeom prst="rect">
            <a:avLst/>
          </a:prstGeom>
        </p:spPr>
        <p:txBody>
          <a:bodyPr vert="horz" wrap="square" lIns="0" tIns="16933" rIns="0" bIns="0" rtlCol="0">
            <a:spAutoFit/>
          </a:bodyPr>
          <a:lstStyle/>
          <a:p>
            <a:pPr marL="16933">
              <a:spcBef>
                <a:spcPts val="133"/>
              </a:spcBef>
            </a:pPr>
            <a:r>
              <a:rPr sz="2400" dirty="0">
                <a:latin typeface="Arial MT"/>
                <a:cs typeface="Arial MT"/>
              </a:rPr>
              <a:t>Bike</a:t>
            </a:r>
            <a:r>
              <a:rPr sz="2400" spc="-20" dirty="0">
                <a:latin typeface="Arial MT"/>
                <a:cs typeface="Arial MT"/>
              </a:rPr>
              <a:t> </a:t>
            </a:r>
            <a:r>
              <a:rPr sz="2400" dirty="0">
                <a:latin typeface="Arial MT"/>
                <a:cs typeface="Arial MT"/>
              </a:rPr>
              <a:t>is</a:t>
            </a:r>
            <a:r>
              <a:rPr sz="2400" spc="-13" dirty="0">
                <a:latin typeface="Arial MT"/>
                <a:cs typeface="Arial MT"/>
              </a:rPr>
              <a:t> created</a:t>
            </a:r>
            <a:endParaRPr sz="2400">
              <a:latin typeface="Arial MT"/>
              <a:cs typeface="Arial MT"/>
            </a:endParaRPr>
          </a:p>
        </p:txBody>
      </p:sp>
    </p:spTree>
    <p:extLst>
      <p:ext uri="{BB962C8B-B14F-4D97-AF65-F5344CB8AC3E}">
        <p14:creationId xmlns:p14="http://schemas.microsoft.com/office/powerpoint/2010/main" val="287594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125999"/>
            <a:ext cx="6374581" cy="489087"/>
          </a:xfrm>
          <a:prstGeom prst="rect">
            <a:avLst/>
          </a:prstGeom>
        </p:spPr>
        <p:txBody>
          <a:bodyPr vert="horz" wrap="square" lIns="0" tIns="16933" rIns="0" bIns="0" rtlCol="0" anchor="ctr">
            <a:spAutoFit/>
          </a:bodyPr>
          <a:lstStyle/>
          <a:p>
            <a:pPr marL="16933">
              <a:lnSpc>
                <a:spcPct val="100000"/>
              </a:lnSpc>
              <a:spcBef>
                <a:spcPts val="133"/>
              </a:spcBef>
            </a:pPr>
            <a:r>
              <a:rPr sz="3067" b="1" dirty="0">
                <a:latin typeface="Times New Roman"/>
                <a:cs typeface="Times New Roman"/>
              </a:rPr>
              <a:t>Java</a:t>
            </a:r>
            <a:r>
              <a:rPr sz="3067" b="1" spc="-53" dirty="0">
                <a:latin typeface="Times New Roman"/>
                <a:cs typeface="Times New Roman"/>
              </a:rPr>
              <a:t> </a:t>
            </a:r>
            <a:r>
              <a:rPr sz="3067" b="1" spc="-13" dirty="0">
                <a:latin typeface="Times New Roman"/>
                <a:cs typeface="Times New Roman"/>
              </a:rPr>
              <a:t>Parameterized</a:t>
            </a:r>
            <a:r>
              <a:rPr sz="3067" b="1" spc="-53" dirty="0">
                <a:latin typeface="Times New Roman"/>
                <a:cs typeface="Times New Roman"/>
              </a:rPr>
              <a:t> </a:t>
            </a:r>
            <a:r>
              <a:rPr sz="3067" b="1" spc="-13" dirty="0">
                <a:latin typeface="Times New Roman"/>
                <a:cs typeface="Times New Roman"/>
              </a:rPr>
              <a:t>Constructor</a:t>
            </a:r>
            <a:endParaRPr sz="3067" dirty="0">
              <a:latin typeface="Times New Roman"/>
              <a:cs typeface="Times New Roman"/>
            </a:endParaRPr>
          </a:p>
        </p:txBody>
      </p:sp>
      <p:sp>
        <p:nvSpPr>
          <p:cNvPr id="3" name="object 3"/>
          <p:cNvSpPr txBox="1"/>
          <p:nvPr/>
        </p:nvSpPr>
        <p:spPr>
          <a:xfrm>
            <a:off x="633666" y="1874867"/>
            <a:ext cx="11022753" cy="3518763"/>
          </a:xfrm>
          <a:prstGeom prst="rect">
            <a:avLst/>
          </a:prstGeom>
        </p:spPr>
        <p:txBody>
          <a:bodyPr vert="horz" wrap="square" lIns="0" tIns="16933" rIns="0" bIns="0" rtlCol="0">
            <a:spAutoFit/>
          </a:bodyPr>
          <a:lstStyle/>
          <a:p>
            <a:pPr marL="505447" marR="6773" indent="-489361">
              <a:lnSpc>
                <a:spcPct val="114599"/>
              </a:lnSpc>
              <a:spcBef>
                <a:spcPts val="133"/>
              </a:spcBef>
              <a:buFont typeface="Arial MT"/>
              <a:buChar char="●"/>
              <a:tabLst>
                <a:tab pos="505447" algn="l"/>
                <a:tab pos="900831" algn="l"/>
                <a:tab pos="2659314" algn="l"/>
                <a:tab pos="3653275" algn="l"/>
                <a:tab pos="4340751" algn="l"/>
                <a:tab pos="4703962" algn="l"/>
                <a:tab pos="5951071" algn="l"/>
                <a:tab pos="7187174" algn="l"/>
                <a:tab pos="7663835" algn="l"/>
                <a:tab pos="9408771" algn="l"/>
                <a:tab pos="9837174" algn="l"/>
                <a:tab pos="10838756" algn="l"/>
              </a:tabLst>
            </a:pPr>
            <a:r>
              <a:rPr sz="2400" spc="-67" dirty="0">
                <a:solidFill>
                  <a:srgbClr val="333333"/>
                </a:solidFill>
                <a:latin typeface="Roboto"/>
                <a:cs typeface="Roboto"/>
              </a:rPr>
              <a:t>A</a:t>
            </a:r>
            <a:r>
              <a:rPr sz="2400" dirty="0">
                <a:solidFill>
                  <a:srgbClr val="333333"/>
                </a:solidFill>
                <a:latin typeface="Roboto"/>
                <a:cs typeface="Roboto"/>
              </a:rPr>
              <a:t>	</a:t>
            </a:r>
            <a:r>
              <a:rPr sz="2400" spc="-13" dirty="0">
                <a:solidFill>
                  <a:srgbClr val="333333"/>
                </a:solidFill>
                <a:latin typeface="Roboto"/>
                <a:cs typeface="Roboto"/>
              </a:rPr>
              <a:t>constructor</a:t>
            </a:r>
            <a:r>
              <a:rPr sz="2400" dirty="0">
                <a:solidFill>
                  <a:srgbClr val="333333"/>
                </a:solidFill>
                <a:latin typeface="Roboto"/>
                <a:cs typeface="Roboto"/>
              </a:rPr>
              <a:t>	</a:t>
            </a:r>
            <a:r>
              <a:rPr sz="2400" spc="-13" dirty="0">
                <a:solidFill>
                  <a:srgbClr val="333333"/>
                </a:solidFill>
                <a:latin typeface="Roboto"/>
                <a:cs typeface="Roboto"/>
              </a:rPr>
              <a:t>which</a:t>
            </a:r>
            <a:r>
              <a:rPr sz="2400" dirty="0">
                <a:solidFill>
                  <a:srgbClr val="333333"/>
                </a:solidFill>
                <a:latin typeface="Roboto"/>
                <a:cs typeface="Roboto"/>
              </a:rPr>
              <a:t>	</a:t>
            </a:r>
            <a:r>
              <a:rPr sz="2400" spc="-33" dirty="0">
                <a:solidFill>
                  <a:srgbClr val="333333"/>
                </a:solidFill>
                <a:latin typeface="Roboto"/>
                <a:cs typeface="Roboto"/>
              </a:rPr>
              <a:t>has</a:t>
            </a:r>
            <a:r>
              <a:rPr sz="2400" dirty="0">
                <a:solidFill>
                  <a:srgbClr val="333333"/>
                </a:solidFill>
                <a:latin typeface="Roboto"/>
                <a:cs typeface="Roboto"/>
              </a:rPr>
              <a:t>	</a:t>
            </a:r>
            <a:r>
              <a:rPr sz="2400" spc="-67" dirty="0">
                <a:solidFill>
                  <a:srgbClr val="333333"/>
                </a:solidFill>
                <a:latin typeface="Roboto"/>
                <a:cs typeface="Roboto"/>
              </a:rPr>
              <a:t>a</a:t>
            </a:r>
            <a:r>
              <a:rPr sz="2400" dirty="0">
                <a:solidFill>
                  <a:srgbClr val="333333"/>
                </a:solidFill>
                <a:latin typeface="Roboto"/>
                <a:cs typeface="Roboto"/>
              </a:rPr>
              <a:t>	</a:t>
            </a:r>
            <a:r>
              <a:rPr sz="2400" spc="-13" dirty="0">
                <a:solidFill>
                  <a:srgbClr val="333333"/>
                </a:solidFill>
                <a:latin typeface="Roboto"/>
                <a:cs typeface="Roboto"/>
              </a:rPr>
              <a:t>specific</a:t>
            </a:r>
            <a:r>
              <a:rPr sz="2400" dirty="0">
                <a:solidFill>
                  <a:srgbClr val="333333"/>
                </a:solidFill>
                <a:latin typeface="Roboto"/>
                <a:cs typeface="Roboto"/>
              </a:rPr>
              <a:t>	</a:t>
            </a:r>
            <a:r>
              <a:rPr sz="2400" spc="-13" dirty="0">
                <a:solidFill>
                  <a:srgbClr val="333333"/>
                </a:solidFill>
                <a:latin typeface="Roboto"/>
                <a:cs typeface="Roboto"/>
              </a:rPr>
              <a:t>number</a:t>
            </a:r>
            <a:r>
              <a:rPr sz="2400" dirty="0">
                <a:solidFill>
                  <a:srgbClr val="333333"/>
                </a:solidFill>
                <a:latin typeface="Roboto"/>
                <a:cs typeface="Roboto"/>
              </a:rPr>
              <a:t>	</a:t>
            </a:r>
            <a:r>
              <a:rPr sz="2400" spc="-33" dirty="0">
                <a:solidFill>
                  <a:srgbClr val="333333"/>
                </a:solidFill>
                <a:latin typeface="Roboto"/>
                <a:cs typeface="Roboto"/>
              </a:rPr>
              <a:t>of</a:t>
            </a:r>
            <a:r>
              <a:rPr sz="2400" dirty="0">
                <a:solidFill>
                  <a:srgbClr val="333333"/>
                </a:solidFill>
                <a:latin typeface="Roboto"/>
                <a:cs typeface="Roboto"/>
              </a:rPr>
              <a:t>	</a:t>
            </a:r>
            <a:r>
              <a:rPr sz="2400" spc="-13" dirty="0">
                <a:solidFill>
                  <a:srgbClr val="333333"/>
                </a:solidFill>
                <a:latin typeface="Roboto"/>
                <a:cs typeface="Roboto"/>
              </a:rPr>
              <a:t>parameters</a:t>
            </a:r>
            <a:r>
              <a:rPr sz="2400" dirty="0">
                <a:solidFill>
                  <a:srgbClr val="333333"/>
                </a:solidFill>
                <a:latin typeface="Roboto"/>
                <a:cs typeface="Roboto"/>
              </a:rPr>
              <a:t>	</a:t>
            </a:r>
            <a:r>
              <a:rPr sz="2400" spc="-33" dirty="0">
                <a:solidFill>
                  <a:srgbClr val="333333"/>
                </a:solidFill>
                <a:latin typeface="Roboto"/>
                <a:cs typeface="Roboto"/>
              </a:rPr>
              <a:t>is</a:t>
            </a:r>
            <a:r>
              <a:rPr sz="2400" dirty="0">
                <a:solidFill>
                  <a:srgbClr val="333333"/>
                </a:solidFill>
                <a:latin typeface="Roboto"/>
                <a:cs typeface="Roboto"/>
              </a:rPr>
              <a:t>	</a:t>
            </a:r>
            <a:r>
              <a:rPr sz="2400" spc="-13" dirty="0">
                <a:solidFill>
                  <a:srgbClr val="333333"/>
                </a:solidFill>
                <a:latin typeface="Roboto"/>
                <a:cs typeface="Roboto"/>
              </a:rPr>
              <a:t>called</a:t>
            </a:r>
            <a:r>
              <a:rPr sz="2400" dirty="0">
                <a:solidFill>
                  <a:srgbClr val="333333"/>
                </a:solidFill>
                <a:latin typeface="Roboto"/>
                <a:cs typeface="Roboto"/>
              </a:rPr>
              <a:t>	</a:t>
            </a:r>
            <a:r>
              <a:rPr sz="2400" spc="-67" dirty="0">
                <a:solidFill>
                  <a:srgbClr val="333333"/>
                </a:solidFill>
                <a:latin typeface="Roboto"/>
                <a:cs typeface="Roboto"/>
              </a:rPr>
              <a:t>a </a:t>
            </a:r>
            <a:r>
              <a:rPr sz="2400" spc="-13" dirty="0">
                <a:solidFill>
                  <a:srgbClr val="333333"/>
                </a:solidFill>
                <a:latin typeface="Roboto"/>
                <a:cs typeface="Roboto"/>
              </a:rPr>
              <a:t>parameterized</a:t>
            </a:r>
            <a:r>
              <a:rPr sz="2400" spc="-133" dirty="0">
                <a:solidFill>
                  <a:srgbClr val="333333"/>
                </a:solidFill>
                <a:latin typeface="Roboto"/>
                <a:cs typeface="Roboto"/>
              </a:rPr>
              <a:t> </a:t>
            </a:r>
            <a:r>
              <a:rPr sz="2400" spc="-13" dirty="0">
                <a:solidFill>
                  <a:srgbClr val="333333"/>
                </a:solidFill>
                <a:latin typeface="Roboto"/>
                <a:cs typeface="Roboto"/>
              </a:rPr>
              <a:t>constructor.</a:t>
            </a:r>
            <a:endParaRPr sz="2400" dirty="0">
              <a:latin typeface="Roboto"/>
              <a:cs typeface="Roboto"/>
            </a:endParaRPr>
          </a:p>
          <a:p>
            <a:pPr marL="505447">
              <a:spcBef>
                <a:spcPts val="2280"/>
              </a:spcBef>
            </a:pPr>
            <a:r>
              <a:rPr sz="2533" b="1" dirty="0">
                <a:solidFill>
                  <a:srgbClr val="610B4B"/>
                </a:solidFill>
                <a:latin typeface="Arial"/>
                <a:cs typeface="Arial"/>
              </a:rPr>
              <a:t>Why</a:t>
            </a:r>
            <a:r>
              <a:rPr sz="2533" b="1" spc="-73" dirty="0">
                <a:solidFill>
                  <a:srgbClr val="610B4B"/>
                </a:solidFill>
                <a:latin typeface="Arial"/>
                <a:cs typeface="Arial"/>
              </a:rPr>
              <a:t> </a:t>
            </a:r>
            <a:r>
              <a:rPr sz="2533" b="1" dirty="0">
                <a:solidFill>
                  <a:srgbClr val="610B4B"/>
                </a:solidFill>
                <a:latin typeface="Arial"/>
                <a:cs typeface="Arial"/>
              </a:rPr>
              <a:t>use</a:t>
            </a:r>
            <a:r>
              <a:rPr sz="2533" b="1" spc="-73" dirty="0">
                <a:solidFill>
                  <a:srgbClr val="610B4B"/>
                </a:solidFill>
                <a:latin typeface="Arial"/>
                <a:cs typeface="Arial"/>
              </a:rPr>
              <a:t> </a:t>
            </a:r>
            <a:r>
              <a:rPr sz="2533" b="1" dirty="0">
                <a:solidFill>
                  <a:srgbClr val="610B4B"/>
                </a:solidFill>
                <a:latin typeface="Arial"/>
                <a:cs typeface="Arial"/>
              </a:rPr>
              <a:t>the</a:t>
            </a:r>
            <a:r>
              <a:rPr sz="2533" b="1" spc="-67" dirty="0">
                <a:solidFill>
                  <a:srgbClr val="610B4B"/>
                </a:solidFill>
                <a:latin typeface="Arial"/>
                <a:cs typeface="Arial"/>
              </a:rPr>
              <a:t> </a:t>
            </a:r>
            <a:r>
              <a:rPr sz="2533" b="1" spc="-13" dirty="0">
                <a:solidFill>
                  <a:srgbClr val="610B4B"/>
                </a:solidFill>
                <a:latin typeface="Arial"/>
                <a:cs typeface="Arial"/>
              </a:rPr>
              <a:t>parameterized</a:t>
            </a:r>
            <a:r>
              <a:rPr sz="2533" b="1" spc="-73" dirty="0">
                <a:solidFill>
                  <a:srgbClr val="610B4B"/>
                </a:solidFill>
                <a:latin typeface="Arial"/>
                <a:cs typeface="Arial"/>
              </a:rPr>
              <a:t> </a:t>
            </a:r>
            <a:r>
              <a:rPr sz="2533" b="1" spc="-13" dirty="0">
                <a:solidFill>
                  <a:srgbClr val="610B4B"/>
                </a:solidFill>
                <a:latin typeface="Arial"/>
                <a:cs typeface="Arial"/>
              </a:rPr>
              <a:t>constructor?</a:t>
            </a:r>
            <a:endParaRPr sz="2533" dirty="0">
              <a:latin typeface="Arial"/>
              <a:cs typeface="Arial"/>
            </a:endParaRPr>
          </a:p>
          <a:p>
            <a:pPr marL="505447" marR="27093" indent="-489361">
              <a:lnSpc>
                <a:spcPct val="115700"/>
              </a:lnSpc>
              <a:spcBef>
                <a:spcPts val="2113"/>
              </a:spcBef>
              <a:buFont typeface="Arial MT"/>
              <a:buChar char="●"/>
              <a:tabLst>
                <a:tab pos="505447" algn="l"/>
              </a:tabLst>
            </a:pPr>
            <a:r>
              <a:rPr sz="2400" dirty="0">
                <a:solidFill>
                  <a:srgbClr val="333333"/>
                </a:solidFill>
                <a:latin typeface="Roboto"/>
                <a:cs typeface="Roboto"/>
              </a:rPr>
              <a:t>The</a:t>
            </a:r>
            <a:r>
              <a:rPr sz="2400" spc="80" dirty="0">
                <a:solidFill>
                  <a:srgbClr val="333333"/>
                </a:solidFill>
                <a:latin typeface="Roboto"/>
                <a:cs typeface="Roboto"/>
              </a:rPr>
              <a:t> </a:t>
            </a:r>
            <a:r>
              <a:rPr sz="2400" spc="-13" dirty="0">
                <a:solidFill>
                  <a:srgbClr val="333333"/>
                </a:solidFill>
                <a:latin typeface="Roboto"/>
                <a:cs typeface="Roboto"/>
              </a:rPr>
              <a:t>parameterized</a:t>
            </a:r>
            <a:r>
              <a:rPr sz="2400" spc="87" dirty="0">
                <a:solidFill>
                  <a:srgbClr val="333333"/>
                </a:solidFill>
                <a:latin typeface="Roboto"/>
                <a:cs typeface="Roboto"/>
              </a:rPr>
              <a:t> </a:t>
            </a:r>
            <a:r>
              <a:rPr sz="2400" spc="-13" dirty="0">
                <a:solidFill>
                  <a:srgbClr val="333333"/>
                </a:solidFill>
                <a:latin typeface="Roboto"/>
                <a:cs typeface="Roboto"/>
              </a:rPr>
              <a:t>constructor</a:t>
            </a:r>
            <a:r>
              <a:rPr sz="2400" spc="87" dirty="0">
                <a:solidFill>
                  <a:srgbClr val="333333"/>
                </a:solidFill>
                <a:latin typeface="Roboto"/>
                <a:cs typeface="Roboto"/>
              </a:rPr>
              <a:t> </a:t>
            </a:r>
            <a:r>
              <a:rPr sz="2400" dirty="0">
                <a:solidFill>
                  <a:srgbClr val="333333"/>
                </a:solidFill>
                <a:latin typeface="Roboto"/>
                <a:cs typeface="Roboto"/>
              </a:rPr>
              <a:t>is</a:t>
            </a:r>
            <a:r>
              <a:rPr sz="2400" spc="87" dirty="0">
                <a:solidFill>
                  <a:srgbClr val="333333"/>
                </a:solidFill>
                <a:latin typeface="Roboto"/>
                <a:cs typeface="Roboto"/>
              </a:rPr>
              <a:t> </a:t>
            </a:r>
            <a:r>
              <a:rPr sz="2400" dirty="0">
                <a:solidFill>
                  <a:srgbClr val="333333"/>
                </a:solidFill>
                <a:latin typeface="Roboto"/>
                <a:cs typeface="Roboto"/>
              </a:rPr>
              <a:t>used</a:t>
            </a:r>
            <a:r>
              <a:rPr sz="2400" spc="87" dirty="0">
                <a:solidFill>
                  <a:srgbClr val="333333"/>
                </a:solidFill>
                <a:latin typeface="Roboto"/>
                <a:cs typeface="Roboto"/>
              </a:rPr>
              <a:t> </a:t>
            </a:r>
            <a:r>
              <a:rPr sz="2400" dirty="0">
                <a:solidFill>
                  <a:srgbClr val="333333"/>
                </a:solidFill>
                <a:latin typeface="Roboto"/>
                <a:cs typeface="Roboto"/>
              </a:rPr>
              <a:t>to</a:t>
            </a:r>
            <a:r>
              <a:rPr sz="2400" spc="80" dirty="0">
                <a:solidFill>
                  <a:srgbClr val="333333"/>
                </a:solidFill>
                <a:latin typeface="Roboto"/>
                <a:cs typeface="Roboto"/>
              </a:rPr>
              <a:t> </a:t>
            </a:r>
            <a:r>
              <a:rPr sz="2400" dirty="0">
                <a:solidFill>
                  <a:srgbClr val="333333"/>
                </a:solidFill>
                <a:latin typeface="Roboto"/>
                <a:cs typeface="Roboto"/>
              </a:rPr>
              <a:t>provide</a:t>
            </a:r>
            <a:r>
              <a:rPr sz="2400" spc="87" dirty="0">
                <a:solidFill>
                  <a:srgbClr val="333333"/>
                </a:solidFill>
                <a:latin typeface="Roboto"/>
                <a:cs typeface="Roboto"/>
              </a:rPr>
              <a:t> </a:t>
            </a:r>
            <a:r>
              <a:rPr sz="2400" dirty="0">
                <a:solidFill>
                  <a:srgbClr val="333333"/>
                </a:solidFill>
                <a:latin typeface="Roboto"/>
                <a:cs typeface="Roboto"/>
              </a:rPr>
              <a:t>different</a:t>
            </a:r>
            <a:r>
              <a:rPr sz="2400" spc="87" dirty="0">
                <a:solidFill>
                  <a:srgbClr val="333333"/>
                </a:solidFill>
                <a:latin typeface="Roboto"/>
                <a:cs typeface="Roboto"/>
              </a:rPr>
              <a:t> </a:t>
            </a:r>
            <a:r>
              <a:rPr sz="2400" dirty="0">
                <a:solidFill>
                  <a:srgbClr val="333333"/>
                </a:solidFill>
                <a:latin typeface="Roboto"/>
                <a:cs typeface="Roboto"/>
              </a:rPr>
              <a:t>values</a:t>
            </a:r>
            <a:r>
              <a:rPr sz="2400" spc="87" dirty="0">
                <a:solidFill>
                  <a:srgbClr val="333333"/>
                </a:solidFill>
                <a:latin typeface="Roboto"/>
                <a:cs typeface="Roboto"/>
              </a:rPr>
              <a:t> </a:t>
            </a:r>
            <a:r>
              <a:rPr sz="2400" dirty="0">
                <a:solidFill>
                  <a:srgbClr val="333333"/>
                </a:solidFill>
                <a:latin typeface="Roboto"/>
                <a:cs typeface="Roboto"/>
              </a:rPr>
              <a:t>to</a:t>
            </a:r>
            <a:r>
              <a:rPr sz="2400" spc="87" dirty="0">
                <a:solidFill>
                  <a:srgbClr val="333333"/>
                </a:solidFill>
                <a:latin typeface="Roboto"/>
                <a:cs typeface="Roboto"/>
              </a:rPr>
              <a:t> </a:t>
            </a:r>
            <a:r>
              <a:rPr sz="2400" spc="-13" dirty="0">
                <a:solidFill>
                  <a:srgbClr val="333333"/>
                </a:solidFill>
                <a:latin typeface="Roboto"/>
                <a:cs typeface="Roboto"/>
              </a:rPr>
              <a:t>distinct objects.</a:t>
            </a:r>
            <a:endParaRPr sz="2400" dirty="0">
              <a:latin typeface="Roboto"/>
              <a:cs typeface="Roboto"/>
            </a:endParaRPr>
          </a:p>
          <a:p>
            <a:pPr marL="505447" indent="-488514">
              <a:spcBef>
                <a:spcPts val="420"/>
              </a:spcBef>
              <a:buFont typeface="Arial MT"/>
              <a:buChar char="●"/>
              <a:tabLst>
                <a:tab pos="505447" algn="l"/>
              </a:tabLst>
            </a:pPr>
            <a:r>
              <a:rPr sz="2400" spc="-27" dirty="0">
                <a:solidFill>
                  <a:srgbClr val="333333"/>
                </a:solidFill>
                <a:latin typeface="Roboto"/>
                <a:cs typeface="Roboto"/>
              </a:rPr>
              <a:t>However,</a:t>
            </a:r>
            <a:r>
              <a:rPr sz="2400" spc="-87" dirty="0">
                <a:solidFill>
                  <a:srgbClr val="333333"/>
                </a:solidFill>
                <a:latin typeface="Roboto"/>
                <a:cs typeface="Roboto"/>
              </a:rPr>
              <a:t> </a:t>
            </a:r>
            <a:r>
              <a:rPr sz="2400" spc="-13" dirty="0">
                <a:solidFill>
                  <a:srgbClr val="333333"/>
                </a:solidFill>
                <a:latin typeface="Roboto"/>
                <a:cs typeface="Roboto"/>
              </a:rPr>
              <a:t>you</a:t>
            </a:r>
            <a:r>
              <a:rPr sz="2400" spc="-80" dirty="0">
                <a:solidFill>
                  <a:srgbClr val="333333"/>
                </a:solidFill>
                <a:latin typeface="Roboto"/>
                <a:cs typeface="Roboto"/>
              </a:rPr>
              <a:t> </a:t>
            </a:r>
            <a:r>
              <a:rPr sz="2400" dirty="0">
                <a:solidFill>
                  <a:srgbClr val="333333"/>
                </a:solidFill>
                <a:latin typeface="Roboto"/>
                <a:cs typeface="Roboto"/>
              </a:rPr>
              <a:t>can</a:t>
            </a:r>
            <a:r>
              <a:rPr sz="2400" spc="-87" dirty="0">
                <a:solidFill>
                  <a:srgbClr val="333333"/>
                </a:solidFill>
                <a:latin typeface="Roboto"/>
                <a:cs typeface="Roboto"/>
              </a:rPr>
              <a:t> </a:t>
            </a:r>
            <a:r>
              <a:rPr sz="2400" spc="-13" dirty="0">
                <a:solidFill>
                  <a:srgbClr val="333333"/>
                </a:solidFill>
                <a:latin typeface="Roboto"/>
                <a:cs typeface="Roboto"/>
              </a:rPr>
              <a:t>provide</a:t>
            </a:r>
            <a:r>
              <a:rPr sz="2400" spc="-80" dirty="0">
                <a:solidFill>
                  <a:srgbClr val="333333"/>
                </a:solidFill>
                <a:latin typeface="Roboto"/>
                <a:cs typeface="Roboto"/>
              </a:rPr>
              <a:t> </a:t>
            </a:r>
            <a:r>
              <a:rPr sz="2400" dirty="0">
                <a:solidFill>
                  <a:srgbClr val="333333"/>
                </a:solidFill>
                <a:latin typeface="Roboto"/>
                <a:cs typeface="Roboto"/>
              </a:rPr>
              <a:t>the</a:t>
            </a:r>
            <a:r>
              <a:rPr sz="2400" spc="-80" dirty="0">
                <a:solidFill>
                  <a:srgbClr val="333333"/>
                </a:solidFill>
                <a:latin typeface="Roboto"/>
                <a:cs typeface="Roboto"/>
              </a:rPr>
              <a:t> </a:t>
            </a:r>
            <a:r>
              <a:rPr sz="2400" dirty="0">
                <a:solidFill>
                  <a:srgbClr val="333333"/>
                </a:solidFill>
                <a:latin typeface="Roboto"/>
                <a:cs typeface="Roboto"/>
              </a:rPr>
              <a:t>same</a:t>
            </a:r>
            <a:r>
              <a:rPr sz="2400" spc="-87" dirty="0">
                <a:solidFill>
                  <a:srgbClr val="333333"/>
                </a:solidFill>
                <a:latin typeface="Roboto"/>
                <a:cs typeface="Roboto"/>
              </a:rPr>
              <a:t> </a:t>
            </a:r>
            <a:r>
              <a:rPr sz="2400" spc="-27" dirty="0">
                <a:solidFill>
                  <a:srgbClr val="333333"/>
                </a:solidFill>
                <a:latin typeface="Roboto"/>
                <a:cs typeface="Roboto"/>
              </a:rPr>
              <a:t>values</a:t>
            </a:r>
            <a:r>
              <a:rPr sz="2400" spc="-80" dirty="0">
                <a:solidFill>
                  <a:srgbClr val="333333"/>
                </a:solidFill>
                <a:latin typeface="Roboto"/>
                <a:cs typeface="Roboto"/>
              </a:rPr>
              <a:t> </a:t>
            </a:r>
            <a:r>
              <a:rPr sz="2400" spc="-13" dirty="0">
                <a:solidFill>
                  <a:srgbClr val="333333"/>
                </a:solidFill>
                <a:latin typeface="Roboto"/>
                <a:cs typeface="Roboto"/>
              </a:rPr>
              <a:t>also.</a:t>
            </a:r>
            <a:endParaRPr sz="2400" dirty="0">
              <a:latin typeface="Roboto"/>
              <a:cs typeface="Roboto"/>
            </a:endParaRPr>
          </a:p>
          <a:p>
            <a:pPr marL="16933">
              <a:spcBef>
                <a:spcPts val="420"/>
              </a:spcBef>
            </a:pPr>
            <a:endParaRPr sz="2400" dirty="0">
              <a:latin typeface="Arial MT"/>
              <a:cs typeface="Arial MT"/>
            </a:endParaRPr>
          </a:p>
        </p:txBody>
      </p:sp>
    </p:spTree>
    <p:extLst>
      <p:ext uri="{BB962C8B-B14F-4D97-AF65-F5344CB8AC3E}">
        <p14:creationId xmlns:p14="http://schemas.microsoft.com/office/powerpoint/2010/main" val="56463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334424"/>
            <a:ext cx="6096847" cy="6002518"/>
          </a:xfrm>
          <a:prstGeom prst="rect">
            <a:avLst/>
          </a:prstGeom>
        </p:spPr>
        <p:txBody>
          <a:bodyPr vert="horz" wrap="square" lIns="0" tIns="65192" rIns="0" bIns="0" rtlCol="0">
            <a:spAutoFit/>
          </a:bodyPr>
          <a:lstStyle/>
          <a:p>
            <a:pPr marL="16933">
              <a:spcBef>
                <a:spcPts val="512"/>
              </a:spcBef>
            </a:pPr>
            <a:r>
              <a:rPr sz="2267" dirty="0">
                <a:latin typeface="Times New Roman"/>
                <a:cs typeface="Times New Roman"/>
              </a:rPr>
              <a:t>class</a:t>
            </a:r>
            <a:r>
              <a:rPr sz="2267" spc="-33" dirty="0">
                <a:latin typeface="Times New Roman"/>
                <a:cs typeface="Times New Roman"/>
              </a:rPr>
              <a:t> </a:t>
            </a:r>
            <a:r>
              <a:rPr sz="2267" spc="-13" dirty="0">
                <a:latin typeface="Times New Roman"/>
                <a:cs typeface="Times New Roman"/>
              </a:rPr>
              <a:t>Rectangle</a:t>
            </a:r>
            <a:endParaRPr sz="2267">
              <a:latin typeface="Times New Roman"/>
              <a:cs typeface="Times New Roman"/>
            </a:endParaRPr>
          </a:p>
          <a:p>
            <a:pPr marL="16933">
              <a:spcBef>
                <a:spcPts val="379"/>
              </a:spcBef>
            </a:pPr>
            <a:r>
              <a:rPr sz="2267" spc="-67" dirty="0">
                <a:latin typeface="Times New Roman"/>
                <a:cs typeface="Times New Roman"/>
              </a:rPr>
              <a:t>{</a:t>
            </a:r>
            <a:endParaRPr sz="2267">
              <a:latin typeface="Times New Roman"/>
              <a:cs typeface="Times New Roman"/>
            </a:endParaRPr>
          </a:p>
          <a:p>
            <a:pPr marL="232828">
              <a:spcBef>
                <a:spcPts val="379"/>
              </a:spcBef>
            </a:pPr>
            <a:r>
              <a:rPr sz="2267" dirty="0">
                <a:latin typeface="Times New Roman"/>
                <a:cs typeface="Times New Roman"/>
              </a:rPr>
              <a:t>int</a:t>
            </a:r>
            <a:r>
              <a:rPr sz="2267" spc="-40" dirty="0">
                <a:latin typeface="Times New Roman"/>
                <a:cs typeface="Times New Roman"/>
              </a:rPr>
              <a:t> </a:t>
            </a:r>
            <a:r>
              <a:rPr sz="2267" dirty="0">
                <a:latin typeface="Times New Roman"/>
                <a:cs typeface="Times New Roman"/>
              </a:rPr>
              <a:t>area,</a:t>
            </a:r>
            <a:r>
              <a:rPr sz="2267" spc="-33" dirty="0">
                <a:latin typeface="Times New Roman"/>
                <a:cs typeface="Times New Roman"/>
              </a:rPr>
              <a:t> </a:t>
            </a:r>
            <a:r>
              <a:rPr sz="2267" dirty="0">
                <a:latin typeface="Times New Roman"/>
                <a:cs typeface="Times New Roman"/>
              </a:rPr>
              <a:t>length,</a:t>
            </a:r>
            <a:r>
              <a:rPr sz="2267" spc="-33" dirty="0">
                <a:latin typeface="Times New Roman"/>
                <a:cs typeface="Times New Roman"/>
              </a:rPr>
              <a:t> </a:t>
            </a:r>
            <a:r>
              <a:rPr sz="2267" spc="-13" dirty="0">
                <a:latin typeface="Times New Roman"/>
                <a:cs typeface="Times New Roman"/>
              </a:rPr>
              <a:t>breadth;</a:t>
            </a:r>
            <a:endParaRPr sz="2267">
              <a:latin typeface="Times New Roman"/>
              <a:cs typeface="Times New Roman"/>
            </a:endParaRPr>
          </a:p>
          <a:p>
            <a:pPr marL="232828" marR="2608515">
              <a:lnSpc>
                <a:spcPct val="113999"/>
              </a:lnSpc>
            </a:pPr>
            <a:r>
              <a:rPr sz="2267" dirty="0">
                <a:latin typeface="Times New Roman"/>
                <a:cs typeface="Times New Roman"/>
              </a:rPr>
              <a:t>//</a:t>
            </a:r>
            <a:r>
              <a:rPr sz="2267" spc="-20" dirty="0">
                <a:latin typeface="Times New Roman"/>
                <a:cs typeface="Times New Roman"/>
              </a:rPr>
              <a:t> </a:t>
            </a:r>
            <a:r>
              <a:rPr sz="2267" dirty="0">
                <a:latin typeface="Times New Roman"/>
                <a:cs typeface="Times New Roman"/>
              </a:rPr>
              <a:t>Parameterized</a:t>
            </a:r>
            <a:r>
              <a:rPr sz="2267" spc="-7" dirty="0">
                <a:latin typeface="Times New Roman"/>
                <a:cs typeface="Times New Roman"/>
              </a:rPr>
              <a:t> </a:t>
            </a:r>
            <a:r>
              <a:rPr sz="2267" spc="-13" dirty="0">
                <a:latin typeface="Times New Roman"/>
                <a:cs typeface="Times New Roman"/>
              </a:rPr>
              <a:t>constructor </a:t>
            </a:r>
            <a:r>
              <a:rPr sz="2267" dirty="0">
                <a:latin typeface="Times New Roman"/>
                <a:cs typeface="Times New Roman"/>
              </a:rPr>
              <a:t>Rectangle(int</a:t>
            </a:r>
            <a:r>
              <a:rPr sz="2267" spc="-53" dirty="0">
                <a:latin typeface="Times New Roman"/>
                <a:cs typeface="Times New Roman"/>
              </a:rPr>
              <a:t> </a:t>
            </a:r>
            <a:r>
              <a:rPr sz="2267" dirty="0">
                <a:latin typeface="Times New Roman"/>
                <a:cs typeface="Times New Roman"/>
              </a:rPr>
              <a:t>l,</a:t>
            </a:r>
            <a:r>
              <a:rPr sz="2267" spc="-40" dirty="0">
                <a:latin typeface="Times New Roman"/>
                <a:cs typeface="Times New Roman"/>
              </a:rPr>
              <a:t> </a:t>
            </a:r>
            <a:r>
              <a:rPr sz="2267" dirty="0">
                <a:latin typeface="Times New Roman"/>
                <a:cs typeface="Times New Roman"/>
              </a:rPr>
              <a:t>int</a:t>
            </a:r>
            <a:r>
              <a:rPr sz="2267" spc="-53" dirty="0">
                <a:latin typeface="Times New Roman"/>
                <a:cs typeface="Times New Roman"/>
              </a:rPr>
              <a:t> </a:t>
            </a:r>
            <a:r>
              <a:rPr sz="2267" spc="-33" dirty="0">
                <a:latin typeface="Times New Roman"/>
                <a:cs typeface="Times New Roman"/>
              </a:rPr>
              <a:t>b)</a:t>
            </a:r>
            <a:endParaRPr sz="2267">
              <a:latin typeface="Times New Roman"/>
              <a:cs typeface="Times New Roman"/>
            </a:endParaRPr>
          </a:p>
          <a:p>
            <a:pPr marL="232828">
              <a:spcBef>
                <a:spcPts val="379"/>
              </a:spcBef>
            </a:pPr>
            <a:r>
              <a:rPr sz="2267" spc="-67" dirty="0">
                <a:latin typeface="Times New Roman"/>
                <a:cs typeface="Times New Roman"/>
              </a:rPr>
              <a:t>{</a:t>
            </a:r>
            <a:endParaRPr sz="2267">
              <a:latin typeface="Times New Roman"/>
              <a:cs typeface="Times New Roman"/>
            </a:endParaRPr>
          </a:p>
          <a:p>
            <a:pPr marL="448722" marR="4244234">
              <a:lnSpc>
                <a:spcPct val="113999"/>
              </a:lnSpc>
            </a:pPr>
            <a:r>
              <a:rPr sz="2267" dirty="0">
                <a:latin typeface="Times New Roman"/>
                <a:cs typeface="Times New Roman"/>
              </a:rPr>
              <a:t>length</a:t>
            </a:r>
            <a:r>
              <a:rPr sz="2267" spc="-40" dirty="0">
                <a:latin typeface="Times New Roman"/>
                <a:cs typeface="Times New Roman"/>
              </a:rPr>
              <a:t> </a:t>
            </a:r>
            <a:r>
              <a:rPr sz="2267" dirty="0">
                <a:latin typeface="Times New Roman"/>
                <a:cs typeface="Times New Roman"/>
              </a:rPr>
              <a:t>=</a:t>
            </a:r>
            <a:r>
              <a:rPr sz="2267" spc="-40" dirty="0">
                <a:latin typeface="Times New Roman"/>
                <a:cs typeface="Times New Roman"/>
              </a:rPr>
              <a:t> </a:t>
            </a:r>
            <a:r>
              <a:rPr sz="2267" spc="-33" dirty="0">
                <a:latin typeface="Times New Roman"/>
                <a:cs typeface="Times New Roman"/>
              </a:rPr>
              <a:t>l; </a:t>
            </a:r>
            <a:r>
              <a:rPr sz="2267" dirty="0">
                <a:latin typeface="Times New Roman"/>
                <a:cs typeface="Times New Roman"/>
              </a:rPr>
              <a:t>breadth</a:t>
            </a:r>
            <a:r>
              <a:rPr sz="2267" spc="-7" dirty="0">
                <a:latin typeface="Times New Roman"/>
                <a:cs typeface="Times New Roman"/>
              </a:rPr>
              <a:t> </a:t>
            </a:r>
            <a:r>
              <a:rPr sz="2267" dirty="0">
                <a:latin typeface="Times New Roman"/>
                <a:cs typeface="Times New Roman"/>
              </a:rPr>
              <a:t>=</a:t>
            </a:r>
            <a:r>
              <a:rPr sz="2267" spc="-13" dirty="0">
                <a:latin typeface="Times New Roman"/>
                <a:cs typeface="Times New Roman"/>
              </a:rPr>
              <a:t> </a:t>
            </a:r>
            <a:r>
              <a:rPr sz="2267" spc="-33" dirty="0">
                <a:latin typeface="Times New Roman"/>
                <a:cs typeface="Times New Roman"/>
              </a:rPr>
              <a:t>b;</a:t>
            </a:r>
            <a:endParaRPr sz="2267">
              <a:latin typeface="Times New Roman"/>
              <a:cs typeface="Times New Roman"/>
            </a:endParaRPr>
          </a:p>
          <a:p>
            <a:pPr marL="232828">
              <a:spcBef>
                <a:spcPts val="373"/>
              </a:spcBef>
            </a:pPr>
            <a:r>
              <a:rPr sz="2267" spc="-67" dirty="0">
                <a:latin typeface="Times New Roman"/>
                <a:cs typeface="Times New Roman"/>
              </a:rPr>
              <a:t>}</a:t>
            </a:r>
            <a:endParaRPr sz="2267">
              <a:latin typeface="Times New Roman"/>
              <a:cs typeface="Times New Roman"/>
            </a:endParaRPr>
          </a:p>
          <a:p>
            <a:pPr marL="232828">
              <a:spcBef>
                <a:spcPts val="380"/>
              </a:spcBef>
            </a:pPr>
            <a:r>
              <a:rPr sz="2267" dirty="0">
                <a:latin typeface="Times New Roman"/>
                <a:cs typeface="Times New Roman"/>
              </a:rPr>
              <a:t>void</a:t>
            </a:r>
            <a:r>
              <a:rPr sz="2267" spc="-47" dirty="0">
                <a:latin typeface="Times New Roman"/>
                <a:cs typeface="Times New Roman"/>
              </a:rPr>
              <a:t> </a:t>
            </a:r>
            <a:r>
              <a:rPr sz="2267" spc="-13" dirty="0">
                <a:latin typeface="Times New Roman"/>
                <a:cs typeface="Times New Roman"/>
              </a:rPr>
              <a:t>getArea()</a:t>
            </a:r>
            <a:endParaRPr sz="2267">
              <a:latin typeface="Times New Roman"/>
              <a:cs typeface="Times New Roman"/>
            </a:endParaRPr>
          </a:p>
          <a:p>
            <a:pPr marL="232828">
              <a:spcBef>
                <a:spcPts val="380"/>
              </a:spcBef>
            </a:pPr>
            <a:r>
              <a:rPr sz="2267" spc="-67" dirty="0">
                <a:latin typeface="Times New Roman"/>
                <a:cs typeface="Times New Roman"/>
              </a:rPr>
              <a:t>{</a:t>
            </a:r>
            <a:endParaRPr sz="2267">
              <a:latin typeface="Times New Roman"/>
              <a:cs typeface="Times New Roman"/>
            </a:endParaRPr>
          </a:p>
          <a:p>
            <a:pPr marL="448722" marR="6773">
              <a:lnSpc>
                <a:spcPct val="113999"/>
              </a:lnSpc>
            </a:pPr>
            <a:r>
              <a:rPr sz="2267" dirty="0">
                <a:latin typeface="Times New Roman"/>
                <a:cs typeface="Times New Roman"/>
              </a:rPr>
              <a:t>area</a:t>
            </a:r>
            <a:r>
              <a:rPr sz="2267" spc="-33" dirty="0">
                <a:latin typeface="Times New Roman"/>
                <a:cs typeface="Times New Roman"/>
              </a:rPr>
              <a:t> </a:t>
            </a:r>
            <a:r>
              <a:rPr sz="2267" dirty="0">
                <a:latin typeface="Times New Roman"/>
                <a:cs typeface="Times New Roman"/>
              </a:rPr>
              <a:t>=</a:t>
            </a:r>
            <a:r>
              <a:rPr sz="2267" spc="-27" dirty="0">
                <a:latin typeface="Times New Roman"/>
                <a:cs typeface="Times New Roman"/>
              </a:rPr>
              <a:t> </a:t>
            </a:r>
            <a:r>
              <a:rPr sz="2267" dirty="0">
                <a:latin typeface="Times New Roman"/>
                <a:cs typeface="Times New Roman"/>
              </a:rPr>
              <a:t>length</a:t>
            </a:r>
            <a:r>
              <a:rPr sz="2267" spc="-27" dirty="0">
                <a:latin typeface="Times New Roman"/>
                <a:cs typeface="Times New Roman"/>
              </a:rPr>
              <a:t> </a:t>
            </a:r>
            <a:r>
              <a:rPr sz="2267" dirty="0">
                <a:latin typeface="Times New Roman"/>
                <a:cs typeface="Times New Roman"/>
              </a:rPr>
              <a:t>*</a:t>
            </a:r>
            <a:r>
              <a:rPr sz="2267" spc="-20" dirty="0">
                <a:latin typeface="Times New Roman"/>
                <a:cs typeface="Times New Roman"/>
              </a:rPr>
              <a:t> </a:t>
            </a:r>
            <a:r>
              <a:rPr sz="2267" spc="-13" dirty="0">
                <a:latin typeface="Times New Roman"/>
                <a:cs typeface="Times New Roman"/>
              </a:rPr>
              <a:t>breadth;</a:t>
            </a:r>
            <a:r>
              <a:rPr sz="2267" spc="667" dirty="0">
                <a:latin typeface="Times New Roman"/>
                <a:cs typeface="Times New Roman"/>
              </a:rPr>
              <a:t> </a:t>
            </a:r>
            <a:r>
              <a:rPr sz="2267" spc="-13" dirty="0">
                <a:latin typeface="Times New Roman"/>
                <a:cs typeface="Times New Roman"/>
              </a:rPr>
              <a:t>System.out.println("Area</a:t>
            </a:r>
            <a:r>
              <a:rPr sz="2267" spc="-40" dirty="0">
                <a:latin typeface="Times New Roman"/>
                <a:cs typeface="Times New Roman"/>
              </a:rPr>
              <a:t> </a:t>
            </a:r>
            <a:r>
              <a:rPr sz="2267" dirty="0">
                <a:latin typeface="Times New Roman"/>
                <a:cs typeface="Times New Roman"/>
              </a:rPr>
              <a:t>of</a:t>
            </a:r>
            <a:r>
              <a:rPr sz="2267" spc="-27" dirty="0">
                <a:latin typeface="Times New Roman"/>
                <a:cs typeface="Times New Roman"/>
              </a:rPr>
              <a:t> </a:t>
            </a:r>
            <a:r>
              <a:rPr sz="2267" dirty="0">
                <a:latin typeface="Times New Roman"/>
                <a:cs typeface="Times New Roman"/>
              </a:rPr>
              <a:t>rectangle</a:t>
            </a:r>
            <a:r>
              <a:rPr sz="2267" spc="-27" dirty="0">
                <a:latin typeface="Times New Roman"/>
                <a:cs typeface="Times New Roman"/>
              </a:rPr>
              <a:t> </a:t>
            </a:r>
            <a:r>
              <a:rPr sz="2267" dirty="0">
                <a:latin typeface="Times New Roman"/>
                <a:cs typeface="Times New Roman"/>
              </a:rPr>
              <a:t>:</a:t>
            </a:r>
            <a:r>
              <a:rPr sz="2267" spc="-33" dirty="0">
                <a:latin typeface="Times New Roman"/>
                <a:cs typeface="Times New Roman"/>
              </a:rPr>
              <a:t> </a:t>
            </a:r>
            <a:r>
              <a:rPr sz="2267" dirty="0">
                <a:latin typeface="Times New Roman"/>
                <a:cs typeface="Times New Roman"/>
              </a:rPr>
              <a:t>"</a:t>
            </a:r>
            <a:r>
              <a:rPr sz="2267" spc="-27" dirty="0">
                <a:latin typeface="Times New Roman"/>
                <a:cs typeface="Times New Roman"/>
              </a:rPr>
              <a:t> </a:t>
            </a:r>
            <a:r>
              <a:rPr sz="2267" dirty="0">
                <a:latin typeface="Times New Roman"/>
                <a:cs typeface="Times New Roman"/>
              </a:rPr>
              <a:t>+</a:t>
            </a:r>
            <a:r>
              <a:rPr sz="2267" spc="-33" dirty="0">
                <a:latin typeface="Times New Roman"/>
                <a:cs typeface="Times New Roman"/>
              </a:rPr>
              <a:t> </a:t>
            </a:r>
            <a:r>
              <a:rPr sz="2267" spc="-13" dirty="0">
                <a:latin typeface="Times New Roman"/>
                <a:cs typeface="Times New Roman"/>
              </a:rPr>
              <a:t>area);</a:t>
            </a:r>
            <a:endParaRPr sz="2267">
              <a:latin typeface="Times New Roman"/>
              <a:cs typeface="Times New Roman"/>
            </a:endParaRPr>
          </a:p>
          <a:p>
            <a:pPr marL="232828">
              <a:spcBef>
                <a:spcPts val="380"/>
              </a:spcBef>
            </a:pPr>
            <a:r>
              <a:rPr sz="2267" spc="-67" dirty="0">
                <a:latin typeface="Times New Roman"/>
                <a:cs typeface="Times New Roman"/>
              </a:rPr>
              <a:t>}</a:t>
            </a:r>
            <a:endParaRPr sz="2267">
              <a:latin typeface="Times New Roman"/>
              <a:cs typeface="Times New Roman"/>
            </a:endParaRPr>
          </a:p>
          <a:p>
            <a:pPr marL="16933">
              <a:spcBef>
                <a:spcPts val="380"/>
              </a:spcBef>
            </a:pPr>
            <a:r>
              <a:rPr sz="2267" spc="-67" dirty="0">
                <a:latin typeface="Times New Roman"/>
                <a:cs typeface="Times New Roman"/>
              </a:rPr>
              <a:t>}</a:t>
            </a:r>
            <a:endParaRPr sz="2267">
              <a:latin typeface="Times New Roman"/>
              <a:cs typeface="Times New Roman"/>
            </a:endParaRPr>
          </a:p>
        </p:txBody>
      </p:sp>
    </p:spTree>
    <p:extLst>
      <p:ext uri="{BB962C8B-B14F-4D97-AF65-F5344CB8AC3E}">
        <p14:creationId xmlns:p14="http://schemas.microsoft.com/office/powerpoint/2010/main" val="181608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7767" y="1435693"/>
            <a:ext cx="5179060" cy="3826345"/>
          </a:xfrm>
          <a:prstGeom prst="rect">
            <a:avLst/>
          </a:prstGeom>
        </p:spPr>
        <p:txBody>
          <a:bodyPr vert="horz" wrap="square" lIns="0" tIns="70272" rIns="0" bIns="0" rtlCol="0">
            <a:spAutoFit/>
          </a:bodyPr>
          <a:lstStyle/>
          <a:p>
            <a:pPr marL="16933">
              <a:spcBef>
                <a:spcPts val="552"/>
              </a:spcBef>
            </a:pPr>
            <a:r>
              <a:rPr sz="2400" dirty="0">
                <a:latin typeface="Times New Roman"/>
                <a:cs typeface="Times New Roman"/>
              </a:rPr>
              <a:t>public</a:t>
            </a:r>
            <a:r>
              <a:rPr sz="2400" spc="-107" dirty="0">
                <a:latin typeface="Times New Roman"/>
                <a:cs typeface="Times New Roman"/>
              </a:rPr>
              <a:t> </a:t>
            </a:r>
            <a:r>
              <a:rPr sz="2400" dirty="0">
                <a:latin typeface="Times New Roman"/>
                <a:cs typeface="Times New Roman"/>
              </a:rPr>
              <a:t>class</a:t>
            </a:r>
            <a:r>
              <a:rPr sz="2400" spc="-87" dirty="0">
                <a:latin typeface="Times New Roman"/>
                <a:cs typeface="Times New Roman"/>
              </a:rPr>
              <a:t> </a:t>
            </a:r>
            <a:r>
              <a:rPr sz="2400" spc="-13" dirty="0">
                <a:latin typeface="Times New Roman"/>
                <a:cs typeface="Times New Roman"/>
              </a:rPr>
              <a:t>FindArea</a:t>
            </a:r>
            <a:endParaRPr sz="2400" dirty="0">
              <a:latin typeface="Times New Roman"/>
              <a:cs typeface="Times New Roman"/>
            </a:endParaRPr>
          </a:p>
          <a:p>
            <a:pPr marL="16933">
              <a:spcBef>
                <a:spcPts val="420"/>
              </a:spcBef>
            </a:pPr>
            <a:r>
              <a:rPr sz="2400" spc="-67" dirty="0">
                <a:latin typeface="Times New Roman"/>
                <a:cs typeface="Times New Roman"/>
              </a:rPr>
              <a:t>{</a:t>
            </a:r>
            <a:endParaRPr sz="2400" dirty="0">
              <a:latin typeface="Times New Roman"/>
              <a:cs typeface="Times New Roman"/>
            </a:endParaRPr>
          </a:p>
          <a:p>
            <a:pPr marL="245527">
              <a:spcBef>
                <a:spcPts val="420"/>
              </a:spcBef>
            </a:pPr>
            <a:r>
              <a:rPr sz="2400" dirty="0">
                <a:latin typeface="Times New Roman"/>
                <a:cs typeface="Times New Roman"/>
              </a:rPr>
              <a:t>public</a:t>
            </a:r>
            <a:r>
              <a:rPr sz="2400" spc="-87" dirty="0">
                <a:latin typeface="Times New Roman"/>
                <a:cs typeface="Times New Roman"/>
              </a:rPr>
              <a:t> </a:t>
            </a:r>
            <a:r>
              <a:rPr sz="2400" dirty="0">
                <a:latin typeface="Times New Roman"/>
                <a:cs typeface="Times New Roman"/>
              </a:rPr>
              <a:t>static</a:t>
            </a:r>
            <a:r>
              <a:rPr sz="2400" spc="-80" dirty="0">
                <a:latin typeface="Times New Roman"/>
                <a:cs typeface="Times New Roman"/>
              </a:rPr>
              <a:t> </a:t>
            </a:r>
            <a:r>
              <a:rPr sz="2400" dirty="0">
                <a:latin typeface="Times New Roman"/>
                <a:cs typeface="Times New Roman"/>
              </a:rPr>
              <a:t>void</a:t>
            </a:r>
            <a:r>
              <a:rPr sz="2400" spc="-80" dirty="0">
                <a:latin typeface="Times New Roman"/>
                <a:cs typeface="Times New Roman"/>
              </a:rPr>
              <a:t> </a:t>
            </a:r>
            <a:r>
              <a:rPr sz="2400" dirty="0">
                <a:latin typeface="Times New Roman"/>
                <a:cs typeface="Times New Roman"/>
              </a:rPr>
              <a:t>main(String[]</a:t>
            </a:r>
            <a:r>
              <a:rPr sz="2400" spc="-80" dirty="0">
                <a:latin typeface="Times New Roman"/>
                <a:cs typeface="Times New Roman"/>
              </a:rPr>
              <a:t> </a:t>
            </a:r>
            <a:r>
              <a:rPr sz="2400" spc="-13" dirty="0">
                <a:latin typeface="Times New Roman"/>
                <a:cs typeface="Times New Roman"/>
              </a:rPr>
              <a:t>args)</a:t>
            </a:r>
            <a:endParaRPr sz="2400" dirty="0">
              <a:latin typeface="Times New Roman"/>
              <a:cs typeface="Times New Roman"/>
            </a:endParaRPr>
          </a:p>
          <a:p>
            <a:pPr marL="245527">
              <a:spcBef>
                <a:spcPts val="420"/>
              </a:spcBef>
            </a:pPr>
            <a:r>
              <a:rPr sz="2400" spc="-67" dirty="0">
                <a:latin typeface="Times New Roman"/>
                <a:cs typeface="Times New Roman"/>
              </a:rPr>
              <a:t>{</a:t>
            </a:r>
            <a:endParaRPr sz="2400" dirty="0">
              <a:latin typeface="Times New Roman"/>
              <a:cs typeface="Times New Roman"/>
            </a:endParaRPr>
          </a:p>
          <a:p>
            <a:pPr>
              <a:spcBef>
                <a:spcPts val="533"/>
              </a:spcBef>
            </a:pPr>
            <a:endParaRPr sz="2400" dirty="0">
              <a:latin typeface="Times New Roman"/>
              <a:cs typeface="Times New Roman"/>
            </a:endParaRPr>
          </a:p>
          <a:p>
            <a:pPr marL="474121" marR="6773">
              <a:lnSpc>
                <a:spcPct val="114599"/>
              </a:lnSpc>
              <a:spcBef>
                <a:spcPts val="7"/>
              </a:spcBef>
            </a:pPr>
            <a:r>
              <a:rPr sz="2400" spc="-13" dirty="0">
                <a:latin typeface="Times New Roman"/>
                <a:cs typeface="Times New Roman"/>
              </a:rPr>
              <a:t>Rectangle</a:t>
            </a:r>
            <a:r>
              <a:rPr sz="2400" spc="-53" dirty="0">
                <a:latin typeface="Times New Roman"/>
                <a:cs typeface="Times New Roman"/>
              </a:rPr>
              <a:t> </a:t>
            </a:r>
            <a:r>
              <a:rPr sz="2400" dirty="0">
                <a:latin typeface="Times New Roman"/>
                <a:cs typeface="Times New Roman"/>
              </a:rPr>
              <a:t>rs</a:t>
            </a:r>
            <a:r>
              <a:rPr sz="2400" spc="-53" dirty="0">
                <a:latin typeface="Times New Roman"/>
                <a:cs typeface="Times New Roman"/>
              </a:rPr>
              <a:t> </a:t>
            </a:r>
            <a:r>
              <a:rPr sz="2400" dirty="0">
                <a:latin typeface="Times New Roman"/>
                <a:cs typeface="Times New Roman"/>
              </a:rPr>
              <a:t>=</a:t>
            </a:r>
            <a:r>
              <a:rPr sz="2400" spc="-53" dirty="0">
                <a:latin typeface="Times New Roman"/>
                <a:cs typeface="Times New Roman"/>
              </a:rPr>
              <a:t> </a:t>
            </a:r>
            <a:r>
              <a:rPr sz="2400" dirty="0">
                <a:latin typeface="Times New Roman"/>
                <a:cs typeface="Times New Roman"/>
              </a:rPr>
              <a:t>new</a:t>
            </a:r>
            <a:r>
              <a:rPr sz="2400" spc="-47" dirty="0">
                <a:latin typeface="Times New Roman"/>
                <a:cs typeface="Times New Roman"/>
              </a:rPr>
              <a:t> </a:t>
            </a:r>
            <a:r>
              <a:rPr sz="2400" dirty="0">
                <a:latin typeface="Times New Roman"/>
                <a:cs typeface="Times New Roman"/>
              </a:rPr>
              <a:t>Rectangle(10,</a:t>
            </a:r>
            <a:r>
              <a:rPr sz="2400" spc="-47" dirty="0">
                <a:latin typeface="Times New Roman"/>
                <a:cs typeface="Times New Roman"/>
              </a:rPr>
              <a:t> </a:t>
            </a:r>
            <a:r>
              <a:rPr sz="2400" spc="-27" dirty="0">
                <a:latin typeface="Times New Roman"/>
                <a:cs typeface="Times New Roman"/>
              </a:rPr>
              <a:t>20); </a:t>
            </a:r>
            <a:r>
              <a:rPr sz="2400" spc="-13" dirty="0">
                <a:latin typeface="Times New Roman"/>
                <a:cs typeface="Times New Roman"/>
              </a:rPr>
              <a:t>rs.getArea();</a:t>
            </a:r>
            <a:endParaRPr sz="2400" dirty="0">
              <a:latin typeface="Times New Roman"/>
              <a:cs typeface="Times New Roman"/>
            </a:endParaRPr>
          </a:p>
          <a:p>
            <a:pPr marL="245527">
              <a:spcBef>
                <a:spcPts val="420"/>
              </a:spcBef>
            </a:pPr>
            <a:r>
              <a:rPr sz="2400" spc="-67" dirty="0">
                <a:latin typeface="Times New Roman"/>
                <a:cs typeface="Times New Roman"/>
              </a:rPr>
              <a:t>}</a:t>
            </a:r>
            <a:endParaRPr sz="2400" dirty="0">
              <a:latin typeface="Times New Roman"/>
              <a:cs typeface="Times New Roman"/>
            </a:endParaRPr>
          </a:p>
          <a:p>
            <a:pPr marL="16933">
              <a:spcBef>
                <a:spcPts val="420"/>
              </a:spcBef>
            </a:pPr>
            <a:r>
              <a:rPr sz="2400" spc="-67" dirty="0">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val="415337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2129" y="665291"/>
            <a:ext cx="6266426" cy="820565"/>
          </a:xfrm>
          <a:prstGeom prst="rect">
            <a:avLst/>
          </a:prstGeom>
        </p:spPr>
        <p:txBody>
          <a:bodyPr vert="horz" wrap="square" lIns="0" tIns="426612" rIns="0" bIns="0" rtlCol="0" anchor="ctr">
            <a:spAutoFit/>
          </a:bodyPr>
          <a:lstStyle/>
          <a:p>
            <a:pPr marL="16933">
              <a:lnSpc>
                <a:spcPct val="100000"/>
              </a:lnSpc>
              <a:spcBef>
                <a:spcPts val="133"/>
              </a:spcBef>
            </a:pPr>
            <a:r>
              <a:rPr sz="2533" b="1" spc="-13" dirty="0">
                <a:latin typeface="Arial"/>
                <a:cs typeface="Arial"/>
              </a:rPr>
              <a:t>Constructor</a:t>
            </a:r>
            <a:r>
              <a:rPr sz="2533" b="1" spc="-67" dirty="0">
                <a:latin typeface="Arial"/>
                <a:cs typeface="Arial"/>
              </a:rPr>
              <a:t> </a:t>
            </a:r>
            <a:r>
              <a:rPr sz="2533" b="1" spc="-13" dirty="0">
                <a:latin typeface="Arial"/>
                <a:cs typeface="Arial"/>
              </a:rPr>
              <a:t>Overloading</a:t>
            </a:r>
            <a:r>
              <a:rPr sz="2533" b="1" spc="-53" dirty="0">
                <a:latin typeface="Arial"/>
                <a:cs typeface="Arial"/>
              </a:rPr>
              <a:t> </a:t>
            </a:r>
            <a:r>
              <a:rPr sz="2533" b="1" dirty="0">
                <a:latin typeface="Arial"/>
                <a:cs typeface="Arial"/>
              </a:rPr>
              <a:t>in</a:t>
            </a:r>
            <a:r>
              <a:rPr sz="2533" b="1" spc="-53" dirty="0">
                <a:latin typeface="Arial"/>
                <a:cs typeface="Arial"/>
              </a:rPr>
              <a:t> </a:t>
            </a:r>
            <a:r>
              <a:rPr sz="2533" b="1" spc="-27" dirty="0">
                <a:latin typeface="Arial"/>
                <a:cs typeface="Arial"/>
              </a:rPr>
              <a:t>Java</a:t>
            </a:r>
            <a:endParaRPr sz="2533" dirty="0">
              <a:latin typeface="Arial"/>
              <a:cs typeface="Arial"/>
            </a:endParaRPr>
          </a:p>
        </p:txBody>
      </p:sp>
      <p:sp>
        <p:nvSpPr>
          <p:cNvPr id="3" name="object 3"/>
          <p:cNvSpPr txBox="1"/>
          <p:nvPr/>
        </p:nvSpPr>
        <p:spPr>
          <a:xfrm>
            <a:off x="633665" y="1874868"/>
            <a:ext cx="11021907" cy="3989981"/>
          </a:xfrm>
          <a:prstGeom prst="rect">
            <a:avLst/>
          </a:prstGeom>
        </p:spPr>
        <p:txBody>
          <a:bodyPr vert="horz" wrap="square" lIns="0" tIns="70273" rIns="0" bIns="0" rtlCol="0">
            <a:spAutoFit/>
          </a:bodyPr>
          <a:lstStyle/>
          <a:p>
            <a:pPr marL="505447" indent="-488514">
              <a:lnSpc>
                <a:spcPct val="150000"/>
              </a:lnSpc>
              <a:spcBef>
                <a:spcPts val="553"/>
              </a:spcBef>
              <a:buFont typeface="Arial MT"/>
              <a:buChar char="●"/>
              <a:tabLst>
                <a:tab pos="505447" algn="l"/>
              </a:tabLst>
            </a:pPr>
            <a:r>
              <a:rPr sz="2400" dirty="0">
                <a:latin typeface="Roboto"/>
                <a:cs typeface="Roboto"/>
              </a:rPr>
              <a:t>In</a:t>
            </a:r>
            <a:r>
              <a:rPr sz="2400" spc="-80" dirty="0">
                <a:latin typeface="Roboto"/>
                <a:cs typeface="Roboto"/>
              </a:rPr>
              <a:t> </a:t>
            </a:r>
            <a:r>
              <a:rPr sz="2400" spc="-13" dirty="0">
                <a:latin typeface="Roboto"/>
                <a:cs typeface="Roboto"/>
              </a:rPr>
              <a:t>Java,</a:t>
            </a:r>
            <a:r>
              <a:rPr sz="2400" spc="-80" dirty="0">
                <a:latin typeface="Roboto"/>
                <a:cs typeface="Roboto"/>
              </a:rPr>
              <a:t> </a:t>
            </a:r>
            <a:r>
              <a:rPr sz="2400" dirty="0">
                <a:latin typeface="Roboto"/>
                <a:cs typeface="Roboto"/>
              </a:rPr>
              <a:t>a</a:t>
            </a:r>
            <a:r>
              <a:rPr sz="2400" spc="-80" dirty="0">
                <a:latin typeface="Roboto"/>
                <a:cs typeface="Roboto"/>
              </a:rPr>
              <a:t> </a:t>
            </a:r>
            <a:r>
              <a:rPr sz="2400" spc="-27" dirty="0">
                <a:latin typeface="Roboto"/>
                <a:cs typeface="Roboto"/>
              </a:rPr>
              <a:t>constructor</a:t>
            </a:r>
            <a:r>
              <a:rPr sz="2400" spc="-80" dirty="0">
                <a:latin typeface="Roboto"/>
                <a:cs typeface="Roboto"/>
              </a:rPr>
              <a:t> </a:t>
            </a:r>
            <a:r>
              <a:rPr sz="2400" dirty="0">
                <a:latin typeface="Roboto"/>
                <a:cs typeface="Roboto"/>
              </a:rPr>
              <a:t>is</a:t>
            </a:r>
            <a:r>
              <a:rPr sz="2400" spc="-73" dirty="0">
                <a:latin typeface="Roboto"/>
                <a:cs typeface="Roboto"/>
              </a:rPr>
              <a:t> </a:t>
            </a:r>
            <a:r>
              <a:rPr sz="2400" spc="-13" dirty="0">
                <a:latin typeface="Roboto"/>
                <a:cs typeface="Roboto"/>
              </a:rPr>
              <a:t>just</a:t>
            </a:r>
            <a:r>
              <a:rPr sz="2400" spc="-80" dirty="0">
                <a:latin typeface="Roboto"/>
                <a:cs typeface="Roboto"/>
              </a:rPr>
              <a:t> </a:t>
            </a:r>
            <a:r>
              <a:rPr sz="2400" dirty="0">
                <a:latin typeface="Roboto"/>
                <a:cs typeface="Roboto"/>
              </a:rPr>
              <a:t>like</a:t>
            </a:r>
            <a:r>
              <a:rPr sz="2400" spc="-80" dirty="0">
                <a:latin typeface="Roboto"/>
                <a:cs typeface="Roboto"/>
              </a:rPr>
              <a:t> </a:t>
            </a:r>
            <a:r>
              <a:rPr sz="2400" dirty="0">
                <a:latin typeface="Roboto"/>
                <a:cs typeface="Roboto"/>
              </a:rPr>
              <a:t>a</a:t>
            </a:r>
            <a:r>
              <a:rPr sz="2400" spc="-80" dirty="0">
                <a:latin typeface="Roboto"/>
                <a:cs typeface="Roboto"/>
              </a:rPr>
              <a:t> </a:t>
            </a:r>
            <a:r>
              <a:rPr sz="2400" dirty="0">
                <a:latin typeface="Roboto"/>
                <a:cs typeface="Roboto"/>
              </a:rPr>
              <a:t>method</a:t>
            </a:r>
            <a:r>
              <a:rPr sz="2400" spc="-80" dirty="0">
                <a:latin typeface="Roboto"/>
                <a:cs typeface="Roboto"/>
              </a:rPr>
              <a:t> </a:t>
            </a:r>
            <a:r>
              <a:rPr sz="2400" dirty="0">
                <a:latin typeface="Roboto"/>
                <a:cs typeface="Roboto"/>
              </a:rPr>
              <a:t>but</a:t>
            </a:r>
            <a:r>
              <a:rPr sz="2400" spc="-73" dirty="0">
                <a:latin typeface="Roboto"/>
                <a:cs typeface="Roboto"/>
              </a:rPr>
              <a:t> </a:t>
            </a:r>
            <a:r>
              <a:rPr sz="2400" spc="-33" dirty="0">
                <a:latin typeface="Roboto"/>
                <a:cs typeface="Roboto"/>
              </a:rPr>
              <a:t>without</a:t>
            </a:r>
            <a:r>
              <a:rPr sz="2400" spc="-80" dirty="0">
                <a:latin typeface="Roboto"/>
                <a:cs typeface="Roboto"/>
              </a:rPr>
              <a:t> </a:t>
            </a:r>
            <a:r>
              <a:rPr sz="2400" spc="-27" dirty="0">
                <a:latin typeface="Roboto"/>
                <a:cs typeface="Roboto"/>
              </a:rPr>
              <a:t>return</a:t>
            </a:r>
            <a:r>
              <a:rPr sz="2400" spc="-80" dirty="0">
                <a:latin typeface="Roboto"/>
                <a:cs typeface="Roboto"/>
              </a:rPr>
              <a:t> </a:t>
            </a:r>
            <a:r>
              <a:rPr sz="2400" spc="-27" dirty="0">
                <a:latin typeface="Roboto"/>
                <a:cs typeface="Roboto"/>
              </a:rPr>
              <a:t>type.</a:t>
            </a:r>
            <a:endParaRPr sz="2400" dirty="0">
              <a:latin typeface="Roboto"/>
              <a:cs typeface="Roboto"/>
            </a:endParaRPr>
          </a:p>
          <a:p>
            <a:pPr marL="580797" indent="-563865">
              <a:lnSpc>
                <a:spcPct val="150000"/>
              </a:lnSpc>
              <a:spcBef>
                <a:spcPts val="420"/>
              </a:spcBef>
              <a:buFont typeface="Arial MT"/>
              <a:buChar char="●"/>
              <a:tabLst>
                <a:tab pos="580797" algn="l"/>
              </a:tabLst>
            </a:pPr>
            <a:r>
              <a:rPr sz="2400" dirty="0">
                <a:latin typeface="Roboto"/>
                <a:cs typeface="Roboto"/>
              </a:rPr>
              <a:t>It</a:t>
            </a:r>
            <a:r>
              <a:rPr sz="2400" spc="-93" dirty="0">
                <a:latin typeface="Roboto"/>
                <a:cs typeface="Roboto"/>
              </a:rPr>
              <a:t> </a:t>
            </a:r>
            <a:r>
              <a:rPr sz="2400" dirty="0">
                <a:latin typeface="Roboto"/>
                <a:cs typeface="Roboto"/>
              </a:rPr>
              <a:t>can</a:t>
            </a:r>
            <a:r>
              <a:rPr sz="2400" spc="-87" dirty="0">
                <a:latin typeface="Roboto"/>
                <a:cs typeface="Roboto"/>
              </a:rPr>
              <a:t> </a:t>
            </a:r>
            <a:r>
              <a:rPr sz="2400" dirty="0">
                <a:latin typeface="Roboto"/>
                <a:cs typeface="Roboto"/>
              </a:rPr>
              <a:t>also</a:t>
            </a:r>
            <a:r>
              <a:rPr sz="2400" spc="-87" dirty="0">
                <a:latin typeface="Roboto"/>
                <a:cs typeface="Roboto"/>
              </a:rPr>
              <a:t> </a:t>
            </a:r>
            <a:r>
              <a:rPr sz="2400" dirty="0">
                <a:latin typeface="Roboto"/>
                <a:cs typeface="Roboto"/>
              </a:rPr>
              <a:t>be</a:t>
            </a:r>
            <a:r>
              <a:rPr sz="2400" spc="-93" dirty="0">
                <a:latin typeface="Roboto"/>
                <a:cs typeface="Roboto"/>
              </a:rPr>
              <a:t> </a:t>
            </a:r>
            <a:r>
              <a:rPr sz="2400" spc="-13" dirty="0">
                <a:latin typeface="Roboto"/>
                <a:cs typeface="Roboto"/>
              </a:rPr>
              <a:t>overloaded</a:t>
            </a:r>
            <a:r>
              <a:rPr sz="2400" spc="-87" dirty="0">
                <a:latin typeface="Roboto"/>
                <a:cs typeface="Roboto"/>
              </a:rPr>
              <a:t> </a:t>
            </a:r>
            <a:r>
              <a:rPr sz="2400" dirty="0">
                <a:latin typeface="Roboto"/>
                <a:cs typeface="Roboto"/>
              </a:rPr>
              <a:t>like</a:t>
            </a:r>
            <a:r>
              <a:rPr sz="2400" spc="-87" dirty="0">
                <a:latin typeface="Roboto"/>
                <a:cs typeface="Roboto"/>
              </a:rPr>
              <a:t> </a:t>
            </a:r>
            <a:r>
              <a:rPr sz="2400" dirty="0">
                <a:latin typeface="Roboto"/>
                <a:cs typeface="Roboto"/>
              </a:rPr>
              <a:t>Java</a:t>
            </a:r>
            <a:r>
              <a:rPr sz="2400" spc="-93" dirty="0">
                <a:latin typeface="Roboto"/>
                <a:cs typeface="Roboto"/>
              </a:rPr>
              <a:t> </a:t>
            </a:r>
            <a:r>
              <a:rPr sz="2400" spc="-13" dirty="0">
                <a:latin typeface="Roboto"/>
                <a:cs typeface="Roboto"/>
              </a:rPr>
              <a:t>methods.</a:t>
            </a:r>
            <a:endParaRPr sz="2400" dirty="0">
              <a:latin typeface="Roboto"/>
              <a:cs typeface="Roboto"/>
            </a:endParaRPr>
          </a:p>
          <a:p>
            <a:pPr marL="505447" marR="6773" indent="-489361">
              <a:lnSpc>
                <a:spcPct val="150000"/>
              </a:lnSpc>
              <a:buFont typeface="Arial MT"/>
              <a:buChar char="●"/>
              <a:tabLst>
                <a:tab pos="505447" algn="l"/>
              </a:tabLst>
            </a:pPr>
            <a:r>
              <a:rPr sz="2400" dirty="0">
                <a:latin typeface="Roboto"/>
                <a:cs typeface="Roboto"/>
              </a:rPr>
              <a:t>Constructor</a:t>
            </a:r>
            <a:r>
              <a:rPr sz="2400" spc="500" dirty="0">
                <a:latin typeface="Roboto"/>
                <a:cs typeface="Roboto"/>
              </a:rPr>
              <a:t> </a:t>
            </a:r>
            <a:r>
              <a:rPr sz="2400" dirty="0">
                <a:latin typeface="Roboto"/>
                <a:cs typeface="Roboto"/>
                <a:hlinkClick r:id="rId2"/>
              </a:rPr>
              <a:t>overloading</a:t>
            </a:r>
            <a:r>
              <a:rPr sz="2400" spc="487" dirty="0">
                <a:latin typeface="Roboto"/>
                <a:cs typeface="Roboto"/>
                <a:hlinkClick r:id="rId2"/>
              </a:rPr>
              <a:t> </a:t>
            </a:r>
            <a:r>
              <a:rPr sz="2400" dirty="0">
                <a:latin typeface="Roboto"/>
                <a:cs typeface="Roboto"/>
                <a:hlinkClick r:id="rId2"/>
              </a:rPr>
              <a:t>in</a:t>
            </a:r>
            <a:r>
              <a:rPr sz="2400" spc="487" dirty="0">
                <a:latin typeface="Roboto"/>
                <a:cs typeface="Roboto"/>
                <a:hlinkClick r:id="rId2"/>
              </a:rPr>
              <a:t> </a:t>
            </a:r>
            <a:r>
              <a:rPr sz="2400" dirty="0">
                <a:latin typeface="Roboto"/>
                <a:cs typeface="Roboto"/>
                <a:hlinkClick r:id="rId2"/>
              </a:rPr>
              <a:t>Java</a:t>
            </a:r>
            <a:r>
              <a:rPr sz="2400" spc="500" dirty="0">
                <a:latin typeface="Roboto"/>
                <a:cs typeface="Roboto"/>
              </a:rPr>
              <a:t> </a:t>
            </a:r>
            <a:r>
              <a:rPr sz="2400" dirty="0">
                <a:latin typeface="Roboto"/>
                <a:cs typeface="Roboto"/>
              </a:rPr>
              <a:t>is</a:t>
            </a:r>
            <a:r>
              <a:rPr sz="2400" spc="487" dirty="0">
                <a:latin typeface="Roboto"/>
                <a:cs typeface="Roboto"/>
              </a:rPr>
              <a:t> </a:t>
            </a:r>
            <a:r>
              <a:rPr sz="2400" dirty="0">
                <a:latin typeface="Roboto"/>
                <a:cs typeface="Roboto"/>
              </a:rPr>
              <a:t>a</a:t>
            </a:r>
            <a:r>
              <a:rPr sz="2400" spc="493" dirty="0">
                <a:latin typeface="Roboto"/>
                <a:cs typeface="Roboto"/>
              </a:rPr>
              <a:t> </a:t>
            </a:r>
            <a:r>
              <a:rPr sz="2400" dirty="0">
                <a:latin typeface="Roboto"/>
                <a:cs typeface="Roboto"/>
              </a:rPr>
              <a:t>technique</a:t>
            </a:r>
            <a:r>
              <a:rPr sz="2400" spc="487" dirty="0">
                <a:latin typeface="Roboto"/>
                <a:cs typeface="Roboto"/>
              </a:rPr>
              <a:t> </a:t>
            </a:r>
            <a:r>
              <a:rPr sz="2400" dirty="0">
                <a:latin typeface="Roboto"/>
                <a:cs typeface="Roboto"/>
              </a:rPr>
              <a:t>of</a:t>
            </a:r>
            <a:r>
              <a:rPr sz="2400" spc="487" dirty="0">
                <a:latin typeface="Roboto"/>
                <a:cs typeface="Roboto"/>
              </a:rPr>
              <a:t> </a:t>
            </a:r>
            <a:r>
              <a:rPr sz="2400" dirty="0">
                <a:latin typeface="Roboto"/>
                <a:cs typeface="Roboto"/>
              </a:rPr>
              <a:t>having</a:t>
            </a:r>
            <a:r>
              <a:rPr sz="2400" spc="493" dirty="0">
                <a:latin typeface="Roboto"/>
                <a:cs typeface="Roboto"/>
              </a:rPr>
              <a:t> </a:t>
            </a:r>
            <a:r>
              <a:rPr sz="2400" dirty="0">
                <a:latin typeface="Roboto"/>
                <a:cs typeface="Roboto"/>
              </a:rPr>
              <a:t>more</a:t>
            </a:r>
            <a:r>
              <a:rPr sz="2400" spc="487" dirty="0">
                <a:latin typeface="Roboto"/>
                <a:cs typeface="Roboto"/>
              </a:rPr>
              <a:t> </a:t>
            </a:r>
            <a:r>
              <a:rPr sz="2400" dirty="0">
                <a:latin typeface="Roboto"/>
                <a:cs typeface="Roboto"/>
              </a:rPr>
              <a:t>than</a:t>
            </a:r>
            <a:r>
              <a:rPr sz="2400" spc="487" dirty="0">
                <a:latin typeface="Roboto"/>
                <a:cs typeface="Roboto"/>
              </a:rPr>
              <a:t> </a:t>
            </a:r>
            <a:r>
              <a:rPr sz="2400" spc="-33" dirty="0">
                <a:latin typeface="Roboto"/>
                <a:cs typeface="Roboto"/>
              </a:rPr>
              <a:t>one </a:t>
            </a:r>
            <a:r>
              <a:rPr sz="2400" spc="-27" dirty="0">
                <a:latin typeface="Roboto"/>
                <a:cs typeface="Roboto"/>
              </a:rPr>
              <a:t>constructor</a:t>
            </a:r>
            <a:r>
              <a:rPr sz="2400" spc="-107" dirty="0">
                <a:latin typeface="Roboto"/>
                <a:cs typeface="Roboto"/>
              </a:rPr>
              <a:t> </a:t>
            </a:r>
            <a:r>
              <a:rPr sz="2400" spc="-13" dirty="0">
                <a:latin typeface="Roboto"/>
                <a:cs typeface="Roboto"/>
              </a:rPr>
              <a:t>with</a:t>
            </a:r>
            <a:r>
              <a:rPr sz="2400" spc="-100" dirty="0">
                <a:latin typeface="Roboto"/>
                <a:cs typeface="Roboto"/>
              </a:rPr>
              <a:t> </a:t>
            </a:r>
            <a:r>
              <a:rPr sz="2400" dirty="0">
                <a:latin typeface="Roboto"/>
                <a:cs typeface="Roboto"/>
              </a:rPr>
              <a:t>different</a:t>
            </a:r>
            <a:r>
              <a:rPr sz="2400" spc="-100" dirty="0">
                <a:latin typeface="Roboto"/>
                <a:cs typeface="Roboto"/>
              </a:rPr>
              <a:t> </a:t>
            </a:r>
            <a:r>
              <a:rPr sz="2400" spc="-13" dirty="0">
                <a:latin typeface="Roboto"/>
                <a:cs typeface="Roboto"/>
              </a:rPr>
              <a:t>parameter</a:t>
            </a:r>
            <a:r>
              <a:rPr sz="2400" spc="-100" dirty="0">
                <a:latin typeface="Roboto"/>
                <a:cs typeface="Roboto"/>
              </a:rPr>
              <a:t> </a:t>
            </a:r>
            <a:r>
              <a:rPr sz="2400" spc="-13" dirty="0">
                <a:latin typeface="Roboto"/>
                <a:cs typeface="Roboto"/>
              </a:rPr>
              <a:t>lists.</a:t>
            </a:r>
            <a:endParaRPr sz="2400" dirty="0">
              <a:latin typeface="Roboto"/>
              <a:cs typeface="Roboto"/>
            </a:endParaRPr>
          </a:p>
          <a:p>
            <a:pPr marL="505447" indent="-488514">
              <a:lnSpc>
                <a:spcPct val="150000"/>
              </a:lnSpc>
              <a:spcBef>
                <a:spcPts val="420"/>
              </a:spcBef>
              <a:buFont typeface="Arial MT"/>
              <a:buChar char="●"/>
              <a:tabLst>
                <a:tab pos="505447" algn="l"/>
              </a:tabLst>
            </a:pPr>
            <a:r>
              <a:rPr sz="2400" spc="-13" dirty="0">
                <a:latin typeface="Roboto"/>
                <a:cs typeface="Roboto"/>
              </a:rPr>
              <a:t>They</a:t>
            </a:r>
            <a:r>
              <a:rPr sz="2400" spc="-87" dirty="0">
                <a:latin typeface="Roboto"/>
                <a:cs typeface="Roboto"/>
              </a:rPr>
              <a:t> </a:t>
            </a:r>
            <a:r>
              <a:rPr sz="2400" dirty="0">
                <a:latin typeface="Roboto"/>
                <a:cs typeface="Roboto"/>
              </a:rPr>
              <a:t>are</a:t>
            </a:r>
            <a:r>
              <a:rPr sz="2400" spc="-80" dirty="0">
                <a:latin typeface="Roboto"/>
                <a:cs typeface="Roboto"/>
              </a:rPr>
              <a:t> </a:t>
            </a:r>
            <a:r>
              <a:rPr sz="2400" spc="-13" dirty="0">
                <a:latin typeface="Roboto"/>
                <a:cs typeface="Roboto"/>
              </a:rPr>
              <a:t>arranged</a:t>
            </a:r>
            <a:r>
              <a:rPr sz="2400" spc="-80" dirty="0">
                <a:latin typeface="Roboto"/>
                <a:cs typeface="Roboto"/>
              </a:rPr>
              <a:t> </a:t>
            </a:r>
            <a:r>
              <a:rPr sz="2400" dirty="0">
                <a:latin typeface="Roboto"/>
                <a:cs typeface="Roboto"/>
              </a:rPr>
              <a:t>in</a:t>
            </a:r>
            <a:r>
              <a:rPr sz="2400" spc="-80" dirty="0">
                <a:latin typeface="Roboto"/>
                <a:cs typeface="Roboto"/>
              </a:rPr>
              <a:t> </a:t>
            </a:r>
            <a:r>
              <a:rPr sz="2400" dirty="0">
                <a:latin typeface="Roboto"/>
                <a:cs typeface="Roboto"/>
              </a:rPr>
              <a:t>a</a:t>
            </a:r>
            <a:r>
              <a:rPr sz="2400" spc="-80" dirty="0">
                <a:latin typeface="Roboto"/>
                <a:cs typeface="Roboto"/>
              </a:rPr>
              <a:t> </a:t>
            </a:r>
            <a:r>
              <a:rPr sz="2400" dirty="0">
                <a:latin typeface="Roboto"/>
                <a:cs typeface="Roboto"/>
              </a:rPr>
              <a:t>way</a:t>
            </a:r>
            <a:r>
              <a:rPr sz="2400" spc="-80" dirty="0">
                <a:latin typeface="Roboto"/>
                <a:cs typeface="Roboto"/>
              </a:rPr>
              <a:t> </a:t>
            </a:r>
            <a:r>
              <a:rPr sz="2400" spc="-13" dirty="0">
                <a:latin typeface="Roboto"/>
                <a:cs typeface="Roboto"/>
              </a:rPr>
              <a:t>that</a:t>
            </a:r>
            <a:r>
              <a:rPr sz="2400" spc="-80" dirty="0">
                <a:latin typeface="Roboto"/>
                <a:cs typeface="Roboto"/>
              </a:rPr>
              <a:t> </a:t>
            </a:r>
            <a:r>
              <a:rPr sz="2400" dirty="0">
                <a:latin typeface="Roboto"/>
                <a:cs typeface="Roboto"/>
              </a:rPr>
              <a:t>each</a:t>
            </a:r>
            <a:r>
              <a:rPr sz="2400" spc="-80" dirty="0">
                <a:latin typeface="Roboto"/>
                <a:cs typeface="Roboto"/>
              </a:rPr>
              <a:t> </a:t>
            </a:r>
            <a:r>
              <a:rPr sz="2400" spc="-27" dirty="0">
                <a:latin typeface="Roboto"/>
                <a:cs typeface="Roboto"/>
              </a:rPr>
              <a:t>constructor</a:t>
            </a:r>
            <a:r>
              <a:rPr sz="2400" spc="-80" dirty="0">
                <a:latin typeface="Roboto"/>
                <a:cs typeface="Roboto"/>
              </a:rPr>
              <a:t> </a:t>
            </a:r>
            <a:r>
              <a:rPr sz="2400" dirty="0">
                <a:latin typeface="Roboto"/>
                <a:cs typeface="Roboto"/>
              </a:rPr>
              <a:t>performs</a:t>
            </a:r>
            <a:r>
              <a:rPr sz="2400" spc="-87" dirty="0">
                <a:latin typeface="Roboto"/>
                <a:cs typeface="Roboto"/>
              </a:rPr>
              <a:t> </a:t>
            </a:r>
            <a:r>
              <a:rPr sz="2400" dirty="0">
                <a:latin typeface="Roboto"/>
                <a:cs typeface="Roboto"/>
              </a:rPr>
              <a:t>a</a:t>
            </a:r>
            <a:r>
              <a:rPr sz="2400" spc="-80" dirty="0">
                <a:latin typeface="Roboto"/>
                <a:cs typeface="Roboto"/>
              </a:rPr>
              <a:t> </a:t>
            </a:r>
            <a:r>
              <a:rPr sz="2400" dirty="0">
                <a:latin typeface="Roboto"/>
                <a:cs typeface="Roboto"/>
              </a:rPr>
              <a:t>different</a:t>
            </a:r>
            <a:r>
              <a:rPr sz="2400" spc="-80" dirty="0">
                <a:latin typeface="Roboto"/>
                <a:cs typeface="Roboto"/>
              </a:rPr>
              <a:t> </a:t>
            </a:r>
            <a:r>
              <a:rPr sz="2400" spc="-13" dirty="0">
                <a:latin typeface="Roboto"/>
                <a:cs typeface="Roboto"/>
              </a:rPr>
              <a:t>task.</a:t>
            </a:r>
            <a:endParaRPr sz="2400" dirty="0">
              <a:latin typeface="Roboto"/>
              <a:cs typeface="Roboto"/>
            </a:endParaRPr>
          </a:p>
          <a:p>
            <a:pPr marL="505447" marR="16086" indent="-489361">
              <a:lnSpc>
                <a:spcPct val="150000"/>
              </a:lnSpc>
              <a:buFont typeface="Arial MT"/>
              <a:buChar char="●"/>
              <a:tabLst>
                <a:tab pos="505447" algn="l"/>
              </a:tabLst>
            </a:pPr>
            <a:r>
              <a:rPr sz="2400" dirty="0">
                <a:latin typeface="Roboto"/>
                <a:cs typeface="Roboto"/>
              </a:rPr>
              <a:t>They</a:t>
            </a:r>
            <a:r>
              <a:rPr sz="2400" spc="-93" dirty="0">
                <a:latin typeface="Roboto"/>
                <a:cs typeface="Roboto"/>
              </a:rPr>
              <a:t> </a:t>
            </a:r>
            <a:r>
              <a:rPr sz="2400" dirty="0">
                <a:latin typeface="Roboto"/>
                <a:cs typeface="Roboto"/>
              </a:rPr>
              <a:t>are</a:t>
            </a:r>
            <a:r>
              <a:rPr sz="2400" spc="-100" dirty="0">
                <a:latin typeface="Roboto"/>
                <a:cs typeface="Roboto"/>
              </a:rPr>
              <a:t> </a:t>
            </a:r>
            <a:r>
              <a:rPr sz="2400" spc="-13" dirty="0">
                <a:latin typeface="Roboto"/>
                <a:cs typeface="Roboto"/>
              </a:rPr>
              <a:t>differentiated</a:t>
            </a:r>
            <a:r>
              <a:rPr sz="2400" spc="-100" dirty="0">
                <a:latin typeface="Roboto"/>
                <a:cs typeface="Roboto"/>
              </a:rPr>
              <a:t> </a:t>
            </a:r>
            <a:r>
              <a:rPr sz="2400" dirty="0">
                <a:latin typeface="Roboto"/>
                <a:cs typeface="Roboto"/>
              </a:rPr>
              <a:t>by</a:t>
            </a:r>
            <a:r>
              <a:rPr sz="2400" spc="-93" dirty="0">
                <a:latin typeface="Roboto"/>
                <a:cs typeface="Roboto"/>
              </a:rPr>
              <a:t> </a:t>
            </a:r>
            <a:r>
              <a:rPr sz="2400" dirty="0">
                <a:latin typeface="Roboto"/>
                <a:cs typeface="Roboto"/>
              </a:rPr>
              <a:t>the</a:t>
            </a:r>
            <a:r>
              <a:rPr sz="2400" spc="-100" dirty="0">
                <a:latin typeface="Roboto"/>
                <a:cs typeface="Roboto"/>
              </a:rPr>
              <a:t> </a:t>
            </a:r>
            <a:r>
              <a:rPr sz="2400" dirty="0">
                <a:latin typeface="Roboto"/>
                <a:cs typeface="Roboto"/>
              </a:rPr>
              <a:t>compiler</a:t>
            </a:r>
            <a:r>
              <a:rPr sz="2400" spc="-93" dirty="0">
                <a:latin typeface="Roboto"/>
                <a:cs typeface="Roboto"/>
              </a:rPr>
              <a:t> </a:t>
            </a:r>
            <a:r>
              <a:rPr sz="2400" dirty="0">
                <a:latin typeface="Roboto"/>
                <a:cs typeface="Roboto"/>
              </a:rPr>
              <a:t>by</a:t>
            </a:r>
            <a:r>
              <a:rPr sz="2400" spc="-93" dirty="0">
                <a:latin typeface="Roboto"/>
                <a:cs typeface="Roboto"/>
              </a:rPr>
              <a:t> </a:t>
            </a:r>
            <a:r>
              <a:rPr sz="2400" dirty="0">
                <a:latin typeface="Roboto"/>
                <a:cs typeface="Roboto"/>
              </a:rPr>
              <a:t>the</a:t>
            </a:r>
            <a:r>
              <a:rPr sz="2400" spc="-93" dirty="0">
                <a:latin typeface="Roboto"/>
                <a:cs typeface="Roboto"/>
              </a:rPr>
              <a:t> </a:t>
            </a:r>
            <a:r>
              <a:rPr sz="2400" spc="-13" dirty="0">
                <a:latin typeface="Roboto"/>
                <a:cs typeface="Roboto"/>
              </a:rPr>
              <a:t>number</a:t>
            </a:r>
            <a:r>
              <a:rPr sz="2400" spc="-93" dirty="0">
                <a:latin typeface="Roboto"/>
                <a:cs typeface="Roboto"/>
              </a:rPr>
              <a:t> </a:t>
            </a:r>
            <a:r>
              <a:rPr sz="2400" dirty="0">
                <a:latin typeface="Roboto"/>
                <a:cs typeface="Roboto"/>
              </a:rPr>
              <a:t>of</a:t>
            </a:r>
            <a:r>
              <a:rPr sz="2400" spc="-93" dirty="0">
                <a:latin typeface="Roboto"/>
                <a:cs typeface="Roboto"/>
              </a:rPr>
              <a:t> </a:t>
            </a:r>
            <a:r>
              <a:rPr sz="2400" spc="-13" dirty="0">
                <a:latin typeface="Roboto"/>
                <a:cs typeface="Roboto"/>
              </a:rPr>
              <a:t>parameters</a:t>
            </a:r>
            <a:r>
              <a:rPr sz="2400" spc="-100" dirty="0">
                <a:latin typeface="Roboto"/>
                <a:cs typeface="Roboto"/>
              </a:rPr>
              <a:t> </a:t>
            </a:r>
            <a:r>
              <a:rPr sz="2400" dirty="0">
                <a:latin typeface="Roboto"/>
                <a:cs typeface="Roboto"/>
              </a:rPr>
              <a:t>in</a:t>
            </a:r>
            <a:r>
              <a:rPr sz="2400" spc="-100" dirty="0">
                <a:latin typeface="Roboto"/>
                <a:cs typeface="Roboto"/>
              </a:rPr>
              <a:t> </a:t>
            </a:r>
            <a:r>
              <a:rPr sz="2400" dirty="0">
                <a:latin typeface="Roboto"/>
                <a:cs typeface="Roboto"/>
              </a:rPr>
              <a:t>the</a:t>
            </a:r>
            <a:r>
              <a:rPr sz="2400" spc="-100" dirty="0">
                <a:latin typeface="Roboto"/>
                <a:cs typeface="Roboto"/>
              </a:rPr>
              <a:t> </a:t>
            </a:r>
            <a:r>
              <a:rPr sz="2400" spc="-27" dirty="0">
                <a:latin typeface="Roboto"/>
                <a:cs typeface="Roboto"/>
              </a:rPr>
              <a:t>list </a:t>
            </a:r>
            <a:r>
              <a:rPr sz="2400" dirty="0">
                <a:latin typeface="Roboto"/>
                <a:cs typeface="Roboto"/>
              </a:rPr>
              <a:t>and</a:t>
            </a:r>
            <a:r>
              <a:rPr sz="2400" spc="-120" dirty="0">
                <a:latin typeface="Roboto"/>
                <a:cs typeface="Roboto"/>
              </a:rPr>
              <a:t> </a:t>
            </a:r>
            <a:r>
              <a:rPr sz="2400" dirty="0">
                <a:latin typeface="Roboto"/>
                <a:cs typeface="Roboto"/>
              </a:rPr>
              <a:t>their</a:t>
            </a:r>
            <a:r>
              <a:rPr sz="2400" spc="-113" dirty="0">
                <a:latin typeface="Roboto"/>
                <a:cs typeface="Roboto"/>
              </a:rPr>
              <a:t> </a:t>
            </a:r>
            <a:r>
              <a:rPr sz="2400" spc="-13" dirty="0">
                <a:latin typeface="Roboto"/>
                <a:cs typeface="Roboto"/>
              </a:rPr>
              <a:t>types.</a:t>
            </a:r>
            <a:endParaRPr sz="2400" dirty="0">
              <a:latin typeface="Roboto"/>
              <a:cs typeface="Roboto"/>
            </a:endParaRPr>
          </a:p>
        </p:txBody>
      </p:sp>
    </p:spTree>
    <p:extLst>
      <p:ext uri="{BB962C8B-B14F-4D97-AF65-F5344CB8AC3E}">
        <p14:creationId xmlns:p14="http://schemas.microsoft.com/office/powerpoint/2010/main" val="181537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7232" y="0"/>
            <a:ext cx="11360800" cy="6858000"/>
          </a:xfrm>
          <a:prstGeom prst="rect">
            <a:avLst/>
          </a:prstGeom>
        </p:spPr>
      </p:pic>
    </p:spTree>
    <p:extLst>
      <p:ext uri="{BB962C8B-B14F-4D97-AF65-F5344CB8AC3E}">
        <p14:creationId xmlns:p14="http://schemas.microsoft.com/office/powerpoint/2010/main" val="3252691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FE57-A91F-E4BC-93A9-A9752ECA0137}"/>
              </a:ext>
            </a:extLst>
          </p:cNvPr>
          <p:cNvSpPr>
            <a:spLocks noGrp="1"/>
          </p:cNvSpPr>
          <p:nvPr>
            <p:ph type="title"/>
          </p:nvPr>
        </p:nvSpPr>
        <p:spPr/>
        <p:txBody>
          <a:bodyPr/>
          <a:lstStyle/>
          <a:p>
            <a:r>
              <a:rPr lang="en-IN" b="1" dirty="0"/>
              <a:t>What is Polymorphism?</a:t>
            </a:r>
          </a:p>
        </p:txBody>
      </p:sp>
      <p:sp>
        <p:nvSpPr>
          <p:cNvPr id="3" name="Content Placeholder 2">
            <a:extLst>
              <a:ext uri="{FF2B5EF4-FFF2-40B4-BE49-F238E27FC236}">
                <a16:creationId xmlns:a16="http://schemas.microsoft.com/office/drawing/2014/main" id="{89CA93CD-A269-97B7-4ACF-EB070C6CCAEA}"/>
              </a:ext>
            </a:extLst>
          </p:cNvPr>
          <p:cNvSpPr>
            <a:spLocks noGrp="1"/>
          </p:cNvSpPr>
          <p:nvPr>
            <p:ph idx="1"/>
          </p:nvPr>
        </p:nvSpPr>
        <p:spPr/>
        <p:txBody>
          <a:bodyPr/>
          <a:lstStyle/>
          <a:p>
            <a:pPr marL="0" indent="0">
              <a:buNone/>
            </a:pPr>
            <a:r>
              <a:rPr lang="en-US" b="1" dirty="0"/>
              <a:t>Polymorphism</a:t>
            </a:r>
            <a:r>
              <a:rPr lang="en-US" dirty="0"/>
              <a:t> means </a:t>
            </a:r>
            <a:r>
              <a:rPr lang="en-US" i="1" dirty="0"/>
              <a:t>many forms</a:t>
            </a:r>
            <a:r>
              <a:rPr lang="en-US" dirty="0"/>
              <a:t>.</a:t>
            </a:r>
          </a:p>
          <a:p>
            <a:pPr marL="0" indent="0">
              <a:buNone/>
            </a:pPr>
            <a:r>
              <a:rPr lang="en-US" dirty="0"/>
              <a:t>In Java, polymorphism allows:</a:t>
            </a:r>
          </a:p>
          <a:p>
            <a:pPr lvl="1"/>
            <a:r>
              <a:rPr lang="en-US" dirty="0"/>
              <a:t>Same method name</a:t>
            </a:r>
          </a:p>
          <a:p>
            <a:pPr lvl="1"/>
            <a:r>
              <a:rPr lang="en-US" dirty="0"/>
              <a:t>Different behavior</a:t>
            </a:r>
          </a:p>
          <a:p>
            <a:pPr lvl="1"/>
            <a:r>
              <a:rPr lang="en-US" dirty="0"/>
              <a:t>Depending on </a:t>
            </a:r>
            <a:r>
              <a:rPr lang="en-US" b="1" dirty="0"/>
              <a:t>object type</a:t>
            </a:r>
            <a:r>
              <a:rPr lang="en-US" dirty="0"/>
              <a:t> or </a:t>
            </a:r>
            <a:r>
              <a:rPr lang="en-US" b="1" dirty="0"/>
              <a:t>arguments</a:t>
            </a:r>
            <a:endParaRPr lang="en-US" dirty="0"/>
          </a:p>
          <a:p>
            <a:pPr marL="0" indent="0">
              <a:buNone/>
            </a:pPr>
            <a:endParaRPr lang="en-US" dirty="0"/>
          </a:p>
          <a:p>
            <a:pPr marL="0" indent="0">
              <a:buNone/>
            </a:pPr>
            <a:r>
              <a:rPr lang="en-US" dirty="0"/>
              <a:t> </a:t>
            </a:r>
            <a:r>
              <a:rPr lang="en-US" i="1" dirty="0"/>
              <a:t>Real-world example:</a:t>
            </a:r>
            <a:br>
              <a:rPr lang="en-US" dirty="0"/>
            </a:br>
            <a:r>
              <a:rPr lang="en-US" dirty="0"/>
              <a:t>A </a:t>
            </a:r>
            <a:r>
              <a:rPr lang="en-US" b="1" dirty="0"/>
              <a:t>person</a:t>
            </a:r>
            <a:r>
              <a:rPr lang="en-US" dirty="0"/>
              <a:t> can be a </a:t>
            </a:r>
            <a:r>
              <a:rPr lang="en-US" i="1" dirty="0"/>
              <a:t>teacher</a:t>
            </a:r>
            <a:r>
              <a:rPr lang="en-US" dirty="0"/>
              <a:t>, </a:t>
            </a:r>
            <a:r>
              <a:rPr lang="en-US" i="1" dirty="0"/>
              <a:t>parent</a:t>
            </a:r>
            <a:r>
              <a:rPr lang="en-US" dirty="0"/>
              <a:t>, or </a:t>
            </a:r>
            <a:r>
              <a:rPr lang="en-US" i="1" dirty="0"/>
              <a:t>employee</a:t>
            </a:r>
            <a:r>
              <a:rPr lang="en-US" dirty="0"/>
              <a:t> at different times.</a:t>
            </a:r>
          </a:p>
          <a:p>
            <a:endParaRPr lang="en-IN" dirty="0"/>
          </a:p>
        </p:txBody>
      </p:sp>
      <p:sp>
        <p:nvSpPr>
          <p:cNvPr id="4" name="Slide Number Placeholder 3">
            <a:extLst>
              <a:ext uri="{FF2B5EF4-FFF2-40B4-BE49-F238E27FC236}">
                <a16:creationId xmlns:a16="http://schemas.microsoft.com/office/drawing/2014/main" id="{F8042FF7-4FA0-2514-7ECE-CC13B5995BEA}"/>
              </a:ext>
            </a:extLst>
          </p:cNvPr>
          <p:cNvSpPr>
            <a:spLocks noGrp="1"/>
          </p:cNvSpPr>
          <p:nvPr>
            <p:ph type="sldNum" sz="quarter" idx="12"/>
          </p:nvPr>
        </p:nvSpPr>
        <p:spPr/>
        <p:txBody>
          <a:bodyPr/>
          <a:lstStyle/>
          <a:p>
            <a:fld id="{4DAC0951-10B0-4509-9BA5-FD8683A6F967}" type="slidenum">
              <a:rPr lang="en-IN" smtClean="0"/>
              <a:pPr/>
              <a:t>20</a:t>
            </a:fld>
            <a:endParaRPr lang="en-IN"/>
          </a:p>
        </p:txBody>
      </p:sp>
    </p:spTree>
    <p:extLst>
      <p:ext uri="{BB962C8B-B14F-4D97-AF65-F5344CB8AC3E}">
        <p14:creationId xmlns:p14="http://schemas.microsoft.com/office/powerpoint/2010/main" val="287174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73C2-EB1A-4A82-8E67-174BD6DD0394}"/>
              </a:ext>
            </a:extLst>
          </p:cNvPr>
          <p:cNvSpPr>
            <a:spLocks noGrp="1"/>
          </p:cNvSpPr>
          <p:nvPr>
            <p:ph type="title"/>
          </p:nvPr>
        </p:nvSpPr>
        <p:spPr/>
        <p:txBody>
          <a:bodyPr/>
          <a:lstStyle/>
          <a:p>
            <a:r>
              <a:rPr lang="en-IN" b="1" dirty="0"/>
              <a:t>Polymorphism in Java</a:t>
            </a:r>
          </a:p>
        </p:txBody>
      </p:sp>
      <p:sp>
        <p:nvSpPr>
          <p:cNvPr id="3" name="Content Placeholder 2">
            <a:extLst>
              <a:ext uri="{FF2B5EF4-FFF2-40B4-BE49-F238E27FC236}">
                <a16:creationId xmlns:a16="http://schemas.microsoft.com/office/drawing/2014/main" id="{A1D6DB1B-00AA-5408-6C8D-3D93F63E7B50}"/>
              </a:ext>
            </a:extLst>
          </p:cNvPr>
          <p:cNvSpPr>
            <a:spLocks noGrp="1"/>
          </p:cNvSpPr>
          <p:nvPr>
            <p:ph idx="1"/>
          </p:nvPr>
        </p:nvSpPr>
        <p:spPr/>
        <p:txBody>
          <a:bodyPr/>
          <a:lstStyle/>
          <a:p>
            <a:pPr marL="0" indent="0">
              <a:buNone/>
            </a:pPr>
            <a:r>
              <a:rPr lang="en-US"/>
              <a:t>Java supports polymorphism using:</a:t>
            </a:r>
          </a:p>
          <a:p>
            <a:r>
              <a:rPr lang="en-US" b="1"/>
              <a:t>Method Overloading</a:t>
            </a:r>
            <a:endParaRPr lang="en-US"/>
          </a:p>
          <a:p>
            <a:r>
              <a:rPr lang="en-US" b="1"/>
              <a:t>Method Overriding</a:t>
            </a:r>
            <a:endParaRPr lang="en-US"/>
          </a:p>
          <a:p>
            <a:r>
              <a:rPr lang="en-US" b="1"/>
              <a:t>Parent reference → Child object</a:t>
            </a:r>
            <a:endParaRPr lang="en-US"/>
          </a:p>
          <a:p>
            <a:endParaRPr lang="en-IN" dirty="0"/>
          </a:p>
        </p:txBody>
      </p:sp>
      <p:sp>
        <p:nvSpPr>
          <p:cNvPr id="4" name="Slide Number Placeholder 3">
            <a:extLst>
              <a:ext uri="{FF2B5EF4-FFF2-40B4-BE49-F238E27FC236}">
                <a16:creationId xmlns:a16="http://schemas.microsoft.com/office/drawing/2014/main" id="{544AB77F-CCA2-B85F-C781-3F4C1662300A}"/>
              </a:ext>
            </a:extLst>
          </p:cNvPr>
          <p:cNvSpPr>
            <a:spLocks noGrp="1"/>
          </p:cNvSpPr>
          <p:nvPr>
            <p:ph type="sldNum" sz="quarter" idx="12"/>
          </p:nvPr>
        </p:nvSpPr>
        <p:spPr/>
        <p:txBody>
          <a:bodyPr/>
          <a:lstStyle/>
          <a:p>
            <a:fld id="{4DAC0951-10B0-4509-9BA5-FD8683A6F967}" type="slidenum">
              <a:rPr lang="en-IN" smtClean="0"/>
              <a:pPr/>
              <a:t>21</a:t>
            </a:fld>
            <a:endParaRPr lang="en-IN"/>
          </a:p>
        </p:txBody>
      </p:sp>
      <p:sp>
        <p:nvSpPr>
          <p:cNvPr id="6" name="TextBox 5">
            <a:extLst>
              <a:ext uri="{FF2B5EF4-FFF2-40B4-BE49-F238E27FC236}">
                <a16:creationId xmlns:a16="http://schemas.microsoft.com/office/drawing/2014/main" id="{0B696478-1E6E-AE32-294C-35EA38C6DAAC}"/>
              </a:ext>
            </a:extLst>
          </p:cNvPr>
          <p:cNvSpPr txBox="1"/>
          <p:nvPr/>
        </p:nvSpPr>
        <p:spPr>
          <a:xfrm>
            <a:off x="985684" y="4158986"/>
            <a:ext cx="6555658" cy="830997"/>
          </a:xfrm>
          <a:prstGeom prst="rect">
            <a:avLst/>
          </a:prstGeom>
          <a:noFill/>
        </p:spPr>
        <p:txBody>
          <a:bodyPr wrap="square">
            <a:spAutoFit/>
          </a:bodyPr>
          <a:lstStyle/>
          <a:p>
            <a:r>
              <a:rPr lang="en-IN" sz="2400" dirty="0"/>
              <a:t>Parent p = new Child();</a:t>
            </a:r>
          </a:p>
          <a:p>
            <a:r>
              <a:rPr lang="en-IN" sz="2400" dirty="0" err="1"/>
              <a:t>p.show</a:t>
            </a:r>
            <a:r>
              <a:rPr lang="en-IN" sz="2400" dirty="0"/>
              <a:t>();   // Child's method is called</a:t>
            </a:r>
          </a:p>
        </p:txBody>
      </p:sp>
      <p:sp>
        <p:nvSpPr>
          <p:cNvPr id="8" name="TextBox 7">
            <a:extLst>
              <a:ext uri="{FF2B5EF4-FFF2-40B4-BE49-F238E27FC236}">
                <a16:creationId xmlns:a16="http://schemas.microsoft.com/office/drawing/2014/main" id="{0A27CBEB-31E6-4595-1629-DF0BF1DE70B5}"/>
              </a:ext>
            </a:extLst>
          </p:cNvPr>
          <p:cNvSpPr txBox="1"/>
          <p:nvPr/>
        </p:nvSpPr>
        <p:spPr>
          <a:xfrm>
            <a:off x="838200" y="5057452"/>
            <a:ext cx="7696200" cy="461665"/>
          </a:xfrm>
          <a:prstGeom prst="rect">
            <a:avLst/>
          </a:prstGeom>
          <a:noFill/>
        </p:spPr>
        <p:txBody>
          <a:bodyPr wrap="square">
            <a:spAutoFit/>
          </a:bodyPr>
          <a:lstStyle/>
          <a:p>
            <a:pPr>
              <a:buNone/>
            </a:pPr>
            <a:r>
              <a:rPr lang="en-US" sz="2400" dirty="0"/>
              <a:t>✔ Method call depends on </a:t>
            </a:r>
            <a:r>
              <a:rPr lang="en-US" sz="2400" b="1" dirty="0"/>
              <a:t>object</a:t>
            </a:r>
            <a:r>
              <a:rPr lang="en-US" sz="2400" dirty="0"/>
              <a:t>, not reference type</a:t>
            </a:r>
          </a:p>
        </p:txBody>
      </p:sp>
      <p:sp>
        <p:nvSpPr>
          <p:cNvPr id="7" name="TextBox 6">
            <a:extLst>
              <a:ext uri="{FF2B5EF4-FFF2-40B4-BE49-F238E27FC236}">
                <a16:creationId xmlns:a16="http://schemas.microsoft.com/office/drawing/2014/main" id="{7153936D-7F1A-8DF4-9A87-226B3B0DF1DA}"/>
              </a:ext>
            </a:extLst>
          </p:cNvPr>
          <p:cNvSpPr txBox="1"/>
          <p:nvPr/>
        </p:nvSpPr>
        <p:spPr>
          <a:xfrm>
            <a:off x="838200" y="5586586"/>
            <a:ext cx="6096000" cy="1200329"/>
          </a:xfrm>
          <a:prstGeom prst="rect">
            <a:avLst/>
          </a:prstGeom>
          <a:noFill/>
        </p:spPr>
        <p:txBody>
          <a:bodyPr wrap="square">
            <a:spAutoFit/>
          </a:bodyPr>
          <a:lstStyle/>
          <a:p>
            <a:r>
              <a:rPr lang="en-US" dirty="0"/>
              <a:t>Here, reference type is </a:t>
            </a:r>
            <a:r>
              <a:rPr lang="en-US" b="1" dirty="0"/>
              <a:t>Parent. </a:t>
            </a:r>
            <a:r>
              <a:rPr lang="en-US" dirty="0"/>
              <a:t>This decides:</a:t>
            </a:r>
          </a:p>
          <a:p>
            <a:r>
              <a:rPr lang="en-US" dirty="0"/>
              <a:t>Which </a:t>
            </a:r>
            <a:r>
              <a:rPr lang="en-US" b="1" dirty="0"/>
              <a:t>variables</a:t>
            </a:r>
            <a:r>
              <a:rPr lang="en-US" dirty="0"/>
              <a:t> can be accessed</a:t>
            </a:r>
          </a:p>
          <a:p>
            <a:r>
              <a:rPr lang="en-US" dirty="0"/>
              <a:t>Which </a:t>
            </a:r>
            <a:r>
              <a:rPr lang="en-US" b="1" dirty="0"/>
              <a:t>methods are visible at compile time</a:t>
            </a:r>
            <a:endParaRPr lang="en-US" dirty="0"/>
          </a:p>
          <a:p>
            <a:pPr>
              <a:buNone/>
            </a:pPr>
            <a:endParaRPr lang="en-US" dirty="0"/>
          </a:p>
        </p:txBody>
      </p:sp>
    </p:spTree>
    <p:extLst>
      <p:ext uri="{BB962C8B-B14F-4D97-AF65-F5344CB8AC3E}">
        <p14:creationId xmlns:p14="http://schemas.microsoft.com/office/powerpoint/2010/main" val="3917868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55AE1E-E16E-BC76-C70E-958B149BC914}"/>
              </a:ext>
            </a:extLst>
          </p:cNvPr>
          <p:cNvSpPr>
            <a:spLocks noGrp="1"/>
          </p:cNvSpPr>
          <p:nvPr>
            <p:ph type="sldNum" sz="quarter" idx="12"/>
          </p:nvPr>
        </p:nvSpPr>
        <p:spPr/>
        <p:txBody>
          <a:bodyPr/>
          <a:lstStyle/>
          <a:p>
            <a:fld id="{4DAC0951-10B0-4509-9BA5-FD8683A6F967}" type="slidenum">
              <a:rPr lang="en-IN" smtClean="0"/>
              <a:pPr/>
              <a:t>22</a:t>
            </a:fld>
            <a:endParaRPr lang="en-IN"/>
          </a:p>
        </p:txBody>
      </p:sp>
      <p:sp>
        <p:nvSpPr>
          <p:cNvPr id="6" name="TextBox 5">
            <a:extLst>
              <a:ext uri="{FF2B5EF4-FFF2-40B4-BE49-F238E27FC236}">
                <a16:creationId xmlns:a16="http://schemas.microsoft.com/office/drawing/2014/main" id="{C6A6AAAB-A93C-2FB7-999E-8D590394ADB1}"/>
              </a:ext>
            </a:extLst>
          </p:cNvPr>
          <p:cNvSpPr txBox="1"/>
          <p:nvPr/>
        </p:nvSpPr>
        <p:spPr>
          <a:xfrm>
            <a:off x="658759" y="972932"/>
            <a:ext cx="8308259" cy="4401205"/>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Step 1: Compile time</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Compiler sees reference type → Parent</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Checks whether show() exists in Parent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Yes → compilation successful</a:t>
            </a:r>
          </a:p>
          <a:p>
            <a:pPr>
              <a:buNone/>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Step 2: Runtime (REAL MAGIC)</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JVM sees actual object → Child</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Child has its </a:t>
            </a:r>
            <a:r>
              <a:rPr lang="en-US" sz="2800" b="1" dirty="0">
                <a:latin typeface="Times New Roman" panose="02020603050405020304" pitchFamily="18" charset="0"/>
                <a:cs typeface="Times New Roman" panose="02020603050405020304" pitchFamily="18" charset="0"/>
              </a:rPr>
              <a:t>own version</a:t>
            </a:r>
            <a:r>
              <a:rPr lang="en-US" sz="2800" dirty="0">
                <a:latin typeface="Times New Roman" panose="02020603050405020304" pitchFamily="18" charset="0"/>
                <a:cs typeface="Times New Roman" panose="02020603050405020304" pitchFamily="18" charset="0"/>
              </a:rPr>
              <a:t> of show()</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JVM calls </a:t>
            </a:r>
            <a:r>
              <a:rPr lang="en-US" sz="2800" b="1" dirty="0">
                <a:latin typeface="Times New Roman" panose="02020603050405020304" pitchFamily="18" charset="0"/>
                <a:cs typeface="Times New Roman" panose="02020603050405020304" pitchFamily="18" charset="0"/>
              </a:rPr>
              <a:t>Child's show()</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72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EDA8-0F7B-9247-48FF-E864B14D4E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251866-D85A-A6DA-FD75-0835B012F206}"/>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999C8F50-D0CB-E6BC-AA07-BA7F961A44AF}"/>
              </a:ext>
            </a:extLst>
          </p:cNvPr>
          <p:cNvSpPr>
            <a:spLocks noGrp="1"/>
          </p:cNvSpPr>
          <p:nvPr>
            <p:ph type="sldNum" sz="quarter" idx="12"/>
          </p:nvPr>
        </p:nvSpPr>
        <p:spPr/>
        <p:txBody>
          <a:bodyPr/>
          <a:lstStyle/>
          <a:p>
            <a:fld id="{4DAC0951-10B0-4509-9BA5-FD8683A6F967}" type="slidenum">
              <a:rPr lang="en-IN" smtClean="0"/>
              <a:pPr/>
              <a:t>23</a:t>
            </a:fld>
            <a:endParaRPr lang="en-IN"/>
          </a:p>
        </p:txBody>
      </p:sp>
      <p:pic>
        <p:nvPicPr>
          <p:cNvPr id="6" name="Picture 5">
            <a:extLst>
              <a:ext uri="{FF2B5EF4-FFF2-40B4-BE49-F238E27FC236}">
                <a16:creationId xmlns:a16="http://schemas.microsoft.com/office/drawing/2014/main" id="{A44C76B6-AE0F-7871-31AD-5748BC99C442}"/>
              </a:ext>
            </a:extLst>
          </p:cNvPr>
          <p:cNvPicPr>
            <a:picLocks noChangeAspect="1"/>
          </p:cNvPicPr>
          <p:nvPr/>
        </p:nvPicPr>
        <p:blipFill>
          <a:blip r:embed="rId2"/>
          <a:stretch>
            <a:fillRect/>
          </a:stretch>
        </p:blipFill>
        <p:spPr>
          <a:xfrm>
            <a:off x="582207" y="365125"/>
            <a:ext cx="6324615" cy="5991225"/>
          </a:xfrm>
          <a:prstGeom prst="rect">
            <a:avLst/>
          </a:prstGeom>
        </p:spPr>
      </p:pic>
      <p:sp>
        <p:nvSpPr>
          <p:cNvPr id="8" name="TextBox 7">
            <a:extLst>
              <a:ext uri="{FF2B5EF4-FFF2-40B4-BE49-F238E27FC236}">
                <a16:creationId xmlns:a16="http://schemas.microsoft.com/office/drawing/2014/main" id="{0F42BAC5-BA89-981F-4D29-44F11B286D2B}"/>
              </a:ext>
            </a:extLst>
          </p:cNvPr>
          <p:cNvSpPr txBox="1"/>
          <p:nvPr/>
        </p:nvSpPr>
        <p:spPr>
          <a:xfrm>
            <a:off x="7136821" y="5459050"/>
            <a:ext cx="3029734" cy="369332"/>
          </a:xfrm>
          <a:prstGeom prst="rect">
            <a:avLst/>
          </a:prstGeom>
          <a:noFill/>
        </p:spPr>
        <p:txBody>
          <a:bodyPr wrap="square">
            <a:spAutoFit/>
          </a:bodyPr>
          <a:lstStyle/>
          <a:p>
            <a:r>
              <a:rPr lang="en-IN" dirty="0"/>
              <a:t>Output: Child method</a:t>
            </a:r>
          </a:p>
        </p:txBody>
      </p:sp>
    </p:spTree>
    <p:extLst>
      <p:ext uri="{BB962C8B-B14F-4D97-AF65-F5344CB8AC3E}">
        <p14:creationId xmlns:p14="http://schemas.microsoft.com/office/powerpoint/2010/main" val="829243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4B78-77F4-CE95-B88B-A95CB58641C3}"/>
              </a:ext>
            </a:extLst>
          </p:cNvPr>
          <p:cNvSpPr>
            <a:spLocks noGrp="1"/>
          </p:cNvSpPr>
          <p:nvPr>
            <p:ph type="title"/>
          </p:nvPr>
        </p:nvSpPr>
        <p:spPr/>
        <p:txBody>
          <a:bodyPr/>
          <a:lstStyle/>
          <a:p>
            <a:r>
              <a:rPr lang="en-IN" b="1" dirty="0"/>
              <a:t>Types of Polymorphism</a:t>
            </a:r>
            <a:endParaRPr lang="en-IN" dirty="0"/>
          </a:p>
        </p:txBody>
      </p:sp>
      <p:sp>
        <p:nvSpPr>
          <p:cNvPr id="3" name="Content Placeholder 2">
            <a:extLst>
              <a:ext uri="{FF2B5EF4-FFF2-40B4-BE49-F238E27FC236}">
                <a16:creationId xmlns:a16="http://schemas.microsoft.com/office/drawing/2014/main" id="{37FFEA83-7699-34EC-0E46-D0D0BA1C2999}"/>
              </a:ext>
            </a:extLst>
          </p:cNvPr>
          <p:cNvSpPr>
            <a:spLocks noGrp="1"/>
          </p:cNvSpPr>
          <p:nvPr>
            <p:ph idx="1"/>
          </p:nvPr>
        </p:nvSpPr>
        <p:spPr/>
        <p:txBody>
          <a:bodyPr/>
          <a:lstStyle/>
          <a:p>
            <a:pPr marL="0" indent="0" algn="just">
              <a:buNone/>
            </a:pPr>
            <a:r>
              <a:rPr lang="en-US" b="1" dirty="0"/>
              <a:t>Compile-Time Polymorphism</a:t>
            </a:r>
          </a:p>
          <a:p>
            <a:pPr algn="just"/>
            <a:r>
              <a:rPr lang="en-US" dirty="0"/>
              <a:t>Achieved using </a:t>
            </a:r>
            <a:r>
              <a:rPr lang="en-US" b="1" dirty="0"/>
              <a:t>Method Overloading</a:t>
            </a:r>
            <a:endParaRPr lang="en-US" dirty="0"/>
          </a:p>
          <a:p>
            <a:pPr algn="just"/>
            <a:r>
              <a:rPr lang="en-US" dirty="0"/>
              <a:t>Method call resolved at </a:t>
            </a:r>
            <a:r>
              <a:rPr lang="en-US" b="1" dirty="0"/>
              <a:t>compile time</a:t>
            </a:r>
            <a:endParaRPr lang="en-US" dirty="0"/>
          </a:p>
          <a:p>
            <a:pPr marL="0" indent="0" algn="just">
              <a:buNone/>
            </a:pPr>
            <a:r>
              <a:rPr lang="en-US" b="1" dirty="0"/>
              <a:t> Run-Time Polymorphism</a:t>
            </a:r>
          </a:p>
          <a:p>
            <a:pPr algn="just"/>
            <a:r>
              <a:rPr lang="en-US" dirty="0"/>
              <a:t>Achieved using </a:t>
            </a:r>
            <a:r>
              <a:rPr lang="en-US" b="1" dirty="0"/>
              <a:t>Method Overriding</a:t>
            </a:r>
            <a:endParaRPr lang="en-US" dirty="0"/>
          </a:p>
          <a:p>
            <a:pPr algn="just"/>
            <a:r>
              <a:rPr lang="en-US" dirty="0"/>
              <a:t>Method call resolved at </a:t>
            </a:r>
            <a:r>
              <a:rPr lang="en-US" b="1" dirty="0"/>
              <a:t>runtime</a:t>
            </a:r>
            <a:endParaRPr lang="en-US" dirty="0"/>
          </a:p>
          <a:p>
            <a:pPr algn="just"/>
            <a:endParaRPr lang="en-IN" dirty="0"/>
          </a:p>
        </p:txBody>
      </p:sp>
      <p:sp>
        <p:nvSpPr>
          <p:cNvPr id="4" name="Slide Number Placeholder 3">
            <a:extLst>
              <a:ext uri="{FF2B5EF4-FFF2-40B4-BE49-F238E27FC236}">
                <a16:creationId xmlns:a16="http://schemas.microsoft.com/office/drawing/2014/main" id="{E40F80FF-1464-6AE0-DE4B-C8692D6865B6}"/>
              </a:ext>
            </a:extLst>
          </p:cNvPr>
          <p:cNvSpPr>
            <a:spLocks noGrp="1"/>
          </p:cNvSpPr>
          <p:nvPr>
            <p:ph type="sldNum" sz="quarter" idx="12"/>
          </p:nvPr>
        </p:nvSpPr>
        <p:spPr/>
        <p:txBody>
          <a:bodyPr/>
          <a:lstStyle/>
          <a:p>
            <a:fld id="{4DAC0951-10B0-4509-9BA5-FD8683A6F967}" type="slidenum">
              <a:rPr lang="en-IN" smtClean="0"/>
              <a:pPr/>
              <a:t>24</a:t>
            </a:fld>
            <a:endParaRPr lang="en-IN"/>
          </a:p>
        </p:txBody>
      </p:sp>
    </p:spTree>
    <p:extLst>
      <p:ext uri="{BB962C8B-B14F-4D97-AF65-F5344CB8AC3E}">
        <p14:creationId xmlns:p14="http://schemas.microsoft.com/office/powerpoint/2010/main" val="209412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C81B-A10C-497A-B624-B846FED1A9AD}"/>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Method Overloading &amp; Overriding</a:t>
            </a:r>
          </a:p>
        </p:txBody>
      </p:sp>
      <p:sp>
        <p:nvSpPr>
          <p:cNvPr id="3" name="Content Placeholder 2">
            <a:extLst>
              <a:ext uri="{FF2B5EF4-FFF2-40B4-BE49-F238E27FC236}">
                <a16:creationId xmlns:a16="http://schemas.microsoft.com/office/drawing/2014/main" id="{69841103-D4DA-4A04-B033-005572EEC22C}"/>
              </a:ext>
            </a:extLst>
          </p:cNvPr>
          <p:cNvSpPr>
            <a:spLocks noGrp="1"/>
          </p:cNvSpPr>
          <p:nvPr>
            <p:ph idx="1"/>
          </p:nvPr>
        </p:nvSpPr>
        <p:spPr>
          <a:xfrm>
            <a:off x="838200" y="1450634"/>
            <a:ext cx="10515600" cy="932323"/>
          </a:xfrm>
          <a:ln w="28575">
            <a:solidFill>
              <a:srgbClr val="00B0F0"/>
            </a:solidFill>
          </a:ln>
        </p:spPr>
        <p:txBody>
          <a:bodyPr/>
          <a:lstStyle/>
          <a:p>
            <a:pPr marL="0" indent="0">
              <a:buNone/>
            </a:pPr>
            <a:r>
              <a:rPr lang="en-IN">
                <a:latin typeface="Gill Sans MT" panose="020B0502020104020203" pitchFamily="34" charset="0"/>
              </a:rPr>
              <a:t>Method overloading is a feature that allows a class to have more than one method having the same name, if their argument lists are different.</a:t>
            </a:r>
          </a:p>
        </p:txBody>
      </p:sp>
      <p:sp>
        <p:nvSpPr>
          <p:cNvPr id="4" name="Slide Number Placeholder 3">
            <a:extLst>
              <a:ext uri="{FF2B5EF4-FFF2-40B4-BE49-F238E27FC236}">
                <a16:creationId xmlns:a16="http://schemas.microsoft.com/office/drawing/2014/main" id="{0C1F873F-8B8C-4288-8766-0BDBEBF13CD9}"/>
              </a:ext>
            </a:extLst>
          </p:cNvPr>
          <p:cNvSpPr>
            <a:spLocks noGrp="1"/>
          </p:cNvSpPr>
          <p:nvPr>
            <p:ph type="sldNum" sz="quarter" idx="12"/>
          </p:nvPr>
        </p:nvSpPr>
        <p:spPr>
          <a:xfrm>
            <a:off x="8610600" y="6116296"/>
            <a:ext cx="2743200" cy="365125"/>
          </a:xfrm>
        </p:spPr>
        <p:txBody>
          <a:bodyPr/>
          <a:lstStyle/>
          <a:p>
            <a:fld id="{4DAC0951-10B0-4509-9BA5-FD8683A6F967}" type="slidenum">
              <a:rPr lang="en-IN" smtClean="0"/>
              <a:pPr/>
              <a:t>25</a:t>
            </a:fld>
            <a:endParaRPr lang="en-IN"/>
          </a:p>
        </p:txBody>
      </p:sp>
      <p:sp>
        <p:nvSpPr>
          <p:cNvPr id="5" name="TextBox 4">
            <a:extLst>
              <a:ext uri="{FF2B5EF4-FFF2-40B4-BE49-F238E27FC236}">
                <a16:creationId xmlns:a16="http://schemas.microsoft.com/office/drawing/2014/main" id="{7B20800D-7887-43B7-9F9A-43DE69F151A7}"/>
              </a:ext>
            </a:extLst>
          </p:cNvPr>
          <p:cNvSpPr txBox="1"/>
          <p:nvPr/>
        </p:nvSpPr>
        <p:spPr>
          <a:xfrm>
            <a:off x="838200" y="3317303"/>
            <a:ext cx="184731" cy="369332"/>
          </a:xfrm>
          <a:prstGeom prst="rect">
            <a:avLst/>
          </a:prstGeom>
          <a:noFill/>
        </p:spPr>
        <p:txBody>
          <a:bodyPr wrap="none" rtlCol="0">
            <a:spAutoFit/>
          </a:bodyPr>
          <a:lstStyle/>
          <a:p>
            <a:endParaRPr lang="en-IN"/>
          </a:p>
        </p:txBody>
      </p:sp>
      <p:sp>
        <p:nvSpPr>
          <p:cNvPr id="6" name="TextBox 5">
            <a:extLst>
              <a:ext uri="{FF2B5EF4-FFF2-40B4-BE49-F238E27FC236}">
                <a16:creationId xmlns:a16="http://schemas.microsoft.com/office/drawing/2014/main" id="{8742BE35-ECEE-40B3-846C-0A2D7E898D89}"/>
              </a:ext>
            </a:extLst>
          </p:cNvPr>
          <p:cNvSpPr txBox="1"/>
          <p:nvPr/>
        </p:nvSpPr>
        <p:spPr>
          <a:xfrm>
            <a:off x="4341944" y="2382957"/>
            <a:ext cx="7011856" cy="1815882"/>
          </a:xfrm>
          <a:prstGeom prst="rect">
            <a:avLst/>
          </a:prstGeom>
          <a:noFill/>
          <a:ln w="28575">
            <a:solidFill>
              <a:srgbClr val="00B0F0"/>
            </a:solidFill>
          </a:ln>
        </p:spPr>
        <p:txBody>
          <a:bodyPr wrap="none" rtlCol="0">
            <a:spAutoFit/>
          </a:bodyPr>
          <a:lstStyle/>
          <a:p>
            <a:r>
              <a:rPr lang="en-IN" sz="2800">
                <a:latin typeface="Gill Sans MT" panose="020B0502020104020203" pitchFamily="34" charset="0"/>
              </a:rPr>
              <a:t>Three types:</a:t>
            </a:r>
          </a:p>
          <a:p>
            <a:pPr marL="342900" indent="-342900">
              <a:buAutoNum type="arabicPeriod"/>
            </a:pPr>
            <a:r>
              <a:rPr lang="en-IN" sz="2800">
                <a:latin typeface="Gill Sans MT" panose="020B0502020104020203" pitchFamily="34" charset="0"/>
              </a:rPr>
              <a:t>Number of parameters</a:t>
            </a:r>
          </a:p>
          <a:p>
            <a:pPr marL="342900" indent="-342900">
              <a:buAutoNum type="arabicPeriod"/>
            </a:pPr>
            <a:r>
              <a:rPr lang="en-IN" sz="2800">
                <a:latin typeface="Gill Sans MT" panose="020B0502020104020203" pitchFamily="34" charset="0"/>
              </a:rPr>
              <a:t>Data type of the parameters</a:t>
            </a:r>
          </a:p>
          <a:p>
            <a:pPr marL="342900" indent="-342900">
              <a:buAutoNum type="arabicPeriod"/>
            </a:pPr>
            <a:r>
              <a:rPr lang="en-IN" sz="2800">
                <a:latin typeface="Gill Sans MT" panose="020B0502020104020203" pitchFamily="34" charset="0"/>
              </a:rPr>
              <a:t>Sequence of the data type of the parameters</a:t>
            </a:r>
          </a:p>
        </p:txBody>
      </p:sp>
      <p:sp>
        <p:nvSpPr>
          <p:cNvPr id="7" name="TextBox 6">
            <a:extLst>
              <a:ext uri="{FF2B5EF4-FFF2-40B4-BE49-F238E27FC236}">
                <a16:creationId xmlns:a16="http://schemas.microsoft.com/office/drawing/2014/main" id="{10F2905E-0928-4243-9808-6868C08A1F73}"/>
              </a:ext>
            </a:extLst>
          </p:cNvPr>
          <p:cNvSpPr txBox="1"/>
          <p:nvPr/>
        </p:nvSpPr>
        <p:spPr>
          <a:xfrm>
            <a:off x="665018" y="4198839"/>
            <a:ext cx="10688781" cy="2308324"/>
          </a:xfrm>
          <a:prstGeom prst="rect">
            <a:avLst/>
          </a:prstGeom>
          <a:noFill/>
          <a:ln w="28575">
            <a:solidFill>
              <a:srgbClr val="00B0F0"/>
            </a:solidFill>
          </a:ln>
        </p:spPr>
        <p:txBody>
          <a:bodyPr wrap="square" rtlCol="0">
            <a:spAutoFit/>
          </a:bodyPr>
          <a:lstStyle/>
          <a:p>
            <a:r>
              <a:rPr lang="en-IN" sz="2400">
                <a:latin typeface="Gill Sans MT" panose="020B0502020104020203" pitchFamily="34" charset="0"/>
              </a:rPr>
              <a:t>Rules:</a:t>
            </a:r>
          </a:p>
          <a:p>
            <a:pPr marL="342900" indent="-342900">
              <a:buFont typeface="+mj-lt"/>
              <a:buAutoNum type="arabicPeriod"/>
            </a:pPr>
            <a:r>
              <a:rPr lang="en-US" sz="2400">
                <a:latin typeface="Gill Sans MT" panose="020B0502020104020203" pitchFamily="34" charset="0"/>
              </a:rPr>
              <a:t>We cannot overload a return type.</a:t>
            </a:r>
          </a:p>
          <a:p>
            <a:pPr marL="342900" indent="-342900">
              <a:buFont typeface="+mj-lt"/>
              <a:buAutoNum type="arabicPeriod"/>
            </a:pPr>
            <a:r>
              <a:rPr lang="en-US" sz="2400">
                <a:latin typeface="Gill Sans MT" panose="020B0502020104020203" pitchFamily="34" charset="0"/>
              </a:rPr>
              <a:t>Although we can overload static methods, the arguments or input parameters have to be different.</a:t>
            </a:r>
          </a:p>
          <a:p>
            <a:pPr marL="342900" indent="-342900">
              <a:buFont typeface="+mj-lt"/>
              <a:buAutoNum type="arabicPeriod"/>
            </a:pPr>
            <a:r>
              <a:rPr lang="en-US" sz="2400">
                <a:latin typeface="Gill Sans MT" panose="020B0502020104020203" pitchFamily="34" charset="0"/>
              </a:rPr>
              <a:t>We cannot overload two methods if they only differ by a static keyword.</a:t>
            </a:r>
          </a:p>
          <a:p>
            <a:pPr marL="342900" indent="-342900">
              <a:buFont typeface="+mj-lt"/>
              <a:buAutoNum type="arabicPeriod"/>
            </a:pPr>
            <a:r>
              <a:rPr lang="en-US" sz="2400">
                <a:latin typeface="Gill Sans MT" panose="020B0502020104020203" pitchFamily="34" charset="0"/>
              </a:rPr>
              <a:t>Like other static methods, the main() method can also be overloaded.</a:t>
            </a:r>
            <a:endParaRPr lang="en-IN" sz="2400">
              <a:latin typeface="Gill Sans MT" panose="020B0502020104020203" pitchFamily="34" charset="0"/>
            </a:endParaRPr>
          </a:p>
        </p:txBody>
      </p:sp>
    </p:spTree>
    <p:extLst>
      <p:ext uri="{BB962C8B-B14F-4D97-AF65-F5344CB8AC3E}">
        <p14:creationId xmlns:p14="http://schemas.microsoft.com/office/powerpoint/2010/main" val="379092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4F520-08CB-4B02-B28A-4926BFE871D8}"/>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Overloading</a:t>
            </a:r>
          </a:p>
        </p:txBody>
      </p:sp>
      <p:sp>
        <p:nvSpPr>
          <p:cNvPr id="4" name="Slide Number Placeholder 3">
            <a:extLst>
              <a:ext uri="{FF2B5EF4-FFF2-40B4-BE49-F238E27FC236}">
                <a16:creationId xmlns:a16="http://schemas.microsoft.com/office/drawing/2014/main" id="{3B630912-1B17-40D6-84BB-61309F976CA5}"/>
              </a:ext>
            </a:extLst>
          </p:cNvPr>
          <p:cNvSpPr>
            <a:spLocks noGrp="1"/>
          </p:cNvSpPr>
          <p:nvPr>
            <p:ph type="sldNum" sz="quarter" idx="12"/>
          </p:nvPr>
        </p:nvSpPr>
        <p:spPr/>
        <p:txBody>
          <a:bodyPr/>
          <a:lstStyle/>
          <a:p>
            <a:fld id="{4DAC0951-10B0-4509-9BA5-FD8683A6F967}" type="slidenum">
              <a:rPr lang="en-IN" smtClean="0"/>
              <a:pPr/>
              <a:t>26</a:t>
            </a:fld>
            <a:endParaRPr lang="en-IN"/>
          </a:p>
        </p:txBody>
      </p:sp>
      <p:sp>
        <p:nvSpPr>
          <p:cNvPr id="5" name="Oval 4">
            <a:extLst>
              <a:ext uri="{FF2B5EF4-FFF2-40B4-BE49-F238E27FC236}">
                <a16:creationId xmlns:a16="http://schemas.microsoft.com/office/drawing/2014/main" id="{D58CE11A-FDD0-4477-B00D-746BD87B8308}"/>
              </a:ext>
            </a:extLst>
          </p:cNvPr>
          <p:cNvSpPr/>
          <p:nvPr/>
        </p:nvSpPr>
        <p:spPr>
          <a:xfrm>
            <a:off x="302497" y="3158895"/>
            <a:ext cx="2657168" cy="12093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Gill Sans MT" panose="020B0502020104020203" pitchFamily="34" charset="0"/>
              </a:rPr>
              <a:t>Same Class</a:t>
            </a:r>
          </a:p>
        </p:txBody>
      </p:sp>
      <p:sp>
        <p:nvSpPr>
          <p:cNvPr id="6" name="Rectangle 5">
            <a:extLst>
              <a:ext uri="{FF2B5EF4-FFF2-40B4-BE49-F238E27FC236}">
                <a16:creationId xmlns:a16="http://schemas.microsoft.com/office/drawing/2014/main" id="{0A55BAE8-15D2-494D-8804-4DF1B835C02A}"/>
              </a:ext>
            </a:extLst>
          </p:cNvPr>
          <p:cNvSpPr/>
          <p:nvPr/>
        </p:nvSpPr>
        <p:spPr>
          <a:xfrm>
            <a:off x="4493495" y="2185502"/>
            <a:ext cx="3213305" cy="4866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Consolas" panose="020B0609020204030204" pitchFamily="49" charset="0"/>
              </a:rPr>
              <a:t>Method (int x)</a:t>
            </a:r>
          </a:p>
        </p:txBody>
      </p:sp>
      <p:sp>
        <p:nvSpPr>
          <p:cNvPr id="8" name="Rectangle 7">
            <a:extLst>
              <a:ext uri="{FF2B5EF4-FFF2-40B4-BE49-F238E27FC236}">
                <a16:creationId xmlns:a16="http://schemas.microsoft.com/office/drawing/2014/main" id="{25FB040B-AD33-4C6E-ABBD-37E54018E3A8}"/>
              </a:ext>
            </a:extLst>
          </p:cNvPr>
          <p:cNvSpPr/>
          <p:nvPr/>
        </p:nvSpPr>
        <p:spPr>
          <a:xfrm>
            <a:off x="4493496" y="3158895"/>
            <a:ext cx="3213306" cy="486697"/>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Consolas" panose="020B0609020204030204" pitchFamily="49" charset="0"/>
              </a:rPr>
              <a:t>Method (int x, int y)</a:t>
            </a:r>
          </a:p>
        </p:txBody>
      </p:sp>
      <p:sp>
        <p:nvSpPr>
          <p:cNvPr id="10" name="TextBox 9">
            <a:extLst>
              <a:ext uri="{FF2B5EF4-FFF2-40B4-BE49-F238E27FC236}">
                <a16:creationId xmlns:a16="http://schemas.microsoft.com/office/drawing/2014/main" id="{279B51A7-56B0-41BA-B483-2C9A337EAC56}"/>
              </a:ext>
            </a:extLst>
          </p:cNvPr>
          <p:cNvSpPr txBox="1"/>
          <p:nvPr/>
        </p:nvSpPr>
        <p:spPr>
          <a:xfrm>
            <a:off x="8543310" y="2715232"/>
            <a:ext cx="2877779" cy="369332"/>
          </a:xfrm>
          <a:prstGeom prst="rect">
            <a:avLst/>
          </a:prstGeom>
          <a:noFill/>
          <a:ln>
            <a:solidFill>
              <a:srgbClr val="00B0F0"/>
            </a:solidFill>
          </a:ln>
        </p:spPr>
        <p:txBody>
          <a:bodyPr wrap="square">
            <a:spAutoFit/>
          </a:bodyPr>
          <a:lstStyle/>
          <a:p>
            <a:r>
              <a:rPr lang="en-IN" sz="1800">
                <a:latin typeface="Gill Sans MT" panose="020B0502020104020203" pitchFamily="34" charset="0"/>
              </a:rPr>
              <a:t>Number of parameters</a:t>
            </a:r>
          </a:p>
        </p:txBody>
      </p:sp>
      <p:sp>
        <p:nvSpPr>
          <p:cNvPr id="12" name="Rectangle 11">
            <a:extLst>
              <a:ext uri="{FF2B5EF4-FFF2-40B4-BE49-F238E27FC236}">
                <a16:creationId xmlns:a16="http://schemas.microsoft.com/office/drawing/2014/main" id="{3FB893D4-5F98-4222-98DF-6B0A8EEEC01F}"/>
              </a:ext>
            </a:extLst>
          </p:cNvPr>
          <p:cNvSpPr/>
          <p:nvPr/>
        </p:nvSpPr>
        <p:spPr>
          <a:xfrm>
            <a:off x="4493496" y="4132288"/>
            <a:ext cx="3213306" cy="48669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Consolas" panose="020B0609020204030204" pitchFamily="49" charset="0"/>
              </a:rPr>
              <a:t>Method (float x, int y)</a:t>
            </a:r>
          </a:p>
        </p:txBody>
      </p:sp>
      <p:sp>
        <p:nvSpPr>
          <p:cNvPr id="14" name="Rectangle 13">
            <a:extLst>
              <a:ext uri="{FF2B5EF4-FFF2-40B4-BE49-F238E27FC236}">
                <a16:creationId xmlns:a16="http://schemas.microsoft.com/office/drawing/2014/main" id="{638D4C04-55E1-4AD8-8B81-47DA7BD850A6}"/>
              </a:ext>
            </a:extLst>
          </p:cNvPr>
          <p:cNvSpPr/>
          <p:nvPr/>
        </p:nvSpPr>
        <p:spPr>
          <a:xfrm>
            <a:off x="4493495" y="5164675"/>
            <a:ext cx="3213306" cy="486697"/>
          </a:xfrm>
          <a:prstGeom prst="rect">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Consolas" panose="020B0609020204030204" pitchFamily="49" charset="0"/>
              </a:rPr>
              <a:t>Method (int x, float y)</a:t>
            </a:r>
          </a:p>
        </p:txBody>
      </p:sp>
      <p:sp>
        <p:nvSpPr>
          <p:cNvPr id="16" name="TextBox 15">
            <a:extLst>
              <a:ext uri="{FF2B5EF4-FFF2-40B4-BE49-F238E27FC236}">
                <a16:creationId xmlns:a16="http://schemas.microsoft.com/office/drawing/2014/main" id="{2E3065ED-3B11-4B91-927D-210C763F30C4}"/>
              </a:ext>
            </a:extLst>
          </p:cNvPr>
          <p:cNvSpPr txBox="1"/>
          <p:nvPr/>
        </p:nvSpPr>
        <p:spPr>
          <a:xfrm>
            <a:off x="8985376" y="3700162"/>
            <a:ext cx="3015588" cy="369332"/>
          </a:xfrm>
          <a:prstGeom prst="rect">
            <a:avLst/>
          </a:prstGeom>
          <a:noFill/>
          <a:ln>
            <a:solidFill>
              <a:srgbClr val="00B0F0"/>
            </a:solidFill>
          </a:ln>
        </p:spPr>
        <p:txBody>
          <a:bodyPr wrap="square">
            <a:spAutoFit/>
          </a:bodyPr>
          <a:lstStyle/>
          <a:p>
            <a:r>
              <a:rPr lang="en-IN" sz="1800">
                <a:latin typeface="Gill Sans MT" panose="020B0502020104020203" pitchFamily="34" charset="0"/>
              </a:rPr>
              <a:t>Data type of the parameters</a:t>
            </a:r>
          </a:p>
        </p:txBody>
      </p:sp>
      <p:sp>
        <p:nvSpPr>
          <p:cNvPr id="18" name="TextBox 17">
            <a:extLst>
              <a:ext uri="{FF2B5EF4-FFF2-40B4-BE49-F238E27FC236}">
                <a16:creationId xmlns:a16="http://schemas.microsoft.com/office/drawing/2014/main" id="{2ABD89F1-6E4B-4757-AFB9-3C65937BCB32}"/>
              </a:ext>
            </a:extLst>
          </p:cNvPr>
          <p:cNvSpPr txBox="1"/>
          <p:nvPr/>
        </p:nvSpPr>
        <p:spPr>
          <a:xfrm>
            <a:off x="9427596" y="4761692"/>
            <a:ext cx="2526585" cy="646331"/>
          </a:xfrm>
          <a:prstGeom prst="rect">
            <a:avLst/>
          </a:prstGeom>
          <a:noFill/>
          <a:ln>
            <a:solidFill>
              <a:srgbClr val="00B0F0"/>
            </a:solidFill>
          </a:ln>
        </p:spPr>
        <p:txBody>
          <a:bodyPr wrap="square">
            <a:spAutoFit/>
          </a:bodyPr>
          <a:lstStyle/>
          <a:p>
            <a:r>
              <a:rPr lang="en-IN" sz="1800">
                <a:latin typeface="Gill Sans MT" panose="020B0502020104020203" pitchFamily="34" charset="0"/>
              </a:rPr>
              <a:t>Sequence of the data type of the parameters</a:t>
            </a:r>
          </a:p>
        </p:txBody>
      </p:sp>
      <p:sp>
        <p:nvSpPr>
          <p:cNvPr id="19" name="Right Brace 18">
            <a:extLst>
              <a:ext uri="{FF2B5EF4-FFF2-40B4-BE49-F238E27FC236}">
                <a16:creationId xmlns:a16="http://schemas.microsoft.com/office/drawing/2014/main" id="{5A8B9516-3C86-4BDB-B1B3-92856A77BE1A}"/>
              </a:ext>
            </a:extLst>
          </p:cNvPr>
          <p:cNvSpPr/>
          <p:nvPr/>
        </p:nvSpPr>
        <p:spPr>
          <a:xfrm>
            <a:off x="7903905" y="2181443"/>
            <a:ext cx="293123" cy="146009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e 19">
            <a:extLst>
              <a:ext uri="{FF2B5EF4-FFF2-40B4-BE49-F238E27FC236}">
                <a16:creationId xmlns:a16="http://schemas.microsoft.com/office/drawing/2014/main" id="{1E29CECE-3143-4643-A89B-DBD44A524006}"/>
              </a:ext>
            </a:extLst>
          </p:cNvPr>
          <p:cNvSpPr/>
          <p:nvPr/>
        </p:nvSpPr>
        <p:spPr>
          <a:xfrm>
            <a:off x="8242504" y="3212407"/>
            <a:ext cx="368096" cy="1344843"/>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 name="Right Brace 20">
            <a:extLst>
              <a:ext uri="{FF2B5EF4-FFF2-40B4-BE49-F238E27FC236}">
                <a16:creationId xmlns:a16="http://schemas.microsoft.com/office/drawing/2014/main" id="{6191B3DF-613D-480E-912B-EA24FC84E316}"/>
              </a:ext>
            </a:extLst>
          </p:cNvPr>
          <p:cNvSpPr/>
          <p:nvPr/>
        </p:nvSpPr>
        <p:spPr>
          <a:xfrm>
            <a:off x="8740875" y="4368263"/>
            <a:ext cx="364101" cy="1344843"/>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6E5F1282-34FB-42AF-B9C0-A9B8B0191526}"/>
              </a:ext>
            </a:extLst>
          </p:cNvPr>
          <p:cNvCxnSpPr>
            <a:cxnSpLocks/>
            <a:stCxn id="5" idx="6"/>
            <a:endCxn id="6" idx="1"/>
          </p:cNvCxnSpPr>
          <p:nvPr/>
        </p:nvCxnSpPr>
        <p:spPr>
          <a:xfrm flipV="1">
            <a:off x="2959665" y="2428851"/>
            <a:ext cx="1533830" cy="133472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CB73C4-D7AB-4DB6-8110-446AAE47CF9C}"/>
              </a:ext>
            </a:extLst>
          </p:cNvPr>
          <p:cNvCxnSpPr>
            <a:cxnSpLocks/>
            <a:stCxn id="5" idx="6"/>
            <a:endCxn id="8" idx="1"/>
          </p:cNvCxnSpPr>
          <p:nvPr/>
        </p:nvCxnSpPr>
        <p:spPr>
          <a:xfrm flipV="1">
            <a:off x="2959665" y="3402244"/>
            <a:ext cx="1533831" cy="36133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393EE0B-79D6-45E4-9825-3AE21B38583A}"/>
              </a:ext>
            </a:extLst>
          </p:cNvPr>
          <p:cNvCxnSpPr>
            <a:cxnSpLocks/>
            <a:stCxn id="5" idx="6"/>
            <a:endCxn id="12" idx="1"/>
          </p:cNvCxnSpPr>
          <p:nvPr/>
        </p:nvCxnSpPr>
        <p:spPr>
          <a:xfrm>
            <a:off x="2959665" y="3763579"/>
            <a:ext cx="1533831" cy="61205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73170C6-B120-437D-933A-0AC10C0C5A25}"/>
              </a:ext>
            </a:extLst>
          </p:cNvPr>
          <p:cNvCxnSpPr>
            <a:cxnSpLocks/>
            <a:stCxn id="5" idx="6"/>
            <a:endCxn id="14" idx="1"/>
          </p:cNvCxnSpPr>
          <p:nvPr/>
        </p:nvCxnSpPr>
        <p:spPr>
          <a:xfrm>
            <a:off x="2959665" y="3763579"/>
            <a:ext cx="1533830" cy="164444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95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arn(inVertical)">
                                      <p:cBhvr>
                                        <p:cTn id="24" dur="500"/>
                                        <p:tgtEl>
                                          <p:spTgt spid="1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arn(inVertical)">
                                      <p:cBhvr>
                                        <p:cTn id="41" dur="500"/>
                                        <p:tgtEl>
                                          <p:spTgt spid="20"/>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arn(inVertical)">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down)">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barn(inVertical)">
                                      <p:cBhvr>
                                        <p:cTn id="63" dur="500"/>
                                        <p:tgtEl>
                                          <p:spTgt spid="21"/>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barn(inVertical)">
                                      <p:cBhvr>
                                        <p:cTn id="6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2" grpId="0" animBg="1"/>
      <p:bldP spid="14" grpId="0" animBg="1"/>
      <p:bldP spid="16" grpId="0" animBg="1"/>
      <p:bldP spid="18"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F42E2-DC18-49BB-ABC5-AD3830696E42}"/>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Example</a:t>
            </a:r>
          </a:p>
        </p:txBody>
      </p:sp>
      <p:sp>
        <p:nvSpPr>
          <p:cNvPr id="4" name="Slide Number Placeholder 3">
            <a:extLst>
              <a:ext uri="{FF2B5EF4-FFF2-40B4-BE49-F238E27FC236}">
                <a16:creationId xmlns:a16="http://schemas.microsoft.com/office/drawing/2014/main" id="{855FBAB3-E1F7-410A-A666-D45EF6B3BDB9}"/>
              </a:ext>
            </a:extLst>
          </p:cNvPr>
          <p:cNvSpPr>
            <a:spLocks noGrp="1"/>
          </p:cNvSpPr>
          <p:nvPr>
            <p:ph type="sldNum" sz="quarter" idx="12"/>
          </p:nvPr>
        </p:nvSpPr>
        <p:spPr/>
        <p:txBody>
          <a:bodyPr/>
          <a:lstStyle/>
          <a:p>
            <a:fld id="{4DAC0951-10B0-4509-9BA5-FD8683A6F967}" type="slidenum">
              <a:rPr lang="en-IN" smtClean="0"/>
              <a:pPr/>
              <a:t>27</a:t>
            </a:fld>
            <a:endParaRPr lang="en-IN"/>
          </a:p>
        </p:txBody>
      </p:sp>
      <p:sp>
        <p:nvSpPr>
          <p:cNvPr id="5" name="Content Placeholder 2">
            <a:extLst>
              <a:ext uri="{FF2B5EF4-FFF2-40B4-BE49-F238E27FC236}">
                <a16:creationId xmlns:a16="http://schemas.microsoft.com/office/drawing/2014/main" id="{90767D61-4861-4636-9F0B-BF0FFE44BBFD}"/>
              </a:ext>
            </a:extLst>
          </p:cNvPr>
          <p:cNvSpPr txBox="1">
            <a:spLocks/>
          </p:cNvSpPr>
          <p:nvPr/>
        </p:nvSpPr>
        <p:spPr>
          <a:xfrm>
            <a:off x="838200" y="1690688"/>
            <a:ext cx="5257800" cy="4665662"/>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rgbClr val="0070C0"/>
                </a:solidFill>
                <a:latin typeface="Consolas" panose="020B0609020204030204" pitchFamily="49" charset="0"/>
              </a:rPr>
              <a:t>public class </a:t>
            </a:r>
            <a:r>
              <a:rPr lang="en-US" sz="1600" err="1">
                <a:latin typeface="Consolas" panose="020B0609020204030204" pitchFamily="49" charset="0"/>
              </a:rPr>
              <a:t>Div</a:t>
            </a:r>
            <a:r>
              <a:rPr lang="en-US" sz="1600">
                <a:latin typeface="Consolas" panose="020B0609020204030204" pitchFamily="49" charset="0"/>
              </a:rPr>
              <a:t>{</a:t>
            </a:r>
          </a:p>
          <a:p>
            <a:pPr marL="0" indent="0">
              <a:buNone/>
            </a:pPr>
            <a:r>
              <a:rPr lang="en-US" sz="1600">
                <a:solidFill>
                  <a:srgbClr val="0070C0"/>
                </a:solidFill>
                <a:latin typeface="Consolas" panose="020B0609020204030204" pitchFamily="49" charset="0"/>
              </a:rPr>
              <a:t>public int </a:t>
            </a:r>
            <a:r>
              <a:rPr lang="en-US" sz="1600">
                <a:latin typeface="Consolas" panose="020B0609020204030204" pitchFamily="49" charset="0"/>
              </a:rPr>
              <a:t>div(</a:t>
            </a:r>
            <a:r>
              <a:rPr lang="en-US" sz="1600">
                <a:solidFill>
                  <a:srgbClr val="0070C0"/>
                </a:solidFill>
                <a:latin typeface="Consolas" panose="020B0609020204030204" pitchFamily="49" charset="0"/>
              </a:rPr>
              <a:t>int</a:t>
            </a:r>
            <a:r>
              <a:rPr lang="en-US" sz="1600">
                <a:latin typeface="Consolas" panose="020B0609020204030204" pitchFamily="49" charset="0"/>
              </a:rPr>
              <a:t> a , </a:t>
            </a:r>
            <a:r>
              <a:rPr lang="en-US" sz="1600">
                <a:solidFill>
                  <a:srgbClr val="0070C0"/>
                </a:solidFill>
                <a:latin typeface="Consolas" panose="020B0609020204030204" pitchFamily="49" charset="0"/>
              </a:rPr>
              <a:t>int</a:t>
            </a:r>
            <a:r>
              <a:rPr lang="en-US" sz="1600">
                <a:latin typeface="Consolas" panose="020B0609020204030204" pitchFamily="49" charset="0"/>
              </a:rPr>
              <a:t> b){</a:t>
            </a:r>
          </a:p>
          <a:p>
            <a:pPr marL="0" indent="0">
              <a:buNone/>
            </a:pPr>
            <a:r>
              <a:rPr lang="en-US" sz="1600">
                <a:latin typeface="Consolas" panose="020B0609020204030204" pitchFamily="49" charset="0"/>
              </a:rPr>
              <a:t>         </a:t>
            </a:r>
            <a:r>
              <a:rPr lang="en-US" sz="1600">
                <a:solidFill>
                  <a:srgbClr val="C00000"/>
                </a:solidFill>
                <a:latin typeface="Consolas" panose="020B0609020204030204" pitchFamily="49" charset="0"/>
              </a:rPr>
              <a:t>return</a:t>
            </a:r>
            <a:r>
              <a:rPr lang="en-US" sz="1600">
                <a:latin typeface="Consolas" panose="020B0609020204030204" pitchFamily="49" charset="0"/>
              </a:rPr>
              <a:t> (a / b); }</a:t>
            </a:r>
          </a:p>
          <a:p>
            <a:pPr marL="0" indent="0">
              <a:buNone/>
            </a:pPr>
            <a:r>
              <a:rPr lang="en-US" sz="1600">
                <a:latin typeface="Consolas" panose="020B0609020204030204" pitchFamily="49" charset="0"/>
              </a:rPr>
              <a:t> </a:t>
            </a:r>
          </a:p>
          <a:p>
            <a:pPr marL="0" indent="0">
              <a:buNone/>
            </a:pPr>
            <a:r>
              <a:rPr lang="en-US" sz="1600">
                <a:solidFill>
                  <a:srgbClr val="0070C0"/>
                </a:solidFill>
                <a:latin typeface="Consolas" panose="020B0609020204030204" pitchFamily="49" charset="0"/>
              </a:rPr>
              <a:t>public int </a:t>
            </a:r>
            <a:r>
              <a:rPr lang="en-US" sz="1600">
                <a:latin typeface="Consolas" panose="020B0609020204030204" pitchFamily="49" charset="0"/>
              </a:rPr>
              <a:t>div(</a:t>
            </a:r>
            <a:r>
              <a:rPr lang="en-US" sz="1600">
                <a:solidFill>
                  <a:srgbClr val="0070C0"/>
                </a:solidFill>
                <a:latin typeface="Consolas" panose="020B0609020204030204" pitchFamily="49" charset="0"/>
              </a:rPr>
              <a:t>int</a:t>
            </a:r>
            <a:r>
              <a:rPr lang="en-US" sz="1600">
                <a:latin typeface="Consolas" panose="020B0609020204030204" pitchFamily="49" charset="0"/>
              </a:rPr>
              <a:t> a , </a:t>
            </a:r>
            <a:r>
              <a:rPr lang="en-US" sz="1600">
                <a:solidFill>
                  <a:srgbClr val="0070C0"/>
                </a:solidFill>
                <a:latin typeface="Consolas" panose="020B0609020204030204" pitchFamily="49" charset="0"/>
              </a:rPr>
              <a:t>int </a:t>
            </a:r>
            <a:r>
              <a:rPr lang="en-US" sz="1600">
                <a:latin typeface="Consolas" panose="020B0609020204030204" pitchFamily="49" charset="0"/>
              </a:rPr>
              <a:t>b , </a:t>
            </a:r>
            <a:r>
              <a:rPr lang="en-US" sz="1600">
                <a:solidFill>
                  <a:srgbClr val="0070C0"/>
                </a:solidFill>
                <a:latin typeface="Consolas" panose="020B0609020204030204" pitchFamily="49" charset="0"/>
              </a:rPr>
              <a:t>int</a:t>
            </a:r>
            <a:r>
              <a:rPr lang="en-US" sz="1600">
                <a:latin typeface="Consolas" panose="020B0609020204030204" pitchFamily="49" charset="0"/>
              </a:rPr>
              <a:t> c){</a:t>
            </a:r>
          </a:p>
          <a:p>
            <a:pPr marL="0" indent="0">
              <a:buNone/>
            </a:pPr>
            <a:r>
              <a:rPr lang="en-US" sz="1600">
                <a:latin typeface="Consolas" panose="020B0609020204030204" pitchFamily="49" charset="0"/>
              </a:rPr>
              <a:t>         </a:t>
            </a:r>
            <a:r>
              <a:rPr lang="en-US" sz="1600">
                <a:solidFill>
                  <a:srgbClr val="C00000"/>
                </a:solidFill>
                <a:latin typeface="Consolas" panose="020B0609020204030204" pitchFamily="49" charset="0"/>
              </a:rPr>
              <a:t>return</a:t>
            </a:r>
            <a:r>
              <a:rPr lang="en-US" sz="1600">
                <a:latin typeface="Consolas" panose="020B0609020204030204" pitchFamily="49" charset="0"/>
              </a:rPr>
              <a:t> ((a + b ) / c); }</a:t>
            </a:r>
          </a:p>
          <a:p>
            <a:pPr marL="0" indent="0">
              <a:buNone/>
            </a:pPr>
            <a:r>
              <a:rPr lang="en-US" sz="1600">
                <a:latin typeface="Consolas" panose="020B0609020204030204" pitchFamily="49" charset="0"/>
              </a:rPr>
              <a:t> </a:t>
            </a:r>
          </a:p>
          <a:p>
            <a:pPr marL="0" indent="0">
              <a:buNone/>
            </a:pPr>
            <a:r>
              <a:rPr lang="en-US" sz="1600">
                <a:solidFill>
                  <a:srgbClr val="0070C0"/>
                </a:solidFill>
                <a:latin typeface="Consolas" panose="020B0609020204030204" pitchFamily="49" charset="0"/>
              </a:rPr>
              <a:t>public static void </a:t>
            </a:r>
            <a:r>
              <a:rPr lang="en-US" sz="1600">
                <a:latin typeface="Consolas" panose="020B0609020204030204" pitchFamily="49" charset="0"/>
              </a:rPr>
              <a:t>main(</a:t>
            </a:r>
            <a:r>
              <a:rPr lang="en-US" sz="1600">
                <a:solidFill>
                  <a:srgbClr val="C00000"/>
                </a:solidFill>
                <a:latin typeface="Consolas" panose="020B0609020204030204" pitchFamily="49" charset="0"/>
              </a:rPr>
              <a:t>String</a:t>
            </a:r>
            <a:r>
              <a:rPr lang="en-US" sz="1600">
                <a:latin typeface="Consolas" panose="020B0609020204030204" pitchFamily="49" charset="0"/>
              </a:rPr>
              <a:t> </a:t>
            </a:r>
            <a:r>
              <a:rPr lang="en-US" sz="1600" err="1">
                <a:latin typeface="Consolas" panose="020B0609020204030204" pitchFamily="49" charset="0"/>
              </a:rPr>
              <a:t>args</a:t>
            </a:r>
            <a:r>
              <a:rPr lang="en-US" sz="1600">
                <a:latin typeface="Consolas" panose="020B0609020204030204" pitchFamily="49" charset="0"/>
              </a:rPr>
              <a:t>[]){</a:t>
            </a:r>
          </a:p>
          <a:p>
            <a:pPr marL="0" indent="0">
              <a:buNone/>
            </a:pPr>
            <a:r>
              <a:rPr lang="en-US" sz="1600" err="1">
                <a:latin typeface="Consolas" panose="020B0609020204030204" pitchFamily="49" charset="0"/>
              </a:rPr>
              <a:t>Div</a:t>
            </a:r>
            <a:r>
              <a:rPr lang="en-US" sz="1600">
                <a:latin typeface="Consolas" panose="020B0609020204030204" pitchFamily="49" charset="0"/>
              </a:rPr>
              <a:t> </a:t>
            </a:r>
            <a:r>
              <a:rPr lang="en-US" sz="1600" err="1">
                <a:latin typeface="Consolas" panose="020B0609020204030204" pitchFamily="49" charset="0"/>
              </a:rPr>
              <a:t>ob</a:t>
            </a:r>
            <a:r>
              <a:rPr lang="en-US" sz="1600">
                <a:latin typeface="Consolas" panose="020B0609020204030204" pitchFamily="49" charset="0"/>
              </a:rPr>
              <a:t> = </a:t>
            </a:r>
            <a:r>
              <a:rPr lang="en-US" sz="1600">
                <a:solidFill>
                  <a:srgbClr val="0070C0"/>
                </a:solidFill>
                <a:latin typeface="Consolas" panose="020B0609020204030204" pitchFamily="49" charset="0"/>
              </a:rPr>
              <a:t>new</a:t>
            </a:r>
            <a:r>
              <a:rPr lang="en-US" sz="1600">
                <a:latin typeface="Consolas" panose="020B0609020204030204" pitchFamily="49" charset="0"/>
              </a:rPr>
              <a:t> </a:t>
            </a:r>
            <a:r>
              <a:rPr lang="en-US" sz="1600" err="1">
                <a:latin typeface="Consolas" panose="020B0609020204030204" pitchFamily="49" charset="0"/>
              </a:rPr>
              <a:t>Div</a:t>
            </a:r>
            <a:r>
              <a:rPr lang="en-US" sz="1600">
                <a:latin typeface="Consolas" panose="020B0609020204030204" pitchFamily="49" charset="0"/>
              </a:rPr>
              <a:t>();</a:t>
            </a:r>
          </a:p>
          <a:p>
            <a:pPr marL="0" indent="0">
              <a:buNone/>
            </a:pPr>
            <a:r>
              <a:rPr lang="en-US" sz="1600" err="1">
                <a:latin typeface="Consolas" panose="020B0609020204030204" pitchFamily="49" charset="0"/>
              </a:rPr>
              <a:t>ob.div</a:t>
            </a:r>
            <a:r>
              <a:rPr lang="en-US" sz="1600">
                <a:latin typeface="Consolas" panose="020B0609020204030204" pitchFamily="49" charset="0"/>
              </a:rPr>
              <a:t>(10 , 2);</a:t>
            </a:r>
          </a:p>
          <a:p>
            <a:pPr marL="0" indent="0">
              <a:buNone/>
            </a:pPr>
            <a:r>
              <a:rPr lang="en-US" sz="1600" err="1">
                <a:latin typeface="Consolas" panose="020B0609020204030204" pitchFamily="49" charset="0"/>
              </a:rPr>
              <a:t>ob.div</a:t>
            </a:r>
            <a:r>
              <a:rPr lang="en-US" sz="1600">
                <a:latin typeface="Consolas" panose="020B0609020204030204" pitchFamily="49" charset="0"/>
              </a:rPr>
              <a:t>(10, 2 , 3);</a:t>
            </a:r>
          </a:p>
          <a:p>
            <a:pPr marL="0" indent="0">
              <a:buNone/>
            </a:pPr>
            <a:r>
              <a:rPr lang="en-US" sz="1600">
                <a:latin typeface="Consolas" panose="020B0609020204030204" pitchFamily="49" charset="0"/>
              </a:rPr>
              <a:t>}</a:t>
            </a:r>
          </a:p>
          <a:p>
            <a:pPr marL="0" indent="0">
              <a:buNone/>
            </a:pPr>
            <a:r>
              <a:rPr lang="en-US" sz="1600">
                <a:latin typeface="Consolas" panose="020B0609020204030204" pitchFamily="49" charset="0"/>
              </a:rPr>
              <a:t>}</a:t>
            </a:r>
          </a:p>
        </p:txBody>
      </p:sp>
      <p:sp>
        <p:nvSpPr>
          <p:cNvPr id="7" name="TextBox 6">
            <a:extLst>
              <a:ext uri="{FF2B5EF4-FFF2-40B4-BE49-F238E27FC236}">
                <a16:creationId xmlns:a16="http://schemas.microsoft.com/office/drawing/2014/main" id="{51DA3E46-A16C-4357-B23D-0F6DE9F6AD79}"/>
              </a:ext>
            </a:extLst>
          </p:cNvPr>
          <p:cNvSpPr txBox="1"/>
          <p:nvPr/>
        </p:nvSpPr>
        <p:spPr>
          <a:xfrm>
            <a:off x="7381791" y="797073"/>
            <a:ext cx="4046551" cy="461665"/>
          </a:xfrm>
          <a:prstGeom prst="rect">
            <a:avLst/>
          </a:prstGeom>
          <a:noFill/>
          <a:ln w="28575">
            <a:solidFill>
              <a:srgbClr val="00B0F0"/>
            </a:solidFill>
          </a:ln>
        </p:spPr>
        <p:txBody>
          <a:bodyPr wrap="square" rtlCol="0">
            <a:spAutoFit/>
          </a:bodyPr>
          <a:lstStyle/>
          <a:p>
            <a:r>
              <a:rPr lang="en-IN" sz="2400">
                <a:latin typeface="Gill Sans MT" panose="020B0502020104020203" pitchFamily="34" charset="0"/>
              </a:rPr>
              <a:t>Why Method Overloading?</a:t>
            </a:r>
          </a:p>
        </p:txBody>
      </p:sp>
      <p:sp>
        <p:nvSpPr>
          <p:cNvPr id="11" name="TextBox 10">
            <a:extLst>
              <a:ext uri="{FF2B5EF4-FFF2-40B4-BE49-F238E27FC236}">
                <a16:creationId xmlns:a16="http://schemas.microsoft.com/office/drawing/2014/main" id="{6D6E9709-46FD-43F6-9828-F422ABF001C0}"/>
              </a:ext>
            </a:extLst>
          </p:cNvPr>
          <p:cNvSpPr txBox="1"/>
          <p:nvPr/>
        </p:nvSpPr>
        <p:spPr>
          <a:xfrm>
            <a:off x="7381791" y="1821197"/>
            <a:ext cx="4046551" cy="2677656"/>
          </a:xfrm>
          <a:prstGeom prst="rect">
            <a:avLst/>
          </a:prstGeom>
          <a:noFill/>
          <a:ln w="28575">
            <a:solidFill>
              <a:srgbClr val="00B0F0"/>
            </a:solidFill>
          </a:ln>
        </p:spPr>
        <p:txBody>
          <a:bodyPr wrap="square">
            <a:spAutoFit/>
          </a:bodyPr>
          <a:lstStyle/>
          <a:p>
            <a:pPr algn="just"/>
            <a:r>
              <a:rPr lang="en-US" sz="2400">
                <a:latin typeface="Gill Sans MT" panose="020B0502020104020203" pitchFamily="34" charset="0"/>
              </a:rPr>
              <a:t> It gives us the liberty to not define a function again and again for doing the same thing.</a:t>
            </a:r>
          </a:p>
          <a:p>
            <a:pPr algn="just"/>
            <a:endParaRPr lang="en-US" sz="2400">
              <a:latin typeface="Gill Sans MT" panose="020B0502020104020203" pitchFamily="34" charset="0"/>
            </a:endParaRPr>
          </a:p>
          <a:p>
            <a:pPr algn="just"/>
            <a:r>
              <a:rPr lang="en-US" sz="2400">
                <a:latin typeface="Gill Sans MT" panose="020B0502020104020203" pitchFamily="34" charset="0"/>
              </a:rPr>
              <a:t>In example: the two methods are basically performing division.</a:t>
            </a:r>
            <a:endParaRPr lang="en-IN" sz="2400">
              <a:latin typeface="Gill Sans MT" panose="020B0502020104020203" pitchFamily="34" charset="0"/>
            </a:endParaRPr>
          </a:p>
        </p:txBody>
      </p:sp>
    </p:spTree>
    <p:extLst>
      <p:ext uri="{BB962C8B-B14F-4D97-AF65-F5344CB8AC3E}">
        <p14:creationId xmlns:p14="http://schemas.microsoft.com/office/powerpoint/2010/main" val="392468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B120-6C26-4561-A5E4-7CBDEA8FB30C}"/>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Overloading the main() method</a:t>
            </a:r>
          </a:p>
        </p:txBody>
      </p:sp>
      <p:sp>
        <p:nvSpPr>
          <p:cNvPr id="4" name="Slide Number Placeholder 3">
            <a:extLst>
              <a:ext uri="{FF2B5EF4-FFF2-40B4-BE49-F238E27FC236}">
                <a16:creationId xmlns:a16="http://schemas.microsoft.com/office/drawing/2014/main" id="{A39CA849-7353-4F6E-B7A2-E9580D7B28BC}"/>
              </a:ext>
            </a:extLst>
          </p:cNvPr>
          <p:cNvSpPr>
            <a:spLocks noGrp="1"/>
          </p:cNvSpPr>
          <p:nvPr>
            <p:ph type="sldNum" sz="quarter" idx="12"/>
          </p:nvPr>
        </p:nvSpPr>
        <p:spPr/>
        <p:txBody>
          <a:bodyPr/>
          <a:lstStyle/>
          <a:p>
            <a:fld id="{4DAC0951-10B0-4509-9BA5-FD8683A6F967}" type="slidenum">
              <a:rPr lang="en-IN" smtClean="0"/>
              <a:pPr/>
              <a:t>28</a:t>
            </a:fld>
            <a:endParaRPr lang="en-IN"/>
          </a:p>
        </p:txBody>
      </p:sp>
      <p:sp>
        <p:nvSpPr>
          <p:cNvPr id="5" name="Content Placeholder 2">
            <a:extLst>
              <a:ext uri="{FF2B5EF4-FFF2-40B4-BE49-F238E27FC236}">
                <a16:creationId xmlns:a16="http://schemas.microsoft.com/office/drawing/2014/main" id="{A246F8E5-16BF-43C5-A01C-789E8C0610C0}"/>
              </a:ext>
            </a:extLst>
          </p:cNvPr>
          <p:cNvSpPr txBox="1">
            <a:spLocks/>
          </p:cNvSpPr>
          <p:nvPr/>
        </p:nvSpPr>
        <p:spPr>
          <a:xfrm>
            <a:off x="838200" y="1498959"/>
            <a:ext cx="7140677" cy="5222516"/>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70C0"/>
                </a:solidFill>
                <a:latin typeface="Consolas"/>
              </a:rPr>
              <a:t>public class </a:t>
            </a:r>
            <a:r>
              <a:rPr lang="en-US" sz="1600" dirty="0">
                <a:latin typeface="Consolas"/>
              </a:rPr>
              <a:t>Example{</a:t>
            </a:r>
            <a:endParaRPr lang="en-US" sz="1600" dirty="0">
              <a:latin typeface="Consolas"/>
              <a:ea typeface="+mn-lt"/>
              <a:cs typeface="+mn-lt"/>
            </a:endParaRPr>
          </a:p>
          <a:p>
            <a:pPr marL="0" indent="0">
              <a:buNone/>
            </a:pPr>
            <a:r>
              <a:rPr lang="en-US" sz="1600" dirty="0">
                <a:latin typeface="Consolas"/>
              </a:rPr>
              <a:t>   </a:t>
            </a:r>
            <a:r>
              <a:rPr lang="en-US" sz="1600" dirty="0">
                <a:solidFill>
                  <a:srgbClr val="0070C0"/>
                </a:solidFill>
                <a:latin typeface="Consolas"/>
              </a:rPr>
              <a:t>public static void </a:t>
            </a:r>
            <a:r>
              <a:rPr lang="en-US" sz="1600" dirty="0">
                <a:latin typeface="Consolas"/>
              </a:rPr>
              <a:t>main(</a:t>
            </a:r>
            <a:r>
              <a:rPr lang="en-US" sz="1600" dirty="0">
                <a:solidFill>
                  <a:srgbClr val="C00000"/>
                </a:solidFill>
                <a:latin typeface="Consolas"/>
              </a:rPr>
              <a:t>String</a:t>
            </a:r>
            <a:r>
              <a:rPr lang="en-US" sz="1600" dirty="0">
                <a:latin typeface="Consolas"/>
              </a:rPr>
              <a:t>[] </a:t>
            </a:r>
            <a:r>
              <a:rPr lang="en-US" sz="1600" dirty="0" err="1">
                <a:latin typeface="Consolas"/>
              </a:rPr>
              <a:t>args</a:t>
            </a:r>
            <a:r>
              <a:rPr lang="en-US" sz="1600" dirty="0">
                <a:latin typeface="Consolas"/>
              </a:rPr>
              <a:t>){</a:t>
            </a:r>
            <a:endParaRPr lang="en-US" sz="1600" dirty="0">
              <a:latin typeface="Consolas"/>
              <a:ea typeface="+mn-lt"/>
              <a:cs typeface="+mn-lt"/>
            </a:endParaRPr>
          </a:p>
          <a:p>
            <a:pPr marL="0" indent="0">
              <a:buNone/>
            </a:pPr>
            <a:r>
              <a:rPr lang="en-US" sz="1600" dirty="0">
                <a:latin typeface="Consolas"/>
              </a:rPr>
              <a:t>       </a:t>
            </a:r>
            <a:r>
              <a:rPr lang="en-US" sz="1600" dirty="0" err="1">
                <a:solidFill>
                  <a:srgbClr val="C00000"/>
                </a:solidFill>
                <a:latin typeface="Consolas"/>
              </a:rPr>
              <a:t>System.out.println</a:t>
            </a:r>
            <a:r>
              <a:rPr lang="en-US" sz="1600" dirty="0">
                <a:latin typeface="Consolas"/>
              </a:rPr>
              <a:t>(“</a:t>
            </a:r>
            <a:r>
              <a:rPr lang="en-US" sz="1600" dirty="0">
                <a:solidFill>
                  <a:srgbClr val="00B050"/>
                </a:solidFill>
                <a:latin typeface="Consolas"/>
              </a:rPr>
              <a:t>Hello</a:t>
            </a:r>
            <a:r>
              <a:rPr lang="en-US" sz="1600" dirty="0">
                <a:latin typeface="Consolas"/>
              </a:rPr>
              <a:t>");</a:t>
            </a:r>
            <a:endParaRPr lang="en-US" sz="1600" dirty="0">
              <a:latin typeface="Consolas"/>
              <a:ea typeface="+mn-lt"/>
              <a:cs typeface="+mn-lt"/>
            </a:endParaRPr>
          </a:p>
          <a:p>
            <a:pPr marL="0" indent="0">
              <a:buNone/>
            </a:pPr>
            <a:r>
              <a:rPr lang="en-US" sz="1600" dirty="0">
                <a:latin typeface="Consolas"/>
              </a:rPr>
              <a:t>       </a:t>
            </a:r>
            <a:r>
              <a:rPr lang="en-US" sz="1600" dirty="0" err="1">
                <a:latin typeface="Consolas"/>
              </a:rPr>
              <a:t>Example.main</a:t>
            </a:r>
            <a:r>
              <a:rPr lang="en-US" sz="1600" dirty="0">
                <a:latin typeface="Consolas"/>
              </a:rPr>
              <a:t>(“</a:t>
            </a:r>
            <a:r>
              <a:rPr lang="en-US" sz="1600" dirty="0">
                <a:solidFill>
                  <a:srgbClr val="00B050"/>
                </a:solidFill>
                <a:latin typeface="Consolas"/>
              </a:rPr>
              <a:t>Students</a:t>
            </a:r>
            <a:r>
              <a:rPr lang="en-US" sz="1600" dirty="0">
                <a:latin typeface="Consolas"/>
              </a:rPr>
              <a:t>");</a:t>
            </a:r>
            <a:endParaRPr lang="en-US" sz="1600" dirty="0">
              <a:latin typeface="Consolas"/>
              <a:ea typeface="+mn-lt"/>
              <a:cs typeface="+mn-lt"/>
            </a:endParaRPr>
          </a:p>
          <a:p>
            <a:pPr marL="0" indent="0">
              <a:buNone/>
            </a:pPr>
            <a:r>
              <a:rPr lang="en-US" sz="1600" dirty="0">
                <a:latin typeface="Consolas"/>
              </a:rPr>
              <a:t>   }</a:t>
            </a:r>
            <a:endParaRPr lang="en-US" sz="1600" dirty="0">
              <a:latin typeface="Consolas"/>
              <a:ea typeface="+mn-lt"/>
              <a:cs typeface="+mn-lt"/>
            </a:endParaRPr>
          </a:p>
          <a:p>
            <a:pPr marL="0" indent="0">
              <a:buNone/>
            </a:pPr>
            <a:endParaRPr lang="en-US" sz="1600" dirty="0">
              <a:ea typeface="+mn-lt"/>
              <a:cs typeface="+mn-lt"/>
            </a:endParaRPr>
          </a:p>
          <a:p>
            <a:pPr marL="0" indent="0">
              <a:buNone/>
            </a:pPr>
            <a:r>
              <a:rPr lang="en-US" sz="1600" dirty="0">
                <a:latin typeface="Consolas"/>
              </a:rPr>
              <a:t>   </a:t>
            </a:r>
            <a:r>
              <a:rPr lang="en-US" sz="1600" dirty="0">
                <a:solidFill>
                  <a:schemeClr val="accent1"/>
                </a:solidFill>
                <a:latin typeface="Consolas"/>
              </a:rPr>
              <a:t>public static void </a:t>
            </a:r>
            <a:r>
              <a:rPr lang="en-US" sz="1600" dirty="0">
                <a:latin typeface="Consolas"/>
              </a:rPr>
              <a:t>main(</a:t>
            </a:r>
            <a:r>
              <a:rPr lang="en-US" sz="1600" dirty="0">
                <a:solidFill>
                  <a:srgbClr val="C00000"/>
                </a:solidFill>
                <a:latin typeface="Consolas"/>
              </a:rPr>
              <a:t>String </a:t>
            </a:r>
            <a:r>
              <a:rPr lang="en-US" sz="1600" dirty="0">
                <a:latin typeface="Consolas"/>
              </a:rPr>
              <a:t>arg1){</a:t>
            </a:r>
            <a:endParaRPr lang="en-US" sz="1600" dirty="0">
              <a:latin typeface="Consolas"/>
              <a:ea typeface="+mn-lt"/>
              <a:cs typeface="+mn-lt"/>
            </a:endParaRPr>
          </a:p>
          <a:p>
            <a:pPr marL="0" indent="0">
              <a:buNone/>
            </a:pPr>
            <a:r>
              <a:rPr lang="en-US" sz="1600" dirty="0">
                <a:latin typeface="Consolas"/>
              </a:rPr>
              <a:t>       </a:t>
            </a:r>
            <a:r>
              <a:rPr lang="en-US" sz="1600" dirty="0" err="1">
                <a:solidFill>
                  <a:srgbClr val="C00000"/>
                </a:solidFill>
                <a:latin typeface="Consolas"/>
              </a:rPr>
              <a:t>System.out.println</a:t>
            </a:r>
            <a:r>
              <a:rPr lang="en-US" sz="1600" dirty="0">
                <a:latin typeface="Consolas"/>
              </a:rPr>
              <a:t>(" </a:t>
            </a:r>
            <a:r>
              <a:rPr lang="en-US" sz="1600" dirty="0">
                <a:solidFill>
                  <a:srgbClr val="00B050"/>
                </a:solidFill>
                <a:latin typeface="Consolas"/>
              </a:rPr>
              <a:t>Welcome</a:t>
            </a:r>
            <a:r>
              <a:rPr lang="en-US" sz="1600" dirty="0">
                <a:latin typeface="Consolas"/>
              </a:rPr>
              <a:t>" + arg1);</a:t>
            </a:r>
            <a:endParaRPr lang="en-US" sz="1600" dirty="0">
              <a:latin typeface="Consolas"/>
              <a:ea typeface="+mn-lt"/>
              <a:cs typeface="+mn-lt"/>
            </a:endParaRPr>
          </a:p>
          <a:p>
            <a:pPr marL="0" indent="0">
              <a:buNone/>
            </a:pPr>
            <a:r>
              <a:rPr lang="en-US" sz="1600" dirty="0">
                <a:latin typeface="Consolas"/>
              </a:rPr>
              <a:t>       </a:t>
            </a:r>
            <a:r>
              <a:rPr lang="en-US" sz="1600" dirty="0" err="1">
                <a:latin typeface="Consolas"/>
              </a:rPr>
              <a:t>Example.main</a:t>
            </a:r>
            <a:r>
              <a:rPr lang="en-US" sz="1600" dirty="0">
                <a:latin typeface="Consolas"/>
              </a:rPr>
              <a:t>(“</a:t>
            </a:r>
            <a:r>
              <a:rPr lang="en-US" sz="1600" dirty="0">
                <a:solidFill>
                  <a:srgbClr val="00B050"/>
                </a:solidFill>
                <a:latin typeface="Consolas"/>
              </a:rPr>
              <a:t>Welcome</a:t>
            </a:r>
            <a:r>
              <a:rPr lang="en-US" sz="1600" dirty="0">
                <a:latin typeface="Consolas"/>
              </a:rPr>
              <a:t>" , "</a:t>
            </a:r>
            <a:r>
              <a:rPr lang="en-US" sz="1600" dirty="0">
                <a:solidFill>
                  <a:srgbClr val="00B050"/>
                </a:solidFill>
                <a:latin typeface="Consolas"/>
              </a:rPr>
              <a:t>to JAVA</a:t>
            </a:r>
            <a:r>
              <a:rPr lang="en-US" sz="1600" dirty="0">
                <a:latin typeface="Consolas"/>
              </a:rPr>
              <a:t>");</a:t>
            </a:r>
            <a:endParaRPr lang="en-US" sz="1600" dirty="0">
              <a:latin typeface="Consolas"/>
              <a:ea typeface="+mn-lt"/>
              <a:cs typeface="+mn-lt"/>
            </a:endParaRPr>
          </a:p>
          <a:p>
            <a:pPr marL="0" indent="0">
              <a:buNone/>
            </a:pPr>
            <a:r>
              <a:rPr lang="en-US" sz="1600" dirty="0">
                <a:latin typeface="Consolas"/>
              </a:rPr>
              <a:t>   }</a:t>
            </a:r>
            <a:endParaRPr lang="en-US" sz="1600" dirty="0">
              <a:latin typeface="Consolas"/>
              <a:ea typeface="+mn-lt"/>
              <a:cs typeface="+mn-lt"/>
            </a:endParaRPr>
          </a:p>
          <a:p>
            <a:pPr marL="0" indent="0">
              <a:buNone/>
            </a:pPr>
            <a:endParaRPr lang="en-US" sz="1600" dirty="0">
              <a:ea typeface="+mn-lt"/>
              <a:cs typeface="+mn-lt"/>
            </a:endParaRPr>
          </a:p>
          <a:p>
            <a:pPr marL="0" indent="0">
              <a:buNone/>
            </a:pPr>
            <a:r>
              <a:rPr lang="en-US" sz="1600" dirty="0">
                <a:latin typeface="Consolas"/>
              </a:rPr>
              <a:t>   </a:t>
            </a:r>
            <a:r>
              <a:rPr lang="en-US" sz="1600" dirty="0">
                <a:solidFill>
                  <a:schemeClr val="accent1"/>
                </a:solidFill>
                <a:latin typeface="Consolas"/>
              </a:rPr>
              <a:t>public static void </a:t>
            </a:r>
            <a:r>
              <a:rPr lang="en-US" sz="1600" dirty="0">
                <a:latin typeface="Consolas"/>
              </a:rPr>
              <a:t>main(</a:t>
            </a:r>
            <a:r>
              <a:rPr lang="en-US" sz="1600" dirty="0">
                <a:solidFill>
                  <a:srgbClr val="C00000"/>
                </a:solidFill>
                <a:latin typeface="Consolas"/>
              </a:rPr>
              <a:t>String </a:t>
            </a:r>
            <a:r>
              <a:rPr lang="en-US" sz="1600" dirty="0">
                <a:latin typeface="Consolas"/>
              </a:rPr>
              <a:t>arg1 , </a:t>
            </a:r>
            <a:r>
              <a:rPr lang="en-US" sz="1600" dirty="0">
                <a:solidFill>
                  <a:srgbClr val="C00000"/>
                </a:solidFill>
                <a:latin typeface="Consolas"/>
              </a:rPr>
              <a:t>String</a:t>
            </a:r>
            <a:r>
              <a:rPr lang="en-US" sz="1600" dirty="0">
                <a:latin typeface="Consolas"/>
              </a:rPr>
              <a:t> arg2){</a:t>
            </a:r>
            <a:endParaRPr lang="en-US" sz="1600" dirty="0">
              <a:latin typeface="Consolas"/>
              <a:ea typeface="+mn-lt"/>
              <a:cs typeface="+mn-lt"/>
            </a:endParaRPr>
          </a:p>
          <a:p>
            <a:pPr marL="0" indent="0">
              <a:buNone/>
            </a:pPr>
            <a:r>
              <a:rPr lang="en-US" sz="1600" dirty="0">
                <a:latin typeface="Consolas"/>
              </a:rPr>
              <a:t>       </a:t>
            </a:r>
            <a:r>
              <a:rPr lang="en-US" sz="1600" dirty="0" err="1">
                <a:solidFill>
                  <a:srgbClr val="C00000"/>
                </a:solidFill>
                <a:latin typeface="Consolas"/>
              </a:rPr>
              <a:t>System.out.println</a:t>
            </a:r>
            <a:r>
              <a:rPr lang="en-US" sz="1600" dirty="0">
                <a:latin typeface="Consolas"/>
              </a:rPr>
              <a:t>(“</a:t>
            </a:r>
            <a:r>
              <a:rPr lang="en-US" sz="1600" dirty="0">
                <a:solidFill>
                  <a:srgbClr val="00B050"/>
                </a:solidFill>
                <a:latin typeface="Consolas"/>
              </a:rPr>
              <a:t>Hi</a:t>
            </a:r>
            <a:r>
              <a:rPr lang="en-US" sz="1600" dirty="0">
                <a:latin typeface="Consolas"/>
              </a:rPr>
              <a:t>" , +arg1 , +arg2);</a:t>
            </a:r>
            <a:endParaRPr lang="en-US" sz="1600" dirty="0">
              <a:latin typeface="Consolas"/>
              <a:ea typeface="+mn-lt"/>
              <a:cs typeface="+mn-lt"/>
            </a:endParaRPr>
          </a:p>
          <a:p>
            <a:pPr marL="0" indent="0">
              <a:buNone/>
            </a:pPr>
            <a:r>
              <a:rPr lang="en-US" sz="1600" dirty="0">
                <a:latin typeface="Consolas"/>
              </a:rPr>
              <a:t>}</a:t>
            </a:r>
            <a:endParaRPr lang="en-US" sz="1600" dirty="0">
              <a:latin typeface="Consolas"/>
              <a:ea typeface="+mn-lt"/>
              <a:cs typeface="+mn-lt"/>
            </a:endParaRPr>
          </a:p>
          <a:p>
            <a:pPr marL="0" indent="0">
              <a:buNone/>
            </a:pPr>
            <a:r>
              <a:rPr lang="en-US" sz="1600" dirty="0">
                <a:latin typeface="Consolas"/>
              </a:rPr>
              <a:t>}</a:t>
            </a:r>
            <a:endParaRPr lang="en-US" sz="1600" dirty="0">
              <a:latin typeface="Consolas"/>
              <a:ea typeface="+mn-lt"/>
              <a:cs typeface="+mn-lt"/>
            </a:endParaRPr>
          </a:p>
          <a:p>
            <a:pPr marL="0" indent="0">
              <a:buNone/>
            </a:pPr>
            <a:endParaRPr lang="en-US" sz="1600" dirty="0">
              <a:latin typeface="Consolas" panose="020B0609020204030204" pitchFamily="49" charset="0"/>
            </a:endParaRPr>
          </a:p>
        </p:txBody>
      </p:sp>
      <p:sp>
        <p:nvSpPr>
          <p:cNvPr id="7" name="Rectangle 6">
            <a:extLst>
              <a:ext uri="{FF2B5EF4-FFF2-40B4-BE49-F238E27FC236}">
                <a16:creationId xmlns:a16="http://schemas.microsoft.com/office/drawing/2014/main" id="{708F9771-DEA6-4965-800D-1B28F8823868}"/>
              </a:ext>
            </a:extLst>
          </p:cNvPr>
          <p:cNvSpPr/>
          <p:nvPr/>
        </p:nvSpPr>
        <p:spPr>
          <a:xfrm>
            <a:off x="8294739" y="2212258"/>
            <a:ext cx="2743199" cy="914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a:t>Hello welcome Students</a:t>
            </a:r>
          </a:p>
          <a:p>
            <a:pPr algn="ctr"/>
            <a:r>
              <a:rPr lang="en-IN"/>
              <a:t>Hi Welcome to JAVA</a:t>
            </a:r>
          </a:p>
        </p:txBody>
      </p:sp>
    </p:spTree>
    <p:extLst>
      <p:ext uri="{BB962C8B-B14F-4D97-AF65-F5344CB8AC3E}">
        <p14:creationId xmlns:p14="http://schemas.microsoft.com/office/powerpoint/2010/main" val="34747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3C04C-ADA5-48FE-A6CA-E512F8980BCB}"/>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Overloading static Methods</a:t>
            </a:r>
          </a:p>
        </p:txBody>
      </p:sp>
      <p:sp>
        <p:nvSpPr>
          <p:cNvPr id="4" name="Slide Number Placeholder 3">
            <a:extLst>
              <a:ext uri="{FF2B5EF4-FFF2-40B4-BE49-F238E27FC236}">
                <a16:creationId xmlns:a16="http://schemas.microsoft.com/office/drawing/2014/main" id="{8730E887-FE77-45C4-8E75-C8E218A3BDF1}"/>
              </a:ext>
            </a:extLst>
          </p:cNvPr>
          <p:cNvSpPr>
            <a:spLocks noGrp="1"/>
          </p:cNvSpPr>
          <p:nvPr>
            <p:ph type="sldNum" sz="quarter" idx="12"/>
          </p:nvPr>
        </p:nvSpPr>
        <p:spPr/>
        <p:txBody>
          <a:bodyPr/>
          <a:lstStyle/>
          <a:p>
            <a:fld id="{4DAC0951-10B0-4509-9BA5-FD8683A6F967}" type="slidenum">
              <a:rPr lang="en-IN" smtClean="0"/>
              <a:pPr/>
              <a:t>29</a:t>
            </a:fld>
            <a:endParaRPr lang="en-IN"/>
          </a:p>
        </p:txBody>
      </p:sp>
      <p:sp>
        <p:nvSpPr>
          <p:cNvPr id="5" name="Content Placeholder 2">
            <a:extLst>
              <a:ext uri="{FF2B5EF4-FFF2-40B4-BE49-F238E27FC236}">
                <a16:creationId xmlns:a16="http://schemas.microsoft.com/office/drawing/2014/main" id="{30D5C713-DA99-42C1-AA12-C0BDA4F67D4B}"/>
              </a:ext>
            </a:extLst>
          </p:cNvPr>
          <p:cNvSpPr txBox="1">
            <a:spLocks/>
          </p:cNvSpPr>
          <p:nvPr/>
        </p:nvSpPr>
        <p:spPr>
          <a:xfrm>
            <a:off x="838200" y="1690688"/>
            <a:ext cx="5257800" cy="4238164"/>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70C0"/>
                </a:solidFill>
                <a:latin typeface="Consolas" panose="020B0609020204030204" pitchFamily="49" charset="0"/>
              </a:rPr>
              <a:t>public class </a:t>
            </a:r>
            <a:r>
              <a:rPr lang="en-US" sz="1600" dirty="0">
                <a:latin typeface="Consolas" panose="020B0609020204030204" pitchFamily="49" charset="0"/>
              </a:rPr>
              <a:t>Test{</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public static int</a:t>
            </a:r>
            <a:r>
              <a:rPr lang="en-US" sz="1600" dirty="0">
                <a:latin typeface="Consolas" panose="020B0609020204030204" pitchFamily="49" charset="0"/>
              </a:rPr>
              <a:t> </a:t>
            </a:r>
            <a:r>
              <a:rPr lang="en-US" sz="1600" dirty="0" err="1">
                <a:latin typeface="Consolas" panose="020B0609020204030204" pitchFamily="49" charset="0"/>
              </a:rPr>
              <a:t>func</a:t>
            </a:r>
            <a:r>
              <a:rPr lang="en-US" sz="1600" dirty="0">
                <a:latin typeface="Consolas" panose="020B0609020204030204" pitchFamily="49" charset="0"/>
              </a:rPr>
              <a:t>(</a:t>
            </a:r>
            <a:r>
              <a:rPr lang="en-US" sz="1600" dirty="0">
                <a:solidFill>
                  <a:srgbClr val="0070C0"/>
                </a:solidFill>
                <a:latin typeface="Consolas" panose="020B0609020204030204" pitchFamily="49" charset="0"/>
              </a:rPr>
              <a:t>int</a:t>
            </a:r>
            <a:r>
              <a:rPr lang="en-US" sz="1600" dirty="0">
                <a:latin typeface="Consolas" panose="020B0609020204030204" pitchFamily="49" charset="0"/>
              </a:rPr>
              <a:t> a ){</a:t>
            </a:r>
          </a:p>
          <a:p>
            <a:pPr marL="0" indent="0">
              <a:buNone/>
            </a:pPr>
            <a:r>
              <a:rPr lang="en-US" sz="1600" dirty="0">
                <a:latin typeface="Consolas" panose="020B0609020204030204" pitchFamily="49" charset="0"/>
              </a:rPr>
              <a:t>       </a:t>
            </a:r>
            <a:r>
              <a:rPr lang="en-US" sz="1600" dirty="0">
                <a:solidFill>
                  <a:srgbClr val="C00000"/>
                </a:solidFill>
                <a:latin typeface="Consolas" panose="020B0609020204030204" pitchFamily="49" charset="0"/>
              </a:rPr>
              <a:t>return </a:t>
            </a:r>
            <a:r>
              <a:rPr lang="en-US" sz="1600" dirty="0">
                <a:latin typeface="Consolas" panose="020B0609020204030204" pitchFamily="49" charset="0"/>
              </a:rPr>
              <a:t>100;</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public static String </a:t>
            </a:r>
            <a:r>
              <a:rPr lang="en-US" sz="1600" dirty="0" err="1">
                <a:latin typeface="Consolas" panose="020B0609020204030204" pitchFamily="49" charset="0"/>
              </a:rPr>
              <a:t>func</a:t>
            </a:r>
            <a:r>
              <a:rPr lang="en-US" sz="1600" dirty="0">
                <a:latin typeface="Consolas" panose="020B0609020204030204" pitchFamily="49" charset="0"/>
              </a:rPr>
              <a:t>(</a:t>
            </a:r>
            <a:r>
              <a:rPr lang="en-US" sz="1600" dirty="0">
                <a:solidFill>
                  <a:srgbClr val="0070C0"/>
                </a:solidFill>
                <a:latin typeface="Consolas" panose="020B0609020204030204" pitchFamily="49" charset="0"/>
              </a:rPr>
              <a:t>int</a:t>
            </a:r>
            <a:r>
              <a:rPr lang="en-US" sz="1600" dirty="0">
                <a:latin typeface="Consolas" panose="020B0609020204030204" pitchFamily="49" charset="0"/>
              </a:rPr>
              <a:t> a , </a:t>
            </a:r>
            <a:r>
              <a:rPr lang="en-US" sz="1600" dirty="0">
                <a:solidFill>
                  <a:srgbClr val="0070C0"/>
                </a:solidFill>
                <a:latin typeface="Consolas" panose="020B0609020204030204" pitchFamily="49" charset="0"/>
              </a:rPr>
              <a:t>int</a:t>
            </a:r>
            <a:r>
              <a:rPr lang="en-US" sz="1600" dirty="0">
                <a:latin typeface="Consolas" panose="020B0609020204030204" pitchFamily="49" charset="0"/>
              </a:rPr>
              <a:t> b){</a:t>
            </a:r>
          </a:p>
          <a:p>
            <a:pPr marL="0" indent="0">
              <a:buNone/>
            </a:pPr>
            <a:r>
              <a:rPr lang="en-US" sz="1600" dirty="0">
                <a:latin typeface="Consolas" panose="020B0609020204030204" pitchFamily="49" charset="0"/>
              </a:rPr>
              <a:t>      </a:t>
            </a:r>
            <a:r>
              <a:rPr lang="en-US" sz="1600" dirty="0">
                <a:solidFill>
                  <a:srgbClr val="C00000"/>
                </a:solidFill>
                <a:latin typeface="Consolas" panose="020B0609020204030204" pitchFamily="49" charset="0"/>
              </a:rPr>
              <a:t>return</a:t>
            </a:r>
            <a:r>
              <a:rPr lang="en-US" sz="1600" dirty="0">
                <a:latin typeface="Consolas" panose="020B0609020204030204" pitchFamily="49" charset="0"/>
              </a:rPr>
              <a:t> “JAVA";</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public static void </a:t>
            </a:r>
            <a:r>
              <a:rPr lang="en-US" sz="1600" dirty="0">
                <a:latin typeface="Consolas" panose="020B0609020204030204" pitchFamily="49" charset="0"/>
              </a:rPr>
              <a:t>main(</a:t>
            </a:r>
            <a:r>
              <a:rPr lang="en-US" sz="1600" dirty="0">
                <a:solidFill>
                  <a:srgbClr val="C00000"/>
                </a:solidFill>
                <a:latin typeface="Consolas" panose="020B0609020204030204" pitchFamily="49" charset="0"/>
              </a:rPr>
              <a:t>String</a:t>
            </a:r>
            <a:r>
              <a:rPr lang="en-US" sz="1600" dirty="0">
                <a:latin typeface="Consolas" panose="020B0609020204030204" pitchFamily="49" charset="0"/>
              </a:rPr>
              <a:t> </a:t>
            </a:r>
            <a:r>
              <a:rPr lang="en-US" sz="1600" dirty="0" err="1">
                <a:latin typeface="Consolas" panose="020B0609020204030204" pitchFamily="49" charset="0"/>
              </a:rPr>
              <a:t>args</a:t>
            </a:r>
            <a:r>
              <a:rPr lang="en-US" sz="1600" dirty="0">
                <a:latin typeface="Consolas" panose="020B0609020204030204" pitchFamily="49" charset="0"/>
              </a:rPr>
              <a:t>[]){</a:t>
            </a:r>
          </a:p>
          <a:p>
            <a:pPr marL="0" indent="0">
              <a:buNone/>
            </a:pPr>
            <a:r>
              <a:rPr lang="en-US" sz="1600" dirty="0">
                <a:latin typeface="Consolas" panose="020B0609020204030204" pitchFamily="49" charset="0"/>
              </a:rPr>
              <a:t>     </a:t>
            </a:r>
            <a:r>
              <a:rPr lang="en-US" sz="1600" dirty="0" err="1">
                <a:solidFill>
                  <a:srgbClr val="C00000"/>
                </a:solidFill>
                <a:latin typeface="Consolas" panose="020B0609020204030204" pitchFamily="49" charset="0"/>
              </a:rPr>
              <a:t>System.out.println</a:t>
            </a:r>
            <a:r>
              <a:rPr lang="en-US" sz="1600" dirty="0">
                <a:latin typeface="Consolas" panose="020B0609020204030204" pitchFamily="49" charset="0"/>
              </a:rPr>
              <a:t>(</a:t>
            </a:r>
            <a:r>
              <a:rPr lang="en-US" sz="1600" dirty="0" err="1">
                <a:latin typeface="Consolas" panose="020B0609020204030204" pitchFamily="49" charset="0"/>
              </a:rPr>
              <a:t>func</a:t>
            </a:r>
            <a:r>
              <a:rPr lang="en-US" sz="1600" dirty="0">
                <a:latin typeface="Consolas" panose="020B0609020204030204" pitchFamily="49" charset="0"/>
              </a:rPr>
              <a:t>(1));</a:t>
            </a:r>
          </a:p>
          <a:p>
            <a:pPr marL="0" indent="0">
              <a:buNone/>
            </a:pPr>
            <a:r>
              <a:rPr lang="en-US" sz="1600" dirty="0">
                <a:latin typeface="Consolas" panose="020B0609020204030204" pitchFamily="49" charset="0"/>
              </a:rPr>
              <a:t>     </a:t>
            </a:r>
            <a:r>
              <a:rPr lang="en-US" sz="1600" dirty="0" err="1">
                <a:solidFill>
                  <a:srgbClr val="C00000"/>
                </a:solidFill>
                <a:latin typeface="Consolas" panose="020B0609020204030204" pitchFamily="49" charset="0"/>
              </a:rPr>
              <a:t>System.out.println</a:t>
            </a:r>
            <a:r>
              <a:rPr lang="en-US" sz="1600" dirty="0">
                <a:latin typeface="Consolas" panose="020B0609020204030204" pitchFamily="49" charset="0"/>
              </a:rPr>
              <a:t>(</a:t>
            </a:r>
            <a:r>
              <a:rPr lang="en-US" sz="1600" dirty="0" err="1">
                <a:latin typeface="Consolas" panose="020B0609020204030204" pitchFamily="49" charset="0"/>
              </a:rPr>
              <a:t>func</a:t>
            </a:r>
            <a:r>
              <a:rPr lang="en-US" sz="1600" dirty="0">
                <a:latin typeface="Consolas" panose="020B0609020204030204" pitchFamily="49" charset="0"/>
              </a:rPr>
              <a:t>(1,3));</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a:t>
            </a:r>
          </a:p>
        </p:txBody>
      </p:sp>
      <p:sp>
        <p:nvSpPr>
          <p:cNvPr id="7" name="Rectangle 6">
            <a:extLst>
              <a:ext uri="{FF2B5EF4-FFF2-40B4-BE49-F238E27FC236}">
                <a16:creationId xmlns:a16="http://schemas.microsoft.com/office/drawing/2014/main" id="{D3253FC7-3DE8-4FF4-A2B6-57FB41F04A2B}"/>
              </a:ext>
            </a:extLst>
          </p:cNvPr>
          <p:cNvSpPr/>
          <p:nvPr/>
        </p:nvSpPr>
        <p:spPr>
          <a:xfrm>
            <a:off x="6464711" y="5122608"/>
            <a:ext cx="2772696" cy="106188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Consolas" panose="020B0609020204030204" pitchFamily="49" charset="0"/>
              </a:rPr>
              <a:t>100</a:t>
            </a:r>
          </a:p>
          <a:p>
            <a:pPr algn="ctr"/>
            <a:r>
              <a:rPr lang="en-IN" sz="2800" dirty="0">
                <a:latin typeface="Consolas" panose="020B0609020204030204" pitchFamily="49" charset="0"/>
              </a:rPr>
              <a:t>JAVA</a:t>
            </a:r>
          </a:p>
        </p:txBody>
      </p:sp>
      <p:sp>
        <p:nvSpPr>
          <p:cNvPr id="6" name="TextBox 5">
            <a:extLst>
              <a:ext uri="{FF2B5EF4-FFF2-40B4-BE49-F238E27FC236}">
                <a16:creationId xmlns:a16="http://schemas.microsoft.com/office/drawing/2014/main" id="{6AAF9132-DD82-590E-9FE7-242B3B1F5F1D}"/>
              </a:ext>
            </a:extLst>
          </p:cNvPr>
          <p:cNvSpPr txBox="1"/>
          <p:nvPr/>
        </p:nvSpPr>
        <p:spPr>
          <a:xfrm>
            <a:off x="6464711" y="2034241"/>
            <a:ext cx="4975123" cy="369332"/>
          </a:xfrm>
          <a:prstGeom prst="rect">
            <a:avLst/>
          </a:prstGeom>
          <a:noFill/>
        </p:spPr>
        <p:txBody>
          <a:bodyPr wrap="square">
            <a:spAutoFit/>
          </a:bodyPr>
          <a:lstStyle/>
          <a:p>
            <a:pPr>
              <a:buNone/>
            </a:pPr>
            <a:r>
              <a:rPr lang="en-US" dirty="0"/>
              <a:t>✔ Static → no object required to call</a:t>
            </a:r>
          </a:p>
        </p:txBody>
      </p:sp>
      <p:sp>
        <p:nvSpPr>
          <p:cNvPr id="9" name="TextBox 8">
            <a:extLst>
              <a:ext uri="{FF2B5EF4-FFF2-40B4-BE49-F238E27FC236}">
                <a16:creationId xmlns:a16="http://schemas.microsoft.com/office/drawing/2014/main" id="{4E8C0A46-ED75-204D-DF1C-FEA7EEC476BE}"/>
              </a:ext>
            </a:extLst>
          </p:cNvPr>
          <p:cNvSpPr txBox="1"/>
          <p:nvPr/>
        </p:nvSpPr>
        <p:spPr>
          <a:xfrm>
            <a:off x="6464711" y="3209092"/>
            <a:ext cx="6096000" cy="369332"/>
          </a:xfrm>
          <a:prstGeom prst="rect">
            <a:avLst/>
          </a:prstGeom>
          <a:noFill/>
        </p:spPr>
        <p:txBody>
          <a:bodyPr wrap="square">
            <a:spAutoFit/>
          </a:bodyPr>
          <a:lstStyle/>
          <a:p>
            <a:r>
              <a:rPr lang="en-US" dirty="0"/>
              <a:t>Parameter list is different → </a:t>
            </a:r>
            <a:r>
              <a:rPr lang="en-US" b="1" dirty="0"/>
              <a:t>valid overloading</a:t>
            </a:r>
            <a:endParaRPr lang="en-IN" dirty="0"/>
          </a:p>
        </p:txBody>
      </p:sp>
      <p:cxnSp>
        <p:nvCxnSpPr>
          <p:cNvPr id="11" name="Straight Arrow Connector 10">
            <a:extLst>
              <a:ext uri="{FF2B5EF4-FFF2-40B4-BE49-F238E27FC236}">
                <a16:creationId xmlns:a16="http://schemas.microsoft.com/office/drawing/2014/main" id="{5504BCA1-FB6D-A467-87C1-93A972600148}"/>
              </a:ext>
            </a:extLst>
          </p:cNvPr>
          <p:cNvCxnSpPr>
            <a:endCxn id="6" idx="1"/>
          </p:cNvCxnSpPr>
          <p:nvPr/>
        </p:nvCxnSpPr>
        <p:spPr>
          <a:xfrm>
            <a:off x="4778477" y="2218907"/>
            <a:ext cx="1686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891FB16-5CB4-D1B7-AB20-4C5E38AB590B}"/>
              </a:ext>
            </a:extLst>
          </p:cNvPr>
          <p:cNvCxnSpPr/>
          <p:nvPr/>
        </p:nvCxnSpPr>
        <p:spPr>
          <a:xfrm>
            <a:off x="4704735" y="3450397"/>
            <a:ext cx="1686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54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AE63-494D-A1F7-8425-11A80EC706FC}"/>
              </a:ext>
            </a:extLst>
          </p:cNvPr>
          <p:cNvSpPr>
            <a:spLocks noGrp="1"/>
          </p:cNvSpPr>
          <p:nvPr>
            <p:ph type="title"/>
          </p:nvPr>
        </p:nvSpPr>
        <p:spPr/>
        <p:txBody>
          <a:bodyPr/>
          <a:lstStyle/>
          <a:p>
            <a:r>
              <a:rPr lang="en-US" b="1" dirty="0"/>
              <a:t>What is super Keyword in Java?</a:t>
            </a:r>
            <a:endParaRPr lang="en-IN" dirty="0"/>
          </a:p>
        </p:txBody>
      </p:sp>
      <p:sp>
        <p:nvSpPr>
          <p:cNvPr id="3" name="Content Placeholder 2">
            <a:extLst>
              <a:ext uri="{FF2B5EF4-FFF2-40B4-BE49-F238E27FC236}">
                <a16:creationId xmlns:a16="http://schemas.microsoft.com/office/drawing/2014/main" id="{A3D91431-8C1D-646F-C392-B01E68F7BC2A}"/>
              </a:ext>
            </a:extLst>
          </p:cNvPr>
          <p:cNvSpPr>
            <a:spLocks noGrp="1"/>
          </p:cNvSpPr>
          <p:nvPr>
            <p:ph idx="1"/>
          </p:nvPr>
        </p:nvSpPr>
        <p:spPr/>
        <p:txBody>
          <a:bodyPr/>
          <a:lstStyle/>
          <a:p>
            <a:r>
              <a:rPr lang="en-US" dirty="0"/>
              <a:t>super refers to the </a:t>
            </a:r>
            <a:r>
              <a:rPr lang="en-US" b="1" dirty="0"/>
              <a:t>immediate parent class object</a:t>
            </a:r>
            <a:r>
              <a:rPr lang="en-US" dirty="0"/>
              <a:t>.</a:t>
            </a:r>
          </a:p>
          <a:p>
            <a:r>
              <a:rPr lang="en-US" dirty="0"/>
              <a:t>It is mainly used when:</a:t>
            </a:r>
          </a:p>
          <a:p>
            <a:r>
              <a:rPr lang="en-US" dirty="0"/>
              <a:t>Parent and child class have </a:t>
            </a:r>
            <a:r>
              <a:rPr lang="en-US" b="1" dirty="0"/>
              <a:t>same variable names</a:t>
            </a:r>
            <a:endParaRPr lang="en-US" dirty="0"/>
          </a:p>
          <a:p>
            <a:r>
              <a:rPr lang="en-US" dirty="0"/>
              <a:t>Parent and child class have </a:t>
            </a:r>
            <a:r>
              <a:rPr lang="en-US" b="1" dirty="0"/>
              <a:t>same method names</a:t>
            </a:r>
            <a:endParaRPr lang="en-US" dirty="0"/>
          </a:p>
          <a:p>
            <a:r>
              <a:rPr lang="en-US" dirty="0"/>
              <a:t>We want to call the </a:t>
            </a:r>
            <a:r>
              <a:rPr lang="en-US" b="1" dirty="0"/>
              <a:t>parent constructor</a:t>
            </a:r>
            <a:endParaRPr lang="en-US" dirty="0"/>
          </a:p>
          <a:p>
            <a:pPr marL="0" indent="0">
              <a:buNone/>
            </a:pPr>
            <a:r>
              <a:rPr lang="en-US" b="1" dirty="0"/>
              <a:t>When is it needed?</a:t>
            </a:r>
          </a:p>
          <a:p>
            <a:r>
              <a:rPr lang="en-US" dirty="0"/>
              <a:t>When </a:t>
            </a:r>
            <a:r>
              <a:rPr lang="en-US" b="1" dirty="0"/>
              <a:t>child class has a variable with same name</a:t>
            </a:r>
            <a:r>
              <a:rPr lang="en-US" dirty="0"/>
              <a:t> as parent class.</a:t>
            </a:r>
          </a:p>
          <a:p>
            <a:endParaRPr lang="en-IN" dirty="0"/>
          </a:p>
        </p:txBody>
      </p:sp>
      <p:sp>
        <p:nvSpPr>
          <p:cNvPr id="4" name="Slide Number Placeholder 3">
            <a:extLst>
              <a:ext uri="{FF2B5EF4-FFF2-40B4-BE49-F238E27FC236}">
                <a16:creationId xmlns:a16="http://schemas.microsoft.com/office/drawing/2014/main" id="{C73E15DC-39C4-CE41-94D3-C7B644D8A8B2}"/>
              </a:ext>
            </a:extLst>
          </p:cNvPr>
          <p:cNvSpPr>
            <a:spLocks noGrp="1"/>
          </p:cNvSpPr>
          <p:nvPr>
            <p:ph type="sldNum" sz="quarter" idx="12"/>
          </p:nvPr>
        </p:nvSpPr>
        <p:spPr/>
        <p:txBody>
          <a:bodyPr/>
          <a:lstStyle/>
          <a:p>
            <a:fld id="{4DAC0951-10B0-4509-9BA5-FD8683A6F967}" type="slidenum">
              <a:rPr lang="en-IN" smtClean="0"/>
              <a:pPr/>
              <a:t>30</a:t>
            </a:fld>
            <a:endParaRPr lang="en-IN"/>
          </a:p>
        </p:txBody>
      </p:sp>
    </p:spTree>
    <p:extLst>
      <p:ext uri="{BB962C8B-B14F-4D97-AF65-F5344CB8AC3E}">
        <p14:creationId xmlns:p14="http://schemas.microsoft.com/office/powerpoint/2010/main" val="1923265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21645" y="4817449"/>
            <a:ext cx="9045787" cy="876300"/>
          </a:xfrm>
          <a:custGeom>
            <a:avLst/>
            <a:gdLst/>
            <a:ahLst/>
            <a:cxnLst/>
            <a:rect l="l" t="t" r="r" b="b"/>
            <a:pathLst>
              <a:path w="6784340" h="657225">
                <a:moveTo>
                  <a:pt x="6473711" y="0"/>
                </a:moveTo>
                <a:lnTo>
                  <a:pt x="0" y="0"/>
                </a:lnTo>
                <a:lnTo>
                  <a:pt x="0" y="304800"/>
                </a:lnTo>
                <a:lnTo>
                  <a:pt x="6473711" y="304800"/>
                </a:lnTo>
                <a:lnTo>
                  <a:pt x="6473711" y="0"/>
                </a:lnTo>
                <a:close/>
              </a:path>
              <a:path w="6784340" h="657225">
                <a:moveTo>
                  <a:pt x="6783806" y="352425"/>
                </a:moveTo>
                <a:lnTo>
                  <a:pt x="0" y="352425"/>
                </a:lnTo>
                <a:lnTo>
                  <a:pt x="0" y="657225"/>
                </a:lnTo>
                <a:lnTo>
                  <a:pt x="6783806" y="657225"/>
                </a:lnTo>
                <a:lnTo>
                  <a:pt x="6783806" y="352425"/>
                </a:lnTo>
                <a:close/>
              </a:path>
            </a:pathLst>
          </a:custGeom>
          <a:solidFill>
            <a:srgbClr val="FFFFFF"/>
          </a:solidFill>
        </p:spPr>
        <p:txBody>
          <a:bodyPr wrap="square" lIns="0" tIns="0" rIns="0" bIns="0" rtlCol="0"/>
          <a:lstStyle/>
          <a:p>
            <a:endParaRPr sz="2400"/>
          </a:p>
        </p:txBody>
      </p:sp>
      <p:sp>
        <p:nvSpPr>
          <p:cNvPr id="3" name="object 3"/>
          <p:cNvSpPr txBox="1">
            <a:spLocks noGrp="1"/>
          </p:cNvSpPr>
          <p:nvPr>
            <p:ph type="title"/>
          </p:nvPr>
        </p:nvSpPr>
        <p:spPr>
          <a:xfrm>
            <a:off x="886098" y="270045"/>
            <a:ext cx="5357181" cy="694207"/>
          </a:xfrm>
          <a:prstGeom prst="rect">
            <a:avLst/>
          </a:prstGeom>
        </p:spPr>
        <p:txBody>
          <a:bodyPr vert="horz" wrap="square" lIns="0" tIns="16933" rIns="0" bIns="0" rtlCol="0" anchor="ctr">
            <a:spAutoFit/>
          </a:bodyPr>
          <a:lstStyle/>
          <a:p>
            <a:pPr marL="16933">
              <a:lnSpc>
                <a:spcPct val="100000"/>
              </a:lnSpc>
              <a:spcBef>
                <a:spcPts val="133"/>
              </a:spcBef>
            </a:pPr>
            <a:r>
              <a:rPr b="1" dirty="0">
                <a:solidFill>
                  <a:srgbClr val="222222"/>
                </a:solidFill>
                <a:latin typeface="Times New Roman"/>
                <a:cs typeface="Times New Roman"/>
              </a:rPr>
              <a:t>Super</a:t>
            </a:r>
            <a:r>
              <a:rPr b="1" spc="-167" dirty="0">
                <a:solidFill>
                  <a:srgbClr val="222222"/>
                </a:solidFill>
                <a:latin typeface="Times New Roman"/>
                <a:cs typeface="Times New Roman"/>
              </a:rPr>
              <a:t> </a:t>
            </a:r>
            <a:r>
              <a:rPr b="1" spc="-13" dirty="0">
                <a:solidFill>
                  <a:srgbClr val="222222"/>
                </a:solidFill>
                <a:latin typeface="Times New Roman"/>
                <a:cs typeface="Times New Roman"/>
              </a:rPr>
              <a:t>Keyword</a:t>
            </a:r>
          </a:p>
        </p:txBody>
      </p:sp>
      <p:sp>
        <p:nvSpPr>
          <p:cNvPr id="4" name="object 4"/>
          <p:cNvSpPr txBox="1"/>
          <p:nvPr/>
        </p:nvSpPr>
        <p:spPr>
          <a:xfrm>
            <a:off x="1704723" y="964252"/>
            <a:ext cx="9077112" cy="5212238"/>
          </a:xfrm>
          <a:prstGeom prst="rect">
            <a:avLst/>
          </a:prstGeom>
        </p:spPr>
        <p:txBody>
          <a:bodyPr vert="horz" wrap="square" lIns="0" tIns="80433" rIns="0" bIns="0" rtlCol="0">
            <a:spAutoFit/>
          </a:bodyPr>
          <a:lstStyle/>
          <a:p>
            <a:pPr marL="522380" indent="-505447" algn="just">
              <a:spcBef>
                <a:spcPts val="633"/>
              </a:spcBef>
              <a:buFont typeface="Arial MT"/>
              <a:buChar char="●"/>
              <a:tabLst>
                <a:tab pos="522380" algn="l"/>
              </a:tabLst>
            </a:pPr>
            <a:r>
              <a:rPr sz="2667" dirty="0">
                <a:solidFill>
                  <a:srgbClr val="222222"/>
                </a:solidFill>
                <a:latin typeface="Times New Roman"/>
                <a:cs typeface="Times New Roman"/>
              </a:rPr>
              <a:t>The</a:t>
            </a:r>
            <a:r>
              <a:rPr sz="2667" spc="-47" dirty="0">
                <a:solidFill>
                  <a:srgbClr val="222222"/>
                </a:solidFill>
                <a:latin typeface="Times New Roman"/>
                <a:cs typeface="Times New Roman"/>
              </a:rPr>
              <a:t> </a:t>
            </a:r>
            <a:r>
              <a:rPr sz="2667" b="1" dirty="0">
                <a:solidFill>
                  <a:srgbClr val="222222"/>
                </a:solidFill>
                <a:latin typeface="Times New Roman"/>
                <a:cs typeface="Times New Roman"/>
              </a:rPr>
              <a:t>super</a:t>
            </a:r>
            <a:r>
              <a:rPr sz="2667" b="1" spc="-100" dirty="0">
                <a:solidFill>
                  <a:srgbClr val="222222"/>
                </a:solidFill>
                <a:latin typeface="Times New Roman"/>
                <a:cs typeface="Times New Roman"/>
              </a:rPr>
              <a:t> </a:t>
            </a:r>
            <a:r>
              <a:rPr sz="2667" b="1" dirty="0">
                <a:solidFill>
                  <a:srgbClr val="222222"/>
                </a:solidFill>
                <a:latin typeface="Times New Roman"/>
                <a:cs typeface="Times New Roman"/>
              </a:rPr>
              <a:t>keyword</a:t>
            </a:r>
            <a:r>
              <a:rPr sz="2667" b="1" spc="-33" dirty="0">
                <a:solidFill>
                  <a:srgbClr val="222222"/>
                </a:solidFill>
                <a:latin typeface="Times New Roman"/>
                <a:cs typeface="Times New Roman"/>
              </a:rPr>
              <a:t> </a:t>
            </a:r>
            <a:r>
              <a:rPr sz="2667" dirty="0">
                <a:solidFill>
                  <a:srgbClr val="222222"/>
                </a:solidFill>
                <a:latin typeface="Times New Roman"/>
                <a:cs typeface="Times New Roman"/>
              </a:rPr>
              <a:t>refers</a:t>
            </a:r>
            <a:r>
              <a:rPr sz="2667" spc="-53" dirty="0">
                <a:solidFill>
                  <a:srgbClr val="222222"/>
                </a:solidFill>
                <a:latin typeface="Times New Roman"/>
                <a:cs typeface="Times New Roman"/>
              </a:rPr>
              <a:t> </a:t>
            </a:r>
            <a:r>
              <a:rPr sz="2667" dirty="0">
                <a:solidFill>
                  <a:srgbClr val="222222"/>
                </a:solidFill>
                <a:latin typeface="Times New Roman"/>
                <a:cs typeface="Times New Roman"/>
              </a:rPr>
              <a:t>to</a:t>
            </a:r>
            <a:r>
              <a:rPr sz="2667" spc="-47" dirty="0">
                <a:solidFill>
                  <a:srgbClr val="222222"/>
                </a:solidFill>
                <a:latin typeface="Times New Roman"/>
                <a:cs typeface="Times New Roman"/>
              </a:rPr>
              <a:t> </a:t>
            </a:r>
            <a:r>
              <a:rPr sz="2667" dirty="0">
                <a:solidFill>
                  <a:srgbClr val="222222"/>
                </a:solidFill>
                <a:latin typeface="Times New Roman"/>
                <a:cs typeface="Times New Roman"/>
              </a:rPr>
              <a:t>superclass</a:t>
            </a:r>
            <a:r>
              <a:rPr sz="2667" spc="-53" dirty="0">
                <a:solidFill>
                  <a:srgbClr val="222222"/>
                </a:solidFill>
                <a:latin typeface="Times New Roman"/>
                <a:cs typeface="Times New Roman"/>
              </a:rPr>
              <a:t> </a:t>
            </a:r>
            <a:r>
              <a:rPr sz="2667" dirty="0">
                <a:solidFill>
                  <a:srgbClr val="222222"/>
                </a:solidFill>
                <a:latin typeface="Times New Roman"/>
                <a:cs typeface="Times New Roman"/>
              </a:rPr>
              <a:t>(parent)</a:t>
            </a:r>
            <a:r>
              <a:rPr sz="2667" spc="-47" dirty="0">
                <a:solidFill>
                  <a:srgbClr val="222222"/>
                </a:solidFill>
                <a:latin typeface="Times New Roman"/>
                <a:cs typeface="Times New Roman"/>
              </a:rPr>
              <a:t> </a:t>
            </a:r>
            <a:r>
              <a:rPr sz="2667" spc="-13" dirty="0">
                <a:solidFill>
                  <a:srgbClr val="222222"/>
                </a:solidFill>
                <a:latin typeface="Times New Roman"/>
                <a:cs typeface="Times New Roman"/>
              </a:rPr>
              <a:t>objects.</a:t>
            </a:r>
            <a:endParaRPr sz="2667" dirty="0">
              <a:latin typeface="Times New Roman"/>
              <a:cs typeface="Times New Roman"/>
            </a:endParaRPr>
          </a:p>
          <a:p>
            <a:pPr marL="521534" marR="6773" indent="-505447" algn="just">
              <a:lnSpc>
                <a:spcPct val="115599"/>
              </a:lnSpc>
              <a:buFont typeface="Arial MT"/>
              <a:buChar char="●"/>
              <a:tabLst>
                <a:tab pos="525767" algn="l"/>
              </a:tabLst>
            </a:pPr>
            <a:r>
              <a:rPr sz="2667" dirty="0">
                <a:solidFill>
                  <a:srgbClr val="222222"/>
                </a:solidFill>
                <a:latin typeface="Times New Roman"/>
                <a:cs typeface="Times New Roman"/>
              </a:rPr>
              <a:t>It</a:t>
            </a:r>
            <a:r>
              <a:rPr sz="2667" spc="140" dirty="0">
                <a:solidFill>
                  <a:srgbClr val="222222"/>
                </a:solidFill>
                <a:latin typeface="Times New Roman"/>
                <a:cs typeface="Times New Roman"/>
              </a:rPr>
              <a:t>  </a:t>
            </a:r>
            <a:r>
              <a:rPr sz="2667" dirty="0">
                <a:solidFill>
                  <a:srgbClr val="222222"/>
                </a:solidFill>
                <a:latin typeface="Times New Roman"/>
                <a:cs typeface="Times New Roman"/>
              </a:rPr>
              <a:t>is</a:t>
            </a:r>
            <a:r>
              <a:rPr sz="2667" spc="140" dirty="0">
                <a:solidFill>
                  <a:srgbClr val="222222"/>
                </a:solidFill>
                <a:latin typeface="Times New Roman"/>
                <a:cs typeface="Times New Roman"/>
              </a:rPr>
              <a:t>  </a:t>
            </a:r>
            <a:r>
              <a:rPr sz="2667" dirty="0">
                <a:solidFill>
                  <a:srgbClr val="222222"/>
                </a:solidFill>
                <a:latin typeface="Times New Roman"/>
                <a:cs typeface="Times New Roman"/>
              </a:rPr>
              <a:t>used</a:t>
            </a:r>
            <a:r>
              <a:rPr sz="2667" spc="147" dirty="0">
                <a:solidFill>
                  <a:srgbClr val="222222"/>
                </a:solidFill>
                <a:latin typeface="Times New Roman"/>
                <a:cs typeface="Times New Roman"/>
              </a:rPr>
              <a:t>  </a:t>
            </a:r>
            <a:r>
              <a:rPr sz="2667" dirty="0">
                <a:solidFill>
                  <a:srgbClr val="222222"/>
                </a:solidFill>
                <a:latin typeface="Times New Roman"/>
                <a:cs typeface="Times New Roman"/>
              </a:rPr>
              <a:t>to</a:t>
            </a:r>
            <a:r>
              <a:rPr sz="2667" spc="140" dirty="0">
                <a:solidFill>
                  <a:srgbClr val="222222"/>
                </a:solidFill>
                <a:latin typeface="Times New Roman"/>
                <a:cs typeface="Times New Roman"/>
              </a:rPr>
              <a:t>  </a:t>
            </a:r>
            <a:r>
              <a:rPr sz="2667" dirty="0">
                <a:solidFill>
                  <a:srgbClr val="222222"/>
                </a:solidFill>
                <a:latin typeface="Times New Roman"/>
                <a:cs typeface="Times New Roman"/>
              </a:rPr>
              <a:t>call</a:t>
            </a:r>
            <a:r>
              <a:rPr sz="2667" spc="140" dirty="0">
                <a:solidFill>
                  <a:srgbClr val="222222"/>
                </a:solidFill>
                <a:latin typeface="Times New Roman"/>
                <a:cs typeface="Times New Roman"/>
              </a:rPr>
              <a:t>  </a:t>
            </a:r>
            <a:r>
              <a:rPr sz="2667" dirty="0">
                <a:solidFill>
                  <a:srgbClr val="222222"/>
                </a:solidFill>
                <a:latin typeface="Times New Roman"/>
                <a:cs typeface="Times New Roman"/>
              </a:rPr>
              <a:t>superclass</a:t>
            </a:r>
            <a:r>
              <a:rPr sz="2667" spc="147" dirty="0">
                <a:solidFill>
                  <a:srgbClr val="222222"/>
                </a:solidFill>
                <a:latin typeface="Times New Roman"/>
                <a:cs typeface="Times New Roman"/>
              </a:rPr>
              <a:t>  </a:t>
            </a:r>
            <a:r>
              <a:rPr sz="2667" dirty="0">
                <a:solidFill>
                  <a:srgbClr val="222222"/>
                </a:solidFill>
                <a:latin typeface="Times New Roman"/>
                <a:cs typeface="Times New Roman"/>
              </a:rPr>
              <a:t>methods,</a:t>
            </a:r>
            <a:r>
              <a:rPr sz="2667" spc="140" dirty="0">
                <a:solidFill>
                  <a:srgbClr val="222222"/>
                </a:solidFill>
                <a:latin typeface="Times New Roman"/>
                <a:cs typeface="Times New Roman"/>
              </a:rPr>
              <a:t>  </a:t>
            </a:r>
            <a:r>
              <a:rPr sz="2667" dirty="0">
                <a:solidFill>
                  <a:srgbClr val="222222"/>
                </a:solidFill>
                <a:latin typeface="Times New Roman"/>
                <a:cs typeface="Times New Roman"/>
              </a:rPr>
              <a:t>and</a:t>
            </a:r>
            <a:r>
              <a:rPr sz="2667" spc="147" dirty="0">
                <a:solidFill>
                  <a:srgbClr val="222222"/>
                </a:solidFill>
                <a:latin typeface="Times New Roman"/>
                <a:cs typeface="Times New Roman"/>
              </a:rPr>
              <a:t>  </a:t>
            </a:r>
            <a:r>
              <a:rPr sz="2667" dirty="0">
                <a:solidFill>
                  <a:srgbClr val="222222"/>
                </a:solidFill>
                <a:latin typeface="Times New Roman"/>
                <a:cs typeface="Times New Roman"/>
              </a:rPr>
              <a:t>to</a:t>
            </a:r>
            <a:r>
              <a:rPr sz="2667" spc="140" dirty="0">
                <a:solidFill>
                  <a:srgbClr val="222222"/>
                </a:solidFill>
                <a:latin typeface="Times New Roman"/>
                <a:cs typeface="Times New Roman"/>
              </a:rPr>
              <a:t>  </a:t>
            </a:r>
            <a:r>
              <a:rPr sz="2667" dirty="0">
                <a:solidFill>
                  <a:srgbClr val="222222"/>
                </a:solidFill>
                <a:latin typeface="Times New Roman"/>
                <a:cs typeface="Times New Roman"/>
              </a:rPr>
              <a:t>access</a:t>
            </a:r>
            <a:r>
              <a:rPr sz="2667" spc="147" dirty="0">
                <a:solidFill>
                  <a:srgbClr val="222222"/>
                </a:solidFill>
                <a:latin typeface="Times New Roman"/>
                <a:cs typeface="Times New Roman"/>
              </a:rPr>
              <a:t>  </a:t>
            </a:r>
            <a:r>
              <a:rPr sz="2667" spc="-33" dirty="0">
                <a:solidFill>
                  <a:srgbClr val="222222"/>
                </a:solidFill>
                <a:latin typeface="Times New Roman"/>
                <a:cs typeface="Times New Roman"/>
              </a:rPr>
              <a:t>the 	</a:t>
            </a:r>
            <a:r>
              <a:rPr sz="2667" dirty="0">
                <a:solidFill>
                  <a:srgbClr val="222222"/>
                </a:solidFill>
                <a:latin typeface="Times New Roman"/>
                <a:cs typeface="Times New Roman"/>
              </a:rPr>
              <a:t>superclass</a:t>
            </a:r>
            <a:r>
              <a:rPr sz="2667" spc="-67" dirty="0">
                <a:solidFill>
                  <a:srgbClr val="222222"/>
                </a:solidFill>
                <a:latin typeface="Times New Roman"/>
                <a:cs typeface="Times New Roman"/>
              </a:rPr>
              <a:t> </a:t>
            </a:r>
            <a:r>
              <a:rPr sz="2667" spc="-13" dirty="0">
                <a:solidFill>
                  <a:srgbClr val="222222"/>
                </a:solidFill>
                <a:latin typeface="Times New Roman"/>
                <a:cs typeface="Times New Roman"/>
              </a:rPr>
              <a:t>constructor.</a:t>
            </a:r>
            <a:endParaRPr sz="2667" dirty="0">
              <a:latin typeface="Times New Roman"/>
              <a:cs typeface="Times New Roman"/>
            </a:endParaRPr>
          </a:p>
          <a:p>
            <a:pPr marL="521534" marR="6773" indent="-505447" algn="just">
              <a:lnSpc>
                <a:spcPct val="115599"/>
              </a:lnSpc>
              <a:buFont typeface="Arial MT"/>
              <a:buChar char="●"/>
              <a:tabLst>
                <a:tab pos="525767" algn="l"/>
              </a:tabLst>
            </a:pPr>
            <a:r>
              <a:rPr sz="2667" dirty="0">
                <a:solidFill>
                  <a:srgbClr val="222222"/>
                </a:solidFill>
                <a:latin typeface="Times New Roman"/>
                <a:cs typeface="Times New Roman"/>
              </a:rPr>
              <a:t>The</a:t>
            </a:r>
            <a:r>
              <a:rPr sz="2667" spc="227" dirty="0">
                <a:solidFill>
                  <a:srgbClr val="222222"/>
                </a:solidFill>
                <a:latin typeface="Times New Roman"/>
                <a:cs typeface="Times New Roman"/>
              </a:rPr>
              <a:t> </a:t>
            </a:r>
            <a:r>
              <a:rPr sz="2667" dirty="0">
                <a:solidFill>
                  <a:srgbClr val="222222"/>
                </a:solidFill>
                <a:latin typeface="Times New Roman"/>
                <a:cs typeface="Times New Roman"/>
              </a:rPr>
              <a:t>most</a:t>
            </a:r>
            <a:r>
              <a:rPr sz="2667" spc="233" dirty="0">
                <a:solidFill>
                  <a:srgbClr val="222222"/>
                </a:solidFill>
                <a:latin typeface="Times New Roman"/>
                <a:cs typeface="Times New Roman"/>
              </a:rPr>
              <a:t> </a:t>
            </a:r>
            <a:r>
              <a:rPr sz="2667" dirty="0">
                <a:solidFill>
                  <a:srgbClr val="222222"/>
                </a:solidFill>
                <a:latin typeface="Times New Roman"/>
                <a:cs typeface="Times New Roman"/>
              </a:rPr>
              <a:t>common</a:t>
            </a:r>
            <a:r>
              <a:rPr sz="2667" spc="247" dirty="0">
                <a:solidFill>
                  <a:srgbClr val="222222"/>
                </a:solidFill>
                <a:latin typeface="Times New Roman"/>
                <a:cs typeface="Times New Roman"/>
              </a:rPr>
              <a:t> </a:t>
            </a:r>
            <a:r>
              <a:rPr sz="2667" b="1" dirty="0">
                <a:solidFill>
                  <a:srgbClr val="222222"/>
                </a:solidFill>
                <a:latin typeface="Times New Roman"/>
                <a:cs typeface="Times New Roman"/>
              </a:rPr>
              <a:t>use</a:t>
            </a:r>
            <a:r>
              <a:rPr sz="2667" b="1" spc="240" dirty="0">
                <a:solidFill>
                  <a:srgbClr val="222222"/>
                </a:solidFill>
                <a:latin typeface="Times New Roman"/>
                <a:cs typeface="Times New Roman"/>
              </a:rPr>
              <a:t> </a:t>
            </a:r>
            <a:r>
              <a:rPr sz="2667" dirty="0">
                <a:solidFill>
                  <a:srgbClr val="222222"/>
                </a:solidFill>
                <a:latin typeface="Times New Roman"/>
                <a:cs typeface="Times New Roman"/>
              </a:rPr>
              <a:t>of</a:t>
            </a:r>
            <a:r>
              <a:rPr sz="2667" spc="233" dirty="0">
                <a:solidFill>
                  <a:srgbClr val="222222"/>
                </a:solidFill>
                <a:latin typeface="Times New Roman"/>
                <a:cs typeface="Times New Roman"/>
              </a:rPr>
              <a:t> </a:t>
            </a:r>
            <a:r>
              <a:rPr sz="2667" dirty="0">
                <a:solidFill>
                  <a:srgbClr val="222222"/>
                </a:solidFill>
                <a:latin typeface="Times New Roman"/>
                <a:cs typeface="Times New Roman"/>
              </a:rPr>
              <a:t>the</a:t>
            </a:r>
            <a:r>
              <a:rPr sz="2667" spc="240" dirty="0">
                <a:solidFill>
                  <a:srgbClr val="222222"/>
                </a:solidFill>
                <a:latin typeface="Times New Roman"/>
                <a:cs typeface="Times New Roman"/>
              </a:rPr>
              <a:t> </a:t>
            </a:r>
            <a:r>
              <a:rPr sz="2667" b="1" dirty="0">
                <a:solidFill>
                  <a:srgbClr val="222222"/>
                </a:solidFill>
                <a:latin typeface="Times New Roman"/>
                <a:cs typeface="Times New Roman"/>
              </a:rPr>
              <a:t>super</a:t>
            </a:r>
            <a:r>
              <a:rPr sz="2667" b="1" spc="187" dirty="0">
                <a:solidFill>
                  <a:srgbClr val="222222"/>
                </a:solidFill>
                <a:latin typeface="Times New Roman"/>
                <a:cs typeface="Times New Roman"/>
              </a:rPr>
              <a:t> </a:t>
            </a:r>
            <a:r>
              <a:rPr sz="2667" b="1" dirty="0">
                <a:solidFill>
                  <a:srgbClr val="222222"/>
                </a:solidFill>
                <a:latin typeface="Times New Roman"/>
                <a:cs typeface="Times New Roman"/>
              </a:rPr>
              <a:t>keyword</a:t>
            </a:r>
            <a:r>
              <a:rPr sz="2667" b="1" spc="240" dirty="0">
                <a:solidFill>
                  <a:srgbClr val="222222"/>
                </a:solidFill>
                <a:latin typeface="Times New Roman"/>
                <a:cs typeface="Times New Roman"/>
              </a:rPr>
              <a:t> </a:t>
            </a:r>
            <a:r>
              <a:rPr sz="2667" dirty="0">
                <a:solidFill>
                  <a:srgbClr val="222222"/>
                </a:solidFill>
                <a:latin typeface="Times New Roman"/>
                <a:cs typeface="Times New Roman"/>
              </a:rPr>
              <a:t>is</a:t>
            </a:r>
            <a:r>
              <a:rPr sz="2667" spc="233" dirty="0">
                <a:solidFill>
                  <a:srgbClr val="222222"/>
                </a:solidFill>
                <a:latin typeface="Times New Roman"/>
                <a:cs typeface="Times New Roman"/>
              </a:rPr>
              <a:t> </a:t>
            </a:r>
            <a:r>
              <a:rPr sz="2667" dirty="0">
                <a:solidFill>
                  <a:srgbClr val="222222"/>
                </a:solidFill>
                <a:latin typeface="Times New Roman"/>
                <a:cs typeface="Times New Roman"/>
              </a:rPr>
              <a:t>to</a:t>
            </a:r>
            <a:r>
              <a:rPr sz="2667" spc="227" dirty="0">
                <a:solidFill>
                  <a:srgbClr val="222222"/>
                </a:solidFill>
                <a:latin typeface="Times New Roman"/>
                <a:cs typeface="Times New Roman"/>
              </a:rPr>
              <a:t> </a:t>
            </a:r>
            <a:r>
              <a:rPr sz="2667" spc="-13" dirty="0">
                <a:solidFill>
                  <a:srgbClr val="222222"/>
                </a:solidFill>
                <a:latin typeface="Times New Roman"/>
                <a:cs typeface="Times New Roman"/>
              </a:rPr>
              <a:t>eliminate 	</a:t>
            </a:r>
            <a:r>
              <a:rPr sz="2667" dirty="0">
                <a:solidFill>
                  <a:srgbClr val="222222"/>
                </a:solidFill>
                <a:latin typeface="Times New Roman"/>
                <a:cs typeface="Times New Roman"/>
              </a:rPr>
              <a:t>the</a:t>
            </a:r>
            <a:r>
              <a:rPr sz="2667" spc="360" dirty="0">
                <a:solidFill>
                  <a:srgbClr val="222222"/>
                </a:solidFill>
                <a:latin typeface="Times New Roman"/>
                <a:cs typeface="Times New Roman"/>
              </a:rPr>
              <a:t> </a:t>
            </a:r>
            <a:r>
              <a:rPr sz="2667" dirty="0">
                <a:solidFill>
                  <a:srgbClr val="222222"/>
                </a:solidFill>
                <a:latin typeface="Times New Roman"/>
                <a:cs typeface="Times New Roman"/>
              </a:rPr>
              <a:t>confusion</a:t>
            </a:r>
            <a:r>
              <a:rPr sz="2667" spc="360" dirty="0">
                <a:solidFill>
                  <a:srgbClr val="222222"/>
                </a:solidFill>
                <a:latin typeface="Times New Roman"/>
                <a:cs typeface="Times New Roman"/>
              </a:rPr>
              <a:t> </a:t>
            </a:r>
            <a:r>
              <a:rPr sz="2667" dirty="0">
                <a:solidFill>
                  <a:srgbClr val="222222"/>
                </a:solidFill>
                <a:latin typeface="Times New Roman"/>
                <a:cs typeface="Times New Roman"/>
              </a:rPr>
              <a:t>between</a:t>
            </a:r>
            <a:r>
              <a:rPr sz="2667" spc="367" dirty="0">
                <a:solidFill>
                  <a:srgbClr val="222222"/>
                </a:solidFill>
                <a:latin typeface="Times New Roman"/>
                <a:cs typeface="Times New Roman"/>
              </a:rPr>
              <a:t> </a:t>
            </a:r>
            <a:r>
              <a:rPr sz="2667" dirty="0">
                <a:solidFill>
                  <a:srgbClr val="222222"/>
                </a:solidFill>
                <a:latin typeface="Times New Roman"/>
                <a:cs typeface="Times New Roman"/>
              </a:rPr>
              <a:t>superclasses</a:t>
            </a:r>
            <a:r>
              <a:rPr sz="2667" spc="360" dirty="0">
                <a:solidFill>
                  <a:srgbClr val="222222"/>
                </a:solidFill>
                <a:latin typeface="Times New Roman"/>
                <a:cs typeface="Times New Roman"/>
              </a:rPr>
              <a:t> </a:t>
            </a:r>
            <a:r>
              <a:rPr sz="2667" dirty="0">
                <a:solidFill>
                  <a:srgbClr val="222222"/>
                </a:solidFill>
                <a:latin typeface="Times New Roman"/>
                <a:cs typeface="Times New Roman"/>
              </a:rPr>
              <a:t>and</a:t>
            </a:r>
            <a:r>
              <a:rPr sz="2667" spc="367" dirty="0">
                <a:solidFill>
                  <a:srgbClr val="222222"/>
                </a:solidFill>
                <a:latin typeface="Times New Roman"/>
                <a:cs typeface="Times New Roman"/>
              </a:rPr>
              <a:t> </a:t>
            </a:r>
            <a:r>
              <a:rPr sz="2667" dirty="0">
                <a:solidFill>
                  <a:srgbClr val="222222"/>
                </a:solidFill>
                <a:latin typeface="Times New Roman"/>
                <a:cs typeface="Times New Roman"/>
              </a:rPr>
              <a:t>subclasses</a:t>
            </a:r>
            <a:r>
              <a:rPr sz="2667" spc="360" dirty="0">
                <a:solidFill>
                  <a:srgbClr val="222222"/>
                </a:solidFill>
                <a:latin typeface="Times New Roman"/>
                <a:cs typeface="Times New Roman"/>
              </a:rPr>
              <a:t> </a:t>
            </a:r>
            <a:r>
              <a:rPr sz="2667" dirty="0">
                <a:solidFill>
                  <a:srgbClr val="222222"/>
                </a:solidFill>
                <a:latin typeface="Times New Roman"/>
                <a:cs typeface="Times New Roman"/>
              </a:rPr>
              <a:t>that</a:t>
            </a:r>
            <a:r>
              <a:rPr sz="2667" spc="367" dirty="0">
                <a:solidFill>
                  <a:srgbClr val="222222"/>
                </a:solidFill>
                <a:latin typeface="Times New Roman"/>
                <a:cs typeface="Times New Roman"/>
              </a:rPr>
              <a:t> </a:t>
            </a:r>
            <a:r>
              <a:rPr sz="2667" spc="-27" dirty="0">
                <a:solidFill>
                  <a:srgbClr val="222222"/>
                </a:solidFill>
                <a:latin typeface="Times New Roman"/>
                <a:cs typeface="Times New Roman"/>
              </a:rPr>
              <a:t>have 	</a:t>
            </a:r>
            <a:r>
              <a:rPr sz="2667" dirty="0">
                <a:solidFill>
                  <a:srgbClr val="222222"/>
                </a:solidFill>
                <a:latin typeface="Times New Roman"/>
                <a:cs typeface="Times New Roman"/>
              </a:rPr>
              <a:t>methods</a:t>
            </a:r>
            <a:r>
              <a:rPr sz="2667" spc="-27" dirty="0">
                <a:solidFill>
                  <a:srgbClr val="222222"/>
                </a:solidFill>
                <a:latin typeface="Times New Roman"/>
                <a:cs typeface="Times New Roman"/>
              </a:rPr>
              <a:t> </a:t>
            </a:r>
            <a:r>
              <a:rPr sz="2667" dirty="0">
                <a:solidFill>
                  <a:srgbClr val="222222"/>
                </a:solidFill>
                <a:latin typeface="Times New Roman"/>
                <a:cs typeface="Times New Roman"/>
              </a:rPr>
              <a:t>with</a:t>
            </a:r>
            <a:r>
              <a:rPr sz="2667" spc="-20" dirty="0">
                <a:solidFill>
                  <a:srgbClr val="222222"/>
                </a:solidFill>
                <a:latin typeface="Times New Roman"/>
                <a:cs typeface="Times New Roman"/>
              </a:rPr>
              <a:t> </a:t>
            </a:r>
            <a:r>
              <a:rPr sz="2667" dirty="0">
                <a:solidFill>
                  <a:srgbClr val="222222"/>
                </a:solidFill>
                <a:latin typeface="Times New Roman"/>
                <a:cs typeface="Times New Roman"/>
              </a:rPr>
              <a:t>the</a:t>
            </a:r>
            <a:r>
              <a:rPr sz="2667" spc="-27" dirty="0">
                <a:solidFill>
                  <a:srgbClr val="222222"/>
                </a:solidFill>
                <a:latin typeface="Times New Roman"/>
                <a:cs typeface="Times New Roman"/>
              </a:rPr>
              <a:t> </a:t>
            </a:r>
            <a:r>
              <a:rPr sz="2667" dirty="0">
                <a:solidFill>
                  <a:srgbClr val="222222"/>
                </a:solidFill>
                <a:latin typeface="Times New Roman"/>
                <a:cs typeface="Times New Roman"/>
              </a:rPr>
              <a:t>same</a:t>
            </a:r>
            <a:r>
              <a:rPr sz="2667" spc="-20" dirty="0">
                <a:solidFill>
                  <a:srgbClr val="222222"/>
                </a:solidFill>
                <a:latin typeface="Times New Roman"/>
                <a:cs typeface="Times New Roman"/>
              </a:rPr>
              <a:t> </a:t>
            </a:r>
            <a:r>
              <a:rPr sz="2667" spc="-13" dirty="0">
                <a:solidFill>
                  <a:srgbClr val="222222"/>
                </a:solidFill>
                <a:latin typeface="Times New Roman"/>
                <a:cs typeface="Times New Roman"/>
              </a:rPr>
              <a:t>name.</a:t>
            </a:r>
            <a:endParaRPr sz="2667" dirty="0">
              <a:latin typeface="Times New Roman"/>
              <a:cs typeface="Times New Roman"/>
            </a:endParaRPr>
          </a:p>
          <a:p>
            <a:pPr marL="521534" marR="9313" indent="-505447" algn="just">
              <a:lnSpc>
                <a:spcPct val="115599"/>
              </a:lnSpc>
              <a:buFont typeface="Arial MT"/>
              <a:buChar char="●"/>
              <a:tabLst>
                <a:tab pos="525767" algn="l"/>
              </a:tabLst>
            </a:pPr>
            <a:r>
              <a:rPr sz="2667" dirty="0">
                <a:solidFill>
                  <a:srgbClr val="222222"/>
                </a:solidFill>
                <a:latin typeface="Times New Roman"/>
                <a:cs typeface="Times New Roman"/>
              </a:rPr>
              <a:t>super</a:t>
            </a:r>
            <a:r>
              <a:rPr sz="2667" spc="573" dirty="0">
                <a:solidFill>
                  <a:srgbClr val="222222"/>
                </a:solidFill>
                <a:latin typeface="Times New Roman"/>
                <a:cs typeface="Times New Roman"/>
              </a:rPr>
              <a:t> </a:t>
            </a:r>
            <a:r>
              <a:rPr sz="2667" dirty="0">
                <a:solidFill>
                  <a:srgbClr val="222222"/>
                </a:solidFill>
                <a:latin typeface="Times New Roman"/>
                <a:cs typeface="Times New Roman"/>
              </a:rPr>
              <a:t>can</a:t>
            </a:r>
            <a:r>
              <a:rPr sz="2667" spc="587" dirty="0">
                <a:solidFill>
                  <a:srgbClr val="222222"/>
                </a:solidFill>
                <a:latin typeface="Times New Roman"/>
                <a:cs typeface="Times New Roman"/>
              </a:rPr>
              <a:t> </a:t>
            </a:r>
            <a:r>
              <a:rPr sz="2667" dirty="0">
                <a:solidFill>
                  <a:srgbClr val="222222"/>
                </a:solidFill>
                <a:latin typeface="Times New Roman"/>
                <a:cs typeface="Times New Roman"/>
              </a:rPr>
              <a:t>be</a:t>
            </a:r>
            <a:r>
              <a:rPr sz="2667" spc="579" dirty="0">
                <a:solidFill>
                  <a:srgbClr val="222222"/>
                </a:solidFill>
                <a:latin typeface="Times New Roman"/>
                <a:cs typeface="Times New Roman"/>
              </a:rPr>
              <a:t> </a:t>
            </a:r>
            <a:r>
              <a:rPr sz="2667" dirty="0">
                <a:solidFill>
                  <a:srgbClr val="222222"/>
                </a:solidFill>
                <a:latin typeface="Times New Roman"/>
                <a:cs typeface="Times New Roman"/>
              </a:rPr>
              <a:t>used</a:t>
            </a:r>
            <a:r>
              <a:rPr sz="2667" spc="587" dirty="0">
                <a:solidFill>
                  <a:srgbClr val="222222"/>
                </a:solidFill>
                <a:latin typeface="Times New Roman"/>
                <a:cs typeface="Times New Roman"/>
              </a:rPr>
              <a:t> </a:t>
            </a:r>
            <a:r>
              <a:rPr sz="2667" dirty="0">
                <a:solidFill>
                  <a:srgbClr val="222222"/>
                </a:solidFill>
                <a:latin typeface="Times New Roman"/>
                <a:cs typeface="Times New Roman"/>
              </a:rPr>
              <a:t>to</a:t>
            </a:r>
            <a:r>
              <a:rPr sz="2667" spc="579" dirty="0">
                <a:solidFill>
                  <a:srgbClr val="222222"/>
                </a:solidFill>
                <a:latin typeface="Times New Roman"/>
                <a:cs typeface="Times New Roman"/>
              </a:rPr>
              <a:t> </a:t>
            </a:r>
            <a:r>
              <a:rPr sz="2667" dirty="0">
                <a:solidFill>
                  <a:srgbClr val="222222"/>
                </a:solidFill>
                <a:latin typeface="Times New Roman"/>
                <a:cs typeface="Times New Roman"/>
              </a:rPr>
              <a:t>refer</a:t>
            </a:r>
            <a:r>
              <a:rPr sz="2667" spc="587" dirty="0">
                <a:solidFill>
                  <a:srgbClr val="222222"/>
                </a:solidFill>
                <a:latin typeface="Times New Roman"/>
                <a:cs typeface="Times New Roman"/>
              </a:rPr>
              <a:t> </a:t>
            </a:r>
            <a:r>
              <a:rPr sz="2667" dirty="0">
                <a:solidFill>
                  <a:srgbClr val="222222"/>
                </a:solidFill>
                <a:latin typeface="Times New Roman"/>
                <a:cs typeface="Times New Roman"/>
              </a:rPr>
              <a:t>immediate</a:t>
            </a:r>
            <a:r>
              <a:rPr sz="2667" spc="579" dirty="0">
                <a:solidFill>
                  <a:srgbClr val="222222"/>
                </a:solidFill>
                <a:latin typeface="Times New Roman"/>
                <a:cs typeface="Times New Roman"/>
              </a:rPr>
              <a:t> </a:t>
            </a:r>
            <a:r>
              <a:rPr sz="2667" dirty="0">
                <a:solidFill>
                  <a:srgbClr val="222222"/>
                </a:solidFill>
                <a:latin typeface="Times New Roman"/>
                <a:cs typeface="Times New Roman"/>
              </a:rPr>
              <a:t>parent</a:t>
            </a:r>
            <a:r>
              <a:rPr sz="2667" spc="587" dirty="0">
                <a:solidFill>
                  <a:srgbClr val="222222"/>
                </a:solidFill>
                <a:latin typeface="Times New Roman"/>
                <a:cs typeface="Times New Roman"/>
              </a:rPr>
              <a:t> </a:t>
            </a:r>
            <a:r>
              <a:rPr sz="2667" dirty="0">
                <a:solidFill>
                  <a:srgbClr val="222222"/>
                </a:solidFill>
                <a:latin typeface="Times New Roman"/>
                <a:cs typeface="Times New Roman"/>
              </a:rPr>
              <a:t>class</a:t>
            </a:r>
            <a:r>
              <a:rPr sz="2667" spc="579" dirty="0">
                <a:solidFill>
                  <a:srgbClr val="222222"/>
                </a:solidFill>
                <a:latin typeface="Times New Roman"/>
                <a:cs typeface="Times New Roman"/>
              </a:rPr>
              <a:t> </a:t>
            </a:r>
            <a:r>
              <a:rPr sz="2667" spc="-13" dirty="0">
                <a:solidFill>
                  <a:srgbClr val="222222"/>
                </a:solidFill>
                <a:latin typeface="Times New Roman"/>
                <a:cs typeface="Times New Roman"/>
              </a:rPr>
              <a:t>instance 	variable.</a:t>
            </a:r>
            <a:endParaRPr sz="2667" dirty="0">
              <a:latin typeface="Times New Roman"/>
              <a:cs typeface="Times New Roman"/>
            </a:endParaRPr>
          </a:p>
          <a:p>
            <a:pPr marL="522380" indent="-505447" algn="just">
              <a:spcBef>
                <a:spcPts val="500"/>
              </a:spcBef>
              <a:buFont typeface="Arial MT"/>
              <a:buChar char="●"/>
              <a:tabLst>
                <a:tab pos="522380" algn="l"/>
              </a:tabLst>
            </a:pPr>
            <a:r>
              <a:rPr sz="2667" dirty="0">
                <a:solidFill>
                  <a:srgbClr val="222222"/>
                </a:solidFill>
                <a:latin typeface="Times New Roman"/>
                <a:cs typeface="Times New Roman"/>
              </a:rPr>
              <a:t>super</a:t>
            </a:r>
            <a:r>
              <a:rPr sz="2667" spc="-33" dirty="0">
                <a:solidFill>
                  <a:srgbClr val="222222"/>
                </a:solidFill>
                <a:latin typeface="Times New Roman"/>
                <a:cs typeface="Times New Roman"/>
              </a:rPr>
              <a:t> </a:t>
            </a:r>
            <a:r>
              <a:rPr sz="2667" dirty="0">
                <a:solidFill>
                  <a:srgbClr val="222222"/>
                </a:solidFill>
                <a:latin typeface="Times New Roman"/>
                <a:cs typeface="Times New Roman"/>
              </a:rPr>
              <a:t>can</a:t>
            </a:r>
            <a:r>
              <a:rPr sz="2667" spc="-20" dirty="0">
                <a:solidFill>
                  <a:srgbClr val="222222"/>
                </a:solidFill>
                <a:latin typeface="Times New Roman"/>
                <a:cs typeface="Times New Roman"/>
              </a:rPr>
              <a:t> </a:t>
            </a:r>
            <a:r>
              <a:rPr sz="2667" dirty="0">
                <a:solidFill>
                  <a:srgbClr val="222222"/>
                </a:solidFill>
                <a:latin typeface="Times New Roman"/>
                <a:cs typeface="Times New Roman"/>
              </a:rPr>
              <a:t>be</a:t>
            </a:r>
            <a:r>
              <a:rPr sz="2667" spc="-20" dirty="0">
                <a:solidFill>
                  <a:srgbClr val="222222"/>
                </a:solidFill>
                <a:latin typeface="Times New Roman"/>
                <a:cs typeface="Times New Roman"/>
              </a:rPr>
              <a:t> </a:t>
            </a:r>
            <a:r>
              <a:rPr sz="2667" dirty="0">
                <a:solidFill>
                  <a:srgbClr val="222222"/>
                </a:solidFill>
                <a:latin typeface="Times New Roman"/>
                <a:cs typeface="Times New Roman"/>
              </a:rPr>
              <a:t>used</a:t>
            </a:r>
            <a:r>
              <a:rPr sz="2667" spc="-20" dirty="0">
                <a:solidFill>
                  <a:srgbClr val="222222"/>
                </a:solidFill>
                <a:latin typeface="Times New Roman"/>
                <a:cs typeface="Times New Roman"/>
              </a:rPr>
              <a:t> </a:t>
            </a:r>
            <a:r>
              <a:rPr sz="2667" dirty="0">
                <a:solidFill>
                  <a:srgbClr val="222222"/>
                </a:solidFill>
                <a:latin typeface="Times New Roman"/>
                <a:cs typeface="Times New Roman"/>
              </a:rPr>
              <a:t>to</a:t>
            </a:r>
            <a:r>
              <a:rPr sz="2667" spc="-13" dirty="0">
                <a:solidFill>
                  <a:srgbClr val="222222"/>
                </a:solidFill>
                <a:latin typeface="Times New Roman"/>
                <a:cs typeface="Times New Roman"/>
              </a:rPr>
              <a:t> </a:t>
            </a:r>
            <a:r>
              <a:rPr sz="2667" dirty="0">
                <a:solidFill>
                  <a:srgbClr val="222222"/>
                </a:solidFill>
                <a:latin typeface="Times New Roman"/>
                <a:cs typeface="Times New Roman"/>
              </a:rPr>
              <a:t>invoke</a:t>
            </a:r>
            <a:r>
              <a:rPr sz="2667" spc="-27" dirty="0">
                <a:solidFill>
                  <a:srgbClr val="222222"/>
                </a:solidFill>
                <a:latin typeface="Times New Roman"/>
                <a:cs typeface="Times New Roman"/>
              </a:rPr>
              <a:t> </a:t>
            </a:r>
            <a:r>
              <a:rPr sz="2667" dirty="0">
                <a:solidFill>
                  <a:srgbClr val="222222"/>
                </a:solidFill>
                <a:latin typeface="Times New Roman"/>
                <a:cs typeface="Times New Roman"/>
              </a:rPr>
              <a:t>immediate</a:t>
            </a:r>
            <a:r>
              <a:rPr sz="2667" spc="-20" dirty="0">
                <a:solidFill>
                  <a:srgbClr val="222222"/>
                </a:solidFill>
                <a:latin typeface="Times New Roman"/>
                <a:cs typeface="Times New Roman"/>
              </a:rPr>
              <a:t> </a:t>
            </a:r>
            <a:r>
              <a:rPr sz="2667" dirty="0">
                <a:solidFill>
                  <a:srgbClr val="222222"/>
                </a:solidFill>
                <a:latin typeface="Times New Roman"/>
                <a:cs typeface="Times New Roman"/>
              </a:rPr>
              <a:t>parent</a:t>
            </a:r>
            <a:r>
              <a:rPr sz="2667" spc="-27" dirty="0">
                <a:solidFill>
                  <a:srgbClr val="222222"/>
                </a:solidFill>
                <a:latin typeface="Times New Roman"/>
                <a:cs typeface="Times New Roman"/>
              </a:rPr>
              <a:t> </a:t>
            </a:r>
            <a:r>
              <a:rPr sz="2667" dirty="0">
                <a:solidFill>
                  <a:srgbClr val="222222"/>
                </a:solidFill>
                <a:latin typeface="Times New Roman"/>
                <a:cs typeface="Times New Roman"/>
              </a:rPr>
              <a:t>class</a:t>
            </a:r>
            <a:r>
              <a:rPr sz="2667" spc="-20" dirty="0">
                <a:solidFill>
                  <a:srgbClr val="222222"/>
                </a:solidFill>
                <a:latin typeface="Times New Roman"/>
                <a:cs typeface="Times New Roman"/>
              </a:rPr>
              <a:t> </a:t>
            </a:r>
            <a:r>
              <a:rPr sz="2667" spc="-13" dirty="0">
                <a:solidFill>
                  <a:srgbClr val="222222"/>
                </a:solidFill>
                <a:latin typeface="Times New Roman"/>
                <a:cs typeface="Times New Roman"/>
              </a:rPr>
              <a:t>method.</a:t>
            </a:r>
            <a:endParaRPr sz="2667" dirty="0">
              <a:latin typeface="Times New Roman"/>
              <a:cs typeface="Times New Roman"/>
            </a:endParaRPr>
          </a:p>
          <a:p>
            <a:pPr marL="521534" marR="10160" indent="-505447" algn="just">
              <a:lnSpc>
                <a:spcPct val="115599"/>
              </a:lnSpc>
              <a:buFont typeface="Arial MT"/>
              <a:buChar char="●"/>
              <a:tabLst>
                <a:tab pos="525767" algn="l"/>
              </a:tabLst>
            </a:pPr>
            <a:r>
              <a:rPr sz="2667" dirty="0">
                <a:solidFill>
                  <a:srgbClr val="222222"/>
                </a:solidFill>
                <a:latin typeface="Times New Roman"/>
                <a:cs typeface="Times New Roman"/>
              </a:rPr>
              <a:t>super()</a:t>
            </a:r>
            <a:r>
              <a:rPr sz="2667" spc="327" dirty="0">
                <a:solidFill>
                  <a:srgbClr val="222222"/>
                </a:solidFill>
                <a:latin typeface="Times New Roman"/>
                <a:cs typeface="Times New Roman"/>
              </a:rPr>
              <a:t>  </a:t>
            </a:r>
            <a:r>
              <a:rPr sz="2667" dirty="0">
                <a:solidFill>
                  <a:srgbClr val="222222"/>
                </a:solidFill>
                <a:latin typeface="Times New Roman"/>
                <a:cs typeface="Times New Roman"/>
              </a:rPr>
              <a:t>can</a:t>
            </a:r>
            <a:r>
              <a:rPr sz="2667" spc="333" dirty="0">
                <a:solidFill>
                  <a:srgbClr val="222222"/>
                </a:solidFill>
                <a:latin typeface="Times New Roman"/>
                <a:cs typeface="Times New Roman"/>
              </a:rPr>
              <a:t>  </a:t>
            </a:r>
            <a:r>
              <a:rPr sz="2667" dirty="0">
                <a:solidFill>
                  <a:srgbClr val="222222"/>
                </a:solidFill>
                <a:latin typeface="Times New Roman"/>
                <a:cs typeface="Times New Roman"/>
              </a:rPr>
              <a:t>be</a:t>
            </a:r>
            <a:r>
              <a:rPr sz="2667" spc="333" dirty="0">
                <a:solidFill>
                  <a:srgbClr val="222222"/>
                </a:solidFill>
                <a:latin typeface="Times New Roman"/>
                <a:cs typeface="Times New Roman"/>
              </a:rPr>
              <a:t>  </a:t>
            </a:r>
            <a:r>
              <a:rPr sz="2667" dirty="0">
                <a:solidFill>
                  <a:srgbClr val="222222"/>
                </a:solidFill>
                <a:latin typeface="Times New Roman"/>
                <a:cs typeface="Times New Roman"/>
              </a:rPr>
              <a:t>used</a:t>
            </a:r>
            <a:r>
              <a:rPr sz="2667" spc="333" dirty="0">
                <a:solidFill>
                  <a:srgbClr val="222222"/>
                </a:solidFill>
                <a:latin typeface="Times New Roman"/>
                <a:cs typeface="Times New Roman"/>
              </a:rPr>
              <a:t>  </a:t>
            </a:r>
            <a:r>
              <a:rPr sz="2667" dirty="0">
                <a:solidFill>
                  <a:srgbClr val="222222"/>
                </a:solidFill>
                <a:latin typeface="Times New Roman"/>
                <a:cs typeface="Times New Roman"/>
              </a:rPr>
              <a:t>to</a:t>
            </a:r>
            <a:r>
              <a:rPr sz="2667" spc="333" dirty="0">
                <a:solidFill>
                  <a:srgbClr val="222222"/>
                </a:solidFill>
                <a:latin typeface="Times New Roman"/>
                <a:cs typeface="Times New Roman"/>
              </a:rPr>
              <a:t>  </a:t>
            </a:r>
            <a:r>
              <a:rPr sz="2667" dirty="0">
                <a:solidFill>
                  <a:srgbClr val="222222"/>
                </a:solidFill>
                <a:latin typeface="Times New Roman"/>
                <a:cs typeface="Times New Roman"/>
              </a:rPr>
              <a:t>invoke</a:t>
            </a:r>
            <a:r>
              <a:rPr sz="2667" spc="327" dirty="0">
                <a:solidFill>
                  <a:srgbClr val="222222"/>
                </a:solidFill>
                <a:latin typeface="Times New Roman"/>
                <a:cs typeface="Times New Roman"/>
              </a:rPr>
              <a:t>  </a:t>
            </a:r>
            <a:r>
              <a:rPr sz="2667" dirty="0">
                <a:solidFill>
                  <a:srgbClr val="222222"/>
                </a:solidFill>
                <a:latin typeface="Times New Roman"/>
                <a:cs typeface="Times New Roman"/>
              </a:rPr>
              <a:t>immediate</a:t>
            </a:r>
            <a:r>
              <a:rPr sz="2667" spc="333" dirty="0">
                <a:solidFill>
                  <a:srgbClr val="222222"/>
                </a:solidFill>
                <a:latin typeface="Times New Roman"/>
                <a:cs typeface="Times New Roman"/>
              </a:rPr>
              <a:t>  </a:t>
            </a:r>
            <a:r>
              <a:rPr sz="2667" dirty="0">
                <a:solidFill>
                  <a:srgbClr val="222222"/>
                </a:solidFill>
                <a:latin typeface="Times New Roman"/>
                <a:cs typeface="Times New Roman"/>
              </a:rPr>
              <a:t>parent</a:t>
            </a:r>
            <a:r>
              <a:rPr sz="2667" spc="333" dirty="0">
                <a:solidFill>
                  <a:srgbClr val="222222"/>
                </a:solidFill>
                <a:latin typeface="Times New Roman"/>
                <a:cs typeface="Times New Roman"/>
              </a:rPr>
              <a:t>  </a:t>
            </a:r>
            <a:r>
              <a:rPr sz="2667" spc="-13" dirty="0">
                <a:solidFill>
                  <a:srgbClr val="222222"/>
                </a:solidFill>
                <a:latin typeface="Times New Roman"/>
                <a:cs typeface="Times New Roman"/>
              </a:rPr>
              <a:t>class 	constructor.</a:t>
            </a:r>
            <a:endParaRPr sz="2667"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F5B93-350C-355B-E73A-327F2FE4688D}"/>
              </a:ext>
            </a:extLst>
          </p:cNvPr>
          <p:cNvSpPr>
            <a:spLocks noGrp="1"/>
          </p:cNvSpPr>
          <p:nvPr>
            <p:ph idx="1"/>
          </p:nvPr>
        </p:nvSpPr>
        <p:spPr>
          <a:xfrm>
            <a:off x="838200" y="1061884"/>
            <a:ext cx="10515600" cy="5115079"/>
          </a:xfrm>
        </p:spPr>
        <p:txBody>
          <a:bodyPr numCol="2">
            <a:normAutofit/>
          </a:bodyPr>
          <a:lstStyle/>
          <a:p>
            <a:pPr marL="0" indent="0">
              <a:buNone/>
            </a:pPr>
            <a:r>
              <a:rPr lang="en-IN" sz="2000" dirty="0"/>
              <a:t>class Parent {</a:t>
            </a:r>
          </a:p>
          <a:p>
            <a:pPr marL="0" indent="0">
              <a:buNone/>
            </a:pPr>
            <a:r>
              <a:rPr lang="en-IN" sz="2000" dirty="0"/>
              <a:t>    int x = 10;</a:t>
            </a:r>
          </a:p>
          <a:p>
            <a:pPr marL="0" indent="0">
              <a:buNone/>
            </a:pPr>
            <a:r>
              <a:rPr lang="en-IN" sz="2000" dirty="0"/>
              <a:t>}</a:t>
            </a:r>
          </a:p>
          <a:p>
            <a:pPr marL="0" indent="0">
              <a:buNone/>
            </a:pPr>
            <a:endParaRPr lang="en-IN" sz="2000" dirty="0"/>
          </a:p>
          <a:p>
            <a:pPr marL="0" indent="0">
              <a:buNone/>
            </a:pPr>
            <a:r>
              <a:rPr lang="en-IN" sz="2000" dirty="0"/>
              <a:t>class Child extends Parent {</a:t>
            </a:r>
          </a:p>
          <a:p>
            <a:pPr marL="0" indent="0">
              <a:buNone/>
            </a:pPr>
            <a:r>
              <a:rPr lang="en-IN" sz="2000" dirty="0"/>
              <a:t>    int x = 20;</a:t>
            </a:r>
          </a:p>
          <a:p>
            <a:pPr marL="0" indent="0">
              <a:buNone/>
            </a:pPr>
            <a:endParaRPr lang="en-IN" sz="2000" dirty="0"/>
          </a:p>
          <a:p>
            <a:pPr marL="0" indent="0">
              <a:buNone/>
            </a:pPr>
            <a:r>
              <a:rPr lang="en-IN" sz="2000" dirty="0"/>
              <a:t>    void show() {</a:t>
            </a:r>
          </a:p>
          <a:p>
            <a:pPr marL="0" indent="0">
              <a:buNone/>
            </a:pPr>
            <a:r>
              <a:rPr lang="en-IN" sz="2000" dirty="0"/>
              <a:t>        </a:t>
            </a:r>
            <a:r>
              <a:rPr lang="en-IN" sz="2000" dirty="0" err="1"/>
              <a:t>System.out.println</a:t>
            </a:r>
            <a:r>
              <a:rPr lang="en-IN" sz="2000" dirty="0"/>
              <a:t>("Child x: " + x);</a:t>
            </a:r>
          </a:p>
          <a:p>
            <a:pPr marL="0" indent="0">
              <a:buNone/>
            </a:pPr>
            <a:r>
              <a:rPr lang="en-IN" sz="2000" dirty="0"/>
              <a:t>        </a:t>
            </a:r>
            <a:r>
              <a:rPr lang="en-IN" sz="2000" dirty="0" err="1"/>
              <a:t>System.out.println</a:t>
            </a:r>
            <a:r>
              <a:rPr lang="en-IN" sz="2000" dirty="0"/>
              <a:t>("Parent x: " + </a:t>
            </a:r>
            <a:r>
              <a:rPr lang="en-IN" sz="2000" dirty="0" err="1"/>
              <a:t>super.x</a:t>
            </a:r>
            <a:r>
              <a:rPr lang="en-IN" sz="2000" dirty="0"/>
              <a:t>);</a:t>
            </a:r>
          </a:p>
          <a:p>
            <a:pPr marL="0" indent="0">
              <a:buNone/>
            </a:pPr>
            <a:r>
              <a:rPr lang="en-IN" sz="2000" dirty="0"/>
              <a:t>    }</a:t>
            </a:r>
          </a:p>
          <a:p>
            <a:pPr marL="0" indent="0">
              <a:buNone/>
            </a:pPr>
            <a:r>
              <a:rPr lang="en-IN" sz="2000" dirty="0"/>
              <a:t>}</a:t>
            </a:r>
          </a:p>
          <a:p>
            <a:pPr marL="0" indent="0">
              <a:buNone/>
            </a:pPr>
            <a:endParaRPr lang="en-IN" sz="2000" dirty="0"/>
          </a:p>
          <a:p>
            <a:pPr marL="0" indent="0">
              <a:buNone/>
            </a:pPr>
            <a:r>
              <a:rPr lang="en-IN" sz="2000" dirty="0"/>
              <a:t>public class Test {</a:t>
            </a:r>
          </a:p>
          <a:p>
            <a:pPr marL="0" indent="0">
              <a:buNone/>
            </a:pPr>
            <a:r>
              <a:rPr lang="en-IN" sz="2000" dirty="0"/>
              <a:t>    public static void main(String[] </a:t>
            </a:r>
            <a:r>
              <a:rPr lang="en-IN" sz="2000" dirty="0" err="1"/>
              <a:t>args</a:t>
            </a:r>
            <a:r>
              <a:rPr lang="en-IN" sz="2000" dirty="0"/>
              <a:t>) {</a:t>
            </a:r>
          </a:p>
          <a:p>
            <a:pPr marL="0" indent="0">
              <a:buNone/>
            </a:pPr>
            <a:r>
              <a:rPr lang="en-IN" sz="2000" dirty="0"/>
              <a:t>        Child c = new Child();</a:t>
            </a:r>
          </a:p>
          <a:p>
            <a:pPr marL="0" indent="0">
              <a:buNone/>
            </a:pPr>
            <a:r>
              <a:rPr lang="en-IN" sz="2000" dirty="0"/>
              <a:t>        </a:t>
            </a:r>
            <a:r>
              <a:rPr lang="en-IN" sz="2000" dirty="0" err="1"/>
              <a:t>c.show</a:t>
            </a:r>
            <a:r>
              <a:rPr lang="en-IN" sz="2000" dirty="0"/>
              <a:t>();</a:t>
            </a:r>
          </a:p>
          <a:p>
            <a:pPr marL="0" indent="0">
              <a:buNone/>
            </a:pPr>
            <a:r>
              <a:rPr lang="en-IN" sz="2000" dirty="0"/>
              <a:t>    }</a:t>
            </a:r>
          </a:p>
          <a:p>
            <a:pPr marL="0" indent="0">
              <a:buNone/>
            </a:pPr>
            <a:r>
              <a:rPr lang="en-IN" sz="2000" dirty="0"/>
              <a:t>}</a:t>
            </a:r>
          </a:p>
        </p:txBody>
      </p:sp>
      <p:sp>
        <p:nvSpPr>
          <p:cNvPr id="4" name="Slide Number Placeholder 3">
            <a:extLst>
              <a:ext uri="{FF2B5EF4-FFF2-40B4-BE49-F238E27FC236}">
                <a16:creationId xmlns:a16="http://schemas.microsoft.com/office/drawing/2014/main" id="{D204418E-E54D-0FB4-F6FE-017C61D61BB7}"/>
              </a:ext>
            </a:extLst>
          </p:cNvPr>
          <p:cNvSpPr>
            <a:spLocks noGrp="1"/>
          </p:cNvSpPr>
          <p:nvPr>
            <p:ph type="sldNum" sz="quarter" idx="12"/>
          </p:nvPr>
        </p:nvSpPr>
        <p:spPr/>
        <p:txBody>
          <a:bodyPr/>
          <a:lstStyle/>
          <a:p>
            <a:fld id="{4DAC0951-10B0-4509-9BA5-FD8683A6F967}" type="slidenum">
              <a:rPr lang="en-IN" smtClean="0"/>
              <a:pPr/>
              <a:t>32</a:t>
            </a:fld>
            <a:endParaRPr lang="en-IN"/>
          </a:p>
        </p:txBody>
      </p:sp>
      <p:sp>
        <p:nvSpPr>
          <p:cNvPr id="6" name="TextBox 5">
            <a:extLst>
              <a:ext uri="{FF2B5EF4-FFF2-40B4-BE49-F238E27FC236}">
                <a16:creationId xmlns:a16="http://schemas.microsoft.com/office/drawing/2014/main" id="{55C9C8C5-633C-3A22-DC55-DF86BC1D4ED4}"/>
              </a:ext>
            </a:extLst>
          </p:cNvPr>
          <p:cNvSpPr txBox="1"/>
          <p:nvPr/>
        </p:nvSpPr>
        <p:spPr>
          <a:xfrm>
            <a:off x="6096000" y="4248835"/>
            <a:ext cx="6096000" cy="923330"/>
          </a:xfrm>
          <a:prstGeom prst="rect">
            <a:avLst/>
          </a:prstGeom>
          <a:noFill/>
        </p:spPr>
        <p:txBody>
          <a:bodyPr wrap="square">
            <a:spAutoFit/>
          </a:bodyPr>
          <a:lstStyle/>
          <a:p>
            <a:r>
              <a:rPr lang="en-IN" dirty="0"/>
              <a:t>Output:</a:t>
            </a:r>
            <a:br>
              <a:rPr lang="en-IN" dirty="0"/>
            </a:br>
            <a:r>
              <a:rPr lang="en-IN" dirty="0"/>
              <a:t>Child x: 20</a:t>
            </a:r>
          </a:p>
          <a:p>
            <a:r>
              <a:rPr lang="en-IN" dirty="0"/>
              <a:t>Parent x: 10</a:t>
            </a:r>
          </a:p>
        </p:txBody>
      </p:sp>
      <p:sp>
        <p:nvSpPr>
          <p:cNvPr id="8" name="TextBox 7">
            <a:extLst>
              <a:ext uri="{FF2B5EF4-FFF2-40B4-BE49-F238E27FC236}">
                <a16:creationId xmlns:a16="http://schemas.microsoft.com/office/drawing/2014/main" id="{4A425104-7314-5636-C526-8B08AD3DAECC}"/>
              </a:ext>
            </a:extLst>
          </p:cNvPr>
          <p:cNvSpPr txBox="1"/>
          <p:nvPr/>
        </p:nvSpPr>
        <p:spPr>
          <a:xfrm>
            <a:off x="6096000" y="5201579"/>
            <a:ext cx="5257800" cy="369332"/>
          </a:xfrm>
          <a:prstGeom prst="rect">
            <a:avLst/>
          </a:prstGeom>
          <a:noFill/>
        </p:spPr>
        <p:txBody>
          <a:bodyPr wrap="square">
            <a:spAutoFit/>
          </a:bodyPr>
          <a:lstStyle/>
          <a:p>
            <a:pPr marL="0" indent="0">
              <a:buNone/>
            </a:pPr>
            <a:r>
              <a:rPr lang="en-US" sz="1800" dirty="0" err="1"/>
              <a:t>super.x</a:t>
            </a:r>
            <a:r>
              <a:rPr lang="en-US" sz="1800" dirty="0"/>
              <a:t> refers to parent class variable.</a:t>
            </a:r>
            <a:endParaRPr lang="en-IN" sz="1800" dirty="0"/>
          </a:p>
        </p:txBody>
      </p:sp>
    </p:spTree>
    <p:extLst>
      <p:ext uri="{BB962C8B-B14F-4D97-AF65-F5344CB8AC3E}">
        <p14:creationId xmlns:p14="http://schemas.microsoft.com/office/powerpoint/2010/main" val="711139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133670"/>
            <a:ext cx="9206271" cy="473744"/>
          </a:xfrm>
          <a:prstGeom prst="rect">
            <a:avLst/>
          </a:prstGeom>
        </p:spPr>
        <p:txBody>
          <a:bodyPr vert="horz" wrap="square" lIns="0" tIns="83145" rIns="0" bIns="0" rtlCol="0" anchor="ctr">
            <a:spAutoFit/>
          </a:bodyPr>
          <a:lstStyle/>
          <a:p>
            <a:pPr marL="596038">
              <a:lnSpc>
                <a:spcPct val="100000"/>
              </a:lnSpc>
              <a:spcBef>
                <a:spcPts val="133"/>
              </a:spcBef>
            </a:pPr>
            <a:r>
              <a:rPr sz="2533" b="1" dirty="0"/>
              <a:t>1)</a:t>
            </a:r>
            <a:r>
              <a:rPr sz="2533" b="1" spc="-73" dirty="0"/>
              <a:t> </a:t>
            </a:r>
            <a:r>
              <a:rPr sz="2533" b="1" dirty="0"/>
              <a:t>super</a:t>
            </a:r>
            <a:r>
              <a:rPr sz="2533" b="1" spc="-67" dirty="0"/>
              <a:t> </a:t>
            </a:r>
            <a:r>
              <a:rPr sz="2533" b="1" dirty="0"/>
              <a:t>is</a:t>
            </a:r>
            <a:r>
              <a:rPr sz="2533" b="1" spc="-67" dirty="0"/>
              <a:t> </a:t>
            </a:r>
            <a:r>
              <a:rPr sz="2533" b="1" dirty="0"/>
              <a:t>used</a:t>
            </a:r>
            <a:r>
              <a:rPr sz="2533" b="1" spc="-67" dirty="0"/>
              <a:t> </a:t>
            </a:r>
            <a:r>
              <a:rPr sz="2533" b="1" dirty="0"/>
              <a:t>to</a:t>
            </a:r>
            <a:r>
              <a:rPr sz="2533" b="1" spc="-73" dirty="0"/>
              <a:t> </a:t>
            </a:r>
            <a:r>
              <a:rPr sz="2533" b="1" dirty="0"/>
              <a:t>refer</a:t>
            </a:r>
            <a:r>
              <a:rPr sz="2533" b="1" spc="-67" dirty="0"/>
              <a:t> </a:t>
            </a:r>
            <a:r>
              <a:rPr sz="2533" b="1" spc="-13" dirty="0"/>
              <a:t>immediate</a:t>
            </a:r>
            <a:r>
              <a:rPr sz="2533" b="1" spc="-67" dirty="0"/>
              <a:t> </a:t>
            </a:r>
            <a:r>
              <a:rPr sz="2533" b="1" dirty="0"/>
              <a:t>parent</a:t>
            </a:r>
            <a:r>
              <a:rPr sz="2533" b="1" spc="-67" dirty="0"/>
              <a:t> </a:t>
            </a:r>
            <a:r>
              <a:rPr sz="2533" b="1" dirty="0"/>
              <a:t>class</a:t>
            </a:r>
            <a:r>
              <a:rPr sz="2533" b="1" spc="-73" dirty="0"/>
              <a:t> </a:t>
            </a:r>
            <a:r>
              <a:rPr sz="2533" b="1" dirty="0"/>
              <a:t>instance</a:t>
            </a:r>
            <a:r>
              <a:rPr sz="2533" b="1" spc="-67" dirty="0"/>
              <a:t> </a:t>
            </a:r>
            <a:r>
              <a:rPr sz="2533" b="1" spc="-13" dirty="0"/>
              <a:t>variable.</a:t>
            </a:r>
            <a:endParaRPr sz="2533" b="1" dirty="0"/>
          </a:p>
        </p:txBody>
      </p:sp>
      <p:sp>
        <p:nvSpPr>
          <p:cNvPr id="3" name="object 3"/>
          <p:cNvSpPr txBox="1"/>
          <p:nvPr/>
        </p:nvSpPr>
        <p:spPr>
          <a:xfrm>
            <a:off x="1336424" y="2166984"/>
            <a:ext cx="9850120" cy="873871"/>
          </a:xfrm>
          <a:prstGeom prst="rect">
            <a:avLst/>
          </a:prstGeom>
        </p:spPr>
        <p:txBody>
          <a:bodyPr vert="horz" wrap="square" lIns="0" tIns="16933" rIns="0" bIns="0" rtlCol="0">
            <a:spAutoFit/>
          </a:bodyPr>
          <a:lstStyle/>
          <a:p>
            <a:pPr marL="463962" indent="-447029">
              <a:spcBef>
                <a:spcPts val="133"/>
              </a:spcBef>
              <a:buFont typeface="Arial MT"/>
              <a:buChar char="●"/>
              <a:tabLst>
                <a:tab pos="463962" algn="l"/>
              </a:tabLst>
            </a:pPr>
            <a:r>
              <a:rPr sz="1867" dirty="0">
                <a:latin typeface="Verdana"/>
                <a:cs typeface="Verdana"/>
              </a:rPr>
              <a:t>We</a:t>
            </a:r>
            <a:r>
              <a:rPr sz="1867" spc="-60" dirty="0">
                <a:latin typeface="Verdana"/>
                <a:cs typeface="Verdana"/>
              </a:rPr>
              <a:t> </a:t>
            </a:r>
            <a:r>
              <a:rPr sz="1867" dirty="0">
                <a:latin typeface="Verdana"/>
                <a:cs typeface="Verdana"/>
              </a:rPr>
              <a:t>can</a:t>
            </a:r>
            <a:r>
              <a:rPr sz="1867" spc="-60" dirty="0">
                <a:latin typeface="Verdana"/>
                <a:cs typeface="Verdana"/>
              </a:rPr>
              <a:t> </a:t>
            </a:r>
            <a:r>
              <a:rPr sz="1867" dirty="0">
                <a:latin typeface="Verdana"/>
                <a:cs typeface="Verdana"/>
              </a:rPr>
              <a:t>use</a:t>
            </a:r>
            <a:r>
              <a:rPr sz="1867" spc="-53" dirty="0">
                <a:latin typeface="Verdana"/>
                <a:cs typeface="Verdana"/>
              </a:rPr>
              <a:t> </a:t>
            </a:r>
            <a:r>
              <a:rPr sz="1867" dirty="0">
                <a:latin typeface="Verdana"/>
                <a:cs typeface="Verdana"/>
              </a:rPr>
              <a:t>super</a:t>
            </a:r>
            <a:r>
              <a:rPr sz="1867" spc="-60" dirty="0">
                <a:latin typeface="Verdana"/>
                <a:cs typeface="Verdana"/>
              </a:rPr>
              <a:t> </a:t>
            </a:r>
            <a:r>
              <a:rPr sz="1867" dirty="0">
                <a:latin typeface="Verdana"/>
                <a:cs typeface="Verdana"/>
              </a:rPr>
              <a:t>keyword</a:t>
            </a:r>
            <a:r>
              <a:rPr sz="1867" spc="-53" dirty="0">
                <a:latin typeface="Verdana"/>
                <a:cs typeface="Verdana"/>
              </a:rPr>
              <a:t> </a:t>
            </a:r>
            <a:r>
              <a:rPr sz="1867" dirty="0">
                <a:latin typeface="Verdana"/>
                <a:cs typeface="Verdana"/>
              </a:rPr>
              <a:t>to</a:t>
            </a:r>
            <a:r>
              <a:rPr sz="1867" spc="-60" dirty="0">
                <a:latin typeface="Verdana"/>
                <a:cs typeface="Verdana"/>
              </a:rPr>
              <a:t> </a:t>
            </a:r>
            <a:r>
              <a:rPr sz="1867" dirty="0">
                <a:latin typeface="Verdana"/>
                <a:cs typeface="Verdana"/>
              </a:rPr>
              <a:t>access</a:t>
            </a:r>
            <a:r>
              <a:rPr sz="1867" spc="-53" dirty="0">
                <a:latin typeface="Verdana"/>
                <a:cs typeface="Verdana"/>
              </a:rPr>
              <a:t> </a:t>
            </a:r>
            <a:r>
              <a:rPr sz="1867" dirty="0">
                <a:latin typeface="Verdana"/>
                <a:cs typeface="Verdana"/>
              </a:rPr>
              <a:t>the</a:t>
            </a:r>
            <a:r>
              <a:rPr sz="1867" spc="-60" dirty="0">
                <a:latin typeface="Verdana"/>
                <a:cs typeface="Verdana"/>
              </a:rPr>
              <a:t> </a:t>
            </a:r>
            <a:r>
              <a:rPr sz="1867" dirty="0">
                <a:latin typeface="Verdana"/>
                <a:cs typeface="Verdana"/>
              </a:rPr>
              <a:t>data</a:t>
            </a:r>
            <a:r>
              <a:rPr sz="1867" spc="-53" dirty="0">
                <a:latin typeface="Verdana"/>
                <a:cs typeface="Verdana"/>
              </a:rPr>
              <a:t> </a:t>
            </a:r>
            <a:r>
              <a:rPr sz="1867" dirty="0">
                <a:latin typeface="Verdana"/>
                <a:cs typeface="Verdana"/>
              </a:rPr>
              <a:t>member</a:t>
            </a:r>
            <a:r>
              <a:rPr sz="1867" spc="-60" dirty="0">
                <a:latin typeface="Verdana"/>
                <a:cs typeface="Verdana"/>
              </a:rPr>
              <a:t> </a:t>
            </a:r>
            <a:r>
              <a:rPr sz="1867" dirty="0">
                <a:latin typeface="Verdana"/>
                <a:cs typeface="Verdana"/>
              </a:rPr>
              <a:t>or</a:t>
            </a:r>
            <a:r>
              <a:rPr sz="1867" spc="-53" dirty="0">
                <a:latin typeface="Verdana"/>
                <a:cs typeface="Verdana"/>
              </a:rPr>
              <a:t> </a:t>
            </a:r>
            <a:r>
              <a:rPr sz="1867" dirty="0">
                <a:latin typeface="Verdana"/>
                <a:cs typeface="Verdana"/>
              </a:rPr>
              <a:t>field</a:t>
            </a:r>
            <a:r>
              <a:rPr sz="1867" spc="-60" dirty="0">
                <a:latin typeface="Verdana"/>
                <a:cs typeface="Verdana"/>
              </a:rPr>
              <a:t> </a:t>
            </a:r>
            <a:r>
              <a:rPr sz="1867" dirty="0">
                <a:latin typeface="Verdana"/>
                <a:cs typeface="Verdana"/>
              </a:rPr>
              <a:t>of</a:t>
            </a:r>
            <a:r>
              <a:rPr sz="1867" spc="-53" dirty="0">
                <a:latin typeface="Verdana"/>
                <a:cs typeface="Verdana"/>
              </a:rPr>
              <a:t> </a:t>
            </a:r>
            <a:r>
              <a:rPr sz="1867" dirty="0">
                <a:latin typeface="Verdana"/>
                <a:cs typeface="Verdana"/>
              </a:rPr>
              <a:t>parent</a:t>
            </a:r>
            <a:r>
              <a:rPr sz="1867" spc="-60" dirty="0">
                <a:latin typeface="Verdana"/>
                <a:cs typeface="Verdana"/>
              </a:rPr>
              <a:t> </a:t>
            </a:r>
            <a:r>
              <a:rPr sz="1867" spc="-13" dirty="0">
                <a:latin typeface="Verdana"/>
                <a:cs typeface="Verdana"/>
              </a:rPr>
              <a:t>class.</a:t>
            </a:r>
            <a:endParaRPr sz="1867" dirty="0">
              <a:latin typeface="Verdana"/>
              <a:cs typeface="Verdana"/>
            </a:endParaRPr>
          </a:p>
          <a:p>
            <a:pPr marL="463962" indent="-447029">
              <a:spcBef>
                <a:spcPts val="2227"/>
              </a:spcBef>
              <a:buFont typeface="Arial MT"/>
              <a:buChar char="●"/>
              <a:tabLst>
                <a:tab pos="463962" algn="l"/>
              </a:tabLst>
            </a:pPr>
            <a:r>
              <a:rPr sz="1867" dirty="0">
                <a:latin typeface="Verdana"/>
                <a:cs typeface="Verdana"/>
              </a:rPr>
              <a:t>It</a:t>
            </a:r>
            <a:r>
              <a:rPr sz="1867" spc="-47" dirty="0">
                <a:latin typeface="Verdana"/>
                <a:cs typeface="Verdana"/>
              </a:rPr>
              <a:t> </a:t>
            </a:r>
            <a:r>
              <a:rPr sz="1867" dirty="0">
                <a:latin typeface="Verdana"/>
                <a:cs typeface="Verdana"/>
              </a:rPr>
              <a:t>is</a:t>
            </a:r>
            <a:r>
              <a:rPr sz="1867" spc="-40" dirty="0">
                <a:latin typeface="Verdana"/>
                <a:cs typeface="Verdana"/>
              </a:rPr>
              <a:t> </a:t>
            </a:r>
            <a:r>
              <a:rPr sz="1867" dirty="0">
                <a:latin typeface="Verdana"/>
                <a:cs typeface="Verdana"/>
              </a:rPr>
              <a:t>used</a:t>
            </a:r>
            <a:r>
              <a:rPr sz="1867" spc="-40" dirty="0">
                <a:latin typeface="Verdana"/>
                <a:cs typeface="Verdana"/>
              </a:rPr>
              <a:t> </a:t>
            </a:r>
            <a:r>
              <a:rPr sz="1867" dirty="0">
                <a:latin typeface="Verdana"/>
                <a:cs typeface="Verdana"/>
              </a:rPr>
              <a:t>if</a:t>
            </a:r>
            <a:r>
              <a:rPr sz="1867" spc="-47" dirty="0">
                <a:latin typeface="Verdana"/>
                <a:cs typeface="Verdana"/>
              </a:rPr>
              <a:t> </a:t>
            </a:r>
            <a:r>
              <a:rPr sz="1867" dirty="0">
                <a:latin typeface="Verdana"/>
                <a:cs typeface="Verdana"/>
              </a:rPr>
              <a:t>parent</a:t>
            </a:r>
            <a:r>
              <a:rPr sz="1867" spc="-40" dirty="0">
                <a:latin typeface="Verdana"/>
                <a:cs typeface="Verdana"/>
              </a:rPr>
              <a:t> </a:t>
            </a:r>
            <a:r>
              <a:rPr sz="1867" dirty="0">
                <a:latin typeface="Verdana"/>
                <a:cs typeface="Verdana"/>
              </a:rPr>
              <a:t>class</a:t>
            </a:r>
            <a:r>
              <a:rPr sz="1867" spc="-40" dirty="0">
                <a:latin typeface="Verdana"/>
                <a:cs typeface="Verdana"/>
              </a:rPr>
              <a:t> </a:t>
            </a:r>
            <a:r>
              <a:rPr sz="1867" dirty="0">
                <a:latin typeface="Verdana"/>
                <a:cs typeface="Verdana"/>
              </a:rPr>
              <a:t>and</a:t>
            </a:r>
            <a:r>
              <a:rPr sz="1867" spc="-47" dirty="0">
                <a:latin typeface="Verdana"/>
                <a:cs typeface="Verdana"/>
              </a:rPr>
              <a:t> </a:t>
            </a:r>
            <a:r>
              <a:rPr sz="1867" dirty="0">
                <a:latin typeface="Verdana"/>
                <a:cs typeface="Verdana"/>
              </a:rPr>
              <a:t>child</a:t>
            </a:r>
            <a:r>
              <a:rPr sz="1867" spc="-40" dirty="0">
                <a:latin typeface="Verdana"/>
                <a:cs typeface="Verdana"/>
              </a:rPr>
              <a:t> </a:t>
            </a:r>
            <a:r>
              <a:rPr sz="1867" dirty="0">
                <a:latin typeface="Verdana"/>
                <a:cs typeface="Verdana"/>
              </a:rPr>
              <a:t>class</a:t>
            </a:r>
            <a:r>
              <a:rPr sz="1867" spc="-40" dirty="0">
                <a:latin typeface="Verdana"/>
                <a:cs typeface="Verdana"/>
              </a:rPr>
              <a:t> </a:t>
            </a:r>
            <a:r>
              <a:rPr sz="1867" dirty="0">
                <a:latin typeface="Verdana"/>
                <a:cs typeface="Verdana"/>
              </a:rPr>
              <a:t>have</a:t>
            </a:r>
            <a:r>
              <a:rPr sz="1867" spc="-47" dirty="0">
                <a:latin typeface="Verdana"/>
                <a:cs typeface="Verdana"/>
              </a:rPr>
              <a:t> </a:t>
            </a:r>
            <a:r>
              <a:rPr sz="1867" dirty="0">
                <a:latin typeface="Verdana"/>
                <a:cs typeface="Verdana"/>
              </a:rPr>
              <a:t>same</a:t>
            </a:r>
            <a:r>
              <a:rPr sz="1867" spc="-40" dirty="0">
                <a:latin typeface="Verdana"/>
                <a:cs typeface="Verdana"/>
              </a:rPr>
              <a:t> </a:t>
            </a:r>
            <a:r>
              <a:rPr sz="1867" spc="-13" dirty="0">
                <a:latin typeface="Verdana"/>
                <a:cs typeface="Verdana"/>
              </a:rPr>
              <a:t>fields.</a:t>
            </a:r>
            <a:endParaRPr sz="1867" dirty="0">
              <a:latin typeface="Verdana"/>
              <a:cs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35767" y="258230"/>
            <a:ext cx="7414260" cy="5397930"/>
          </a:xfrm>
          <a:prstGeom prst="rect">
            <a:avLst/>
          </a:prstGeom>
        </p:spPr>
        <p:txBody>
          <a:bodyPr vert="horz" wrap="square" lIns="0" tIns="62653" rIns="0" bIns="0" rtlCol="0">
            <a:spAutoFit/>
          </a:bodyPr>
          <a:lstStyle/>
          <a:p>
            <a:pPr marL="16933">
              <a:spcBef>
                <a:spcPts val="493"/>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Animal{</a:t>
            </a:r>
            <a:endParaRPr sz="1867">
              <a:latin typeface="Verdana"/>
              <a:cs typeface="Verdana"/>
            </a:endParaRPr>
          </a:p>
          <a:p>
            <a:pPr marL="16933">
              <a:spcBef>
                <a:spcPts val="360"/>
              </a:spcBef>
            </a:pPr>
            <a:r>
              <a:rPr sz="1867" dirty="0">
                <a:latin typeface="Verdana"/>
                <a:cs typeface="Verdana"/>
              </a:rPr>
              <a:t>String</a:t>
            </a:r>
            <a:r>
              <a:rPr sz="1867" spc="-100" dirty="0">
                <a:latin typeface="Verdana"/>
                <a:cs typeface="Verdana"/>
              </a:rPr>
              <a:t> </a:t>
            </a:r>
            <a:r>
              <a:rPr sz="1867" spc="-13" dirty="0">
                <a:latin typeface="Verdana"/>
                <a:cs typeface="Verdana"/>
              </a:rPr>
              <a:t>color=</a:t>
            </a:r>
            <a:r>
              <a:rPr sz="1867" spc="-13" dirty="0">
                <a:solidFill>
                  <a:srgbClr val="0000FF"/>
                </a:solidFill>
                <a:latin typeface="Verdana"/>
                <a:cs typeface="Verdana"/>
              </a:rPr>
              <a:t>"white"</a:t>
            </a:r>
            <a:r>
              <a:rPr sz="1867" spc="-13" dirty="0">
                <a:latin typeface="Verdana"/>
                <a:cs typeface="Verdana"/>
              </a:rPr>
              <a:t>;</a:t>
            </a:r>
            <a:endParaRPr sz="1867">
              <a:latin typeface="Verdana"/>
              <a:cs typeface="Verdana"/>
            </a:endParaRPr>
          </a:p>
          <a:p>
            <a:pPr marL="16933">
              <a:spcBef>
                <a:spcPts val="360"/>
              </a:spcBef>
            </a:pPr>
            <a:r>
              <a:rPr sz="1867" spc="-67" dirty="0">
                <a:latin typeface="Verdana"/>
                <a:cs typeface="Verdana"/>
              </a:rPr>
              <a:t>}</a:t>
            </a:r>
            <a:endParaRPr sz="1867">
              <a:latin typeface="Verdana"/>
              <a:cs typeface="Verdana"/>
            </a:endParaRPr>
          </a:p>
          <a:p>
            <a:pPr marL="16933" marR="3982620">
              <a:lnSpc>
                <a:spcPct val="116100"/>
              </a:lnSpc>
            </a:pPr>
            <a:r>
              <a:rPr sz="1867" b="1" dirty="0">
                <a:solidFill>
                  <a:srgbClr val="006699"/>
                </a:solidFill>
                <a:latin typeface="Verdana"/>
                <a:cs typeface="Verdana"/>
              </a:rPr>
              <a:t>class</a:t>
            </a:r>
            <a:r>
              <a:rPr sz="1867" b="1" spc="-27" dirty="0">
                <a:solidFill>
                  <a:srgbClr val="006699"/>
                </a:solidFill>
                <a:latin typeface="Verdana"/>
                <a:cs typeface="Verdana"/>
              </a:rPr>
              <a:t> </a:t>
            </a:r>
            <a:r>
              <a:rPr sz="1867" dirty="0">
                <a:latin typeface="Verdana"/>
                <a:cs typeface="Verdana"/>
              </a:rPr>
              <a:t>Dog</a:t>
            </a:r>
            <a:r>
              <a:rPr sz="1867" spc="-33" dirty="0">
                <a:latin typeface="Verdana"/>
                <a:cs typeface="Verdana"/>
              </a:rPr>
              <a:t> </a:t>
            </a:r>
            <a:r>
              <a:rPr sz="1867" b="1" dirty="0">
                <a:solidFill>
                  <a:srgbClr val="006699"/>
                </a:solidFill>
                <a:latin typeface="Verdana"/>
                <a:cs typeface="Verdana"/>
              </a:rPr>
              <a:t>extends</a:t>
            </a:r>
            <a:r>
              <a:rPr sz="1867" b="1" spc="-13" dirty="0">
                <a:solidFill>
                  <a:srgbClr val="006699"/>
                </a:solidFill>
                <a:latin typeface="Verdana"/>
                <a:cs typeface="Verdana"/>
              </a:rPr>
              <a:t> </a:t>
            </a:r>
            <a:r>
              <a:rPr sz="1867" spc="-13" dirty="0">
                <a:latin typeface="Verdana"/>
                <a:cs typeface="Verdana"/>
              </a:rPr>
              <a:t>Animal{ </a:t>
            </a:r>
            <a:r>
              <a:rPr sz="1867" dirty="0">
                <a:latin typeface="Verdana"/>
                <a:cs typeface="Verdana"/>
              </a:rPr>
              <a:t>String</a:t>
            </a:r>
            <a:r>
              <a:rPr sz="1867" spc="-100" dirty="0">
                <a:latin typeface="Verdana"/>
                <a:cs typeface="Verdana"/>
              </a:rPr>
              <a:t> </a:t>
            </a:r>
            <a:r>
              <a:rPr sz="1867" spc="-13" dirty="0">
                <a:latin typeface="Verdana"/>
                <a:cs typeface="Verdana"/>
              </a:rPr>
              <a:t>color=</a:t>
            </a:r>
            <a:r>
              <a:rPr sz="1867" spc="-13" dirty="0">
                <a:solidFill>
                  <a:srgbClr val="0000FF"/>
                </a:solidFill>
                <a:latin typeface="Verdana"/>
                <a:cs typeface="Verdana"/>
              </a:rPr>
              <a:t>"black"</a:t>
            </a:r>
            <a:r>
              <a:rPr sz="1867" spc="-13" dirty="0">
                <a:latin typeface="Verdana"/>
                <a:cs typeface="Verdana"/>
              </a:rPr>
              <a:t>;</a:t>
            </a:r>
            <a:endParaRPr sz="1867">
              <a:latin typeface="Verdana"/>
              <a:cs typeface="Verdana"/>
            </a:endParaRPr>
          </a:p>
          <a:p>
            <a:pPr marL="16933" marR="1182762">
              <a:lnSpc>
                <a:spcPct val="116100"/>
              </a:lnSpc>
            </a:pP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printColor(){</a:t>
            </a:r>
            <a:r>
              <a:rPr sz="1867" spc="667" dirty="0">
                <a:latin typeface="Verdana"/>
                <a:cs typeface="Verdana"/>
              </a:rPr>
              <a:t> </a:t>
            </a:r>
            <a:r>
              <a:rPr sz="1867" spc="-13" dirty="0">
                <a:latin typeface="Verdana"/>
                <a:cs typeface="Verdana"/>
              </a:rPr>
              <a:t>System.out.println(color);</a:t>
            </a:r>
            <a:r>
              <a:rPr sz="1867" spc="-13" dirty="0">
                <a:solidFill>
                  <a:srgbClr val="008200"/>
                </a:solidFill>
                <a:latin typeface="Verdana"/>
                <a:cs typeface="Verdana"/>
              </a:rPr>
              <a:t>//prints</a:t>
            </a:r>
            <a:r>
              <a:rPr sz="1867" spc="-53" dirty="0">
                <a:solidFill>
                  <a:srgbClr val="008200"/>
                </a:solidFill>
                <a:latin typeface="Verdana"/>
                <a:cs typeface="Verdana"/>
              </a:rPr>
              <a:t> </a:t>
            </a:r>
            <a:r>
              <a:rPr sz="1867" dirty="0">
                <a:solidFill>
                  <a:srgbClr val="008200"/>
                </a:solidFill>
                <a:latin typeface="Verdana"/>
                <a:cs typeface="Verdana"/>
              </a:rPr>
              <a:t>color</a:t>
            </a:r>
            <a:r>
              <a:rPr sz="1867" spc="-53" dirty="0">
                <a:solidFill>
                  <a:srgbClr val="008200"/>
                </a:solidFill>
                <a:latin typeface="Verdana"/>
                <a:cs typeface="Verdana"/>
              </a:rPr>
              <a:t> </a:t>
            </a:r>
            <a:r>
              <a:rPr sz="1867" dirty="0">
                <a:solidFill>
                  <a:srgbClr val="008200"/>
                </a:solidFill>
                <a:latin typeface="Verdana"/>
                <a:cs typeface="Verdana"/>
              </a:rPr>
              <a:t>of</a:t>
            </a:r>
            <a:r>
              <a:rPr sz="1867" spc="-53" dirty="0">
                <a:solidFill>
                  <a:srgbClr val="008200"/>
                </a:solidFill>
                <a:latin typeface="Verdana"/>
                <a:cs typeface="Verdana"/>
              </a:rPr>
              <a:t> </a:t>
            </a:r>
            <a:r>
              <a:rPr sz="1867" dirty="0">
                <a:solidFill>
                  <a:srgbClr val="008200"/>
                </a:solidFill>
                <a:latin typeface="Verdana"/>
                <a:cs typeface="Verdana"/>
              </a:rPr>
              <a:t>Dog</a:t>
            </a:r>
            <a:r>
              <a:rPr sz="1867" spc="-53" dirty="0">
                <a:solidFill>
                  <a:srgbClr val="008200"/>
                </a:solidFill>
                <a:latin typeface="Verdana"/>
                <a:cs typeface="Verdana"/>
              </a:rPr>
              <a:t> </a:t>
            </a:r>
            <a:r>
              <a:rPr sz="1867" spc="-13" dirty="0">
                <a:solidFill>
                  <a:srgbClr val="008200"/>
                </a:solidFill>
                <a:latin typeface="Verdana"/>
                <a:cs typeface="Verdana"/>
              </a:rPr>
              <a:t>class</a:t>
            </a:r>
            <a:endParaRPr sz="1867">
              <a:latin typeface="Verdana"/>
              <a:cs typeface="Verdana"/>
            </a:endParaRPr>
          </a:p>
          <a:p>
            <a:pPr marL="16933">
              <a:spcBef>
                <a:spcPts val="360"/>
              </a:spcBef>
            </a:pPr>
            <a:r>
              <a:rPr sz="1867" spc="-13" dirty="0">
                <a:latin typeface="Verdana"/>
                <a:cs typeface="Verdana"/>
              </a:rPr>
              <a:t>System.out.println(</a:t>
            </a:r>
            <a:r>
              <a:rPr sz="1867" b="1" spc="-13" dirty="0">
                <a:solidFill>
                  <a:srgbClr val="006699"/>
                </a:solidFill>
                <a:latin typeface="Verdana"/>
                <a:cs typeface="Verdana"/>
              </a:rPr>
              <a:t>super</a:t>
            </a:r>
            <a:r>
              <a:rPr sz="1867" spc="-13" dirty="0">
                <a:latin typeface="Verdana"/>
                <a:cs typeface="Verdana"/>
              </a:rPr>
              <a:t>.color);</a:t>
            </a:r>
            <a:r>
              <a:rPr sz="1867" spc="-13" dirty="0">
                <a:solidFill>
                  <a:srgbClr val="008200"/>
                </a:solidFill>
                <a:latin typeface="Verdana"/>
                <a:cs typeface="Verdana"/>
              </a:rPr>
              <a:t>//prints</a:t>
            </a:r>
            <a:r>
              <a:rPr sz="1867" spc="-67" dirty="0">
                <a:solidFill>
                  <a:srgbClr val="008200"/>
                </a:solidFill>
                <a:latin typeface="Verdana"/>
                <a:cs typeface="Verdana"/>
              </a:rPr>
              <a:t> </a:t>
            </a:r>
            <a:r>
              <a:rPr sz="1867" dirty="0">
                <a:solidFill>
                  <a:srgbClr val="008200"/>
                </a:solidFill>
                <a:latin typeface="Verdana"/>
                <a:cs typeface="Verdana"/>
              </a:rPr>
              <a:t>color</a:t>
            </a:r>
            <a:r>
              <a:rPr sz="1867" spc="-67" dirty="0">
                <a:solidFill>
                  <a:srgbClr val="008200"/>
                </a:solidFill>
                <a:latin typeface="Verdana"/>
                <a:cs typeface="Verdana"/>
              </a:rPr>
              <a:t> </a:t>
            </a:r>
            <a:r>
              <a:rPr sz="1867" dirty="0">
                <a:solidFill>
                  <a:srgbClr val="008200"/>
                </a:solidFill>
                <a:latin typeface="Verdana"/>
                <a:cs typeface="Verdana"/>
              </a:rPr>
              <a:t>of</a:t>
            </a:r>
            <a:r>
              <a:rPr sz="1867" spc="-67" dirty="0">
                <a:solidFill>
                  <a:srgbClr val="008200"/>
                </a:solidFill>
                <a:latin typeface="Verdana"/>
                <a:cs typeface="Verdana"/>
              </a:rPr>
              <a:t> </a:t>
            </a:r>
            <a:r>
              <a:rPr sz="1867" dirty="0">
                <a:solidFill>
                  <a:srgbClr val="008200"/>
                </a:solidFill>
                <a:latin typeface="Verdana"/>
                <a:cs typeface="Verdana"/>
              </a:rPr>
              <a:t>Animal</a:t>
            </a:r>
            <a:r>
              <a:rPr sz="1867" spc="-67" dirty="0">
                <a:solidFill>
                  <a:srgbClr val="008200"/>
                </a:solidFill>
                <a:latin typeface="Verdana"/>
                <a:cs typeface="Verdana"/>
              </a:rPr>
              <a:t> </a:t>
            </a:r>
            <a:r>
              <a:rPr sz="1867" spc="-13" dirty="0">
                <a:solidFill>
                  <a:srgbClr val="008200"/>
                </a:solidFill>
                <a:latin typeface="Verdana"/>
                <a:cs typeface="Verdana"/>
              </a:rPr>
              <a:t>class</a:t>
            </a:r>
            <a:endParaRPr sz="1867">
              <a:latin typeface="Verdana"/>
              <a:cs typeface="Verdana"/>
            </a:endParaRPr>
          </a:p>
          <a:p>
            <a:pPr marL="16933">
              <a:spcBef>
                <a:spcPts val="360"/>
              </a:spcBef>
            </a:pPr>
            <a:r>
              <a:rPr sz="1867" spc="-67" dirty="0">
                <a:latin typeface="Verdana"/>
                <a:cs typeface="Verdana"/>
              </a:rPr>
              <a:t>}</a:t>
            </a:r>
            <a:endParaRPr sz="1867">
              <a:latin typeface="Verdana"/>
              <a:cs typeface="Verdana"/>
            </a:endParaRPr>
          </a:p>
          <a:p>
            <a:pPr marL="16933">
              <a:spcBef>
                <a:spcPts val="360"/>
              </a:spcBef>
            </a:pPr>
            <a:r>
              <a:rPr sz="1867" spc="-67" dirty="0">
                <a:latin typeface="Verdana"/>
                <a:cs typeface="Verdana"/>
              </a:rPr>
              <a:t>}</a:t>
            </a:r>
            <a:endParaRPr sz="1867">
              <a:latin typeface="Verdana"/>
              <a:cs typeface="Verdana"/>
            </a:endParaRPr>
          </a:p>
          <a:p>
            <a:pPr marL="16933">
              <a:spcBef>
                <a:spcPts val="360"/>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TestSuper1{</a:t>
            </a:r>
            <a:endParaRPr sz="1867">
              <a:latin typeface="Verdana"/>
              <a:cs typeface="Verdana"/>
            </a:endParaRPr>
          </a:p>
          <a:p>
            <a:pPr marL="16933" marR="2551788">
              <a:lnSpc>
                <a:spcPct val="116100"/>
              </a:lnSpc>
            </a:pPr>
            <a:r>
              <a:rPr sz="1867" b="1" dirty="0">
                <a:solidFill>
                  <a:srgbClr val="006699"/>
                </a:solidFill>
                <a:latin typeface="Verdana"/>
                <a:cs typeface="Verdana"/>
              </a:rPr>
              <a:t>public</a:t>
            </a:r>
            <a:r>
              <a:rPr sz="1867" b="1" spc="-20" dirty="0">
                <a:solidFill>
                  <a:srgbClr val="006699"/>
                </a:solidFill>
                <a:latin typeface="Verdana"/>
                <a:cs typeface="Verdana"/>
              </a:rPr>
              <a:t> </a:t>
            </a:r>
            <a:r>
              <a:rPr sz="1867" b="1" dirty="0">
                <a:solidFill>
                  <a:srgbClr val="006699"/>
                </a:solidFill>
                <a:latin typeface="Verdana"/>
                <a:cs typeface="Verdana"/>
              </a:rPr>
              <a:t>static</a:t>
            </a:r>
            <a:r>
              <a:rPr sz="1867" b="1" spc="-13" dirty="0">
                <a:solidFill>
                  <a:srgbClr val="006699"/>
                </a:solidFill>
                <a:latin typeface="Verdana"/>
                <a:cs typeface="Verdana"/>
              </a:rPr>
              <a:t> </a:t>
            </a: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main(String</a:t>
            </a:r>
            <a:r>
              <a:rPr sz="1867" spc="-33" dirty="0">
                <a:latin typeface="Verdana"/>
                <a:cs typeface="Verdana"/>
              </a:rPr>
              <a:t> </a:t>
            </a:r>
            <a:r>
              <a:rPr sz="1867" spc="-13" dirty="0">
                <a:latin typeface="Verdana"/>
                <a:cs typeface="Verdana"/>
              </a:rPr>
              <a:t>args[]){ </a:t>
            </a:r>
            <a:r>
              <a:rPr sz="1867" dirty="0">
                <a:latin typeface="Verdana"/>
                <a:cs typeface="Verdana"/>
              </a:rPr>
              <a:t>Dog</a:t>
            </a:r>
            <a:r>
              <a:rPr sz="1867" spc="-67" dirty="0">
                <a:latin typeface="Verdana"/>
                <a:cs typeface="Verdana"/>
              </a:rPr>
              <a:t> </a:t>
            </a:r>
            <a:r>
              <a:rPr sz="1867" dirty="0">
                <a:latin typeface="Verdana"/>
                <a:cs typeface="Verdana"/>
              </a:rPr>
              <a:t>d=</a:t>
            </a:r>
            <a:r>
              <a:rPr sz="1867" b="1" dirty="0">
                <a:solidFill>
                  <a:srgbClr val="006699"/>
                </a:solidFill>
                <a:latin typeface="Verdana"/>
                <a:cs typeface="Verdana"/>
              </a:rPr>
              <a:t>new</a:t>
            </a:r>
            <a:r>
              <a:rPr sz="1867" b="1" spc="-40" dirty="0">
                <a:solidFill>
                  <a:srgbClr val="006699"/>
                </a:solidFill>
                <a:latin typeface="Verdana"/>
                <a:cs typeface="Verdana"/>
              </a:rPr>
              <a:t> </a:t>
            </a:r>
            <a:r>
              <a:rPr sz="1867" spc="-13" dirty="0">
                <a:latin typeface="Verdana"/>
                <a:cs typeface="Verdana"/>
              </a:rPr>
              <a:t>Dog();</a:t>
            </a:r>
            <a:endParaRPr sz="1867">
              <a:latin typeface="Verdana"/>
              <a:cs typeface="Verdana"/>
            </a:endParaRPr>
          </a:p>
          <a:p>
            <a:pPr marL="16933">
              <a:spcBef>
                <a:spcPts val="353"/>
              </a:spcBef>
            </a:pPr>
            <a:r>
              <a:rPr sz="1867" spc="-13" dirty="0">
                <a:latin typeface="Verdana"/>
                <a:cs typeface="Verdana"/>
              </a:rPr>
              <a:t>d.printColor();</a:t>
            </a:r>
            <a:endParaRPr sz="1867">
              <a:latin typeface="Verdana"/>
              <a:cs typeface="Verdana"/>
            </a:endParaRPr>
          </a:p>
          <a:p>
            <a:pPr marL="16933">
              <a:spcBef>
                <a:spcPts val="360"/>
              </a:spcBef>
            </a:pPr>
            <a:r>
              <a:rPr sz="1867" spc="-67" dirty="0">
                <a:latin typeface="Verdana"/>
                <a:cs typeface="Verdana"/>
              </a:rPr>
              <a:t>}</a:t>
            </a:r>
            <a:endParaRPr sz="1867">
              <a:latin typeface="Verdana"/>
              <a:cs typeface="Verdana"/>
            </a:endParaRPr>
          </a:p>
          <a:p>
            <a:pPr marL="16933">
              <a:spcBef>
                <a:spcPts val="360"/>
              </a:spcBef>
            </a:pPr>
            <a:r>
              <a:rPr sz="1867" spc="-67" dirty="0">
                <a:latin typeface="Verdana"/>
                <a:cs typeface="Verdana"/>
              </a:rPr>
              <a:t>}</a:t>
            </a:r>
            <a:endParaRPr sz="1867">
              <a:latin typeface="Verdana"/>
              <a:cs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645" y="1113804"/>
            <a:ext cx="9222658" cy="513477"/>
          </a:xfrm>
          <a:prstGeom prst="rect">
            <a:avLst/>
          </a:prstGeom>
        </p:spPr>
        <p:txBody>
          <a:bodyPr vert="horz" wrap="square" lIns="0" tIns="81791" rIns="0" bIns="0" rtlCol="0" anchor="ctr">
            <a:spAutoFit/>
          </a:bodyPr>
          <a:lstStyle/>
          <a:p>
            <a:pPr marL="1256422">
              <a:lnSpc>
                <a:spcPct val="100000"/>
              </a:lnSpc>
              <a:spcBef>
                <a:spcPts val="133"/>
              </a:spcBef>
            </a:pPr>
            <a:r>
              <a:rPr sz="2800" b="1" dirty="0"/>
              <a:t>2)</a:t>
            </a:r>
            <a:r>
              <a:rPr sz="2800" b="1" spc="-33" dirty="0"/>
              <a:t> </a:t>
            </a:r>
            <a:r>
              <a:rPr sz="2800" b="1" dirty="0"/>
              <a:t>super</a:t>
            </a:r>
            <a:r>
              <a:rPr sz="2800" b="1" spc="-20" dirty="0"/>
              <a:t> </a:t>
            </a:r>
            <a:r>
              <a:rPr sz="2800" b="1" dirty="0"/>
              <a:t>can</a:t>
            </a:r>
            <a:r>
              <a:rPr sz="2800" b="1" spc="-20" dirty="0"/>
              <a:t> </a:t>
            </a:r>
            <a:r>
              <a:rPr sz="2800" b="1" dirty="0"/>
              <a:t>be</a:t>
            </a:r>
            <a:r>
              <a:rPr sz="2800" b="1" spc="-20" dirty="0"/>
              <a:t> </a:t>
            </a:r>
            <a:r>
              <a:rPr sz="2800" b="1" dirty="0"/>
              <a:t>used</a:t>
            </a:r>
            <a:r>
              <a:rPr sz="2800" b="1" spc="-20" dirty="0"/>
              <a:t> </a:t>
            </a:r>
            <a:r>
              <a:rPr sz="2800" b="1" dirty="0"/>
              <a:t>to</a:t>
            </a:r>
            <a:r>
              <a:rPr sz="2800" b="1" spc="-20" dirty="0"/>
              <a:t> </a:t>
            </a:r>
            <a:r>
              <a:rPr sz="2800" b="1" dirty="0"/>
              <a:t>invoke</a:t>
            </a:r>
            <a:r>
              <a:rPr sz="2800" b="1" spc="-20" dirty="0"/>
              <a:t> </a:t>
            </a:r>
            <a:r>
              <a:rPr sz="2800" b="1" dirty="0"/>
              <a:t>parent</a:t>
            </a:r>
            <a:r>
              <a:rPr sz="2800" b="1" spc="-20" dirty="0"/>
              <a:t> </a:t>
            </a:r>
            <a:r>
              <a:rPr sz="2800" b="1" dirty="0"/>
              <a:t>class</a:t>
            </a:r>
            <a:r>
              <a:rPr sz="2800" b="1" spc="-13" dirty="0"/>
              <a:t> method</a:t>
            </a:r>
            <a:endParaRPr sz="2800" b="1" dirty="0"/>
          </a:p>
        </p:txBody>
      </p:sp>
      <p:sp>
        <p:nvSpPr>
          <p:cNvPr id="3" name="object 3"/>
          <p:cNvSpPr txBox="1"/>
          <p:nvPr/>
        </p:nvSpPr>
        <p:spPr>
          <a:xfrm>
            <a:off x="1385724" y="2364449"/>
            <a:ext cx="8607213" cy="304421"/>
          </a:xfrm>
          <a:prstGeom prst="rect">
            <a:avLst/>
          </a:prstGeom>
        </p:spPr>
        <p:txBody>
          <a:bodyPr vert="horz" wrap="square" lIns="0" tIns="16933" rIns="0" bIns="0" rtlCol="0">
            <a:spAutoFit/>
          </a:bodyPr>
          <a:lstStyle/>
          <a:p>
            <a:pPr marL="463962" indent="-447029">
              <a:spcBef>
                <a:spcPts val="133"/>
              </a:spcBef>
              <a:buFont typeface="Arial MT"/>
              <a:buChar char="●"/>
              <a:tabLst>
                <a:tab pos="463962" algn="l"/>
              </a:tabLst>
            </a:pPr>
            <a:r>
              <a:rPr sz="1867" dirty="0">
                <a:latin typeface="Verdana"/>
                <a:cs typeface="Verdana"/>
              </a:rPr>
              <a:t>The</a:t>
            </a:r>
            <a:r>
              <a:rPr sz="1867" spc="-67" dirty="0">
                <a:latin typeface="Verdana"/>
                <a:cs typeface="Verdana"/>
              </a:rPr>
              <a:t> </a:t>
            </a:r>
            <a:r>
              <a:rPr sz="1867" dirty="0">
                <a:latin typeface="Verdana"/>
                <a:cs typeface="Verdana"/>
              </a:rPr>
              <a:t>super</a:t>
            </a:r>
            <a:r>
              <a:rPr sz="1867" spc="-60" dirty="0">
                <a:latin typeface="Verdana"/>
                <a:cs typeface="Verdana"/>
              </a:rPr>
              <a:t> </a:t>
            </a:r>
            <a:r>
              <a:rPr sz="1867" dirty="0">
                <a:latin typeface="Verdana"/>
                <a:cs typeface="Verdana"/>
              </a:rPr>
              <a:t>keyword</a:t>
            </a:r>
            <a:r>
              <a:rPr sz="1867" spc="-60" dirty="0">
                <a:latin typeface="Verdana"/>
                <a:cs typeface="Verdana"/>
              </a:rPr>
              <a:t> </a:t>
            </a:r>
            <a:r>
              <a:rPr sz="1867" dirty="0">
                <a:latin typeface="Verdana"/>
                <a:cs typeface="Verdana"/>
              </a:rPr>
              <a:t>can</a:t>
            </a:r>
            <a:r>
              <a:rPr sz="1867" spc="-60" dirty="0">
                <a:latin typeface="Verdana"/>
                <a:cs typeface="Verdana"/>
              </a:rPr>
              <a:t> </a:t>
            </a:r>
            <a:r>
              <a:rPr sz="1867" dirty="0">
                <a:latin typeface="Verdana"/>
                <a:cs typeface="Verdana"/>
              </a:rPr>
              <a:t>also</a:t>
            </a:r>
            <a:r>
              <a:rPr sz="1867" spc="-60" dirty="0">
                <a:latin typeface="Verdana"/>
                <a:cs typeface="Verdana"/>
              </a:rPr>
              <a:t> </a:t>
            </a:r>
            <a:r>
              <a:rPr sz="1867" dirty="0">
                <a:latin typeface="Verdana"/>
                <a:cs typeface="Verdana"/>
              </a:rPr>
              <a:t>be</a:t>
            </a:r>
            <a:r>
              <a:rPr sz="1867" spc="-60" dirty="0">
                <a:latin typeface="Verdana"/>
                <a:cs typeface="Verdana"/>
              </a:rPr>
              <a:t> </a:t>
            </a:r>
            <a:r>
              <a:rPr sz="1867" dirty="0">
                <a:latin typeface="Verdana"/>
                <a:cs typeface="Verdana"/>
              </a:rPr>
              <a:t>used</a:t>
            </a:r>
            <a:r>
              <a:rPr sz="1867" spc="-60" dirty="0">
                <a:latin typeface="Verdana"/>
                <a:cs typeface="Verdana"/>
              </a:rPr>
              <a:t> </a:t>
            </a:r>
            <a:r>
              <a:rPr sz="1867" dirty="0">
                <a:latin typeface="Verdana"/>
                <a:cs typeface="Verdana"/>
              </a:rPr>
              <a:t>to</a:t>
            </a:r>
            <a:r>
              <a:rPr sz="1867" spc="-67" dirty="0">
                <a:latin typeface="Verdana"/>
                <a:cs typeface="Verdana"/>
              </a:rPr>
              <a:t> </a:t>
            </a:r>
            <a:r>
              <a:rPr sz="1867" dirty="0">
                <a:latin typeface="Verdana"/>
                <a:cs typeface="Verdana"/>
              </a:rPr>
              <a:t>invoke</a:t>
            </a:r>
            <a:r>
              <a:rPr sz="1867" spc="-60" dirty="0">
                <a:latin typeface="Verdana"/>
                <a:cs typeface="Verdana"/>
              </a:rPr>
              <a:t> </a:t>
            </a:r>
            <a:r>
              <a:rPr sz="1867" dirty="0">
                <a:latin typeface="Verdana"/>
                <a:cs typeface="Verdana"/>
              </a:rPr>
              <a:t>parent</a:t>
            </a:r>
            <a:r>
              <a:rPr sz="1867" spc="-60" dirty="0">
                <a:latin typeface="Verdana"/>
                <a:cs typeface="Verdana"/>
              </a:rPr>
              <a:t> </a:t>
            </a:r>
            <a:r>
              <a:rPr sz="1867" dirty="0">
                <a:latin typeface="Verdana"/>
                <a:cs typeface="Verdana"/>
              </a:rPr>
              <a:t>class</a:t>
            </a:r>
            <a:r>
              <a:rPr sz="1867" spc="-60" dirty="0">
                <a:latin typeface="Verdana"/>
                <a:cs typeface="Verdana"/>
              </a:rPr>
              <a:t> </a:t>
            </a:r>
            <a:r>
              <a:rPr sz="1867" spc="-13" dirty="0">
                <a:latin typeface="Verdana"/>
                <a:cs typeface="Verdana"/>
              </a:rPr>
              <a:t>method.</a:t>
            </a:r>
            <a:endParaRPr sz="1867">
              <a:latin typeface="Verdana"/>
              <a:cs typeface="Verdana"/>
            </a:endParaRPr>
          </a:p>
        </p:txBody>
      </p:sp>
      <p:sp>
        <p:nvSpPr>
          <p:cNvPr id="4" name="object 4"/>
          <p:cNvSpPr txBox="1"/>
          <p:nvPr/>
        </p:nvSpPr>
        <p:spPr>
          <a:xfrm>
            <a:off x="1385724" y="2921451"/>
            <a:ext cx="9072879" cy="304421"/>
          </a:xfrm>
          <a:prstGeom prst="rect">
            <a:avLst/>
          </a:prstGeom>
        </p:spPr>
        <p:txBody>
          <a:bodyPr vert="horz" wrap="square" lIns="0" tIns="16933" rIns="0" bIns="0" rtlCol="0">
            <a:spAutoFit/>
          </a:bodyPr>
          <a:lstStyle/>
          <a:p>
            <a:pPr marL="463962" indent="-447029">
              <a:spcBef>
                <a:spcPts val="133"/>
              </a:spcBef>
              <a:buFont typeface="Arial MT"/>
              <a:buChar char="●"/>
              <a:tabLst>
                <a:tab pos="463962" algn="l"/>
              </a:tabLst>
            </a:pPr>
            <a:r>
              <a:rPr sz="1867" dirty="0">
                <a:latin typeface="Verdana"/>
                <a:cs typeface="Verdana"/>
              </a:rPr>
              <a:t>It</a:t>
            </a:r>
            <a:r>
              <a:rPr sz="1867" spc="-60" dirty="0">
                <a:latin typeface="Verdana"/>
                <a:cs typeface="Verdana"/>
              </a:rPr>
              <a:t> </a:t>
            </a:r>
            <a:r>
              <a:rPr sz="1867" dirty="0">
                <a:latin typeface="Verdana"/>
                <a:cs typeface="Verdana"/>
              </a:rPr>
              <a:t>should</a:t>
            </a:r>
            <a:r>
              <a:rPr sz="1867" spc="-53" dirty="0">
                <a:latin typeface="Verdana"/>
                <a:cs typeface="Verdana"/>
              </a:rPr>
              <a:t> </a:t>
            </a:r>
            <a:r>
              <a:rPr sz="1867" dirty="0">
                <a:latin typeface="Verdana"/>
                <a:cs typeface="Verdana"/>
              </a:rPr>
              <a:t>be</a:t>
            </a:r>
            <a:r>
              <a:rPr sz="1867" spc="-53" dirty="0">
                <a:latin typeface="Verdana"/>
                <a:cs typeface="Verdana"/>
              </a:rPr>
              <a:t> </a:t>
            </a:r>
            <a:r>
              <a:rPr sz="1867" dirty="0">
                <a:latin typeface="Verdana"/>
                <a:cs typeface="Verdana"/>
              </a:rPr>
              <a:t>used</a:t>
            </a:r>
            <a:r>
              <a:rPr sz="1867" spc="-53" dirty="0">
                <a:latin typeface="Verdana"/>
                <a:cs typeface="Verdana"/>
              </a:rPr>
              <a:t> </a:t>
            </a:r>
            <a:r>
              <a:rPr sz="1867" dirty="0">
                <a:latin typeface="Verdana"/>
                <a:cs typeface="Verdana"/>
              </a:rPr>
              <a:t>if</a:t>
            </a:r>
            <a:r>
              <a:rPr sz="1867" spc="-53" dirty="0">
                <a:latin typeface="Verdana"/>
                <a:cs typeface="Verdana"/>
              </a:rPr>
              <a:t> </a:t>
            </a:r>
            <a:r>
              <a:rPr sz="1867" dirty="0">
                <a:latin typeface="Verdana"/>
                <a:cs typeface="Verdana"/>
              </a:rPr>
              <a:t>subclass</a:t>
            </a:r>
            <a:r>
              <a:rPr sz="1867" spc="-53" dirty="0">
                <a:latin typeface="Verdana"/>
                <a:cs typeface="Verdana"/>
              </a:rPr>
              <a:t> </a:t>
            </a:r>
            <a:r>
              <a:rPr sz="1867" dirty="0">
                <a:latin typeface="Verdana"/>
                <a:cs typeface="Verdana"/>
              </a:rPr>
              <a:t>contains</a:t>
            </a:r>
            <a:r>
              <a:rPr sz="1867" spc="-53" dirty="0">
                <a:latin typeface="Verdana"/>
                <a:cs typeface="Verdana"/>
              </a:rPr>
              <a:t> </a:t>
            </a:r>
            <a:r>
              <a:rPr sz="1867" dirty="0">
                <a:latin typeface="Verdana"/>
                <a:cs typeface="Verdana"/>
              </a:rPr>
              <a:t>the</a:t>
            </a:r>
            <a:r>
              <a:rPr sz="1867" spc="-53" dirty="0">
                <a:latin typeface="Verdana"/>
                <a:cs typeface="Verdana"/>
              </a:rPr>
              <a:t> </a:t>
            </a:r>
            <a:r>
              <a:rPr sz="1867" dirty="0">
                <a:latin typeface="Verdana"/>
                <a:cs typeface="Verdana"/>
              </a:rPr>
              <a:t>same</a:t>
            </a:r>
            <a:r>
              <a:rPr sz="1867" spc="-53" dirty="0">
                <a:latin typeface="Verdana"/>
                <a:cs typeface="Verdana"/>
              </a:rPr>
              <a:t> </a:t>
            </a:r>
            <a:r>
              <a:rPr sz="1867" dirty="0">
                <a:latin typeface="Verdana"/>
                <a:cs typeface="Verdana"/>
              </a:rPr>
              <a:t>method</a:t>
            </a:r>
            <a:r>
              <a:rPr sz="1867" spc="-53" dirty="0">
                <a:latin typeface="Verdana"/>
                <a:cs typeface="Verdana"/>
              </a:rPr>
              <a:t> </a:t>
            </a:r>
            <a:r>
              <a:rPr sz="1867" dirty="0">
                <a:latin typeface="Verdana"/>
                <a:cs typeface="Verdana"/>
              </a:rPr>
              <a:t>as</a:t>
            </a:r>
            <a:r>
              <a:rPr sz="1867" spc="-53" dirty="0">
                <a:latin typeface="Verdana"/>
                <a:cs typeface="Verdana"/>
              </a:rPr>
              <a:t> </a:t>
            </a:r>
            <a:r>
              <a:rPr sz="1867" dirty="0">
                <a:latin typeface="Verdana"/>
                <a:cs typeface="Verdana"/>
              </a:rPr>
              <a:t>parent</a:t>
            </a:r>
            <a:r>
              <a:rPr sz="1867" spc="-53" dirty="0">
                <a:latin typeface="Verdana"/>
                <a:cs typeface="Verdana"/>
              </a:rPr>
              <a:t> </a:t>
            </a:r>
            <a:r>
              <a:rPr sz="1867" spc="-13" dirty="0">
                <a:latin typeface="Verdana"/>
                <a:cs typeface="Verdana"/>
              </a:rPr>
              <a:t>class.</a:t>
            </a:r>
            <a:endParaRPr sz="1867" dirty="0">
              <a:latin typeface="Verdana"/>
              <a:cs typeface="Verdana"/>
            </a:endParaRPr>
          </a:p>
        </p:txBody>
      </p:sp>
      <p:sp>
        <p:nvSpPr>
          <p:cNvPr id="5" name="object 5"/>
          <p:cNvSpPr txBox="1"/>
          <p:nvPr/>
        </p:nvSpPr>
        <p:spPr>
          <a:xfrm>
            <a:off x="1385724" y="3479918"/>
            <a:ext cx="8607213" cy="304421"/>
          </a:xfrm>
          <a:prstGeom prst="rect">
            <a:avLst/>
          </a:prstGeom>
        </p:spPr>
        <p:txBody>
          <a:bodyPr vert="horz" wrap="square" lIns="0" tIns="16933" rIns="0" bIns="0" rtlCol="0">
            <a:spAutoFit/>
          </a:bodyPr>
          <a:lstStyle/>
          <a:p>
            <a:pPr marL="463962" indent="-447029">
              <a:spcBef>
                <a:spcPts val="133"/>
              </a:spcBef>
              <a:buFont typeface="Arial MT"/>
              <a:buChar char="●"/>
              <a:tabLst>
                <a:tab pos="463962" algn="l"/>
              </a:tabLst>
            </a:pPr>
            <a:r>
              <a:rPr sz="1867" dirty="0">
                <a:latin typeface="Verdana"/>
                <a:cs typeface="Verdana"/>
              </a:rPr>
              <a:t>In</a:t>
            </a:r>
            <a:r>
              <a:rPr sz="1867" spc="-53" dirty="0">
                <a:latin typeface="Verdana"/>
                <a:cs typeface="Verdana"/>
              </a:rPr>
              <a:t> </a:t>
            </a:r>
            <a:r>
              <a:rPr sz="1867" dirty="0">
                <a:latin typeface="Verdana"/>
                <a:cs typeface="Verdana"/>
              </a:rPr>
              <a:t>other</a:t>
            </a:r>
            <a:r>
              <a:rPr sz="1867" spc="-47" dirty="0">
                <a:latin typeface="Verdana"/>
                <a:cs typeface="Verdana"/>
              </a:rPr>
              <a:t> </a:t>
            </a:r>
            <a:r>
              <a:rPr sz="1867" dirty="0">
                <a:latin typeface="Verdana"/>
                <a:cs typeface="Verdana"/>
              </a:rPr>
              <a:t>words,</a:t>
            </a:r>
            <a:r>
              <a:rPr sz="1867" spc="-53" dirty="0">
                <a:latin typeface="Verdana"/>
                <a:cs typeface="Verdana"/>
              </a:rPr>
              <a:t> </a:t>
            </a:r>
            <a:r>
              <a:rPr sz="1867" dirty="0">
                <a:latin typeface="Verdana"/>
                <a:cs typeface="Verdana"/>
              </a:rPr>
              <a:t>it</a:t>
            </a:r>
            <a:r>
              <a:rPr sz="1867" spc="-47" dirty="0">
                <a:latin typeface="Verdana"/>
                <a:cs typeface="Verdana"/>
              </a:rPr>
              <a:t> </a:t>
            </a:r>
            <a:r>
              <a:rPr sz="1867" dirty="0">
                <a:latin typeface="Verdana"/>
                <a:cs typeface="Verdana"/>
              </a:rPr>
              <a:t>is</a:t>
            </a:r>
            <a:r>
              <a:rPr sz="1867" spc="-53" dirty="0">
                <a:latin typeface="Verdana"/>
                <a:cs typeface="Verdana"/>
              </a:rPr>
              <a:t> </a:t>
            </a:r>
            <a:r>
              <a:rPr sz="1867" dirty="0">
                <a:latin typeface="Verdana"/>
                <a:cs typeface="Verdana"/>
              </a:rPr>
              <a:t>used</a:t>
            </a:r>
            <a:r>
              <a:rPr sz="1867" spc="-47" dirty="0">
                <a:latin typeface="Verdana"/>
                <a:cs typeface="Verdana"/>
              </a:rPr>
              <a:t> </a:t>
            </a:r>
            <a:r>
              <a:rPr sz="1867" dirty="0">
                <a:latin typeface="Verdana"/>
                <a:cs typeface="Verdana"/>
              </a:rPr>
              <a:t>if</a:t>
            </a:r>
            <a:r>
              <a:rPr sz="1867" spc="-53" dirty="0">
                <a:latin typeface="Verdana"/>
                <a:cs typeface="Verdana"/>
              </a:rPr>
              <a:t> </a:t>
            </a:r>
            <a:r>
              <a:rPr sz="1867" dirty="0">
                <a:latin typeface="Verdana"/>
                <a:cs typeface="Verdana"/>
              </a:rPr>
              <a:t>method</a:t>
            </a:r>
            <a:r>
              <a:rPr sz="1867" spc="-47" dirty="0">
                <a:latin typeface="Verdana"/>
                <a:cs typeface="Verdana"/>
              </a:rPr>
              <a:t> </a:t>
            </a:r>
            <a:r>
              <a:rPr sz="1867" dirty="0">
                <a:latin typeface="Verdana"/>
                <a:cs typeface="Verdana"/>
              </a:rPr>
              <a:t>is</a:t>
            </a:r>
            <a:r>
              <a:rPr sz="1867" spc="-53" dirty="0">
                <a:latin typeface="Verdana"/>
                <a:cs typeface="Verdana"/>
              </a:rPr>
              <a:t> </a:t>
            </a:r>
            <a:r>
              <a:rPr sz="1867" b="1" spc="-13" dirty="0">
                <a:latin typeface="Verdana"/>
                <a:cs typeface="Verdana"/>
              </a:rPr>
              <a:t>overridden</a:t>
            </a:r>
            <a:endParaRPr sz="1867" b="1" dirty="0">
              <a:latin typeface="Verdana"/>
              <a:cs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22634" y="317163"/>
            <a:ext cx="4557605" cy="5768481"/>
          </a:xfrm>
          <a:prstGeom prst="rect">
            <a:avLst/>
          </a:prstGeom>
        </p:spPr>
        <p:txBody>
          <a:bodyPr vert="horz" wrap="square" lIns="0" tIns="62653" rIns="0" bIns="0" rtlCol="0">
            <a:spAutoFit/>
          </a:bodyPr>
          <a:lstStyle/>
          <a:p>
            <a:pPr marL="16933">
              <a:spcBef>
                <a:spcPts val="493"/>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Animal</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eat()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spc="-13" dirty="0">
                <a:latin typeface="Verdana"/>
                <a:cs typeface="Verdana"/>
              </a:rPr>
              <a:t>System.out.println(</a:t>
            </a:r>
            <a:r>
              <a:rPr sz="1867" spc="-13" dirty="0">
                <a:solidFill>
                  <a:srgbClr val="0000FF"/>
                </a:solidFill>
                <a:latin typeface="Verdana"/>
                <a:cs typeface="Verdana"/>
              </a:rPr>
              <a:t>"eating..."</a:t>
            </a:r>
            <a:r>
              <a:rPr sz="1867" spc="-13"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b="1" dirty="0">
                <a:solidFill>
                  <a:srgbClr val="006699"/>
                </a:solidFill>
                <a:latin typeface="Verdana"/>
                <a:cs typeface="Verdana"/>
              </a:rPr>
              <a:t>class</a:t>
            </a:r>
            <a:r>
              <a:rPr sz="1867" b="1" spc="-27" dirty="0">
                <a:solidFill>
                  <a:srgbClr val="006699"/>
                </a:solidFill>
                <a:latin typeface="Verdana"/>
                <a:cs typeface="Verdana"/>
              </a:rPr>
              <a:t> </a:t>
            </a:r>
            <a:r>
              <a:rPr sz="1867" dirty="0">
                <a:latin typeface="Verdana"/>
                <a:cs typeface="Verdana"/>
              </a:rPr>
              <a:t>Dog</a:t>
            </a:r>
            <a:r>
              <a:rPr sz="1867" spc="-33" dirty="0">
                <a:latin typeface="Verdana"/>
                <a:cs typeface="Verdana"/>
              </a:rPr>
              <a:t> </a:t>
            </a:r>
            <a:r>
              <a:rPr sz="1867" b="1" dirty="0">
                <a:solidFill>
                  <a:srgbClr val="006699"/>
                </a:solidFill>
                <a:latin typeface="Verdana"/>
                <a:cs typeface="Verdana"/>
              </a:rPr>
              <a:t>extends</a:t>
            </a:r>
            <a:r>
              <a:rPr sz="1867" b="1" spc="-13" dirty="0">
                <a:solidFill>
                  <a:srgbClr val="006699"/>
                </a:solidFill>
                <a:latin typeface="Verdana"/>
                <a:cs typeface="Verdana"/>
              </a:rPr>
              <a:t> </a:t>
            </a:r>
            <a:r>
              <a:rPr sz="1867" spc="-13" dirty="0">
                <a:latin typeface="Verdana"/>
                <a:cs typeface="Verdana"/>
              </a:rPr>
              <a:t>Animal</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eat()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spc="-13" dirty="0">
                <a:latin typeface="Verdana"/>
                <a:cs typeface="Verdana"/>
              </a:rPr>
              <a:t>System.out.println(</a:t>
            </a:r>
            <a:r>
              <a:rPr sz="1867" spc="-13" dirty="0">
                <a:solidFill>
                  <a:srgbClr val="0000FF"/>
                </a:solidFill>
                <a:latin typeface="Verdana"/>
                <a:cs typeface="Verdana"/>
              </a:rPr>
              <a:t>"eating</a:t>
            </a:r>
            <a:r>
              <a:rPr sz="1867" spc="-87" dirty="0">
                <a:solidFill>
                  <a:srgbClr val="0000FF"/>
                </a:solidFill>
                <a:latin typeface="Verdana"/>
                <a:cs typeface="Verdana"/>
              </a:rPr>
              <a:t> </a:t>
            </a:r>
            <a:r>
              <a:rPr sz="1867" spc="-13" dirty="0">
                <a:solidFill>
                  <a:srgbClr val="0000FF"/>
                </a:solidFill>
                <a:latin typeface="Verdana"/>
                <a:cs typeface="Verdana"/>
              </a:rPr>
              <a:t>bread..."</a:t>
            </a:r>
            <a:r>
              <a:rPr sz="1867" spc="-13"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b="1" dirty="0">
                <a:solidFill>
                  <a:srgbClr val="006699"/>
                </a:solidFill>
                <a:latin typeface="Verdana"/>
                <a:cs typeface="Verdana"/>
              </a:rPr>
              <a:t>void</a:t>
            </a:r>
            <a:r>
              <a:rPr sz="1867" b="1" spc="-7" dirty="0">
                <a:solidFill>
                  <a:srgbClr val="006699"/>
                </a:solidFill>
                <a:latin typeface="Verdana"/>
                <a:cs typeface="Verdana"/>
              </a:rPr>
              <a:t> </a:t>
            </a:r>
            <a:r>
              <a:rPr sz="1867" spc="-13" dirty="0">
                <a:latin typeface="Verdana"/>
                <a:cs typeface="Verdana"/>
              </a:rPr>
              <a:t>bark()</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6933">
              <a:spcBef>
                <a:spcPts val="360"/>
              </a:spcBef>
            </a:pPr>
            <a:r>
              <a:rPr sz="1867" spc="-13" dirty="0">
                <a:latin typeface="Verdana"/>
                <a:cs typeface="Verdana"/>
              </a:rPr>
              <a:t>System.out.println(</a:t>
            </a:r>
            <a:r>
              <a:rPr sz="1867" spc="-13" dirty="0">
                <a:solidFill>
                  <a:srgbClr val="0000FF"/>
                </a:solidFill>
                <a:latin typeface="Verdana"/>
                <a:cs typeface="Verdana"/>
              </a:rPr>
              <a:t>"barking..."</a:t>
            </a:r>
            <a:r>
              <a:rPr sz="1867" spc="-13"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20100" y="267730"/>
            <a:ext cx="4719320" cy="6356783"/>
          </a:xfrm>
          <a:prstGeom prst="rect">
            <a:avLst/>
          </a:prstGeom>
        </p:spPr>
        <p:txBody>
          <a:bodyPr vert="horz" wrap="square" lIns="0" tIns="176953" rIns="0" bIns="0" rtlCol="0">
            <a:spAutoFit/>
          </a:bodyPr>
          <a:lstStyle/>
          <a:p>
            <a:pPr marL="16933">
              <a:spcBef>
                <a:spcPts val="1393"/>
              </a:spcBef>
            </a:pPr>
            <a:r>
              <a:rPr sz="1867" b="1" dirty="0">
                <a:solidFill>
                  <a:srgbClr val="006699"/>
                </a:solidFill>
                <a:latin typeface="Verdana"/>
                <a:cs typeface="Verdana"/>
              </a:rPr>
              <a:t>void</a:t>
            </a:r>
            <a:r>
              <a:rPr sz="1867" b="1" spc="-7" dirty="0">
                <a:solidFill>
                  <a:srgbClr val="006699"/>
                </a:solidFill>
                <a:latin typeface="Verdana"/>
                <a:cs typeface="Verdana"/>
              </a:rPr>
              <a:t> </a:t>
            </a:r>
            <a:r>
              <a:rPr sz="1867" spc="-13" dirty="0">
                <a:latin typeface="Verdana"/>
                <a:cs typeface="Verdana"/>
              </a:rPr>
              <a:t>work()</a:t>
            </a:r>
            <a:endParaRPr sz="1867" dirty="0">
              <a:latin typeface="Verdana"/>
              <a:cs typeface="Verdana"/>
            </a:endParaRPr>
          </a:p>
          <a:p>
            <a:pPr marL="16933">
              <a:spcBef>
                <a:spcPts val="1259"/>
              </a:spcBef>
            </a:pPr>
            <a:r>
              <a:rPr sz="1867" spc="-67" dirty="0">
                <a:latin typeface="Verdana"/>
                <a:cs typeface="Verdana"/>
              </a:rPr>
              <a:t>{</a:t>
            </a:r>
            <a:endParaRPr sz="1867" dirty="0">
              <a:latin typeface="Verdana"/>
              <a:cs typeface="Verdana"/>
            </a:endParaRPr>
          </a:p>
          <a:p>
            <a:pPr marL="16933">
              <a:spcBef>
                <a:spcPts val="1259"/>
              </a:spcBef>
            </a:pPr>
            <a:r>
              <a:rPr sz="1867" b="1" spc="-13" dirty="0">
                <a:solidFill>
                  <a:srgbClr val="006699"/>
                </a:solidFill>
                <a:latin typeface="Verdana"/>
                <a:cs typeface="Verdana"/>
              </a:rPr>
              <a:t>super</a:t>
            </a:r>
            <a:r>
              <a:rPr sz="1867" spc="-13" dirty="0">
                <a:latin typeface="Verdana"/>
                <a:cs typeface="Verdana"/>
              </a:rPr>
              <a:t>.eat();</a:t>
            </a:r>
            <a:endParaRPr sz="1867" dirty="0">
              <a:latin typeface="Verdana"/>
              <a:cs typeface="Verdana"/>
            </a:endParaRPr>
          </a:p>
          <a:p>
            <a:pPr marL="16933">
              <a:spcBef>
                <a:spcPts val="1259"/>
              </a:spcBef>
            </a:pPr>
            <a:r>
              <a:rPr sz="1867" spc="-13" dirty="0">
                <a:latin typeface="Verdana"/>
                <a:cs typeface="Verdana"/>
              </a:rPr>
              <a:t>bark();</a:t>
            </a:r>
            <a:endParaRPr sz="1867" dirty="0">
              <a:latin typeface="Verdana"/>
              <a:cs typeface="Verdana"/>
            </a:endParaRPr>
          </a:p>
          <a:p>
            <a:pPr marL="16933">
              <a:spcBef>
                <a:spcPts val="1259"/>
              </a:spcBef>
            </a:pPr>
            <a:r>
              <a:rPr sz="1867" spc="-67" dirty="0">
                <a:latin typeface="Verdana"/>
                <a:cs typeface="Verdana"/>
              </a:rPr>
              <a:t>}</a:t>
            </a:r>
            <a:endParaRPr sz="1867" dirty="0">
              <a:latin typeface="Verdana"/>
              <a:cs typeface="Verdana"/>
            </a:endParaRPr>
          </a:p>
          <a:p>
            <a:pPr marL="16933">
              <a:spcBef>
                <a:spcPts val="1259"/>
              </a:spcBef>
            </a:pPr>
            <a:r>
              <a:rPr sz="1867" spc="-67" dirty="0">
                <a:latin typeface="Verdana"/>
                <a:cs typeface="Verdana"/>
              </a:rPr>
              <a:t>}</a:t>
            </a:r>
            <a:endParaRPr sz="1867" dirty="0">
              <a:latin typeface="Verdana"/>
              <a:cs typeface="Verdana"/>
            </a:endParaRPr>
          </a:p>
          <a:p>
            <a:pPr marL="16933">
              <a:spcBef>
                <a:spcPts val="1259"/>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TestSuper2</a:t>
            </a:r>
            <a:endParaRPr sz="1867" dirty="0">
              <a:latin typeface="Verdana"/>
              <a:cs typeface="Verdana"/>
            </a:endParaRPr>
          </a:p>
          <a:p>
            <a:pPr marL="16933">
              <a:spcBef>
                <a:spcPts val="1259"/>
              </a:spcBef>
            </a:pPr>
            <a:r>
              <a:rPr sz="1867" spc="-67" dirty="0">
                <a:latin typeface="Verdana"/>
                <a:cs typeface="Verdana"/>
              </a:rPr>
              <a:t>{</a:t>
            </a:r>
            <a:endParaRPr sz="1867" dirty="0">
              <a:latin typeface="Verdana"/>
              <a:cs typeface="Verdana"/>
            </a:endParaRPr>
          </a:p>
          <a:p>
            <a:pPr marL="16933">
              <a:spcBef>
                <a:spcPts val="1259"/>
              </a:spcBef>
            </a:pPr>
            <a:r>
              <a:rPr sz="1867" b="1" dirty="0">
                <a:solidFill>
                  <a:srgbClr val="006699"/>
                </a:solidFill>
                <a:latin typeface="Verdana"/>
                <a:cs typeface="Verdana"/>
              </a:rPr>
              <a:t>public</a:t>
            </a:r>
            <a:r>
              <a:rPr sz="1867" b="1" spc="-20" dirty="0">
                <a:solidFill>
                  <a:srgbClr val="006699"/>
                </a:solidFill>
                <a:latin typeface="Verdana"/>
                <a:cs typeface="Verdana"/>
              </a:rPr>
              <a:t> </a:t>
            </a:r>
            <a:r>
              <a:rPr sz="1867" b="1" dirty="0">
                <a:solidFill>
                  <a:srgbClr val="006699"/>
                </a:solidFill>
                <a:latin typeface="Verdana"/>
                <a:cs typeface="Verdana"/>
              </a:rPr>
              <a:t>static</a:t>
            </a:r>
            <a:r>
              <a:rPr sz="1867" b="1" spc="-13" dirty="0">
                <a:solidFill>
                  <a:srgbClr val="006699"/>
                </a:solidFill>
                <a:latin typeface="Verdana"/>
                <a:cs typeface="Verdana"/>
              </a:rPr>
              <a:t> </a:t>
            </a: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main(String</a:t>
            </a:r>
            <a:r>
              <a:rPr sz="1867" spc="-33" dirty="0">
                <a:latin typeface="Verdana"/>
                <a:cs typeface="Verdana"/>
              </a:rPr>
              <a:t> </a:t>
            </a:r>
            <a:r>
              <a:rPr sz="1867" spc="-13" dirty="0">
                <a:latin typeface="Verdana"/>
                <a:cs typeface="Verdana"/>
              </a:rPr>
              <a:t>args[])</a:t>
            </a:r>
            <a:endParaRPr sz="1867" dirty="0">
              <a:latin typeface="Verdana"/>
              <a:cs typeface="Verdana"/>
            </a:endParaRPr>
          </a:p>
          <a:p>
            <a:pPr marL="16933">
              <a:spcBef>
                <a:spcPts val="1259"/>
              </a:spcBef>
            </a:pPr>
            <a:r>
              <a:rPr sz="1867" spc="-67" dirty="0">
                <a:latin typeface="Verdana"/>
                <a:cs typeface="Verdana"/>
              </a:rPr>
              <a:t>{</a:t>
            </a:r>
            <a:endParaRPr sz="1867" dirty="0">
              <a:latin typeface="Verdana"/>
              <a:cs typeface="Verdana"/>
            </a:endParaRPr>
          </a:p>
          <a:p>
            <a:pPr marL="16933" marR="2354521">
              <a:lnSpc>
                <a:spcPct val="156300"/>
              </a:lnSpc>
            </a:pPr>
            <a:r>
              <a:rPr sz="1867" dirty="0">
                <a:latin typeface="Verdana"/>
                <a:cs typeface="Verdana"/>
              </a:rPr>
              <a:t>Dog</a:t>
            </a:r>
            <a:r>
              <a:rPr sz="1867" spc="-67" dirty="0">
                <a:latin typeface="Verdana"/>
                <a:cs typeface="Verdana"/>
              </a:rPr>
              <a:t> </a:t>
            </a:r>
            <a:r>
              <a:rPr sz="1867" dirty="0">
                <a:latin typeface="Verdana"/>
                <a:cs typeface="Verdana"/>
              </a:rPr>
              <a:t>d=</a:t>
            </a:r>
            <a:r>
              <a:rPr sz="1867" b="1" dirty="0">
                <a:solidFill>
                  <a:srgbClr val="006699"/>
                </a:solidFill>
                <a:latin typeface="Verdana"/>
                <a:cs typeface="Verdana"/>
              </a:rPr>
              <a:t>new</a:t>
            </a:r>
            <a:r>
              <a:rPr sz="1867" b="1" spc="-40" dirty="0">
                <a:solidFill>
                  <a:srgbClr val="006699"/>
                </a:solidFill>
                <a:latin typeface="Verdana"/>
                <a:cs typeface="Verdana"/>
              </a:rPr>
              <a:t> </a:t>
            </a:r>
            <a:r>
              <a:rPr sz="1867" spc="-13" dirty="0">
                <a:latin typeface="Verdana"/>
                <a:cs typeface="Verdana"/>
              </a:rPr>
              <a:t>Dog(); d.work();</a:t>
            </a:r>
            <a:endParaRPr sz="1867" dirty="0">
              <a:latin typeface="Verdana"/>
              <a:cs typeface="Verdana"/>
            </a:endParaRPr>
          </a:p>
          <a:p>
            <a:pPr marL="16933">
              <a:spcBef>
                <a:spcPts val="1260"/>
              </a:spcBef>
            </a:pPr>
            <a:r>
              <a:rPr sz="1867" spc="-67" dirty="0">
                <a:latin typeface="Verdana"/>
                <a:cs typeface="Verdana"/>
              </a:rPr>
              <a:t>}</a:t>
            </a:r>
            <a:endParaRPr sz="1867" dirty="0">
              <a:latin typeface="Verdana"/>
              <a:cs typeface="Verdana"/>
            </a:endParaRPr>
          </a:p>
          <a:p>
            <a:pPr marL="16933">
              <a:spcBef>
                <a:spcPts val="1260"/>
              </a:spcBef>
            </a:pPr>
            <a:r>
              <a:rPr sz="1867" spc="-67" dirty="0">
                <a:latin typeface="Verdana"/>
                <a:cs typeface="Verdana"/>
              </a:rPr>
              <a:t>}</a:t>
            </a:r>
            <a:endParaRPr sz="1867" dirty="0">
              <a:latin typeface="Verdana"/>
              <a:cs typeface="Verdana"/>
            </a:endParaRPr>
          </a:p>
        </p:txBody>
      </p:sp>
      <p:sp>
        <p:nvSpPr>
          <p:cNvPr id="4" name="Rectangle 2">
            <a:extLst>
              <a:ext uri="{FF2B5EF4-FFF2-40B4-BE49-F238E27FC236}">
                <a16:creationId xmlns:a16="http://schemas.microsoft.com/office/drawing/2014/main" id="{B4EE4E34-4561-75A7-CF53-8EF046E4907E}"/>
              </a:ext>
            </a:extLst>
          </p:cNvPr>
          <p:cNvSpPr>
            <a:spLocks noChangeArrowheads="1"/>
          </p:cNvSpPr>
          <p:nvPr/>
        </p:nvSpPr>
        <p:spPr bwMode="auto">
          <a:xfrm>
            <a:off x="4198374" y="1350372"/>
            <a:ext cx="41138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super.eat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calls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Animal's eat()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bark(); → calls Dog's bark()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38F5CF-371E-1F60-4DDD-4FF7B5D7146B}"/>
              </a:ext>
            </a:extLst>
          </p:cNvPr>
          <p:cNvSpPr>
            <a:spLocks noGrp="1"/>
          </p:cNvSpPr>
          <p:nvPr>
            <p:ph type="sldNum" sz="quarter" idx="12"/>
          </p:nvPr>
        </p:nvSpPr>
        <p:spPr/>
        <p:txBody>
          <a:bodyPr/>
          <a:lstStyle/>
          <a:p>
            <a:fld id="{4DAC0951-10B0-4509-9BA5-FD8683A6F967}" type="slidenum">
              <a:rPr lang="en-IN" smtClean="0"/>
              <a:t>38</a:t>
            </a:fld>
            <a:endParaRPr lang="en-IN"/>
          </a:p>
        </p:txBody>
      </p:sp>
      <p:sp>
        <p:nvSpPr>
          <p:cNvPr id="5" name="TextBox 4">
            <a:extLst>
              <a:ext uri="{FF2B5EF4-FFF2-40B4-BE49-F238E27FC236}">
                <a16:creationId xmlns:a16="http://schemas.microsoft.com/office/drawing/2014/main" id="{4445B597-0200-9F1F-AC6C-12BA11F3C938}"/>
              </a:ext>
            </a:extLst>
          </p:cNvPr>
          <p:cNvSpPr txBox="1"/>
          <p:nvPr/>
        </p:nvSpPr>
        <p:spPr>
          <a:xfrm>
            <a:off x="789039" y="984526"/>
            <a:ext cx="6096000" cy="923330"/>
          </a:xfrm>
          <a:prstGeom prst="rect">
            <a:avLst/>
          </a:prstGeom>
          <a:noFill/>
        </p:spPr>
        <p:txBody>
          <a:bodyPr wrap="square">
            <a:spAutoFit/>
          </a:bodyPr>
          <a:lstStyle/>
          <a:p>
            <a:r>
              <a:rPr lang="en-IN" b="1" dirty="0"/>
              <a:t>Output:</a:t>
            </a:r>
            <a:br>
              <a:rPr lang="en-IN" dirty="0"/>
            </a:br>
            <a:r>
              <a:rPr lang="en-IN" dirty="0"/>
              <a:t>eating…</a:t>
            </a:r>
          </a:p>
          <a:p>
            <a:r>
              <a:rPr lang="en-IN" dirty="0"/>
              <a:t>barking...</a:t>
            </a:r>
          </a:p>
        </p:txBody>
      </p:sp>
      <p:sp>
        <p:nvSpPr>
          <p:cNvPr id="7" name="TextBox 6">
            <a:extLst>
              <a:ext uri="{FF2B5EF4-FFF2-40B4-BE49-F238E27FC236}">
                <a16:creationId xmlns:a16="http://schemas.microsoft.com/office/drawing/2014/main" id="{3880CB81-D934-84D5-57F5-ED95EF13EE75}"/>
              </a:ext>
            </a:extLst>
          </p:cNvPr>
          <p:cNvSpPr txBox="1"/>
          <p:nvPr/>
        </p:nvSpPr>
        <p:spPr>
          <a:xfrm>
            <a:off x="789039" y="2123793"/>
            <a:ext cx="6096000" cy="4247317"/>
          </a:xfrm>
          <a:prstGeom prst="rect">
            <a:avLst/>
          </a:prstGeom>
          <a:noFill/>
        </p:spPr>
        <p:txBody>
          <a:bodyPr wrap="square">
            <a:spAutoFit/>
          </a:bodyPr>
          <a:lstStyle/>
          <a:p>
            <a:r>
              <a:rPr lang="en-IN"/>
              <a:t>main()</a:t>
            </a:r>
          </a:p>
          <a:p>
            <a:r>
              <a:rPr lang="en-IN"/>
              <a:t>  ↓</a:t>
            </a:r>
          </a:p>
          <a:p>
            <a:r>
              <a:rPr lang="en-IN"/>
              <a:t>Dog d = new Dog()</a:t>
            </a:r>
          </a:p>
          <a:p>
            <a:r>
              <a:rPr lang="en-IN"/>
              <a:t>  ↓</a:t>
            </a:r>
          </a:p>
          <a:p>
            <a:r>
              <a:rPr lang="en-IN"/>
              <a:t>d.work()</a:t>
            </a:r>
          </a:p>
          <a:p>
            <a:r>
              <a:rPr lang="en-IN"/>
              <a:t>  ↓</a:t>
            </a:r>
          </a:p>
          <a:p>
            <a:r>
              <a:rPr lang="en-IN"/>
              <a:t>---------------------------------</a:t>
            </a:r>
          </a:p>
          <a:p>
            <a:r>
              <a:rPr lang="en-IN"/>
              <a:t>|  Dog Class                    |</a:t>
            </a:r>
          </a:p>
          <a:p>
            <a:r>
              <a:rPr lang="en-IN"/>
              <a:t>|-------------------------------|</a:t>
            </a:r>
          </a:p>
          <a:p>
            <a:r>
              <a:rPr lang="en-IN"/>
              <a:t>| work()                        |</a:t>
            </a:r>
          </a:p>
          <a:p>
            <a:r>
              <a:rPr lang="en-IN"/>
              <a:t>|   ↓                           |</a:t>
            </a:r>
          </a:p>
          <a:p>
            <a:r>
              <a:rPr lang="en-IN"/>
              <a:t>| super.eat() ----------------------→ Animal.eat()</a:t>
            </a:r>
          </a:p>
          <a:p>
            <a:r>
              <a:rPr lang="en-IN"/>
              <a:t>|   ↓                                   prints "eating..."</a:t>
            </a:r>
          </a:p>
          <a:p>
            <a:r>
              <a:rPr lang="en-IN"/>
              <a:t>| bark()  → prints "barking..."   |</a:t>
            </a:r>
          </a:p>
          <a:p>
            <a:r>
              <a:rPr lang="en-IN"/>
              <a:t>---------------------------------</a:t>
            </a:r>
            <a:endParaRPr lang="en-IN" dirty="0"/>
          </a:p>
        </p:txBody>
      </p:sp>
      <p:sp>
        <p:nvSpPr>
          <p:cNvPr id="9" name="TextBox 8">
            <a:extLst>
              <a:ext uri="{FF2B5EF4-FFF2-40B4-BE49-F238E27FC236}">
                <a16:creationId xmlns:a16="http://schemas.microsoft.com/office/drawing/2014/main" id="{C893FA2E-F00C-CE02-0A01-B2AEF4E5A0C1}"/>
              </a:ext>
            </a:extLst>
          </p:cNvPr>
          <p:cNvSpPr txBox="1"/>
          <p:nvPr/>
        </p:nvSpPr>
        <p:spPr>
          <a:xfrm>
            <a:off x="5732206" y="1191850"/>
            <a:ext cx="6096000" cy="369332"/>
          </a:xfrm>
          <a:prstGeom prst="rect">
            <a:avLst/>
          </a:prstGeom>
          <a:noFill/>
        </p:spPr>
        <p:txBody>
          <a:bodyPr wrap="square">
            <a:spAutoFit/>
          </a:bodyPr>
          <a:lstStyle/>
          <a:p>
            <a:r>
              <a:rPr lang="en-US" dirty="0"/>
              <a:t>Even though Dog overrides </a:t>
            </a:r>
            <a:r>
              <a:rPr lang="en-US" dirty="0">
                <a:latin typeface="Courier New" panose="02070309020205020404" pitchFamily="49" charset="0"/>
              </a:rPr>
              <a:t>eat()</a:t>
            </a:r>
            <a:r>
              <a:rPr lang="en-US" dirty="0"/>
              <a:t>:</a:t>
            </a:r>
            <a:endParaRPr lang="en-IN" dirty="0"/>
          </a:p>
        </p:txBody>
      </p:sp>
      <p:pic>
        <p:nvPicPr>
          <p:cNvPr id="11" name="Picture 10">
            <a:extLst>
              <a:ext uri="{FF2B5EF4-FFF2-40B4-BE49-F238E27FC236}">
                <a16:creationId xmlns:a16="http://schemas.microsoft.com/office/drawing/2014/main" id="{A3B41E27-B33D-4525-0448-26C54921C613}"/>
              </a:ext>
            </a:extLst>
          </p:cNvPr>
          <p:cNvPicPr>
            <a:picLocks noChangeAspect="1"/>
          </p:cNvPicPr>
          <p:nvPr/>
        </p:nvPicPr>
        <p:blipFill>
          <a:blip r:embed="rId2"/>
          <a:stretch>
            <a:fillRect/>
          </a:stretch>
        </p:blipFill>
        <p:spPr>
          <a:xfrm>
            <a:off x="5733457" y="1619811"/>
            <a:ext cx="4248743" cy="990738"/>
          </a:xfrm>
          <a:prstGeom prst="rect">
            <a:avLst/>
          </a:prstGeom>
        </p:spPr>
      </p:pic>
      <p:sp>
        <p:nvSpPr>
          <p:cNvPr id="13" name="TextBox 12">
            <a:extLst>
              <a:ext uri="{FF2B5EF4-FFF2-40B4-BE49-F238E27FC236}">
                <a16:creationId xmlns:a16="http://schemas.microsoft.com/office/drawing/2014/main" id="{B75256D6-5536-A52E-229F-04B1EABA2387}"/>
              </a:ext>
            </a:extLst>
          </p:cNvPr>
          <p:cNvSpPr txBox="1"/>
          <p:nvPr/>
        </p:nvSpPr>
        <p:spPr>
          <a:xfrm>
            <a:off x="5732206" y="2745347"/>
            <a:ext cx="6096000" cy="369332"/>
          </a:xfrm>
          <a:prstGeom prst="rect">
            <a:avLst/>
          </a:prstGeom>
          <a:noFill/>
        </p:spPr>
        <p:txBody>
          <a:bodyPr wrap="square">
            <a:spAutoFit/>
          </a:bodyPr>
          <a:lstStyle/>
          <a:p>
            <a:pPr>
              <a:buNone/>
            </a:pPr>
            <a:r>
              <a:rPr lang="en-US">
                <a:latin typeface="Courier New" panose="02070309020205020404" pitchFamily="49" charset="0"/>
              </a:rPr>
              <a:t>super.eat()</a:t>
            </a:r>
            <a:r>
              <a:rPr lang="en-US"/>
              <a:t> forces the JVM to call:</a:t>
            </a:r>
            <a:endParaRPr lang="en-US" dirty="0"/>
          </a:p>
        </p:txBody>
      </p:sp>
      <p:sp>
        <p:nvSpPr>
          <p:cNvPr id="15" name="TextBox 14">
            <a:extLst>
              <a:ext uri="{FF2B5EF4-FFF2-40B4-BE49-F238E27FC236}">
                <a16:creationId xmlns:a16="http://schemas.microsoft.com/office/drawing/2014/main" id="{61B53FA2-E1D9-30A8-C2CC-EA55BA070F37}"/>
              </a:ext>
            </a:extLst>
          </p:cNvPr>
          <p:cNvSpPr txBox="1"/>
          <p:nvPr/>
        </p:nvSpPr>
        <p:spPr>
          <a:xfrm>
            <a:off x="5732206" y="3114679"/>
            <a:ext cx="6096000" cy="369332"/>
          </a:xfrm>
          <a:prstGeom prst="rect">
            <a:avLst/>
          </a:prstGeom>
          <a:noFill/>
        </p:spPr>
        <p:txBody>
          <a:bodyPr wrap="square">
            <a:spAutoFit/>
          </a:bodyPr>
          <a:lstStyle/>
          <a:p>
            <a:r>
              <a:rPr lang="en-IN" dirty="0" err="1"/>
              <a:t>Animal.eat</a:t>
            </a:r>
            <a:r>
              <a:rPr lang="en-IN" dirty="0"/>
              <a:t>()</a:t>
            </a:r>
          </a:p>
        </p:txBody>
      </p:sp>
      <p:sp>
        <p:nvSpPr>
          <p:cNvPr id="17" name="TextBox 16">
            <a:extLst>
              <a:ext uri="{FF2B5EF4-FFF2-40B4-BE49-F238E27FC236}">
                <a16:creationId xmlns:a16="http://schemas.microsoft.com/office/drawing/2014/main" id="{4A3BB9D6-0EAB-1D4C-63D7-4B0EBA89A11E}"/>
              </a:ext>
            </a:extLst>
          </p:cNvPr>
          <p:cNvSpPr txBox="1"/>
          <p:nvPr/>
        </p:nvSpPr>
        <p:spPr>
          <a:xfrm>
            <a:off x="5732206" y="3551567"/>
            <a:ext cx="6096000" cy="369332"/>
          </a:xfrm>
          <a:prstGeom prst="rect">
            <a:avLst/>
          </a:prstGeom>
          <a:noFill/>
        </p:spPr>
        <p:txBody>
          <a:bodyPr wrap="square">
            <a:spAutoFit/>
          </a:bodyPr>
          <a:lstStyle/>
          <a:p>
            <a:r>
              <a:rPr lang="en-IN" dirty="0"/>
              <a:t>If super is removed</a:t>
            </a:r>
          </a:p>
        </p:txBody>
      </p:sp>
      <p:sp>
        <p:nvSpPr>
          <p:cNvPr id="21" name="TextBox 20">
            <a:extLst>
              <a:ext uri="{FF2B5EF4-FFF2-40B4-BE49-F238E27FC236}">
                <a16:creationId xmlns:a16="http://schemas.microsoft.com/office/drawing/2014/main" id="{4A43B71D-3D89-22F1-8F30-9730BB6E62D0}"/>
              </a:ext>
            </a:extLst>
          </p:cNvPr>
          <p:cNvSpPr txBox="1"/>
          <p:nvPr/>
        </p:nvSpPr>
        <p:spPr>
          <a:xfrm>
            <a:off x="5732206" y="4055405"/>
            <a:ext cx="6096000" cy="646331"/>
          </a:xfrm>
          <a:prstGeom prst="rect">
            <a:avLst/>
          </a:prstGeom>
          <a:noFill/>
        </p:spPr>
        <p:txBody>
          <a:bodyPr wrap="square">
            <a:spAutoFit/>
          </a:bodyPr>
          <a:lstStyle/>
          <a:p>
            <a:r>
              <a:rPr lang="en-IN" dirty="0"/>
              <a:t>eating bread...</a:t>
            </a:r>
          </a:p>
          <a:p>
            <a:r>
              <a:rPr lang="en-IN" dirty="0"/>
              <a:t>barking...</a:t>
            </a:r>
          </a:p>
        </p:txBody>
      </p:sp>
    </p:spTree>
    <p:extLst>
      <p:ext uri="{BB962C8B-B14F-4D97-AF65-F5344CB8AC3E}">
        <p14:creationId xmlns:p14="http://schemas.microsoft.com/office/powerpoint/2010/main" val="1540709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167100"/>
            <a:ext cx="14020800" cy="406885"/>
          </a:xfrm>
          <a:prstGeom prst="rect">
            <a:avLst/>
          </a:prstGeom>
        </p:spPr>
        <p:txBody>
          <a:bodyPr vert="horz" wrap="square" lIns="0" tIns="16933" rIns="0" bIns="0" rtlCol="0" anchor="ctr">
            <a:spAutoFit/>
          </a:bodyPr>
          <a:lstStyle/>
          <a:p>
            <a:pPr marL="430096">
              <a:lnSpc>
                <a:spcPct val="100000"/>
              </a:lnSpc>
              <a:spcBef>
                <a:spcPts val="133"/>
              </a:spcBef>
            </a:pPr>
            <a:r>
              <a:rPr sz="2533" b="1" dirty="0"/>
              <a:t>3)</a:t>
            </a:r>
            <a:r>
              <a:rPr sz="2533" b="1" spc="-67" dirty="0"/>
              <a:t> </a:t>
            </a:r>
            <a:r>
              <a:rPr sz="2533" b="1" dirty="0"/>
              <a:t>super</a:t>
            </a:r>
            <a:r>
              <a:rPr sz="2533" b="1" spc="-67" dirty="0"/>
              <a:t> </a:t>
            </a:r>
            <a:r>
              <a:rPr sz="2533" b="1" dirty="0"/>
              <a:t>is</a:t>
            </a:r>
            <a:r>
              <a:rPr sz="2533" b="1" spc="-67" dirty="0"/>
              <a:t> </a:t>
            </a:r>
            <a:r>
              <a:rPr sz="2533" b="1" dirty="0"/>
              <a:t>used</a:t>
            </a:r>
            <a:r>
              <a:rPr sz="2533" b="1" spc="-67" dirty="0"/>
              <a:t> </a:t>
            </a:r>
            <a:r>
              <a:rPr sz="2533" b="1" dirty="0"/>
              <a:t>to</a:t>
            </a:r>
            <a:r>
              <a:rPr sz="2533" b="1" spc="-67" dirty="0"/>
              <a:t> </a:t>
            </a:r>
            <a:r>
              <a:rPr sz="2533" b="1" dirty="0"/>
              <a:t>invoke</a:t>
            </a:r>
            <a:r>
              <a:rPr sz="2533" b="1" spc="-67" dirty="0"/>
              <a:t> </a:t>
            </a:r>
            <a:r>
              <a:rPr sz="2533" b="1" dirty="0"/>
              <a:t>parent</a:t>
            </a:r>
            <a:r>
              <a:rPr sz="2533" b="1" spc="-67" dirty="0"/>
              <a:t> </a:t>
            </a:r>
            <a:r>
              <a:rPr sz="2533" b="1" dirty="0"/>
              <a:t>class</a:t>
            </a:r>
            <a:r>
              <a:rPr sz="2533" b="1" spc="-67" dirty="0"/>
              <a:t> </a:t>
            </a:r>
            <a:r>
              <a:rPr sz="2533" b="1" spc="-13" dirty="0"/>
              <a:t>constructor.</a:t>
            </a:r>
            <a:endParaRPr sz="2533" b="1" dirty="0"/>
          </a:p>
        </p:txBody>
      </p:sp>
      <p:sp>
        <p:nvSpPr>
          <p:cNvPr id="3" name="object 3"/>
          <p:cNvSpPr txBox="1"/>
          <p:nvPr/>
        </p:nvSpPr>
        <p:spPr>
          <a:xfrm>
            <a:off x="1407171" y="1797695"/>
            <a:ext cx="9066107" cy="904714"/>
          </a:xfrm>
          <a:prstGeom prst="rect">
            <a:avLst/>
          </a:prstGeom>
        </p:spPr>
        <p:txBody>
          <a:bodyPr vert="horz" wrap="square" lIns="0" tIns="16933" rIns="0" bIns="0" rtlCol="0">
            <a:spAutoFit/>
          </a:bodyPr>
          <a:lstStyle/>
          <a:p>
            <a:pPr marL="16933">
              <a:spcBef>
                <a:spcPts val="133"/>
              </a:spcBef>
            </a:pPr>
            <a:r>
              <a:rPr sz="1867" dirty="0">
                <a:latin typeface="Verdana"/>
                <a:cs typeface="Verdana"/>
              </a:rPr>
              <a:t>The</a:t>
            </a:r>
            <a:r>
              <a:rPr sz="1867" spc="-60" dirty="0">
                <a:latin typeface="Verdana"/>
                <a:cs typeface="Verdana"/>
              </a:rPr>
              <a:t> </a:t>
            </a:r>
            <a:r>
              <a:rPr sz="1867" dirty="0">
                <a:latin typeface="Verdana"/>
                <a:cs typeface="Verdana"/>
              </a:rPr>
              <a:t>super</a:t>
            </a:r>
            <a:r>
              <a:rPr sz="1867" spc="-60" dirty="0">
                <a:latin typeface="Verdana"/>
                <a:cs typeface="Verdana"/>
              </a:rPr>
              <a:t> </a:t>
            </a:r>
            <a:r>
              <a:rPr sz="1867" dirty="0">
                <a:latin typeface="Verdana"/>
                <a:cs typeface="Verdana"/>
              </a:rPr>
              <a:t>keyword</a:t>
            </a:r>
            <a:r>
              <a:rPr sz="1867" spc="-60" dirty="0">
                <a:latin typeface="Verdana"/>
                <a:cs typeface="Verdana"/>
              </a:rPr>
              <a:t> </a:t>
            </a:r>
            <a:r>
              <a:rPr sz="1867" dirty="0">
                <a:latin typeface="Verdana"/>
                <a:cs typeface="Verdana"/>
              </a:rPr>
              <a:t>can</a:t>
            </a:r>
            <a:r>
              <a:rPr sz="1867" spc="-60" dirty="0">
                <a:latin typeface="Verdana"/>
                <a:cs typeface="Verdana"/>
              </a:rPr>
              <a:t> </a:t>
            </a:r>
            <a:r>
              <a:rPr sz="1867" dirty="0">
                <a:latin typeface="Verdana"/>
                <a:cs typeface="Verdana"/>
              </a:rPr>
              <a:t>also</a:t>
            </a:r>
            <a:r>
              <a:rPr sz="1867" spc="-60" dirty="0">
                <a:latin typeface="Verdana"/>
                <a:cs typeface="Verdana"/>
              </a:rPr>
              <a:t> </a:t>
            </a:r>
            <a:r>
              <a:rPr sz="1867" dirty="0">
                <a:latin typeface="Verdana"/>
                <a:cs typeface="Verdana"/>
              </a:rPr>
              <a:t>be</a:t>
            </a:r>
            <a:r>
              <a:rPr sz="1867" spc="-60" dirty="0">
                <a:latin typeface="Verdana"/>
                <a:cs typeface="Verdana"/>
              </a:rPr>
              <a:t> </a:t>
            </a:r>
            <a:r>
              <a:rPr sz="1867" dirty="0">
                <a:latin typeface="Verdana"/>
                <a:cs typeface="Verdana"/>
              </a:rPr>
              <a:t>used</a:t>
            </a:r>
            <a:r>
              <a:rPr sz="1867" spc="-60" dirty="0">
                <a:latin typeface="Verdana"/>
                <a:cs typeface="Verdana"/>
              </a:rPr>
              <a:t> </a:t>
            </a:r>
            <a:r>
              <a:rPr sz="1867" dirty="0">
                <a:latin typeface="Verdana"/>
                <a:cs typeface="Verdana"/>
              </a:rPr>
              <a:t>to</a:t>
            </a:r>
            <a:r>
              <a:rPr sz="1867" spc="-60" dirty="0">
                <a:latin typeface="Verdana"/>
                <a:cs typeface="Verdana"/>
              </a:rPr>
              <a:t> </a:t>
            </a:r>
            <a:r>
              <a:rPr sz="1867" dirty="0">
                <a:latin typeface="Verdana"/>
                <a:cs typeface="Verdana"/>
              </a:rPr>
              <a:t>invoke</a:t>
            </a:r>
            <a:r>
              <a:rPr sz="1867" spc="-60" dirty="0">
                <a:latin typeface="Verdana"/>
                <a:cs typeface="Verdana"/>
              </a:rPr>
              <a:t> </a:t>
            </a:r>
            <a:r>
              <a:rPr sz="1867" dirty="0">
                <a:latin typeface="Verdana"/>
                <a:cs typeface="Verdana"/>
              </a:rPr>
              <a:t>the</a:t>
            </a:r>
            <a:r>
              <a:rPr sz="1867" spc="-60" dirty="0">
                <a:latin typeface="Verdana"/>
                <a:cs typeface="Verdana"/>
              </a:rPr>
              <a:t> </a:t>
            </a:r>
            <a:r>
              <a:rPr sz="1867" dirty="0">
                <a:latin typeface="Verdana"/>
                <a:cs typeface="Verdana"/>
              </a:rPr>
              <a:t>parent</a:t>
            </a:r>
            <a:r>
              <a:rPr sz="1867" spc="-60" dirty="0">
                <a:latin typeface="Verdana"/>
                <a:cs typeface="Verdana"/>
              </a:rPr>
              <a:t> </a:t>
            </a:r>
            <a:r>
              <a:rPr sz="1867" dirty="0">
                <a:latin typeface="Verdana"/>
                <a:cs typeface="Verdana"/>
              </a:rPr>
              <a:t>class</a:t>
            </a:r>
            <a:r>
              <a:rPr sz="1867" spc="-60" dirty="0">
                <a:latin typeface="Verdana"/>
                <a:cs typeface="Verdana"/>
              </a:rPr>
              <a:t> </a:t>
            </a:r>
            <a:r>
              <a:rPr sz="1867" spc="-13" dirty="0">
                <a:latin typeface="Verdana"/>
                <a:cs typeface="Verdana"/>
              </a:rPr>
              <a:t>constructor.</a:t>
            </a:r>
            <a:endParaRPr sz="1867" dirty="0">
              <a:latin typeface="Verdana"/>
              <a:cs typeface="Verdana"/>
            </a:endParaRPr>
          </a:p>
          <a:p>
            <a:pPr>
              <a:spcBef>
                <a:spcPts val="187"/>
              </a:spcBef>
            </a:pPr>
            <a:endParaRPr sz="1867" dirty="0">
              <a:latin typeface="Verdana"/>
              <a:cs typeface="Verdana"/>
            </a:endParaRPr>
          </a:p>
          <a:p>
            <a:pPr marL="16933"/>
            <a:r>
              <a:rPr sz="1867" dirty="0">
                <a:latin typeface="Verdana"/>
                <a:cs typeface="Verdana"/>
              </a:rPr>
              <a:t>Let's</a:t>
            </a:r>
            <a:r>
              <a:rPr sz="1867" spc="-53" dirty="0">
                <a:latin typeface="Verdana"/>
                <a:cs typeface="Verdana"/>
              </a:rPr>
              <a:t> </a:t>
            </a:r>
            <a:r>
              <a:rPr sz="1867" dirty="0">
                <a:latin typeface="Verdana"/>
                <a:cs typeface="Verdana"/>
              </a:rPr>
              <a:t>see</a:t>
            </a:r>
            <a:r>
              <a:rPr sz="1867" spc="-47" dirty="0">
                <a:latin typeface="Verdana"/>
                <a:cs typeface="Verdana"/>
              </a:rPr>
              <a:t> </a:t>
            </a:r>
            <a:r>
              <a:rPr sz="1867" dirty="0">
                <a:latin typeface="Verdana"/>
                <a:cs typeface="Verdana"/>
              </a:rPr>
              <a:t>a</a:t>
            </a:r>
            <a:r>
              <a:rPr sz="1867" spc="-47" dirty="0">
                <a:latin typeface="Verdana"/>
                <a:cs typeface="Verdana"/>
              </a:rPr>
              <a:t> </a:t>
            </a:r>
            <a:r>
              <a:rPr sz="1867" dirty="0">
                <a:latin typeface="Verdana"/>
                <a:cs typeface="Verdana"/>
              </a:rPr>
              <a:t>simple</a:t>
            </a:r>
            <a:r>
              <a:rPr sz="1867" spc="-27" dirty="0">
                <a:latin typeface="Verdana"/>
                <a:cs typeface="Verdana"/>
              </a:rPr>
              <a:t> </a:t>
            </a:r>
            <a:r>
              <a:rPr sz="1867" spc="-13" dirty="0">
                <a:latin typeface="Verdana"/>
                <a:cs typeface="Verdana"/>
              </a:rPr>
              <a:t>example:</a:t>
            </a:r>
            <a:endParaRPr sz="1867" dirty="0">
              <a:latin typeface="Verdana"/>
              <a:cs typeface="Verdan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06367" y="92965"/>
            <a:ext cx="4837005" cy="6630126"/>
          </a:xfrm>
          <a:prstGeom prst="rect">
            <a:avLst/>
          </a:prstGeom>
        </p:spPr>
        <p:txBody>
          <a:bodyPr vert="horz" wrap="square" lIns="0" tIns="164252" rIns="0" bIns="0" rtlCol="0">
            <a:spAutoFit/>
          </a:bodyPr>
          <a:lstStyle/>
          <a:p>
            <a:pPr marL="16933">
              <a:spcBef>
                <a:spcPts val="1292"/>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Animal</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spc="-13" dirty="0">
                <a:latin typeface="Verdana"/>
                <a:cs typeface="Verdana"/>
              </a:rPr>
              <a:t>Animal()</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spc="-13" dirty="0">
                <a:latin typeface="Verdana"/>
                <a:cs typeface="Verdana"/>
              </a:rPr>
              <a:t>System.out.println(</a:t>
            </a:r>
            <a:r>
              <a:rPr sz="1867" spc="-13" dirty="0">
                <a:solidFill>
                  <a:srgbClr val="0000FF"/>
                </a:solidFill>
                <a:latin typeface="Verdana"/>
                <a:cs typeface="Verdana"/>
              </a:rPr>
              <a:t>"animal</a:t>
            </a:r>
            <a:r>
              <a:rPr sz="1867" spc="-20" dirty="0">
                <a:solidFill>
                  <a:srgbClr val="0000FF"/>
                </a:solidFill>
                <a:latin typeface="Verdana"/>
                <a:cs typeface="Verdana"/>
              </a:rPr>
              <a:t> </a:t>
            </a:r>
            <a:r>
              <a:rPr sz="1867" dirty="0">
                <a:solidFill>
                  <a:srgbClr val="0000FF"/>
                </a:solidFill>
                <a:latin typeface="Verdana"/>
                <a:cs typeface="Verdana"/>
              </a:rPr>
              <a:t>is</a:t>
            </a:r>
            <a:r>
              <a:rPr sz="1867" spc="-13" dirty="0">
                <a:solidFill>
                  <a:srgbClr val="0000FF"/>
                </a:solidFill>
                <a:latin typeface="Verdana"/>
                <a:cs typeface="Verdana"/>
              </a:rPr>
              <a:t> created"</a:t>
            </a:r>
            <a:r>
              <a:rPr sz="1867" spc="-13" dirty="0">
                <a:latin typeface="Verdana"/>
                <a:cs typeface="Verdana"/>
              </a:rPr>
              <a:t>);</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60"/>
              </a:spcBef>
            </a:pPr>
            <a:r>
              <a:rPr sz="1867" b="1" dirty="0">
                <a:solidFill>
                  <a:srgbClr val="006699"/>
                </a:solidFill>
                <a:latin typeface="Verdana"/>
                <a:cs typeface="Verdana"/>
              </a:rPr>
              <a:t>class</a:t>
            </a:r>
            <a:r>
              <a:rPr sz="1867" b="1" spc="-27" dirty="0">
                <a:solidFill>
                  <a:srgbClr val="006699"/>
                </a:solidFill>
                <a:latin typeface="Verdana"/>
                <a:cs typeface="Verdana"/>
              </a:rPr>
              <a:t> </a:t>
            </a:r>
            <a:r>
              <a:rPr sz="1867" dirty="0">
                <a:latin typeface="Verdana"/>
                <a:cs typeface="Verdana"/>
              </a:rPr>
              <a:t>Dog</a:t>
            </a:r>
            <a:r>
              <a:rPr sz="1867" spc="-33" dirty="0">
                <a:latin typeface="Verdana"/>
                <a:cs typeface="Verdana"/>
              </a:rPr>
              <a:t> </a:t>
            </a:r>
            <a:r>
              <a:rPr sz="1867" b="1" dirty="0">
                <a:solidFill>
                  <a:srgbClr val="006699"/>
                </a:solidFill>
                <a:latin typeface="Verdana"/>
                <a:cs typeface="Verdana"/>
              </a:rPr>
              <a:t>extends</a:t>
            </a:r>
            <a:r>
              <a:rPr sz="1867" b="1" spc="-13" dirty="0">
                <a:solidFill>
                  <a:srgbClr val="006699"/>
                </a:solidFill>
                <a:latin typeface="Verdana"/>
                <a:cs typeface="Verdana"/>
              </a:rPr>
              <a:t> </a:t>
            </a:r>
            <a:r>
              <a:rPr sz="1867" spc="-13" dirty="0">
                <a:latin typeface="Verdana"/>
                <a:cs typeface="Verdana"/>
              </a:rPr>
              <a:t>Animal</a:t>
            </a:r>
            <a:endParaRPr sz="1867">
              <a:latin typeface="Verdana"/>
              <a:cs typeface="Verdana"/>
            </a:endParaRPr>
          </a:p>
          <a:p>
            <a:pPr marL="16933">
              <a:spcBef>
                <a:spcPts val="1160"/>
              </a:spcBef>
            </a:pPr>
            <a:r>
              <a:rPr sz="1867" spc="-67" dirty="0">
                <a:latin typeface="Verdana"/>
                <a:cs typeface="Verdana"/>
              </a:rPr>
              <a:t>{</a:t>
            </a:r>
            <a:endParaRPr sz="1867">
              <a:latin typeface="Verdana"/>
              <a:cs typeface="Verdana"/>
            </a:endParaRPr>
          </a:p>
          <a:p>
            <a:pPr marL="16933">
              <a:spcBef>
                <a:spcPts val="1160"/>
              </a:spcBef>
            </a:pPr>
            <a:r>
              <a:rPr sz="1867" spc="-13" dirty="0">
                <a:latin typeface="Verdana"/>
                <a:cs typeface="Verdana"/>
              </a:rPr>
              <a:t>Dog()</a:t>
            </a:r>
            <a:endParaRPr sz="1867">
              <a:latin typeface="Verdana"/>
              <a:cs typeface="Verdana"/>
            </a:endParaRPr>
          </a:p>
          <a:p>
            <a:pPr marL="16933">
              <a:spcBef>
                <a:spcPts val="1160"/>
              </a:spcBef>
            </a:pPr>
            <a:r>
              <a:rPr sz="1867" spc="-67" dirty="0">
                <a:latin typeface="Verdana"/>
                <a:cs typeface="Verdana"/>
              </a:rPr>
              <a:t>{</a:t>
            </a:r>
            <a:endParaRPr sz="1867">
              <a:latin typeface="Verdana"/>
              <a:cs typeface="Verdana"/>
            </a:endParaRPr>
          </a:p>
          <a:p>
            <a:pPr marL="16933">
              <a:spcBef>
                <a:spcPts val="1160"/>
              </a:spcBef>
            </a:pPr>
            <a:r>
              <a:rPr sz="1867" b="1" spc="-13" dirty="0">
                <a:solidFill>
                  <a:srgbClr val="006699"/>
                </a:solidFill>
                <a:latin typeface="Verdana"/>
                <a:cs typeface="Verdana"/>
              </a:rPr>
              <a:t>super</a:t>
            </a:r>
            <a:r>
              <a:rPr sz="1867" spc="-13" dirty="0">
                <a:latin typeface="Verdana"/>
                <a:cs typeface="Verdana"/>
              </a:rPr>
              <a:t>();</a:t>
            </a:r>
            <a:endParaRPr sz="1867">
              <a:latin typeface="Verdana"/>
              <a:cs typeface="Verdana"/>
            </a:endParaRPr>
          </a:p>
          <a:p>
            <a:pPr marL="16933">
              <a:spcBef>
                <a:spcPts val="1160"/>
              </a:spcBef>
            </a:pPr>
            <a:r>
              <a:rPr sz="1867" spc="-13" dirty="0">
                <a:latin typeface="Verdana"/>
                <a:cs typeface="Verdana"/>
              </a:rPr>
              <a:t>System.out.println(</a:t>
            </a:r>
            <a:r>
              <a:rPr sz="1867" spc="-13" dirty="0">
                <a:solidFill>
                  <a:srgbClr val="0000FF"/>
                </a:solidFill>
                <a:latin typeface="Verdana"/>
                <a:cs typeface="Verdana"/>
              </a:rPr>
              <a:t>"dog</a:t>
            </a:r>
            <a:r>
              <a:rPr sz="1867" spc="-53" dirty="0">
                <a:solidFill>
                  <a:srgbClr val="0000FF"/>
                </a:solidFill>
                <a:latin typeface="Verdana"/>
                <a:cs typeface="Verdana"/>
              </a:rPr>
              <a:t> </a:t>
            </a:r>
            <a:r>
              <a:rPr sz="1867" dirty="0">
                <a:solidFill>
                  <a:srgbClr val="0000FF"/>
                </a:solidFill>
                <a:latin typeface="Verdana"/>
                <a:cs typeface="Verdana"/>
              </a:rPr>
              <a:t>is</a:t>
            </a:r>
            <a:r>
              <a:rPr sz="1867" spc="-47" dirty="0">
                <a:solidFill>
                  <a:srgbClr val="0000FF"/>
                </a:solidFill>
                <a:latin typeface="Verdana"/>
                <a:cs typeface="Verdana"/>
              </a:rPr>
              <a:t> </a:t>
            </a:r>
            <a:r>
              <a:rPr sz="1867" spc="-13" dirty="0">
                <a:solidFill>
                  <a:srgbClr val="0000FF"/>
                </a:solidFill>
                <a:latin typeface="Verdana"/>
                <a:cs typeface="Verdana"/>
              </a:rPr>
              <a:t>created"</a:t>
            </a:r>
            <a:r>
              <a:rPr sz="1867" spc="-13" dirty="0">
                <a:latin typeface="Verdana"/>
                <a:cs typeface="Verdana"/>
              </a:rPr>
              <a:t>);</a:t>
            </a:r>
            <a:endParaRPr sz="1867">
              <a:latin typeface="Verdana"/>
              <a:cs typeface="Verdana"/>
            </a:endParaRPr>
          </a:p>
          <a:p>
            <a:pPr marL="16933">
              <a:spcBef>
                <a:spcPts val="1160"/>
              </a:spcBef>
            </a:pPr>
            <a:r>
              <a:rPr sz="1867" spc="-67" dirty="0">
                <a:latin typeface="Verdana"/>
                <a:cs typeface="Verdana"/>
              </a:rPr>
              <a:t>}</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89567" y="914197"/>
            <a:ext cx="4719320" cy="4077824"/>
          </a:xfrm>
          <a:prstGeom prst="rect">
            <a:avLst/>
          </a:prstGeom>
        </p:spPr>
        <p:txBody>
          <a:bodyPr vert="horz" wrap="square" lIns="0" tIns="164252" rIns="0" bIns="0" rtlCol="0">
            <a:spAutoFit/>
          </a:bodyPr>
          <a:lstStyle/>
          <a:p>
            <a:pPr marL="16933">
              <a:spcBef>
                <a:spcPts val="1292"/>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TestSuper3</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b="1" dirty="0">
                <a:solidFill>
                  <a:srgbClr val="006699"/>
                </a:solidFill>
                <a:latin typeface="Verdana"/>
                <a:cs typeface="Verdana"/>
              </a:rPr>
              <a:t>public</a:t>
            </a:r>
            <a:r>
              <a:rPr sz="1867" b="1" spc="-20" dirty="0">
                <a:solidFill>
                  <a:srgbClr val="006699"/>
                </a:solidFill>
                <a:latin typeface="Verdana"/>
                <a:cs typeface="Verdana"/>
              </a:rPr>
              <a:t> </a:t>
            </a:r>
            <a:r>
              <a:rPr sz="1867" b="1" dirty="0">
                <a:solidFill>
                  <a:srgbClr val="006699"/>
                </a:solidFill>
                <a:latin typeface="Verdana"/>
                <a:cs typeface="Verdana"/>
              </a:rPr>
              <a:t>static</a:t>
            </a:r>
            <a:r>
              <a:rPr sz="1867" b="1" spc="-13" dirty="0">
                <a:solidFill>
                  <a:srgbClr val="006699"/>
                </a:solidFill>
                <a:latin typeface="Verdana"/>
                <a:cs typeface="Verdana"/>
              </a:rPr>
              <a:t> </a:t>
            </a: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main(String</a:t>
            </a:r>
            <a:r>
              <a:rPr sz="1867" spc="-33" dirty="0">
                <a:latin typeface="Verdana"/>
                <a:cs typeface="Verdana"/>
              </a:rPr>
              <a:t> </a:t>
            </a:r>
            <a:r>
              <a:rPr sz="1867" spc="-13" dirty="0">
                <a:latin typeface="Verdana"/>
                <a:cs typeface="Verdana"/>
              </a:rPr>
              <a:t>args[])</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dirty="0">
                <a:latin typeface="Verdana"/>
                <a:cs typeface="Verdana"/>
              </a:rPr>
              <a:t>Dog</a:t>
            </a:r>
            <a:r>
              <a:rPr sz="1867" spc="-67" dirty="0">
                <a:latin typeface="Verdana"/>
                <a:cs typeface="Verdana"/>
              </a:rPr>
              <a:t> </a:t>
            </a:r>
            <a:r>
              <a:rPr sz="1867" dirty="0">
                <a:latin typeface="Verdana"/>
                <a:cs typeface="Verdana"/>
              </a:rPr>
              <a:t>d=</a:t>
            </a:r>
            <a:r>
              <a:rPr sz="1867" b="1" dirty="0">
                <a:solidFill>
                  <a:srgbClr val="006699"/>
                </a:solidFill>
                <a:latin typeface="Verdana"/>
                <a:cs typeface="Verdana"/>
              </a:rPr>
              <a:t>new</a:t>
            </a:r>
            <a:r>
              <a:rPr sz="1867" b="1" spc="-40" dirty="0">
                <a:solidFill>
                  <a:srgbClr val="006699"/>
                </a:solidFill>
                <a:latin typeface="Verdana"/>
                <a:cs typeface="Verdana"/>
              </a:rPr>
              <a:t> </a:t>
            </a:r>
            <a:r>
              <a:rPr sz="1867" spc="-13" dirty="0">
                <a:latin typeface="Verdana"/>
                <a:cs typeface="Verdana"/>
              </a:rPr>
              <a:t>Dog();</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marL="16933">
              <a:spcBef>
                <a:spcPts val="1159"/>
              </a:spcBef>
            </a:pPr>
            <a:r>
              <a:rPr sz="1867" spc="-67" dirty="0">
                <a:latin typeface="Verdana"/>
                <a:cs typeface="Verdana"/>
              </a:rPr>
              <a:t>}</a:t>
            </a:r>
            <a:endParaRPr sz="1867">
              <a:latin typeface="Verdana"/>
              <a:cs typeface="Verdana"/>
            </a:endParaRPr>
          </a:p>
          <a:p>
            <a:pPr>
              <a:lnSpc>
                <a:spcPct val="100000"/>
              </a:lnSpc>
            </a:pPr>
            <a:endParaRPr sz="1867">
              <a:latin typeface="Verdana"/>
              <a:cs typeface="Verdana"/>
            </a:endParaRPr>
          </a:p>
          <a:p>
            <a:pPr>
              <a:spcBef>
                <a:spcPts val="920"/>
              </a:spcBef>
            </a:pPr>
            <a:endParaRPr sz="1867">
              <a:latin typeface="Verdana"/>
              <a:cs typeface="Verdana"/>
            </a:endParaRPr>
          </a:p>
          <a:p>
            <a:pPr marL="16933"/>
            <a:r>
              <a:rPr sz="1867" b="1" spc="-13" dirty="0">
                <a:latin typeface="Verdana"/>
                <a:cs typeface="Verdana"/>
              </a:rPr>
              <a:t>Output:</a:t>
            </a:r>
            <a:endParaRPr sz="1867">
              <a:latin typeface="Verdana"/>
              <a:cs typeface="Verdana"/>
            </a:endParaRPr>
          </a:p>
        </p:txBody>
      </p:sp>
      <p:sp>
        <p:nvSpPr>
          <p:cNvPr id="3" name="object 3"/>
          <p:cNvSpPr txBox="1"/>
          <p:nvPr/>
        </p:nvSpPr>
        <p:spPr>
          <a:xfrm>
            <a:off x="1406500" y="5151934"/>
            <a:ext cx="2040467" cy="282129"/>
          </a:xfrm>
          <a:prstGeom prst="rect">
            <a:avLst/>
          </a:prstGeom>
          <a:solidFill>
            <a:srgbClr val="F9FAF9"/>
          </a:solidFill>
        </p:spPr>
        <p:txBody>
          <a:bodyPr vert="horz" wrap="square" lIns="0" tIns="0" rIns="0" bIns="0" rtlCol="0">
            <a:spAutoFit/>
          </a:bodyPr>
          <a:lstStyle/>
          <a:p>
            <a:pPr>
              <a:lnSpc>
                <a:spcPts val="2167"/>
              </a:lnSpc>
            </a:pPr>
            <a:r>
              <a:rPr sz="1867" dirty="0">
                <a:latin typeface="Verdana"/>
                <a:cs typeface="Verdana"/>
              </a:rPr>
              <a:t>animal</a:t>
            </a:r>
            <a:r>
              <a:rPr sz="1867" spc="-60" dirty="0">
                <a:latin typeface="Verdana"/>
                <a:cs typeface="Verdana"/>
              </a:rPr>
              <a:t> </a:t>
            </a:r>
            <a:r>
              <a:rPr sz="1867" dirty="0">
                <a:latin typeface="Verdana"/>
                <a:cs typeface="Verdana"/>
              </a:rPr>
              <a:t>is</a:t>
            </a:r>
            <a:r>
              <a:rPr sz="1867" spc="-60" dirty="0">
                <a:latin typeface="Verdana"/>
                <a:cs typeface="Verdana"/>
              </a:rPr>
              <a:t> </a:t>
            </a:r>
            <a:r>
              <a:rPr sz="1867" spc="-13" dirty="0">
                <a:latin typeface="Verdana"/>
                <a:cs typeface="Verdana"/>
              </a:rPr>
              <a:t>created</a:t>
            </a:r>
            <a:endParaRPr sz="1867">
              <a:latin typeface="Verdana"/>
              <a:cs typeface="Verdana"/>
            </a:endParaRPr>
          </a:p>
        </p:txBody>
      </p:sp>
      <p:sp>
        <p:nvSpPr>
          <p:cNvPr id="4" name="object 4"/>
          <p:cNvSpPr txBox="1"/>
          <p:nvPr/>
        </p:nvSpPr>
        <p:spPr>
          <a:xfrm>
            <a:off x="1474233" y="5748834"/>
            <a:ext cx="1701800" cy="282129"/>
          </a:xfrm>
          <a:prstGeom prst="rect">
            <a:avLst/>
          </a:prstGeom>
          <a:solidFill>
            <a:srgbClr val="F9FAF9"/>
          </a:solidFill>
        </p:spPr>
        <p:txBody>
          <a:bodyPr vert="horz" wrap="square" lIns="0" tIns="0" rIns="0" bIns="0" rtlCol="0">
            <a:spAutoFit/>
          </a:bodyPr>
          <a:lstStyle/>
          <a:p>
            <a:pPr>
              <a:lnSpc>
                <a:spcPts val="2167"/>
              </a:lnSpc>
            </a:pPr>
            <a:r>
              <a:rPr sz="1867" dirty="0">
                <a:latin typeface="Verdana"/>
                <a:cs typeface="Verdana"/>
              </a:rPr>
              <a:t>dog</a:t>
            </a:r>
            <a:r>
              <a:rPr sz="1867" spc="-40" dirty="0">
                <a:latin typeface="Verdana"/>
                <a:cs typeface="Verdana"/>
              </a:rPr>
              <a:t> </a:t>
            </a:r>
            <a:r>
              <a:rPr sz="1867" dirty="0">
                <a:latin typeface="Verdana"/>
                <a:cs typeface="Verdana"/>
              </a:rPr>
              <a:t>is</a:t>
            </a:r>
            <a:r>
              <a:rPr sz="1867" spc="-33" dirty="0">
                <a:latin typeface="Verdana"/>
                <a:cs typeface="Verdana"/>
              </a:rPr>
              <a:t> </a:t>
            </a:r>
            <a:r>
              <a:rPr sz="1867" spc="-13" dirty="0">
                <a:latin typeface="Verdana"/>
                <a:cs typeface="Verdana"/>
              </a:rPr>
              <a:t>created</a:t>
            </a:r>
            <a:endParaRPr sz="1867">
              <a:latin typeface="Verdana"/>
              <a:cs typeface="Verdan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5767" y="841649"/>
            <a:ext cx="5862891" cy="694207"/>
          </a:xfrm>
          <a:prstGeom prst="rect">
            <a:avLst/>
          </a:prstGeom>
        </p:spPr>
        <p:txBody>
          <a:bodyPr vert="horz" wrap="square" lIns="0" tIns="16933" rIns="0" bIns="0" rtlCol="0" anchor="ctr">
            <a:spAutoFit/>
          </a:bodyPr>
          <a:lstStyle/>
          <a:p>
            <a:pPr marL="16933">
              <a:lnSpc>
                <a:spcPct val="100000"/>
              </a:lnSpc>
              <a:spcBef>
                <a:spcPts val="133"/>
              </a:spcBef>
            </a:pPr>
            <a:r>
              <a:rPr b="1" dirty="0">
                <a:latin typeface="Arial"/>
                <a:cs typeface="Arial"/>
              </a:rPr>
              <a:t>final</a:t>
            </a:r>
            <a:r>
              <a:rPr b="1" spc="-93" dirty="0">
                <a:latin typeface="Arial"/>
                <a:cs typeface="Arial"/>
              </a:rPr>
              <a:t> </a:t>
            </a:r>
            <a:r>
              <a:rPr dirty="0"/>
              <a:t>Keyword</a:t>
            </a:r>
            <a:r>
              <a:rPr spc="-100" dirty="0"/>
              <a:t> </a:t>
            </a:r>
            <a:r>
              <a:rPr dirty="0"/>
              <a:t>In</a:t>
            </a:r>
            <a:r>
              <a:rPr spc="-93" dirty="0"/>
              <a:t> </a:t>
            </a:r>
            <a:r>
              <a:rPr spc="-27" dirty="0"/>
              <a:t>Java</a:t>
            </a:r>
          </a:p>
        </p:txBody>
      </p:sp>
      <p:sp>
        <p:nvSpPr>
          <p:cNvPr id="3" name="object 3"/>
          <p:cNvSpPr txBox="1"/>
          <p:nvPr/>
        </p:nvSpPr>
        <p:spPr>
          <a:xfrm>
            <a:off x="1835767" y="1959317"/>
            <a:ext cx="8867140" cy="3181875"/>
          </a:xfrm>
          <a:prstGeom prst="rect">
            <a:avLst/>
          </a:prstGeom>
        </p:spPr>
        <p:txBody>
          <a:bodyPr vert="horz" wrap="square" lIns="0" tIns="16933" rIns="0" bIns="0" rtlCol="0">
            <a:spAutoFit/>
          </a:bodyPr>
          <a:lstStyle/>
          <a:p>
            <a:pPr marL="16933">
              <a:spcBef>
                <a:spcPts val="133"/>
              </a:spcBef>
            </a:pPr>
            <a:r>
              <a:rPr sz="1867" dirty="0">
                <a:latin typeface="Verdana"/>
                <a:cs typeface="Verdana"/>
              </a:rPr>
              <a:t>The</a:t>
            </a:r>
            <a:r>
              <a:rPr sz="1867" spc="-33" dirty="0">
                <a:latin typeface="Verdana"/>
                <a:cs typeface="Verdana"/>
              </a:rPr>
              <a:t> </a:t>
            </a:r>
            <a:r>
              <a:rPr sz="1867" b="1" dirty="0">
                <a:latin typeface="Verdana"/>
                <a:cs typeface="Verdana"/>
              </a:rPr>
              <a:t>final</a:t>
            </a:r>
            <a:r>
              <a:rPr sz="1867" b="1" spc="-40" dirty="0">
                <a:latin typeface="Verdana"/>
                <a:cs typeface="Verdana"/>
              </a:rPr>
              <a:t> </a:t>
            </a:r>
            <a:r>
              <a:rPr sz="1867" b="1" dirty="0">
                <a:latin typeface="Verdana"/>
                <a:cs typeface="Verdana"/>
              </a:rPr>
              <a:t>keyword</a:t>
            </a:r>
            <a:r>
              <a:rPr sz="1867" b="1" spc="-13" dirty="0">
                <a:latin typeface="Verdana"/>
                <a:cs typeface="Verdana"/>
              </a:rPr>
              <a:t> </a:t>
            </a:r>
            <a:r>
              <a:rPr sz="1867" dirty="0">
                <a:latin typeface="Verdana"/>
                <a:cs typeface="Verdana"/>
              </a:rPr>
              <a:t>in</a:t>
            </a:r>
            <a:r>
              <a:rPr sz="1867" spc="-40" dirty="0">
                <a:latin typeface="Verdana"/>
                <a:cs typeface="Verdana"/>
              </a:rPr>
              <a:t> </a:t>
            </a:r>
            <a:r>
              <a:rPr sz="1867" dirty="0">
                <a:latin typeface="Verdana"/>
                <a:cs typeface="Verdana"/>
              </a:rPr>
              <a:t>java</a:t>
            </a:r>
            <a:r>
              <a:rPr sz="1867" spc="-40" dirty="0">
                <a:latin typeface="Verdana"/>
                <a:cs typeface="Verdana"/>
              </a:rPr>
              <a:t> </a:t>
            </a:r>
            <a:r>
              <a:rPr sz="1867" dirty="0">
                <a:latin typeface="Verdana"/>
                <a:cs typeface="Verdana"/>
              </a:rPr>
              <a:t>is</a:t>
            </a:r>
            <a:r>
              <a:rPr sz="1867" spc="-40" dirty="0">
                <a:latin typeface="Verdana"/>
                <a:cs typeface="Verdana"/>
              </a:rPr>
              <a:t> </a:t>
            </a:r>
            <a:r>
              <a:rPr sz="1867" dirty="0">
                <a:latin typeface="Verdana"/>
                <a:cs typeface="Verdana"/>
              </a:rPr>
              <a:t>used</a:t>
            </a:r>
            <a:r>
              <a:rPr sz="1867" spc="-40" dirty="0">
                <a:latin typeface="Verdana"/>
                <a:cs typeface="Verdana"/>
              </a:rPr>
              <a:t> </a:t>
            </a:r>
            <a:r>
              <a:rPr sz="1867" dirty="0">
                <a:latin typeface="Verdana"/>
                <a:cs typeface="Verdana"/>
              </a:rPr>
              <a:t>to</a:t>
            </a:r>
            <a:r>
              <a:rPr sz="1867" spc="-40" dirty="0">
                <a:latin typeface="Verdana"/>
                <a:cs typeface="Verdana"/>
              </a:rPr>
              <a:t> </a:t>
            </a:r>
            <a:r>
              <a:rPr sz="1867" dirty="0">
                <a:latin typeface="Verdana"/>
                <a:cs typeface="Verdana"/>
              </a:rPr>
              <a:t>restrict</a:t>
            </a:r>
            <a:r>
              <a:rPr sz="1867" spc="-40" dirty="0">
                <a:latin typeface="Verdana"/>
                <a:cs typeface="Verdana"/>
              </a:rPr>
              <a:t> </a:t>
            </a:r>
            <a:r>
              <a:rPr sz="1867" dirty="0">
                <a:latin typeface="Verdana"/>
                <a:cs typeface="Verdana"/>
              </a:rPr>
              <a:t>the</a:t>
            </a:r>
            <a:r>
              <a:rPr sz="1867" spc="-33" dirty="0">
                <a:latin typeface="Verdana"/>
                <a:cs typeface="Verdana"/>
              </a:rPr>
              <a:t> </a:t>
            </a:r>
            <a:r>
              <a:rPr sz="1867" spc="-13" dirty="0">
                <a:latin typeface="Verdana"/>
                <a:cs typeface="Verdana"/>
              </a:rPr>
              <a:t>user.</a:t>
            </a:r>
            <a:endParaRPr sz="1867" dirty="0">
              <a:latin typeface="Verdana"/>
              <a:cs typeface="Verdana"/>
            </a:endParaRPr>
          </a:p>
          <a:p>
            <a:pPr marL="16933">
              <a:spcBef>
                <a:spcPts val="1627"/>
              </a:spcBef>
            </a:pPr>
            <a:r>
              <a:rPr sz="1867" dirty="0">
                <a:latin typeface="Verdana"/>
                <a:cs typeface="Verdana"/>
              </a:rPr>
              <a:t>The</a:t>
            </a:r>
            <a:r>
              <a:rPr sz="1867" spc="-47" dirty="0">
                <a:latin typeface="Verdana"/>
                <a:cs typeface="Verdana"/>
              </a:rPr>
              <a:t> </a:t>
            </a:r>
            <a:r>
              <a:rPr sz="1867" dirty="0">
                <a:latin typeface="Verdana"/>
                <a:cs typeface="Verdana"/>
              </a:rPr>
              <a:t>java</a:t>
            </a:r>
            <a:r>
              <a:rPr sz="1867" spc="-47" dirty="0">
                <a:latin typeface="Verdana"/>
                <a:cs typeface="Verdana"/>
              </a:rPr>
              <a:t> </a:t>
            </a:r>
            <a:r>
              <a:rPr sz="1867" dirty="0">
                <a:latin typeface="Verdana"/>
                <a:cs typeface="Verdana"/>
              </a:rPr>
              <a:t>final</a:t>
            </a:r>
            <a:r>
              <a:rPr sz="1867" spc="-40" dirty="0">
                <a:latin typeface="Verdana"/>
                <a:cs typeface="Verdana"/>
              </a:rPr>
              <a:t> </a:t>
            </a:r>
            <a:r>
              <a:rPr sz="1867" dirty="0">
                <a:latin typeface="Verdana"/>
                <a:cs typeface="Verdana"/>
              </a:rPr>
              <a:t>keyword</a:t>
            </a:r>
            <a:r>
              <a:rPr sz="1867" spc="-47" dirty="0">
                <a:latin typeface="Verdana"/>
                <a:cs typeface="Verdana"/>
              </a:rPr>
              <a:t> </a:t>
            </a:r>
            <a:r>
              <a:rPr sz="1867" dirty="0">
                <a:latin typeface="Verdana"/>
                <a:cs typeface="Verdana"/>
              </a:rPr>
              <a:t>can</a:t>
            </a:r>
            <a:r>
              <a:rPr sz="1867" spc="-47" dirty="0">
                <a:latin typeface="Verdana"/>
                <a:cs typeface="Verdana"/>
              </a:rPr>
              <a:t> </a:t>
            </a:r>
            <a:r>
              <a:rPr sz="1867" dirty="0">
                <a:latin typeface="Verdana"/>
                <a:cs typeface="Verdana"/>
              </a:rPr>
              <a:t>be</a:t>
            </a:r>
            <a:r>
              <a:rPr sz="1867" spc="-40" dirty="0">
                <a:latin typeface="Verdana"/>
                <a:cs typeface="Verdana"/>
              </a:rPr>
              <a:t> </a:t>
            </a:r>
            <a:r>
              <a:rPr sz="1867" dirty="0">
                <a:latin typeface="Verdana"/>
                <a:cs typeface="Verdana"/>
              </a:rPr>
              <a:t>used</a:t>
            </a:r>
            <a:r>
              <a:rPr sz="1867" spc="-47" dirty="0">
                <a:latin typeface="Verdana"/>
                <a:cs typeface="Verdana"/>
              </a:rPr>
              <a:t> </a:t>
            </a:r>
            <a:r>
              <a:rPr sz="1867" dirty="0">
                <a:latin typeface="Verdana"/>
                <a:cs typeface="Verdana"/>
              </a:rPr>
              <a:t>in</a:t>
            </a:r>
            <a:r>
              <a:rPr sz="1867" spc="-47" dirty="0">
                <a:latin typeface="Verdana"/>
                <a:cs typeface="Verdana"/>
              </a:rPr>
              <a:t> </a:t>
            </a:r>
            <a:r>
              <a:rPr sz="1867" dirty="0">
                <a:latin typeface="Verdana"/>
                <a:cs typeface="Verdana"/>
              </a:rPr>
              <a:t>many</a:t>
            </a:r>
            <a:r>
              <a:rPr sz="1867" spc="-40" dirty="0">
                <a:latin typeface="Verdana"/>
                <a:cs typeface="Verdana"/>
              </a:rPr>
              <a:t> </a:t>
            </a:r>
            <a:r>
              <a:rPr sz="1867" dirty="0">
                <a:latin typeface="Verdana"/>
                <a:cs typeface="Verdana"/>
              </a:rPr>
              <a:t>context.</a:t>
            </a:r>
            <a:r>
              <a:rPr sz="1867" spc="-47" dirty="0">
                <a:latin typeface="Verdana"/>
                <a:cs typeface="Verdana"/>
              </a:rPr>
              <a:t> </a:t>
            </a:r>
            <a:r>
              <a:rPr sz="1867" dirty="0">
                <a:latin typeface="Verdana"/>
                <a:cs typeface="Verdana"/>
              </a:rPr>
              <a:t>Final</a:t>
            </a:r>
            <a:r>
              <a:rPr sz="1867" spc="-47" dirty="0">
                <a:latin typeface="Verdana"/>
                <a:cs typeface="Verdana"/>
              </a:rPr>
              <a:t> </a:t>
            </a:r>
            <a:r>
              <a:rPr sz="1867" dirty="0">
                <a:latin typeface="Verdana"/>
                <a:cs typeface="Verdana"/>
              </a:rPr>
              <a:t>can</a:t>
            </a:r>
            <a:r>
              <a:rPr sz="1867" spc="-40" dirty="0">
                <a:latin typeface="Verdana"/>
                <a:cs typeface="Verdana"/>
              </a:rPr>
              <a:t> </a:t>
            </a:r>
            <a:r>
              <a:rPr sz="1867" spc="-33" dirty="0">
                <a:latin typeface="Verdana"/>
                <a:cs typeface="Verdana"/>
              </a:rPr>
              <a:t>be:</a:t>
            </a:r>
            <a:endParaRPr sz="1867" dirty="0">
              <a:latin typeface="Verdana"/>
              <a:cs typeface="Verdana"/>
            </a:endParaRPr>
          </a:p>
          <a:p>
            <a:pPr marL="625671" indent="-541006">
              <a:spcBef>
                <a:spcPts val="2060"/>
              </a:spcBef>
              <a:buAutoNum type="arabicPeriod"/>
              <a:tabLst>
                <a:tab pos="625671" algn="l"/>
              </a:tabLst>
            </a:pPr>
            <a:r>
              <a:rPr sz="1867" spc="-13" dirty="0">
                <a:latin typeface="Verdana"/>
                <a:cs typeface="Verdana"/>
              </a:rPr>
              <a:t>variable</a:t>
            </a:r>
            <a:endParaRPr sz="1867" dirty="0">
              <a:latin typeface="Verdana"/>
              <a:cs typeface="Verdana"/>
            </a:endParaRPr>
          </a:p>
          <a:p>
            <a:pPr marL="625671" indent="-541006">
              <a:spcBef>
                <a:spcPts val="1259"/>
              </a:spcBef>
              <a:buAutoNum type="arabicPeriod"/>
              <a:tabLst>
                <a:tab pos="625671" algn="l"/>
              </a:tabLst>
            </a:pPr>
            <a:r>
              <a:rPr sz="1867" spc="-13" dirty="0">
                <a:latin typeface="Verdana"/>
                <a:cs typeface="Verdana"/>
              </a:rPr>
              <a:t>method</a:t>
            </a:r>
            <a:endParaRPr sz="1867" dirty="0">
              <a:latin typeface="Verdana"/>
              <a:cs typeface="Verdana"/>
            </a:endParaRPr>
          </a:p>
          <a:p>
            <a:pPr marL="625671" indent="-541006">
              <a:spcBef>
                <a:spcPts val="1259"/>
              </a:spcBef>
              <a:buAutoNum type="arabicPeriod"/>
              <a:tabLst>
                <a:tab pos="625671" algn="l"/>
              </a:tabLst>
            </a:pPr>
            <a:r>
              <a:rPr sz="1867" spc="-13" dirty="0">
                <a:latin typeface="Verdana"/>
                <a:cs typeface="Verdana"/>
              </a:rPr>
              <a:t>class</a:t>
            </a:r>
            <a:endParaRPr sz="1867" dirty="0">
              <a:latin typeface="Verdana"/>
              <a:cs typeface="Verdana"/>
            </a:endParaRPr>
          </a:p>
          <a:p>
            <a:pPr>
              <a:spcBef>
                <a:spcPts val="27"/>
              </a:spcBef>
            </a:pPr>
            <a:endParaRPr sz="1867" dirty="0">
              <a:latin typeface="Verdana"/>
              <a:cs typeface="Verdana"/>
            </a:endParaRPr>
          </a:p>
          <a:p>
            <a:pPr marL="16933" marR="6773">
              <a:lnSpc>
                <a:spcPct val="116100"/>
              </a:lnSpc>
            </a:pPr>
            <a:r>
              <a:rPr sz="1867" dirty="0">
                <a:latin typeface="Verdana"/>
                <a:cs typeface="Verdana"/>
              </a:rPr>
              <a:t>The</a:t>
            </a:r>
            <a:r>
              <a:rPr sz="1867" spc="-87" dirty="0">
                <a:latin typeface="Verdana"/>
                <a:cs typeface="Verdana"/>
              </a:rPr>
              <a:t> </a:t>
            </a:r>
            <a:r>
              <a:rPr sz="1867" dirty="0">
                <a:latin typeface="Verdana"/>
                <a:cs typeface="Verdana"/>
              </a:rPr>
              <a:t>final</a:t>
            </a:r>
            <a:r>
              <a:rPr sz="1867" spc="-67" dirty="0">
                <a:latin typeface="Verdana"/>
                <a:cs typeface="Verdana"/>
              </a:rPr>
              <a:t> </a:t>
            </a:r>
            <a:r>
              <a:rPr sz="1867" dirty="0">
                <a:latin typeface="Verdana"/>
                <a:cs typeface="Verdana"/>
              </a:rPr>
              <a:t>keyword</a:t>
            </a:r>
            <a:r>
              <a:rPr sz="1867" spc="-67" dirty="0">
                <a:latin typeface="Verdana"/>
                <a:cs typeface="Verdana"/>
              </a:rPr>
              <a:t> </a:t>
            </a:r>
            <a:r>
              <a:rPr sz="1867" dirty="0">
                <a:latin typeface="Verdana"/>
                <a:cs typeface="Verdana"/>
              </a:rPr>
              <a:t>can</a:t>
            </a:r>
            <a:r>
              <a:rPr sz="1867" spc="-73" dirty="0">
                <a:latin typeface="Verdana"/>
                <a:cs typeface="Verdana"/>
              </a:rPr>
              <a:t> </a:t>
            </a:r>
            <a:r>
              <a:rPr sz="1867" dirty="0">
                <a:latin typeface="Verdana"/>
                <a:cs typeface="Verdana"/>
              </a:rPr>
              <a:t>be</a:t>
            </a:r>
            <a:r>
              <a:rPr sz="1867" spc="-67" dirty="0">
                <a:latin typeface="Verdana"/>
                <a:cs typeface="Verdana"/>
              </a:rPr>
              <a:t> </a:t>
            </a:r>
            <a:r>
              <a:rPr sz="1867" dirty="0">
                <a:latin typeface="Verdana"/>
                <a:cs typeface="Verdana"/>
              </a:rPr>
              <a:t>applied</a:t>
            </a:r>
            <a:r>
              <a:rPr sz="1867" spc="-67" dirty="0">
                <a:latin typeface="Verdana"/>
                <a:cs typeface="Verdana"/>
              </a:rPr>
              <a:t> </a:t>
            </a:r>
            <a:r>
              <a:rPr sz="1867" dirty="0">
                <a:latin typeface="Verdana"/>
                <a:cs typeface="Verdana"/>
              </a:rPr>
              <a:t>with</a:t>
            </a:r>
            <a:r>
              <a:rPr sz="1867" spc="-73" dirty="0">
                <a:latin typeface="Verdana"/>
                <a:cs typeface="Verdana"/>
              </a:rPr>
              <a:t> </a:t>
            </a:r>
            <a:r>
              <a:rPr sz="1867" dirty="0">
                <a:latin typeface="Verdana"/>
                <a:cs typeface="Verdana"/>
              </a:rPr>
              <a:t>the</a:t>
            </a:r>
            <a:r>
              <a:rPr sz="1867" spc="-67" dirty="0">
                <a:latin typeface="Verdana"/>
                <a:cs typeface="Verdana"/>
              </a:rPr>
              <a:t> </a:t>
            </a:r>
            <a:r>
              <a:rPr sz="1867" dirty="0">
                <a:latin typeface="Verdana"/>
                <a:cs typeface="Verdana"/>
              </a:rPr>
              <a:t>variables,</a:t>
            </a:r>
            <a:r>
              <a:rPr sz="1867" spc="-67" dirty="0">
                <a:latin typeface="Verdana"/>
                <a:cs typeface="Verdana"/>
              </a:rPr>
              <a:t> </a:t>
            </a:r>
            <a:r>
              <a:rPr sz="1867" dirty="0">
                <a:latin typeface="Verdana"/>
                <a:cs typeface="Verdana"/>
              </a:rPr>
              <a:t>a</a:t>
            </a:r>
            <a:r>
              <a:rPr sz="1867" spc="-73" dirty="0">
                <a:latin typeface="Verdana"/>
                <a:cs typeface="Verdana"/>
              </a:rPr>
              <a:t> </a:t>
            </a:r>
            <a:r>
              <a:rPr sz="1867" dirty="0">
                <a:latin typeface="Verdana"/>
                <a:cs typeface="Verdana"/>
              </a:rPr>
              <a:t>final</a:t>
            </a:r>
            <a:r>
              <a:rPr sz="1867" spc="-67" dirty="0">
                <a:latin typeface="Verdana"/>
                <a:cs typeface="Verdana"/>
              </a:rPr>
              <a:t> </a:t>
            </a:r>
            <a:r>
              <a:rPr sz="1867" dirty="0">
                <a:latin typeface="Verdana"/>
                <a:cs typeface="Verdana"/>
              </a:rPr>
              <a:t>variable</a:t>
            </a:r>
            <a:r>
              <a:rPr sz="1867" spc="-67" dirty="0">
                <a:latin typeface="Verdana"/>
                <a:cs typeface="Verdana"/>
              </a:rPr>
              <a:t> </a:t>
            </a:r>
            <a:r>
              <a:rPr sz="1867" spc="-27" dirty="0">
                <a:latin typeface="Verdana"/>
                <a:cs typeface="Verdana"/>
              </a:rPr>
              <a:t>that </a:t>
            </a:r>
            <a:r>
              <a:rPr sz="1867" dirty="0">
                <a:latin typeface="Verdana"/>
                <a:cs typeface="Verdana"/>
              </a:rPr>
              <a:t>have</a:t>
            </a:r>
            <a:r>
              <a:rPr sz="1867" spc="-53" dirty="0">
                <a:latin typeface="Verdana"/>
                <a:cs typeface="Verdana"/>
              </a:rPr>
              <a:t> </a:t>
            </a:r>
            <a:r>
              <a:rPr sz="1867" dirty="0">
                <a:latin typeface="Verdana"/>
                <a:cs typeface="Verdana"/>
              </a:rPr>
              <a:t>no</a:t>
            </a:r>
            <a:r>
              <a:rPr sz="1867" spc="-53" dirty="0">
                <a:latin typeface="Verdana"/>
                <a:cs typeface="Verdana"/>
              </a:rPr>
              <a:t> </a:t>
            </a:r>
            <a:r>
              <a:rPr sz="1867" dirty="0">
                <a:latin typeface="Verdana"/>
                <a:cs typeface="Verdana"/>
              </a:rPr>
              <a:t>value</a:t>
            </a:r>
            <a:r>
              <a:rPr sz="1867" spc="-53" dirty="0">
                <a:latin typeface="Verdana"/>
                <a:cs typeface="Verdana"/>
              </a:rPr>
              <a:t> </a:t>
            </a:r>
            <a:r>
              <a:rPr sz="1867" dirty="0">
                <a:latin typeface="Verdana"/>
                <a:cs typeface="Verdana"/>
              </a:rPr>
              <a:t>it</a:t>
            </a:r>
            <a:r>
              <a:rPr sz="1867" spc="-47" dirty="0">
                <a:latin typeface="Verdana"/>
                <a:cs typeface="Verdana"/>
              </a:rPr>
              <a:t> </a:t>
            </a:r>
            <a:r>
              <a:rPr sz="1867" dirty="0">
                <a:latin typeface="Verdana"/>
                <a:cs typeface="Verdana"/>
              </a:rPr>
              <a:t>is</a:t>
            </a:r>
            <a:r>
              <a:rPr sz="1867" spc="-53" dirty="0">
                <a:latin typeface="Verdana"/>
                <a:cs typeface="Verdana"/>
              </a:rPr>
              <a:t> </a:t>
            </a:r>
            <a:r>
              <a:rPr sz="1867" dirty="0">
                <a:latin typeface="Verdana"/>
                <a:cs typeface="Verdana"/>
              </a:rPr>
              <a:t>called</a:t>
            </a:r>
            <a:r>
              <a:rPr sz="1867" spc="-53" dirty="0">
                <a:latin typeface="Verdana"/>
                <a:cs typeface="Verdana"/>
              </a:rPr>
              <a:t> </a:t>
            </a:r>
            <a:r>
              <a:rPr sz="1867" dirty="0">
                <a:latin typeface="Verdana"/>
                <a:cs typeface="Verdana"/>
              </a:rPr>
              <a:t>blank</a:t>
            </a:r>
            <a:r>
              <a:rPr sz="1867" spc="-47" dirty="0">
                <a:latin typeface="Verdana"/>
                <a:cs typeface="Verdana"/>
              </a:rPr>
              <a:t> </a:t>
            </a:r>
            <a:r>
              <a:rPr sz="1867" dirty="0">
                <a:latin typeface="Verdana"/>
                <a:cs typeface="Verdana"/>
              </a:rPr>
              <a:t>final</a:t>
            </a:r>
            <a:r>
              <a:rPr sz="1867" spc="-53" dirty="0">
                <a:latin typeface="Verdana"/>
                <a:cs typeface="Verdana"/>
              </a:rPr>
              <a:t> </a:t>
            </a:r>
            <a:r>
              <a:rPr sz="1867" dirty="0">
                <a:latin typeface="Verdana"/>
                <a:cs typeface="Verdana"/>
              </a:rPr>
              <a:t>variable</a:t>
            </a:r>
            <a:r>
              <a:rPr sz="1867" spc="-53" dirty="0">
                <a:latin typeface="Verdana"/>
                <a:cs typeface="Verdana"/>
              </a:rPr>
              <a:t> </a:t>
            </a:r>
            <a:r>
              <a:rPr sz="1867" dirty="0">
                <a:latin typeface="Verdana"/>
                <a:cs typeface="Verdana"/>
              </a:rPr>
              <a:t>or</a:t>
            </a:r>
            <a:r>
              <a:rPr sz="1867" spc="-53" dirty="0">
                <a:latin typeface="Verdana"/>
                <a:cs typeface="Verdana"/>
              </a:rPr>
              <a:t> </a:t>
            </a:r>
            <a:r>
              <a:rPr sz="1867" spc="-13" dirty="0">
                <a:latin typeface="Verdana"/>
                <a:cs typeface="Verdana"/>
              </a:rPr>
              <a:t>uninitialized</a:t>
            </a:r>
            <a:r>
              <a:rPr sz="1867" spc="-47" dirty="0">
                <a:latin typeface="Verdana"/>
                <a:cs typeface="Verdana"/>
              </a:rPr>
              <a:t> </a:t>
            </a:r>
            <a:r>
              <a:rPr sz="1867" dirty="0">
                <a:latin typeface="Verdana"/>
                <a:cs typeface="Verdana"/>
              </a:rPr>
              <a:t>final</a:t>
            </a:r>
            <a:r>
              <a:rPr sz="1867" spc="-53" dirty="0">
                <a:latin typeface="Verdana"/>
                <a:cs typeface="Verdana"/>
              </a:rPr>
              <a:t> </a:t>
            </a:r>
            <a:r>
              <a:rPr sz="1867" spc="-13" dirty="0">
                <a:latin typeface="Verdana"/>
                <a:cs typeface="Verdana"/>
              </a:rPr>
              <a:t>variable.</a:t>
            </a:r>
            <a:endParaRPr sz="1867" dirty="0">
              <a:latin typeface="Verdana"/>
              <a:cs typeface="Verdan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960259"/>
            <a:ext cx="14020800" cy="820565"/>
          </a:xfrm>
          <a:prstGeom prst="rect">
            <a:avLst/>
          </a:prstGeom>
        </p:spPr>
        <p:txBody>
          <a:bodyPr vert="horz" wrap="square" lIns="0" tIns="426612" rIns="0" bIns="0" rtlCol="0" anchor="ctr">
            <a:spAutoFit/>
          </a:bodyPr>
          <a:lstStyle/>
          <a:p>
            <a:pPr marL="16933">
              <a:lnSpc>
                <a:spcPct val="100000"/>
              </a:lnSpc>
              <a:spcBef>
                <a:spcPts val="133"/>
              </a:spcBef>
            </a:pPr>
            <a:r>
              <a:rPr sz="2533" b="1" dirty="0"/>
              <a:t>1)</a:t>
            </a:r>
            <a:r>
              <a:rPr sz="2533" b="1" spc="-67" dirty="0"/>
              <a:t> </a:t>
            </a:r>
            <a:r>
              <a:rPr sz="2533" b="1" dirty="0"/>
              <a:t>Java</a:t>
            </a:r>
            <a:r>
              <a:rPr sz="2533" b="1" spc="-60" dirty="0"/>
              <a:t> </a:t>
            </a:r>
            <a:r>
              <a:rPr sz="2533" b="1" dirty="0"/>
              <a:t>final</a:t>
            </a:r>
            <a:r>
              <a:rPr sz="2533" b="1" spc="-67" dirty="0"/>
              <a:t> </a:t>
            </a:r>
            <a:r>
              <a:rPr sz="2533" b="1" spc="-13" dirty="0"/>
              <a:t>variable</a:t>
            </a:r>
            <a:endParaRPr sz="2533" b="1" dirty="0"/>
          </a:p>
        </p:txBody>
      </p:sp>
      <p:sp>
        <p:nvSpPr>
          <p:cNvPr id="3" name="object 3"/>
          <p:cNvSpPr txBox="1"/>
          <p:nvPr/>
        </p:nvSpPr>
        <p:spPr>
          <a:xfrm>
            <a:off x="1117600" y="2035957"/>
            <a:ext cx="10636673" cy="662853"/>
          </a:xfrm>
          <a:prstGeom prst="rect">
            <a:avLst/>
          </a:prstGeom>
        </p:spPr>
        <p:txBody>
          <a:bodyPr vert="horz" wrap="square" lIns="0" tIns="16933" rIns="0" bIns="0" rtlCol="0">
            <a:spAutoFit/>
          </a:bodyPr>
          <a:lstStyle/>
          <a:p>
            <a:pPr marL="16933" marR="6773">
              <a:lnSpc>
                <a:spcPct val="116100"/>
              </a:lnSpc>
              <a:spcBef>
                <a:spcPts val="133"/>
              </a:spcBef>
            </a:pPr>
            <a:r>
              <a:rPr sz="1867" dirty="0">
                <a:latin typeface="Verdana"/>
                <a:cs typeface="Verdana"/>
              </a:rPr>
              <a:t>If</a:t>
            </a:r>
            <a:r>
              <a:rPr sz="1867" spc="-47" dirty="0">
                <a:latin typeface="Verdana"/>
                <a:cs typeface="Verdana"/>
              </a:rPr>
              <a:t> </a:t>
            </a:r>
            <a:r>
              <a:rPr sz="1867" dirty="0">
                <a:latin typeface="Verdana"/>
                <a:cs typeface="Verdana"/>
              </a:rPr>
              <a:t>you</a:t>
            </a:r>
            <a:r>
              <a:rPr sz="1867" spc="-47" dirty="0">
                <a:latin typeface="Verdana"/>
                <a:cs typeface="Verdana"/>
              </a:rPr>
              <a:t> </a:t>
            </a:r>
            <a:r>
              <a:rPr sz="1867" dirty="0">
                <a:latin typeface="Verdana"/>
                <a:cs typeface="Verdana"/>
              </a:rPr>
              <a:t>make</a:t>
            </a:r>
            <a:r>
              <a:rPr sz="1867" spc="-47" dirty="0">
                <a:latin typeface="Verdana"/>
                <a:cs typeface="Verdana"/>
              </a:rPr>
              <a:t> </a:t>
            </a:r>
            <a:r>
              <a:rPr sz="1867" dirty="0">
                <a:latin typeface="Verdana"/>
                <a:cs typeface="Verdana"/>
              </a:rPr>
              <a:t>any</a:t>
            </a:r>
            <a:r>
              <a:rPr sz="1867" spc="-47" dirty="0">
                <a:latin typeface="Verdana"/>
                <a:cs typeface="Verdana"/>
              </a:rPr>
              <a:t> </a:t>
            </a:r>
            <a:r>
              <a:rPr sz="1867" dirty="0">
                <a:latin typeface="Verdana"/>
                <a:cs typeface="Verdana"/>
              </a:rPr>
              <a:t>variable</a:t>
            </a:r>
            <a:r>
              <a:rPr sz="1867" spc="-47" dirty="0">
                <a:latin typeface="Verdana"/>
                <a:cs typeface="Verdana"/>
              </a:rPr>
              <a:t> </a:t>
            </a:r>
            <a:r>
              <a:rPr sz="1867" dirty="0">
                <a:latin typeface="Verdana"/>
                <a:cs typeface="Verdana"/>
              </a:rPr>
              <a:t>as</a:t>
            </a:r>
            <a:r>
              <a:rPr sz="1867" spc="-47" dirty="0">
                <a:latin typeface="Verdana"/>
                <a:cs typeface="Verdana"/>
              </a:rPr>
              <a:t> </a:t>
            </a:r>
            <a:r>
              <a:rPr sz="1867" dirty="0">
                <a:latin typeface="Verdana"/>
                <a:cs typeface="Verdana"/>
              </a:rPr>
              <a:t>final,</a:t>
            </a:r>
            <a:r>
              <a:rPr sz="1867" spc="-47" dirty="0">
                <a:latin typeface="Verdana"/>
                <a:cs typeface="Verdana"/>
              </a:rPr>
              <a:t> </a:t>
            </a:r>
            <a:r>
              <a:rPr sz="1867" dirty="0">
                <a:latin typeface="Verdana"/>
                <a:cs typeface="Verdana"/>
              </a:rPr>
              <a:t>you</a:t>
            </a:r>
            <a:r>
              <a:rPr sz="1867" spc="-47" dirty="0">
                <a:latin typeface="Verdana"/>
                <a:cs typeface="Verdana"/>
              </a:rPr>
              <a:t> </a:t>
            </a:r>
            <a:r>
              <a:rPr sz="1867" dirty="0">
                <a:latin typeface="Verdana"/>
                <a:cs typeface="Verdana"/>
              </a:rPr>
              <a:t>cannot</a:t>
            </a:r>
            <a:r>
              <a:rPr sz="1867" spc="-47" dirty="0">
                <a:latin typeface="Verdana"/>
                <a:cs typeface="Verdana"/>
              </a:rPr>
              <a:t> </a:t>
            </a:r>
            <a:r>
              <a:rPr sz="1867" dirty="0">
                <a:latin typeface="Verdana"/>
                <a:cs typeface="Verdana"/>
              </a:rPr>
              <a:t>change</a:t>
            </a:r>
            <a:r>
              <a:rPr sz="1867" spc="-47" dirty="0">
                <a:latin typeface="Verdana"/>
                <a:cs typeface="Verdana"/>
              </a:rPr>
              <a:t> </a:t>
            </a:r>
            <a:r>
              <a:rPr sz="1867" dirty="0">
                <a:latin typeface="Verdana"/>
                <a:cs typeface="Verdana"/>
              </a:rPr>
              <a:t>the</a:t>
            </a:r>
            <a:r>
              <a:rPr sz="1867" spc="-47" dirty="0">
                <a:latin typeface="Verdana"/>
                <a:cs typeface="Verdana"/>
              </a:rPr>
              <a:t> </a:t>
            </a:r>
            <a:r>
              <a:rPr sz="1867" dirty="0">
                <a:latin typeface="Verdana"/>
                <a:cs typeface="Verdana"/>
              </a:rPr>
              <a:t>value</a:t>
            </a:r>
            <a:r>
              <a:rPr sz="1867" spc="-47" dirty="0">
                <a:latin typeface="Verdana"/>
                <a:cs typeface="Verdana"/>
              </a:rPr>
              <a:t> </a:t>
            </a:r>
            <a:r>
              <a:rPr sz="1867" dirty="0">
                <a:latin typeface="Verdana"/>
                <a:cs typeface="Verdana"/>
              </a:rPr>
              <a:t>of</a:t>
            </a:r>
            <a:r>
              <a:rPr sz="1867" spc="-40" dirty="0">
                <a:latin typeface="Verdana"/>
                <a:cs typeface="Verdana"/>
              </a:rPr>
              <a:t> </a:t>
            </a:r>
            <a:r>
              <a:rPr sz="1867" dirty="0">
                <a:latin typeface="Verdana"/>
                <a:cs typeface="Verdana"/>
              </a:rPr>
              <a:t>final</a:t>
            </a:r>
            <a:r>
              <a:rPr sz="1867" spc="-47" dirty="0">
                <a:latin typeface="Verdana"/>
                <a:cs typeface="Verdana"/>
              </a:rPr>
              <a:t> </a:t>
            </a:r>
            <a:r>
              <a:rPr sz="1867" spc="-13" dirty="0">
                <a:latin typeface="Verdana"/>
                <a:cs typeface="Verdana"/>
              </a:rPr>
              <a:t>variable</a:t>
            </a:r>
            <a:endParaRPr lang="en-US" sz="1867" spc="-13" dirty="0">
              <a:latin typeface="Verdana"/>
              <a:cs typeface="Verdana"/>
            </a:endParaRPr>
          </a:p>
          <a:p>
            <a:pPr marL="16933" marR="6773">
              <a:lnSpc>
                <a:spcPct val="116100"/>
              </a:lnSpc>
              <a:spcBef>
                <a:spcPts val="133"/>
              </a:spcBef>
            </a:pPr>
            <a:r>
              <a:rPr sz="1867" spc="-13" dirty="0">
                <a:latin typeface="Verdana"/>
                <a:cs typeface="Verdana"/>
              </a:rPr>
              <a:t>(It</a:t>
            </a:r>
            <a:r>
              <a:rPr sz="1867" spc="-47" dirty="0">
                <a:latin typeface="Verdana"/>
                <a:cs typeface="Verdana"/>
              </a:rPr>
              <a:t> </a:t>
            </a:r>
            <a:r>
              <a:rPr sz="1867" dirty="0">
                <a:latin typeface="Verdana"/>
                <a:cs typeface="Verdana"/>
              </a:rPr>
              <a:t>will</a:t>
            </a:r>
            <a:r>
              <a:rPr sz="1867" spc="-47" dirty="0">
                <a:latin typeface="Verdana"/>
                <a:cs typeface="Verdana"/>
              </a:rPr>
              <a:t> </a:t>
            </a:r>
            <a:r>
              <a:rPr sz="1867" spc="-33" dirty="0">
                <a:latin typeface="Verdana"/>
                <a:cs typeface="Verdana"/>
              </a:rPr>
              <a:t>be </a:t>
            </a:r>
            <a:r>
              <a:rPr sz="1867" spc="-13" dirty="0">
                <a:latin typeface="Verdana"/>
                <a:cs typeface="Verdana"/>
              </a:rPr>
              <a:t>constant)</a:t>
            </a:r>
            <a:endParaRPr sz="1867" dirty="0">
              <a:latin typeface="Verdana"/>
              <a:cs typeface="Verdana"/>
            </a:endParaRPr>
          </a:p>
        </p:txBody>
      </p:sp>
      <p:sp>
        <p:nvSpPr>
          <p:cNvPr id="4" name="object 4"/>
          <p:cNvSpPr txBox="1"/>
          <p:nvPr/>
        </p:nvSpPr>
        <p:spPr>
          <a:xfrm>
            <a:off x="1117600" y="3025575"/>
            <a:ext cx="4717627" cy="304421"/>
          </a:xfrm>
          <a:prstGeom prst="rect">
            <a:avLst/>
          </a:prstGeom>
        </p:spPr>
        <p:txBody>
          <a:bodyPr vert="horz" wrap="square" lIns="0" tIns="16933" rIns="0" bIns="0" rtlCol="0">
            <a:spAutoFit/>
          </a:bodyPr>
          <a:lstStyle/>
          <a:p>
            <a:pPr marL="16933">
              <a:spcBef>
                <a:spcPts val="133"/>
              </a:spcBef>
            </a:pPr>
            <a:r>
              <a:rPr sz="1867" b="1" dirty="0">
                <a:solidFill>
                  <a:srgbClr val="006699"/>
                </a:solidFill>
                <a:latin typeface="Verdana"/>
                <a:cs typeface="Verdana"/>
              </a:rPr>
              <a:t>final int</a:t>
            </a:r>
            <a:r>
              <a:rPr sz="1867" b="1" spc="-7" dirty="0">
                <a:solidFill>
                  <a:srgbClr val="006699"/>
                </a:solidFill>
                <a:latin typeface="Verdana"/>
                <a:cs typeface="Verdana"/>
              </a:rPr>
              <a:t> </a:t>
            </a:r>
            <a:r>
              <a:rPr sz="1867" spc="-13" dirty="0">
                <a:latin typeface="Verdana"/>
                <a:cs typeface="Verdana"/>
              </a:rPr>
              <a:t>speedlimit=</a:t>
            </a:r>
            <a:r>
              <a:rPr sz="1867" spc="-13" dirty="0">
                <a:solidFill>
                  <a:srgbClr val="C00000"/>
                </a:solidFill>
                <a:latin typeface="Verdana"/>
                <a:cs typeface="Verdana"/>
              </a:rPr>
              <a:t>90</a:t>
            </a:r>
            <a:r>
              <a:rPr sz="1867" spc="-13" dirty="0">
                <a:latin typeface="Verdana"/>
                <a:cs typeface="Verdana"/>
              </a:rPr>
              <a:t>;</a:t>
            </a:r>
            <a:r>
              <a:rPr sz="1867" spc="-13" dirty="0">
                <a:solidFill>
                  <a:srgbClr val="008200"/>
                </a:solidFill>
                <a:latin typeface="Verdana"/>
                <a:cs typeface="Verdana"/>
              </a:rPr>
              <a:t>//final</a:t>
            </a:r>
            <a:r>
              <a:rPr sz="1867" spc="-27" dirty="0">
                <a:solidFill>
                  <a:srgbClr val="008200"/>
                </a:solidFill>
                <a:latin typeface="Verdana"/>
                <a:cs typeface="Verdana"/>
              </a:rPr>
              <a:t> </a:t>
            </a:r>
            <a:r>
              <a:rPr sz="1867" spc="-13" dirty="0">
                <a:solidFill>
                  <a:srgbClr val="008200"/>
                </a:solidFill>
                <a:latin typeface="Verdana"/>
                <a:cs typeface="Verdana"/>
              </a:rPr>
              <a:t>variable</a:t>
            </a:r>
            <a:endParaRPr sz="1867" dirty="0">
              <a:latin typeface="Verdana"/>
              <a:cs typeface="Verdan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960259"/>
            <a:ext cx="8704826" cy="820565"/>
          </a:xfrm>
          <a:prstGeom prst="rect">
            <a:avLst/>
          </a:prstGeom>
        </p:spPr>
        <p:txBody>
          <a:bodyPr vert="horz" wrap="square" lIns="0" tIns="426612" rIns="0" bIns="0" rtlCol="0" anchor="ctr">
            <a:spAutoFit/>
          </a:bodyPr>
          <a:lstStyle/>
          <a:p>
            <a:pPr marL="16933">
              <a:lnSpc>
                <a:spcPct val="100000"/>
              </a:lnSpc>
              <a:spcBef>
                <a:spcPts val="133"/>
              </a:spcBef>
            </a:pPr>
            <a:r>
              <a:rPr sz="2533" b="1" dirty="0"/>
              <a:t>2)</a:t>
            </a:r>
            <a:r>
              <a:rPr sz="2533" b="1" spc="-67" dirty="0"/>
              <a:t> </a:t>
            </a:r>
            <a:r>
              <a:rPr sz="2533" b="1" dirty="0"/>
              <a:t>Java</a:t>
            </a:r>
            <a:r>
              <a:rPr sz="2533" b="1" spc="-60" dirty="0"/>
              <a:t> </a:t>
            </a:r>
            <a:r>
              <a:rPr sz="2533" b="1" dirty="0"/>
              <a:t>final</a:t>
            </a:r>
            <a:r>
              <a:rPr sz="2533" b="1" spc="-67" dirty="0"/>
              <a:t> </a:t>
            </a:r>
            <a:r>
              <a:rPr sz="2533" b="1" spc="-13" dirty="0"/>
              <a:t>method</a:t>
            </a:r>
            <a:endParaRPr sz="2533" b="1" dirty="0"/>
          </a:p>
        </p:txBody>
      </p:sp>
      <p:sp>
        <p:nvSpPr>
          <p:cNvPr id="3" name="object 3"/>
          <p:cNvSpPr txBox="1"/>
          <p:nvPr/>
        </p:nvSpPr>
        <p:spPr>
          <a:xfrm>
            <a:off x="1835767" y="2387717"/>
            <a:ext cx="6793653" cy="2810620"/>
          </a:xfrm>
          <a:prstGeom prst="rect">
            <a:avLst/>
          </a:prstGeom>
        </p:spPr>
        <p:txBody>
          <a:bodyPr vert="horz" wrap="square" lIns="0" tIns="16933" rIns="0" bIns="0" rtlCol="0">
            <a:spAutoFit/>
          </a:bodyPr>
          <a:lstStyle/>
          <a:p>
            <a:pPr marL="16933">
              <a:spcBef>
                <a:spcPts val="133"/>
              </a:spcBef>
            </a:pPr>
            <a:r>
              <a:rPr sz="1867" dirty="0">
                <a:latin typeface="Verdana"/>
                <a:cs typeface="Verdana"/>
              </a:rPr>
              <a:t>If</a:t>
            </a:r>
            <a:r>
              <a:rPr sz="1867" spc="-53" dirty="0">
                <a:latin typeface="Verdana"/>
                <a:cs typeface="Verdana"/>
              </a:rPr>
              <a:t> </a:t>
            </a:r>
            <a:r>
              <a:rPr sz="1867" dirty="0">
                <a:latin typeface="Verdana"/>
                <a:cs typeface="Verdana"/>
              </a:rPr>
              <a:t>you</a:t>
            </a:r>
            <a:r>
              <a:rPr sz="1867" spc="-47" dirty="0">
                <a:latin typeface="Verdana"/>
                <a:cs typeface="Verdana"/>
              </a:rPr>
              <a:t> </a:t>
            </a:r>
            <a:r>
              <a:rPr sz="1867" dirty="0">
                <a:latin typeface="Verdana"/>
                <a:cs typeface="Verdana"/>
              </a:rPr>
              <a:t>make</a:t>
            </a:r>
            <a:r>
              <a:rPr sz="1867" spc="-47" dirty="0">
                <a:latin typeface="Verdana"/>
                <a:cs typeface="Verdana"/>
              </a:rPr>
              <a:t> </a:t>
            </a:r>
            <a:r>
              <a:rPr sz="1867" dirty="0">
                <a:latin typeface="Verdana"/>
                <a:cs typeface="Verdana"/>
              </a:rPr>
              <a:t>any</a:t>
            </a:r>
            <a:r>
              <a:rPr sz="1867" spc="-47" dirty="0">
                <a:latin typeface="Verdana"/>
                <a:cs typeface="Verdana"/>
              </a:rPr>
              <a:t> </a:t>
            </a:r>
            <a:r>
              <a:rPr sz="1867" dirty="0">
                <a:latin typeface="Verdana"/>
                <a:cs typeface="Verdana"/>
              </a:rPr>
              <a:t>method</a:t>
            </a:r>
            <a:r>
              <a:rPr sz="1867" spc="-53" dirty="0">
                <a:latin typeface="Verdana"/>
                <a:cs typeface="Verdana"/>
              </a:rPr>
              <a:t> </a:t>
            </a:r>
            <a:r>
              <a:rPr sz="1867" dirty="0">
                <a:latin typeface="Verdana"/>
                <a:cs typeface="Verdana"/>
              </a:rPr>
              <a:t>as</a:t>
            </a:r>
            <a:r>
              <a:rPr sz="1867" spc="-47" dirty="0">
                <a:latin typeface="Verdana"/>
                <a:cs typeface="Verdana"/>
              </a:rPr>
              <a:t> </a:t>
            </a:r>
            <a:r>
              <a:rPr sz="1867" dirty="0">
                <a:latin typeface="Verdana"/>
                <a:cs typeface="Verdana"/>
              </a:rPr>
              <a:t>final,</a:t>
            </a:r>
            <a:r>
              <a:rPr sz="1867" spc="-47" dirty="0">
                <a:latin typeface="Verdana"/>
                <a:cs typeface="Verdana"/>
              </a:rPr>
              <a:t> </a:t>
            </a:r>
            <a:r>
              <a:rPr sz="1867" dirty="0">
                <a:latin typeface="Verdana"/>
                <a:cs typeface="Verdana"/>
              </a:rPr>
              <a:t>you</a:t>
            </a:r>
            <a:r>
              <a:rPr sz="1867" spc="-47" dirty="0">
                <a:latin typeface="Verdana"/>
                <a:cs typeface="Verdana"/>
              </a:rPr>
              <a:t> </a:t>
            </a:r>
            <a:r>
              <a:rPr sz="1867" dirty="0">
                <a:latin typeface="Verdana"/>
                <a:cs typeface="Verdana"/>
              </a:rPr>
              <a:t>cannot</a:t>
            </a:r>
            <a:r>
              <a:rPr sz="1867" spc="-53" dirty="0">
                <a:latin typeface="Verdana"/>
                <a:cs typeface="Verdana"/>
              </a:rPr>
              <a:t> </a:t>
            </a:r>
            <a:r>
              <a:rPr sz="1867" dirty="0">
                <a:latin typeface="Verdana"/>
                <a:cs typeface="Verdana"/>
              </a:rPr>
              <a:t>override</a:t>
            </a:r>
            <a:r>
              <a:rPr sz="1867" spc="-47" dirty="0">
                <a:latin typeface="Verdana"/>
                <a:cs typeface="Verdana"/>
              </a:rPr>
              <a:t> </a:t>
            </a:r>
            <a:r>
              <a:rPr sz="1867" spc="-33" dirty="0">
                <a:latin typeface="Verdana"/>
                <a:cs typeface="Verdana"/>
              </a:rPr>
              <a:t>it.</a:t>
            </a:r>
            <a:endParaRPr sz="1867" dirty="0">
              <a:latin typeface="Verdana"/>
              <a:cs typeface="Verdana"/>
            </a:endParaRPr>
          </a:p>
          <a:p>
            <a:pPr>
              <a:lnSpc>
                <a:spcPct val="100000"/>
              </a:lnSpc>
            </a:pPr>
            <a:endParaRPr sz="1867" dirty="0">
              <a:latin typeface="Verdana"/>
              <a:cs typeface="Verdana"/>
            </a:endParaRPr>
          </a:p>
          <a:p>
            <a:pPr>
              <a:spcBef>
                <a:spcPts val="987"/>
              </a:spcBef>
            </a:pPr>
            <a:endParaRPr sz="1867" dirty="0">
              <a:latin typeface="Verdana"/>
              <a:cs typeface="Verdana"/>
            </a:endParaRPr>
          </a:p>
          <a:p>
            <a:pPr marL="16933"/>
            <a:r>
              <a:rPr sz="1867" b="1" dirty="0">
                <a:solidFill>
                  <a:srgbClr val="006699"/>
                </a:solidFill>
                <a:latin typeface="Verdana"/>
                <a:cs typeface="Verdana"/>
              </a:rPr>
              <a:t>final</a:t>
            </a:r>
            <a:r>
              <a:rPr sz="1867" b="1" spc="-20" dirty="0">
                <a:solidFill>
                  <a:srgbClr val="006699"/>
                </a:solidFill>
                <a:latin typeface="Verdana"/>
                <a:cs typeface="Verdana"/>
              </a:rPr>
              <a:t> </a:t>
            </a:r>
            <a:r>
              <a:rPr sz="1867" b="1" dirty="0">
                <a:solidFill>
                  <a:srgbClr val="006699"/>
                </a:solidFill>
                <a:latin typeface="Verdana"/>
                <a:cs typeface="Verdana"/>
              </a:rPr>
              <a:t>void</a:t>
            </a:r>
            <a:r>
              <a:rPr sz="1867" b="1" spc="-7" dirty="0">
                <a:solidFill>
                  <a:srgbClr val="006699"/>
                </a:solidFill>
                <a:latin typeface="Verdana"/>
                <a:cs typeface="Verdana"/>
              </a:rPr>
              <a:t> </a:t>
            </a:r>
            <a:r>
              <a:rPr sz="1867" spc="-13" dirty="0">
                <a:latin typeface="Verdana"/>
                <a:cs typeface="Verdana"/>
              </a:rPr>
              <a:t>run()</a:t>
            </a:r>
            <a:endParaRPr sz="1867" dirty="0">
              <a:latin typeface="Verdana"/>
              <a:cs typeface="Verdana"/>
            </a:endParaRPr>
          </a:p>
          <a:p>
            <a:pPr marL="16933">
              <a:spcBef>
                <a:spcPts val="1660"/>
              </a:spcBef>
            </a:pPr>
            <a:r>
              <a:rPr sz="1867" spc="-67" dirty="0">
                <a:latin typeface="Verdana"/>
                <a:cs typeface="Verdana"/>
              </a:rPr>
              <a:t>{</a:t>
            </a:r>
            <a:endParaRPr sz="1867" dirty="0">
              <a:latin typeface="Verdana"/>
              <a:cs typeface="Verdana"/>
            </a:endParaRPr>
          </a:p>
          <a:p>
            <a:pPr marL="16933">
              <a:spcBef>
                <a:spcPts val="1660"/>
              </a:spcBef>
            </a:pPr>
            <a:r>
              <a:rPr sz="1867" spc="-13" dirty="0">
                <a:latin typeface="Verdana"/>
                <a:cs typeface="Verdana"/>
              </a:rPr>
              <a:t>System.out.println(</a:t>
            </a:r>
            <a:r>
              <a:rPr sz="1867" spc="-13" dirty="0">
                <a:solidFill>
                  <a:srgbClr val="0000FF"/>
                </a:solidFill>
                <a:latin typeface="Verdana"/>
                <a:cs typeface="Verdana"/>
              </a:rPr>
              <a:t>"running"</a:t>
            </a:r>
            <a:r>
              <a:rPr sz="1867" spc="-13" dirty="0">
                <a:latin typeface="Verdana"/>
                <a:cs typeface="Verdana"/>
              </a:rPr>
              <a:t>);</a:t>
            </a:r>
            <a:endParaRPr sz="1867" dirty="0">
              <a:latin typeface="Verdana"/>
              <a:cs typeface="Verdana"/>
            </a:endParaRPr>
          </a:p>
          <a:p>
            <a:pPr marL="16933">
              <a:spcBef>
                <a:spcPts val="1660"/>
              </a:spcBef>
            </a:pPr>
            <a:r>
              <a:rPr sz="1867" spc="-67" dirty="0">
                <a:latin typeface="Verdana"/>
                <a:cs typeface="Verdana"/>
              </a:rPr>
              <a:t>}</a:t>
            </a:r>
            <a:endParaRPr sz="1867" dirty="0">
              <a:latin typeface="Verdana"/>
              <a:cs typeface="Verdan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458" y="1031471"/>
            <a:ext cx="6499340" cy="540491"/>
          </a:xfrm>
          <a:prstGeom prst="rect">
            <a:avLst/>
          </a:prstGeom>
        </p:spPr>
        <p:txBody>
          <a:bodyPr vert="horz" wrap="square" lIns="0" tIns="149247" rIns="0" bIns="0" rtlCol="0" anchor="ctr">
            <a:spAutoFit/>
          </a:bodyPr>
          <a:lstStyle/>
          <a:p>
            <a:pPr marL="1339392">
              <a:lnSpc>
                <a:spcPct val="100000"/>
              </a:lnSpc>
              <a:spcBef>
                <a:spcPts val="133"/>
              </a:spcBef>
            </a:pPr>
            <a:r>
              <a:rPr sz="2533" b="1" dirty="0"/>
              <a:t>3)</a:t>
            </a:r>
            <a:r>
              <a:rPr sz="2533" b="1" spc="-67" dirty="0"/>
              <a:t> </a:t>
            </a:r>
            <a:r>
              <a:rPr sz="2533" b="1" dirty="0"/>
              <a:t>Java</a:t>
            </a:r>
            <a:r>
              <a:rPr sz="2533" b="1" spc="-60" dirty="0"/>
              <a:t> </a:t>
            </a:r>
            <a:r>
              <a:rPr sz="2533" b="1" dirty="0"/>
              <a:t>final</a:t>
            </a:r>
            <a:r>
              <a:rPr sz="2533" b="1" spc="-67" dirty="0"/>
              <a:t> </a:t>
            </a:r>
            <a:r>
              <a:rPr sz="2533" b="1" spc="-13" dirty="0"/>
              <a:t>class</a:t>
            </a:r>
            <a:endParaRPr sz="2533" b="1" dirty="0"/>
          </a:p>
        </p:txBody>
      </p:sp>
      <p:sp>
        <p:nvSpPr>
          <p:cNvPr id="3" name="object 3"/>
          <p:cNvSpPr txBox="1"/>
          <p:nvPr/>
        </p:nvSpPr>
        <p:spPr>
          <a:xfrm>
            <a:off x="1720067" y="1753850"/>
            <a:ext cx="6610773" cy="4472613"/>
          </a:xfrm>
          <a:prstGeom prst="rect">
            <a:avLst/>
          </a:prstGeom>
        </p:spPr>
        <p:txBody>
          <a:bodyPr vert="horz" wrap="square" lIns="0" tIns="16933" rIns="0" bIns="0" rtlCol="0">
            <a:spAutoFit/>
          </a:bodyPr>
          <a:lstStyle/>
          <a:p>
            <a:pPr marL="16933">
              <a:spcBef>
                <a:spcPts val="133"/>
              </a:spcBef>
            </a:pPr>
            <a:r>
              <a:rPr sz="1867" dirty="0">
                <a:latin typeface="Verdana"/>
                <a:cs typeface="Verdana"/>
              </a:rPr>
              <a:t>If</a:t>
            </a:r>
            <a:r>
              <a:rPr sz="1867" spc="-40" dirty="0">
                <a:latin typeface="Verdana"/>
                <a:cs typeface="Verdana"/>
              </a:rPr>
              <a:t> </a:t>
            </a:r>
            <a:r>
              <a:rPr sz="1867" dirty="0">
                <a:latin typeface="Verdana"/>
                <a:cs typeface="Verdana"/>
              </a:rPr>
              <a:t>you</a:t>
            </a:r>
            <a:r>
              <a:rPr sz="1867" spc="-40" dirty="0">
                <a:latin typeface="Verdana"/>
                <a:cs typeface="Verdana"/>
              </a:rPr>
              <a:t> </a:t>
            </a:r>
            <a:r>
              <a:rPr sz="1867" dirty="0">
                <a:latin typeface="Verdana"/>
                <a:cs typeface="Verdana"/>
              </a:rPr>
              <a:t>make</a:t>
            </a:r>
            <a:r>
              <a:rPr sz="1867" spc="-33" dirty="0">
                <a:latin typeface="Verdana"/>
                <a:cs typeface="Verdana"/>
              </a:rPr>
              <a:t> </a:t>
            </a:r>
            <a:r>
              <a:rPr sz="1867" dirty="0">
                <a:latin typeface="Verdana"/>
                <a:cs typeface="Verdana"/>
              </a:rPr>
              <a:t>any</a:t>
            </a:r>
            <a:r>
              <a:rPr sz="1867" spc="-40" dirty="0">
                <a:latin typeface="Verdana"/>
                <a:cs typeface="Verdana"/>
              </a:rPr>
              <a:t> </a:t>
            </a:r>
            <a:r>
              <a:rPr sz="1867" dirty="0">
                <a:latin typeface="Verdana"/>
                <a:cs typeface="Verdana"/>
              </a:rPr>
              <a:t>class</a:t>
            </a:r>
            <a:r>
              <a:rPr sz="1867" spc="-40" dirty="0">
                <a:latin typeface="Verdana"/>
                <a:cs typeface="Verdana"/>
              </a:rPr>
              <a:t> </a:t>
            </a:r>
            <a:r>
              <a:rPr sz="1867" dirty="0">
                <a:latin typeface="Verdana"/>
                <a:cs typeface="Verdana"/>
              </a:rPr>
              <a:t>as</a:t>
            </a:r>
            <a:r>
              <a:rPr sz="1867" spc="-33" dirty="0">
                <a:latin typeface="Verdana"/>
                <a:cs typeface="Verdana"/>
              </a:rPr>
              <a:t> </a:t>
            </a:r>
            <a:r>
              <a:rPr sz="1867" dirty="0">
                <a:latin typeface="Verdana"/>
                <a:cs typeface="Verdana"/>
              </a:rPr>
              <a:t>final,</a:t>
            </a:r>
            <a:r>
              <a:rPr sz="1867" spc="-40" dirty="0">
                <a:latin typeface="Verdana"/>
                <a:cs typeface="Verdana"/>
              </a:rPr>
              <a:t> </a:t>
            </a:r>
            <a:r>
              <a:rPr sz="1867" dirty="0">
                <a:latin typeface="Verdana"/>
                <a:cs typeface="Verdana"/>
              </a:rPr>
              <a:t>you</a:t>
            </a:r>
            <a:r>
              <a:rPr sz="1867" spc="-40" dirty="0">
                <a:latin typeface="Verdana"/>
                <a:cs typeface="Verdana"/>
              </a:rPr>
              <a:t> </a:t>
            </a:r>
            <a:r>
              <a:rPr sz="1867" dirty="0">
                <a:latin typeface="Verdana"/>
                <a:cs typeface="Verdana"/>
              </a:rPr>
              <a:t>cannot</a:t>
            </a:r>
            <a:r>
              <a:rPr sz="1867" spc="-33" dirty="0">
                <a:latin typeface="Verdana"/>
                <a:cs typeface="Verdana"/>
              </a:rPr>
              <a:t> </a:t>
            </a:r>
            <a:r>
              <a:rPr sz="1867" dirty="0">
                <a:latin typeface="Verdana"/>
                <a:cs typeface="Verdana"/>
              </a:rPr>
              <a:t>extend</a:t>
            </a:r>
            <a:r>
              <a:rPr sz="1867" spc="-40" dirty="0">
                <a:latin typeface="Verdana"/>
                <a:cs typeface="Verdana"/>
              </a:rPr>
              <a:t> </a:t>
            </a:r>
            <a:r>
              <a:rPr sz="1867" spc="-33" dirty="0">
                <a:latin typeface="Verdana"/>
                <a:cs typeface="Verdana"/>
              </a:rPr>
              <a:t>it.</a:t>
            </a:r>
            <a:endParaRPr sz="1867" dirty="0">
              <a:latin typeface="Verdana"/>
              <a:cs typeface="Verdana"/>
            </a:endParaRPr>
          </a:p>
          <a:p>
            <a:pPr marL="16933">
              <a:spcBef>
                <a:spcPts val="1327"/>
              </a:spcBef>
            </a:pPr>
            <a:r>
              <a:rPr sz="1867" b="1" dirty="0">
                <a:solidFill>
                  <a:srgbClr val="006699"/>
                </a:solidFill>
                <a:latin typeface="Verdana"/>
                <a:cs typeface="Verdana"/>
              </a:rPr>
              <a:t>class</a:t>
            </a:r>
            <a:r>
              <a:rPr sz="1867" b="1" spc="-13" dirty="0">
                <a:solidFill>
                  <a:srgbClr val="006699"/>
                </a:solidFill>
                <a:latin typeface="Verdana"/>
                <a:cs typeface="Verdana"/>
              </a:rPr>
              <a:t> </a:t>
            </a:r>
            <a:r>
              <a:rPr sz="1867" spc="-13" dirty="0">
                <a:latin typeface="Verdana"/>
                <a:cs typeface="Verdana"/>
              </a:rPr>
              <a:t>Bike{}</a:t>
            </a:r>
            <a:endParaRPr sz="1867" dirty="0">
              <a:latin typeface="Verdana"/>
              <a:cs typeface="Verdana"/>
            </a:endParaRPr>
          </a:p>
          <a:p>
            <a:pPr marL="16933">
              <a:spcBef>
                <a:spcPts val="360"/>
              </a:spcBef>
            </a:pPr>
            <a:r>
              <a:rPr sz="1867" b="1" dirty="0">
                <a:solidFill>
                  <a:srgbClr val="006699"/>
                </a:solidFill>
                <a:latin typeface="Verdana"/>
                <a:cs typeface="Verdana"/>
              </a:rPr>
              <a:t>final</a:t>
            </a:r>
            <a:r>
              <a:rPr sz="1867" b="1" spc="-53" dirty="0">
                <a:solidFill>
                  <a:srgbClr val="006699"/>
                </a:solidFill>
                <a:latin typeface="Verdana"/>
                <a:cs typeface="Verdana"/>
              </a:rPr>
              <a:t> </a:t>
            </a:r>
            <a:r>
              <a:rPr sz="1867" b="1" dirty="0">
                <a:solidFill>
                  <a:srgbClr val="006699"/>
                </a:solidFill>
                <a:latin typeface="Verdana"/>
                <a:cs typeface="Verdana"/>
              </a:rPr>
              <a:t>class</a:t>
            </a:r>
            <a:r>
              <a:rPr sz="1867" b="1" spc="-13" dirty="0">
                <a:solidFill>
                  <a:srgbClr val="006699"/>
                </a:solidFill>
                <a:latin typeface="Verdana"/>
                <a:cs typeface="Verdana"/>
              </a:rPr>
              <a:t> </a:t>
            </a:r>
            <a:r>
              <a:rPr sz="1867" dirty="0">
                <a:latin typeface="Verdana"/>
                <a:cs typeface="Verdana"/>
              </a:rPr>
              <a:t>Honda1</a:t>
            </a:r>
            <a:r>
              <a:rPr sz="1867" spc="-33" dirty="0">
                <a:latin typeface="Verdana"/>
                <a:cs typeface="Verdana"/>
              </a:rPr>
              <a:t> </a:t>
            </a:r>
            <a:r>
              <a:rPr sz="1867" b="1" dirty="0">
                <a:solidFill>
                  <a:srgbClr val="006699"/>
                </a:solidFill>
                <a:latin typeface="Verdana"/>
                <a:cs typeface="Verdana"/>
              </a:rPr>
              <a:t>extends</a:t>
            </a:r>
            <a:r>
              <a:rPr sz="1867" b="1" spc="-13" dirty="0">
                <a:solidFill>
                  <a:srgbClr val="006699"/>
                </a:solidFill>
                <a:latin typeface="Verdana"/>
                <a:cs typeface="Verdana"/>
              </a:rPr>
              <a:t> </a:t>
            </a:r>
            <a:r>
              <a:rPr sz="1867" spc="-13" dirty="0">
                <a:latin typeface="Verdana"/>
                <a:cs typeface="Verdana"/>
              </a:rPr>
              <a:t>Bike{</a:t>
            </a:r>
            <a:endParaRPr sz="1867" dirty="0">
              <a:latin typeface="Verdana"/>
              <a:cs typeface="Verdana"/>
            </a:endParaRPr>
          </a:p>
          <a:p>
            <a:pPr marL="99904">
              <a:spcBef>
                <a:spcPts val="360"/>
              </a:spcBef>
            </a:pP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run()</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349665">
              <a:spcBef>
                <a:spcPts val="360"/>
              </a:spcBef>
            </a:pPr>
            <a:r>
              <a:rPr sz="1867" spc="-13" dirty="0">
                <a:latin typeface="Verdana"/>
                <a:cs typeface="Verdana"/>
              </a:rPr>
              <a:t>System.out.println(</a:t>
            </a:r>
            <a:r>
              <a:rPr sz="1867" spc="-13" dirty="0">
                <a:solidFill>
                  <a:srgbClr val="0000FF"/>
                </a:solidFill>
                <a:latin typeface="Verdana"/>
                <a:cs typeface="Verdana"/>
              </a:rPr>
              <a:t>"running</a:t>
            </a:r>
            <a:r>
              <a:rPr sz="1867" spc="-67" dirty="0">
                <a:solidFill>
                  <a:srgbClr val="0000FF"/>
                </a:solidFill>
                <a:latin typeface="Verdana"/>
                <a:cs typeface="Verdana"/>
              </a:rPr>
              <a:t> </a:t>
            </a:r>
            <a:r>
              <a:rPr sz="1867" dirty="0">
                <a:solidFill>
                  <a:srgbClr val="0000FF"/>
                </a:solidFill>
                <a:latin typeface="Verdana"/>
                <a:cs typeface="Verdana"/>
              </a:rPr>
              <a:t>safely</a:t>
            </a:r>
            <a:r>
              <a:rPr sz="1867" spc="-67" dirty="0">
                <a:solidFill>
                  <a:srgbClr val="0000FF"/>
                </a:solidFill>
                <a:latin typeface="Verdana"/>
                <a:cs typeface="Verdana"/>
              </a:rPr>
              <a:t> </a:t>
            </a:r>
            <a:r>
              <a:rPr sz="1867" dirty="0">
                <a:solidFill>
                  <a:srgbClr val="0000FF"/>
                </a:solidFill>
                <a:latin typeface="Verdana"/>
                <a:cs typeface="Verdana"/>
              </a:rPr>
              <a:t>with</a:t>
            </a:r>
            <a:r>
              <a:rPr sz="1867" spc="-60" dirty="0">
                <a:solidFill>
                  <a:srgbClr val="0000FF"/>
                </a:solidFill>
                <a:latin typeface="Verdana"/>
                <a:cs typeface="Verdana"/>
              </a:rPr>
              <a:t> </a:t>
            </a:r>
            <a:r>
              <a:rPr sz="1867" spc="-13" dirty="0">
                <a:solidFill>
                  <a:srgbClr val="0000FF"/>
                </a:solidFill>
                <a:latin typeface="Verdana"/>
                <a:cs typeface="Verdana"/>
              </a:rPr>
              <a:t>100kmph"</a:t>
            </a:r>
            <a:r>
              <a:rPr sz="1867" spc="-13"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99904">
              <a:spcBef>
                <a:spcPts val="360"/>
              </a:spcBef>
            </a:pPr>
            <a:r>
              <a:rPr sz="1867" b="1" dirty="0">
                <a:solidFill>
                  <a:srgbClr val="006699"/>
                </a:solidFill>
                <a:latin typeface="Verdana"/>
                <a:cs typeface="Verdana"/>
              </a:rPr>
              <a:t>public</a:t>
            </a:r>
            <a:r>
              <a:rPr sz="1867" b="1" spc="-20" dirty="0">
                <a:solidFill>
                  <a:srgbClr val="006699"/>
                </a:solidFill>
                <a:latin typeface="Verdana"/>
                <a:cs typeface="Verdana"/>
              </a:rPr>
              <a:t> </a:t>
            </a:r>
            <a:r>
              <a:rPr sz="1867" b="1" dirty="0">
                <a:solidFill>
                  <a:srgbClr val="006699"/>
                </a:solidFill>
                <a:latin typeface="Verdana"/>
                <a:cs typeface="Verdana"/>
              </a:rPr>
              <a:t>static</a:t>
            </a:r>
            <a:r>
              <a:rPr sz="1867" b="1" spc="-13" dirty="0">
                <a:solidFill>
                  <a:srgbClr val="006699"/>
                </a:solidFill>
                <a:latin typeface="Verdana"/>
                <a:cs typeface="Verdana"/>
              </a:rPr>
              <a:t> </a:t>
            </a:r>
            <a:r>
              <a:rPr sz="1867" b="1" dirty="0">
                <a:solidFill>
                  <a:srgbClr val="006699"/>
                </a:solidFill>
                <a:latin typeface="Verdana"/>
                <a:cs typeface="Verdana"/>
              </a:rPr>
              <a:t>void</a:t>
            </a:r>
            <a:r>
              <a:rPr sz="1867" b="1" spc="-20" dirty="0">
                <a:solidFill>
                  <a:srgbClr val="006699"/>
                </a:solidFill>
                <a:latin typeface="Verdana"/>
                <a:cs typeface="Verdana"/>
              </a:rPr>
              <a:t> </a:t>
            </a:r>
            <a:r>
              <a:rPr sz="1867" spc="-13" dirty="0">
                <a:latin typeface="Verdana"/>
                <a:cs typeface="Verdana"/>
              </a:rPr>
              <a:t>main(String</a:t>
            </a:r>
            <a:r>
              <a:rPr sz="1867" spc="-33" dirty="0">
                <a:latin typeface="Verdana"/>
                <a:cs typeface="Verdana"/>
              </a:rPr>
              <a:t> </a:t>
            </a:r>
            <a:r>
              <a:rPr sz="1867" spc="-13" dirty="0">
                <a:latin typeface="Verdana"/>
                <a:cs typeface="Verdana"/>
              </a:rPr>
              <a:t>args[])</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a:p>
            <a:pPr marL="182875" marR="2533163">
              <a:lnSpc>
                <a:spcPct val="116100"/>
              </a:lnSpc>
            </a:pPr>
            <a:r>
              <a:rPr sz="1867" dirty="0">
                <a:latin typeface="Verdana"/>
                <a:cs typeface="Verdana"/>
              </a:rPr>
              <a:t>Honda1</a:t>
            </a:r>
            <a:r>
              <a:rPr sz="1867" spc="-73" dirty="0">
                <a:latin typeface="Verdana"/>
                <a:cs typeface="Verdana"/>
              </a:rPr>
              <a:t> </a:t>
            </a:r>
            <a:r>
              <a:rPr sz="1867" dirty="0">
                <a:latin typeface="Verdana"/>
                <a:cs typeface="Verdana"/>
              </a:rPr>
              <a:t>honda=</a:t>
            </a:r>
            <a:r>
              <a:rPr sz="1867" spc="-67" dirty="0">
                <a:latin typeface="Verdana"/>
                <a:cs typeface="Verdana"/>
              </a:rPr>
              <a:t> </a:t>
            </a:r>
            <a:r>
              <a:rPr sz="1867" b="1" dirty="0">
                <a:solidFill>
                  <a:srgbClr val="006699"/>
                </a:solidFill>
                <a:latin typeface="Verdana"/>
                <a:cs typeface="Verdana"/>
              </a:rPr>
              <a:t>new</a:t>
            </a:r>
            <a:r>
              <a:rPr sz="1867" b="1" spc="-53" dirty="0">
                <a:solidFill>
                  <a:srgbClr val="006699"/>
                </a:solidFill>
                <a:latin typeface="Verdana"/>
                <a:cs typeface="Verdana"/>
              </a:rPr>
              <a:t> </a:t>
            </a:r>
            <a:r>
              <a:rPr sz="1867" spc="-13" dirty="0">
                <a:latin typeface="Verdana"/>
                <a:cs typeface="Verdana"/>
              </a:rPr>
              <a:t>Honda1(); honda.run();</a:t>
            </a:r>
            <a:endParaRPr sz="1867" dirty="0">
              <a:latin typeface="Verdana"/>
              <a:cs typeface="Verdana"/>
            </a:endParaRPr>
          </a:p>
          <a:p>
            <a:pPr marL="182875">
              <a:spcBef>
                <a:spcPts val="360"/>
              </a:spcBef>
            </a:pPr>
            <a:r>
              <a:rPr sz="1867" spc="-67" dirty="0">
                <a:latin typeface="Verdana"/>
                <a:cs typeface="Verdana"/>
              </a:rPr>
              <a:t>}</a:t>
            </a:r>
            <a:endParaRPr sz="1867" dirty="0">
              <a:latin typeface="Verdana"/>
              <a:cs typeface="Verdana"/>
            </a:endParaRPr>
          </a:p>
          <a:p>
            <a:pPr marL="16933">
              <a:spcBef>
                <a:spcPts val="360"/>
              </a:spcBef>
            </a:pPr>
            <a:r>
              <a:rPr sz="1867" spc="-67" dirty="0">
                <a:latin typeface="Verdana"/>
                <a:cs typeface="Verdana"/>
              </a:rPr>
              <a:t>}</a:t>
            </a:r>
            <a:endParaRPr sz="1867" dirty="0">
              <a:latin typeface="Verdana"/>
              <a:cs typeface="Verdan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C81B-A10C-497A-B624-B846FED1A9AD}"/>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Method Overriding</a:t>
            </a:r>
          </a:p>
        </p:txBody>
      </p:sp>
      <p:sp>
        <p:nvSpPr>
          <p:cNvPr id="4" name="Slide Number Placeholder 3">
            <a:extLst>
              <a:ext uri="{FF2B5EF4-FFF2-40B4-BE49-F238E27FC236}">
                <a16:creationId xmlns:a16="http://schemas.microsoft.com/office/drawing/2014/main" id="{0C1F873F-8B8C-4288-8766-0BDBEBF13CD9}"/>
              </a:ext>
            </a:extLst>
          </p:cNvPr>
          <p:cNvSpPr>
            <a:spLocks noGrp="1"/>
          </p:cNvSpPr>
          <p:nvPr>
            <p:ph type="sldNum" sz="quarter" idx="12"/>
          </p:nvPr>
        </p:nvSpPr>
        <p:spPr/>
        <p:txBody>
          <a:bodyPr/>
          <a:lstStyle/>
          <a:p>
            <a:fld id="{4DAC0951-10B0-4509-9BA5-FD8683A6F967}" type="slidenum">
              <a:rPr lang="en-IN" smtClean="0"/>
              <a:pPr/>
              <a:t>46</a:t>
            </a:fld>
            <a:endParaRPr lang="en-IN"/>
          </a:p>
        </p:txBody>
      </p:sp>
      <p:sp>
        <p:nvSpPr>
          <p:cNvPr id="5" name="TextBox 4">
            <a:extLst>
              <a:ext uri="{FF2B5EF4-FFF2-40B4-BE49-F238E27FC236}">
                <a16:creationId xmlns:a16="http://schemas.microsoft.com/office/drawing/2014/main" id="{7B20800D-7887-43B7-9F9A-43DE69F151A7}"/>
              </a:ext>
            </a:extLst>
          </p:cNvPr>
          <p:cNvSpPr txBox="1"/>
          <p:nvPr/>
        </p:nvSpPr>
        <p:spPr>
          <a:xfrm>
            <a:off x="838200" y="3557357"/>
            <a:ext cx="184731" cy="369332"/>
          </a:xfrm>
          <a:prstGeom prst="rect">
            <a:avLst/>
          </a:prstGeom>
          <a:noFill/>
        </p:spPr>
        <p:txBody>
          <a:bodyPr wrap="none" rtlCol="0">
            <a:spAutoFit/>
          </a:bodyPr>
          <a:lstStyle/>
          <a:p>
            <a:endParaRPr lang="en-IN"/>
          </a:p>
        </p:txBody>
      </p:sp>
      <p:sp>
        <p:nvSpPr>
          <p:cNvPr id="11" name="TextBox 10">
            <a:extLst>
              <a:ext uri="{FF2B5EF4-FFF2-40B4-BE49-F238E27FC236}">
                <a16:creationId xmlns:a16="http://schemas.microsoft.com/office/drawing/2014/main" id="{E3B49C3A-A2D3-422D-8103-66A1AFF11F70}"/>
              </a:ext>
            </a:extLst>
          </p:cNvPr>
          <p:cNvSpPr txBox="1"/>
          <p:nvPr/>
        </p:nvSpPr>
        <p:spPr>
          <a:xfrm>
            <a:off x="838200" y="1859340"/>
            <a:ext cx="10515600" cy="1569660"/>
          </a:xfrm>
          <a:prstGeom prst="rect">
            <a:avLst/>
          </a:prstGeom>
          <a:noFill/>
          <a:ln w="28575">
            <a:solidFill>
              <a:srgbClr val="00B0F0"/>
            </a:solidFill>
          </a:ln>
        </p:spPr>
        <p:txBody>
          <a:bodyPr wrap="square">
            <a:spAutoFit/>
          </a:bodyPr>
          <a:lstStyle/>
          <a:p>
            <a:pPr algn="just"/>
            <a:r>
              <a:rPr lang="en-US" sz="2400">
                <a:latin typeface="Gill Sans MT" panose="020B0502020104020203" pitchFamily="34" charset="0"/>
              </a:rPr>
              <a:t>Inheritance in java involves a relationship between parent and child classes. Whenever both the classes contain methods with the same name and arguments or parameters it is certain that one of the </a:t>
            </a:r>
            <a:r>
              <a:rPr lang="en-US" sz="2400">
                <a:solidFill>
                  <a:srgbClr val="C00000"/>
                </a:solidFill>
                <a:latin typeface="Gill Sans MT" panose="020B0502020104020203" pitchFamily="34" charset="0"/>
              </a:rPr>
              <a:t>methods will override the other method during execution.</a:t>
            </a:r>
            <a:r>
              <a:rPr lang="en-US" sz="2400">
                <a:latin typeface="Gill Sans MT" panose="020B0502020104020203" pitchFamily="34" charset="0"/>
              </a:rPr>
              <a:t> The method that will be executed depends on the object.</a:t>
            </a:r>
          </a:p>
        </p:txBody>
      </p:sp>
      <p:sp>
        <p:nvSpPr>
          <p:cNvPr id="13" name="TextBox 12">
            <a:extLst>
              <a:ext uri="{FF2B5EF4-FFF2-40B4-BE49-F238E27FC236}">
                <a16:creationId xmlns:a16="http://schemas.microsoft.com/office/drawing/2014/main" id="{12A11A0D-F629-4CF8-BAFA-B47ADB5305B6}"/>
              </a:ext>
            </a:extLst>
          </p:cNvPr>
          <p:cNvSpPr txBox="1"/>
          <p:nvPr/>
        </p:nvSpPr>
        <p:spPr>
          <a:xfrm>
            <a:off x="838200" y="4039537"/>
            <a:ext cx="10252587" cy="1200329"/>
          </a:xfrm>
          <a:prstGeom prst="rect">
            <a:avLst/>
          </a:prstGeom>
          <a:noFill/>
          <a:ln w="28575">
            <a:solidFill>
              <a:srgbClr val="00B0F0"/>
            </a:solidFill>
          </a:ln>
        </p:spPr>
        <p:txBody>
          <a:bodyPr wrap="square">
            <a:spAutoFit/>
          </a:bodyPr>
          <a:lstStyle/>
          <a:p>
            <a:pPr algn="just"/>
            <a:r>
              <a:rPr lang="en-US" sz="2400">
                <a:latin typeface="Gill Sans MT" panose="020B0502020104020203" pitchFamily="34" charset="0"/>
              </a:rPr>
              <a:t>If the child class object calls the method, the child class method will override the parent class method. Otherwise, if the parent class object calls the method, the parent class method will be executed.</a:t>
            </a:r>
            <a:endParaRPr lang="en-IN" sz="2400">
              <a:latin typeface="Gill Sans MT" panose="020B0502020104020203" pitchFamily="34" charset="0"/>
            </a:endParaRPr>
          </a:p>
        </p:txBody>
      </p:sp>
    </p:spTree>
    <p:extLst>
      <p:ext uri="{BB962C8B-B14F-4D97-AF65-F5344CB8AC3E}">
        <p14:creationId xmlns:p14="http://schemas.microsoft.com/office/powerpoint/2010/main" val="113147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F4F7F-1A1A-4240-A424-C7C901D4E60F}"/>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Example</a:t>
            </a:r>
          </a:p>
        </p:txBody>
      </p:sp>
      <p:sp>
        <p:nvSpPr>
          <p:cNvPr id="4" name="Slide Number Placeholder 3">
            <a:extLst>
              <a:ext uri="{FF2B5EF4-FFF2-40B4-BE49-F238E27FC236}">
                <a16:creationId xmlns:a16="http://schemas.microsoft.com/office/drawing/2014/main" id="{A905BBED-0ADA-411D-97CE-609C14F3034C}"/>
              </a:ext>
            </a:extLst>
          </p:cNvPr>
          <p:cNvSpPr>
            <a:spLocks noGrp="1"/>
          </p:cNvSpPr>
          <p:nvPr>
            <p:ph type="sldNum" sz="quarter" idx="12"/>
          </p:nvPr>
        </p:nvSpPr>
        <p:spPr/>
        <p:txBody>
          <a:bodyPr/>
          <a:lstStyle/>
          <a:p>
            <a:fld id="{4DAC0951-10B0-4509-9BA5-FD8683A6F967}" type="slidenum">
              <a:rPr lang="en-IN" smtClean="0"/>
              <a:pPr/>
              <a:t>47</a:t>
            </a:fld>
            <a:endParaRPr lang="en-IN"/>
          </a:p>
        </p:txBody>
      </p:sp>
      <p:sp>
        <p:nvSpPr>
          <p:cNvPr id="5" name="Content Placeholder 2">
            <a:extLst>
              <a:ext uri="{FF2B5EF4-FFF2-40B4-BE49-F238E27FC236}">
                <a16:creationId xmlns:a16="http://schemas.microsoft.com/office/drawing/2014/main" id="{CA0D8DD8-6541-4A74-AF1A-C1667E84FF03}"/>
              </a:ext>
            </a:extLst>
          </p:cNvPr>
          <p:cNvSpPr txBox="1">
            <a:spLocks/>
          </p:cNvSpPr>
          <p:nvPr/>
        </p:nvSpPr>
        <p:spPr>
          <a:xfrm>
            <a:off x="3768436" y="136525"/>
            <a:ext cx="7333971" cy="6472093"/>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Parent{</a:t>
            </a:r>
          </a:p>
          <a:p>
            <a:pPr marL="0" indent="0">
              <a:buNone/>
            </a:pPr>
            <a:r>
              <a:rPr lang="en-US" sz="1600">
                <a:latin typeface="Consolas" panose="020B0609020204030204" pitchFamily="49" charset="0"/>
              </a:rPr>
              <a:t>  </a:t>
            </a:r>
            <a:r>
              <a:rPr lang="en-US" sz="1600">
                <a:solidFill>
                  <a:srgbClr val="0070C0"/>
                </a:solidFill>
                <a:latin typeface="Consolas" panose="020B0609020204030204" pitchFamily="49" charset="0"/>
              </a:rPr>
              <a:t>void</a:t>
            </a:r>
            <a:r>
              <a:rPr lang="en-US" sz="1600">
                <a:latin typeface="Consolas" panose="020B0609020204030204" pitchFamily="49" charset="0"/>
              </a:rPr>
              <a:t> view(){</a:t>
            </a:r>
          </a:p>
          <a:p>
            <a:pPr marL="0" indent="0">
              <a:buNone/>
            </a:pPr>
            <a:r>
              <a:rPr lang="en-US" sz="1600">
                <a:latin typeface="Consolas" panose="020B0609020204030204" pitchFamily="49" charset="0"/>
              </a:rPr>
              <a:t>     </a:t>
            </a:r>
            <a:r>
              <a:rPr lang="en-US" sz="1600" err="1">
                <a:solidFill>
                  <a:srgbClr val="C00000"/>
                </a:solidFill>
                <a:latin typeface="Consolas" panose="020B0609020204030204" pitchFamily="49" charset="0"/>
              </a:rPr>
              <a:t>System.out.println</a:t>
            </a:r>
            <a:r>
              <a:rPr lang="en-US" sz="1600">
                <a:latin typeface="Consolas" panose="020B0609020204030204" pitchFamily="49" charset="0"/>
              </a:rPr>
              <a:t>("</a:t>
            </a:r>
            <a:r>
              <a:rPr lang="en-US" sz="1600">
                <a:solidFill>
                  <a:srgbClr val="00B050"/>
                </a:solidFill>
                <a:latin typeface="Consolas" panose="020B0609020204030204" pitchFamily="49" charset="0"/>
              </a:rPr>
              <a:t>this is a parent class method</a:t>
            </a:r>
            <a:r>
              <a:rPr lang="en-US" sz="1600">
                <a:latin typeface="Consolas" panose="020B0609020204030204" pitchFamily="49" charset="0"/>
              </a:rPr>
              <a:t>”);</a:t>
            </a:r>
          </a:p>
          <a:p>
            <a:pPr marL="0" indent="0">
              <a:buNone/>
            </a:pPr>
            <a:r>
              <a:rPr lang="en-US" sz="1600">
                <a:latin typeface="Consolas" panose="020B0609020204030204" pitchFamily="49" charset="0"/>
              </a:rPr>
              <a:t>  } </a:t>
            </a:r>
          </a:p>
          <a:p>
            <a:pPr marL="0" indent="0">
              <a:buNone/>
            </a:pPr>
            <a:r>
              <a:rPr lang="en-US" sz="1600">
                <a:latin typeface="Consolas" panose="020B0609020204030204" pitchFamily="49" charset="0"/>
              </a:rPr>
              <a:t>}</a:t>
            </a:r>
          </a:p>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Child </a:t>
            </a:r>
            <a:r>
              <a:rPr lang="en-US" sz="1600">
                <a:solidFill>
                  <a:srgbClr val="C00000"/>
                </a:solidFill>
                <a:latin typeface="Consolas" panose="020B0609020204030204" pitchFamily="49" charset="0"/>
              </a:rPr>
              <a:t>extends</a:t>
            </a:r>
            <a:r>
              <a:rPr lang="en-US" sz="1600">
                <a:latin typeface="Consolas" panose="020B0609020204030204" pitchFamily="49" charset="0"/>
              </a:rPr>
              <a:t> Parent{</a:t>
            </a:r>
          </a:p>
          <a:p>
            <a:pPr marL="0" indent="0">
              <a:buNone/>
            </a:pPr>
            <a:r>
              <a:rPr lang="en-US" sz="1600">
                <a:latin typeface="Consolas" panose="020B0609020204030204" pitchFamily="49" charset="0"/>
              </a:rPr>
              <a:t>  </a:t>
            </a:r>
            <a:r>
              <a:rPr lang="en-US" sz="1600">
                <a:solidFill>
                  <a:srgbClr val="0070C0"/>
                </a:solidFill>
                <a:latin typeface="Consolas" panose="020B0609020204030204" pitchFamily="49" charset="0"/>
              </a:rPr>
              <a:t>void</a:t>
            </a:r>
            <a:r>
              <a:rPr lang="en-US" sz="1600">
                <a:latin typeface="Consolas" panose="020B0609020204030204" pitchFamily="49" charset="0"/>
              </a:rPr>
              <a:t> view(){</a:t>
            </a:r>
          </a:p>
          <a:p>
            <a:pPr marL="0" indent="0">
              <a:buNone/>
            </a:pPr>
            <a:r>
              <a:rPr lang="en-US" sz="1600">
                <a:latin typeface="Consolas" panose="020B0609020204030204" pitchFamily="49" charset="0"/>
              </a:rPr>
              <a:t>     </a:t>
            </a:r>
            <a:r>
              <a:rPr lang="en-US" sz="1600" err="1">
                <a:solidFill>
                  <a:srgbClr val="C00000"/>
                </a:solidFill>
                <a:latin typeface="Consolas" panose="020B0609020204030204" pitchFamily="49" charset="0"/>
              </a:rPr>
              <a:t>System.out.println</a:t>
            </a:r>
            <a:r>
              <a:rPr lang="en-US" sz="1600">
                <a:latin typeface="Consolas" panose="020B0609020204030204" pitchFamily="49" charset="0"/>
              </a:rPr>
              <a:t>("</a:t>
            </a:r>
            <a:r>
              <a:rPr lang="en-US" sz="1600">
                <a:solidFill>
                  <a:srgbClr val="00B050"/>
                </a:solidFill>
                <a:latin typeface="Consolas" panose="020B0609020204030204" pitchFamily="49" charset="0"/>
              </a:rPr>
              <a:t>this is a child class method</a:t>
            </a:r>
            <a:r>
              <a:rPr lang="en-US" sz="1600">
                <a:latin typeface="Consolas" panose="020B0609020204030204" pitchFamily="49" charset="0"/>
              </a:rPr>
              <a:t>”);</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a:p>
            <a:pPr marL="0" indent="0">
              <a:buNone/>
            </a:pPr>
            <a:r>
              <a:rPr lang="en-US" sz="1600">
                <a:solidFill>
                  <a:srgbClr val="0070C0"/>
                </a:solidFill>
                <a:latin typeface="Consolas" panose="020B0609020204030204" pitchFamily="49" charset="0"/>
              </a:rPr>
              <a:t>Public class </a:t>
            </a:r>
            <a:r>
              <a:rPr lang="en-US" sz="1600">
                <a:latin typeface="Consolas" panose="020B0609020204030204" pitchFamily="49" charset="0"/>
              </a:rPr>
              <a:t>Example{</a:t>
            </a:r>
          </a:p>
          <a:p>
            <a:pPr marL="0" indent="0">
              <a:buNone/>
            </a:pPr>
            <a:r>
              <a:rPr lang="en-US" sz="1600">
                <a:latin typeface="Consolas" panose="020B0609020204030204" pitchFamily="49" charset="0"/>
              </a:rPr>
              <a:t>   </a:t>
            </a:r>
            <a:r>
              <a:rPr lang="en-US" sz="1600">
                <a:solidFill>
                  <a:srgbClr val="0070C0"/>
                </a:solidFill>
                <a:latin typeface="Consolas" panose="020B0609020204030204" pitchFamily="49" charset="0"/>
              </a:rPr>
              <a:t>public static void </a:t>
            </a:r>
            <a:r>
              <a:rPr lang="en-US" sz="1600">
                <a:latin typeface="Consolas" panose="020B0609020204030204" pitchFamily="49" charset="0"/>
              </a:rPr>
              <a:t>main(</a:t>
            </a:r>
            <a:r>
              <a:rPr lang="en-US" sz="1600">
                <a:solidFill>
                  <a:srgbClr val="C00000"/>
                </a:solidFill>
                <a:latin typeface="Consolas" panose="020B0609020204030204" pitchFamily="49" charset="0"/>
              </a:rPr>
              <a:t>String</a:t>
            </a:r>
            <a:r>
              <a:rPr lang="en-US" sz="1600">
                <a:latin typeface="Consolas" panose="020B0609020204030204" pitchFamily="49" charset="0"/>
              </a:rPr>
              <a:t> </a:t>
            </a:r>
            <a:r>
              <a:rPr lang="en-US" sz="1600" err="1">
                <a:latin typeface="Consolas" panose="020B0609020204030204" pitchFamily="49" charset="0"/>
              </a:rPr>
              <a:t>args</a:t>
            </a:r>
            <a:r>
              <a:rPr lang="en-US" sz="1600">
                <a:latin typeface="Consolas" panose="020B0609020204030204" pitchFamily="49" charset="0"/>
              </a:rPr>
              <a:t>[]){</a:t>
            </a:r>
          </a:p>
          <a:p>
            <a:pPr marL="0" indent="0">
              <a:buNone/>
            </a:pPr>
            <a:r>
              <a:rPr lang="en-US" sz="1600">
                <a:latin typeface="Consolas" panose="020B0609020204030204" pitchFamily="49" charset="0"/>
              </a:rPr>
              <a:t>      Parent </a:t>
            </a:r>
            <a:r>
              <a:rPr lang="en-US" sz="1600" err="1">
                <a:latin typeface="Consolas" panose="020B0609020204030204" pitchFamily="49" charset="0"/>
              </a:rPr>
              <a:t>ob</a:t>
            </a:r>
            <a:r>
              <a:rPr lang="en-US" sz="1600">
                <a:latin typeface="Consolas" panose="020B0609020204030204" pitchFamily="49" charset="0"/>
              </a:rPr>
              <a:t> = </a:t>
            </a:r>
            <a:r>
              <a:rPr lang="en-US" sz="1600">
                <a:solidFill>
                  <a:srgbClr val="0070C0"/>
                </a:solidFill>
                <a:latin typeface="Consolas" panose="020B0609020204030204" pitchFamily="49" charset="0"/>
              </a:rPr>
              <a:t>new</a:t>
            </a:r>
            <a:r>
              <a:rPr lang="en-US" sz="1600">
                <a:latin typeface="Consolas" panose="020B0609020204030204" pitchFamily="49" charset="0"/>
              </a:rPr>
              <a:t> Parent();</a:t>
            </a:r>
          </a:p>
          <a:p>
            <a:pPr marL="0" indent="0">
              <a:buNone/>
            </a:pPr>
            <a:r>
              <a:rPr lang="en-US" sz="1600">
                <a:latin typeface="Consolas" panose="020B0609020204030204" pitchFamily="49" charset="0"/>
              </a:rPr>
              <a:t>      </a:t>
            </a:r>
            <a:r>
              <a:rPr lang="en-US" sz="1600" err="1">
                <a:latin typeface="Consolas" panose="020B0609020204030204" pitchFamily="49" charset="0"/>
              </a:rPr>
              <a:t>ob.view</a:t>
            </a:r>
            <a:r>
              <a:rPr lang="en-US" sz="1600">
                <a:latin typeface="Consolas" panose="020B0609020204030204" pitchFamily="49" charset="0"/>
              </a:rPr>
              <a:t>();</a:t>
            </a:r>
          </a:p>
          <a:p>
            <a:pPr marL="0" indent="0">
              <a:buNone/>
            </a:pPr>
            <a:r>
              <a:rPr lang="en-US" sz="1600">
                <a:latin typeface="Consolas" panose="020B0609020204030204" pitchFamily="49" charset="0"/>
              </a:rPr>
              <a:t>      Child ob1 = </a:t>
            </a:r>
            <a:r>
              <a:rPr lang="en-US" sz="1600">
                <a:solidFill>
                  <a:srgbClr val="0070C0"/>
                </a:solidFill>
                <a:latin typeface="Consolas" panose="020B0609020204030204" pitchFamily="49" charset="0"/>
              </a:rPr>
              <a:t>new </a:t>
            </a:r>
            <a:r>
              <a:rPr lang="en-US" sz="1600">
                <a:latin typeface="Consolas" panose="020B0609020204030204" pitchFamily="49" charset="0"/>
              </a:rPr>
              <a:t>Child();</a:t>
            </a:r>
          </a:p>
          <a:p>
            <a:pPr marL="0" indent="0">
              <a:buNone/>
            </a:pPr>
            <a:r>
              <a:rPr lang="en-US" sz="1600">
                <a:latin typeface="Consolas" panose="020B0609020204030204" pitchFamily="49" charset="0"/>
              </a:rPr>
              <a:t>      ob1.view();</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p:txBody>
      </p:sp>
    </p:spTree>
    <p:extLst>
      <p:ext uri="{BB962C8B-B14F-4D97-AF65-F5344CB8AC3E}">
        <p14:creationId xmlns:p14="http://schemas.microsoft.com/office/powerpoint/2010/main" val="168834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9FAE5-BD48-4B6C-B3B8-9BA3CE746AAB}"/>
              </a:ext>
            </a:extLst>
          </p:cNvPr>
          <p:cNvSpPr>
            <a:spLocks noGrp="1"/>
          </p:cNvSpPr>
          <p:nvPr>
            <p:ph type="title"/>
          </p:nvPr>
        </p:nvSpPr>
        <p:spPr>
          <a:xfrm>
            <a:off x="207818" y="126154"/>
            <a:ext cx="11984182" cy="1325563"/>
          </a:xfrm>
        </p:spPr>
        <p:txBody>
          <a:bodyPr>
            <a:normAutofit/>
          </a:bodyPr>
          <a:lstStyle/>
          <a:p>
            <a:r>
              <a:rPr lang="en-US" sz="4000" b="1">
                <a:solidFill>
                  <a:srgbClr val="C00000"/>
                </a:solidFill>
                <a:latin typeface="Gill Sans MT" panose="020B0502020104020203" pitchFamily="34" charset="0"/>
              </a:rPr>
              <a:t>Program to show overriding using super keyword</a:t>
            </a:r>
            <a:endParaRPr lang="en-IN" sz="4000" b="1">
              <a:solidFill>
                <a:srgbClr val="C00000"/>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8BE309A4-70DC-4BE3-94C9-EF0B6739509F}"/>
              </a:ext>
            </a:extLst>
          </p:cNvPr>
          <p:cNvSpPr>
            <a:spLocks noGrp="1"/>
          </p:cNvSpPr>
          <p:nvPr>
            <p:ph type="sldNum" sz="quarter" idx="12"/>
          </p:nvPr>
        </p:nvSpPr>
        <p:spPr/>
        <p:txBody>
          <a:bodyPr/>
          <a:lstStyle/>
          <a:p>
            <a:fld id="{4DAC0951-10B0-4509-9BA5-FD8683A6F967}" type="slidenum">
              <a:rPr lang="en-IN" smtClean="0"/>
              <a:pPr/>
              <a:t>48</a:t>
            </a:fld>
            <a:endParaRPr lang="en-IN"/>
          </a:p>
        </p:txBody>
      </p:sp>
      <p:sp>
        <p:nvSpPr>
          <p:cNvPr id="5" name="Content Placeholder 2">
            <a:extLst>
              <a:ext uri="{FF2B5EF4-FFF2-40B4-BE49-F238E27FC236}">
                <a16:creationId xmlns:a16="http://schemas.microsoft.com/office/drawing/2014/main" id="{089146CC-680C-4A23-9096-B4810567DC06}"/>
              </a:ext>
            </a:extLst>
          </p:cNvPr>
          <p:cNvSpPr txBox="1">
            <a:spLocks/>
          </p:cNvSpPr>
          <p:nvPr/>
        </p:nvSpPr>
        <p:spPr>
          <a:xfrm>
            <a:off x="555523" y="1325352"/>
            <a:ext cx="5706732" cy="5396123"/>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Parent {</a:t>
            </a:r>
          </a:p>
          <a:p>
            <a:pPr marL="0" indent="0">
              <a:buNone/>
            </a:pPr>
            <a:r>
              <a:rPr lang="en-US" sz="1600">
                <a:solidFill>
                  <a:srgbClr val="0070C0"/>
                </a:solidFill>
                <a:latin typeface="Consolas" panose="020B0609020204030204" pitchFamily="49" charset="0"/>
              </a:rPr>
              <a:t>   void</a:t>
            </a:r>
            <a:r>
              <a:rPr lang="en-US" sz="1600">
                <a:latin typeface="Consolas" panose="020B0609020204030204" pitchFamily="49" charset="0"/>
              </a:rPr>
              <a:t> show(){</a:t>
            </a:r>
          </a:p>
          <a:p>
            <a:pPr marL="0" indent="0">
              <a:buNone/>
            </a:pPr>
            <a:r>
              <a:rPr lang="en-US" sz="1600">
                <a:latin typeface="Consolas" panose="020B0609020204030204" pitchFamily="49" charset="0"/>
              </a:rPr>
              <a:t>      </a:t>
            </a:r>
            <a:r>
              <a:rPr lang="en-US" sz="1600" err="1">
                <a:solidFill>
                  <a:srgbClr val="C00000"/>
                </a:solidFill>
                <a:latin typeface="Consolas" panose="020B0609020204030204" pitchFamily="49" charset="0"/>
              </a:rPr>
              <a:t>System.out.println</a:t>
            </a:r>
            <a:r>
              <a:rPr lang="en-US" sz="1600">
                <a:latin typeface="Consolas" panose="020B0609020204030204" pitchFamily="49" charset="0"/>
              </a:rPr>
              <a:t>("</a:t>
            </a:r>
            <a:r>
              <a:rPr lang="en-US" sz="1600">
                <a:solidFill>
                  <a:srgbClr val="00B050"/>
                </a:solidFill>
                <a:latin typeface="Consolas" panose="020B0609020204030204" pitchFamily="49" charset="0"/>
              </a:rPr>
              <a:t>parent class method</a:t>
            </a:r>
            <a:r>
              <a:rPr lang="en-US" sz="1600">
                <a:latin typeface="Consolas" panose="020B0609020204030204" pitchFamily="49" charset="0"/>
              </a:rPr>
              <a:t>");</a:t>
            </a:r>
          </a:p>
          <a:p>
            <a:pPr marL="0" indent="0">
              <a:buNone/>
            </a:pPr>
            <a:r>
              <a:rPr lang="en-US" sz="1600">
                <a:latin typeface="Consolas" panose="020B0609020204030204" pitchFamily="49" charset="0"/>
              </a:rPr>
              <a:t>   } }</a:t>
            </a:r>
          </a:p>
          <a:p>
            <a:pPr marL="0" indent="0">
              <a:buNone/>
            </a:pPr>
            <a:endParaRPr lang="en-US" sz="1600">
              <a:latin typeface="Consolas" panose="020B0609020204030204" pitchFamily="49" charset="0"/>
            </a:endParaRPr>
          </a:p>
          <a:p>
            <a:pPr marL="0" indent="0">
              <a:buNone/>
            </a:pPr>
            <a:r>
              <a:rPr lang="en-US" sz="1600">
                <a:solidFill>
                  <a:srgbClr val="0070C0"/>
                </a:solidFill>
                <a:latin typeface="Consolas" panose="020B0609020204030204" pitchFamily="49" charset="0"/>
              </a:rPr>
              <a:t>class</a:t>
            </a:r>
            <a:r>
              <a:rPr lang="en-US" sz="1600">
                <a:latin typeface="Consolas" panose="020B0609020204030204" pitchFamily="49" charset="0"/>
              </a:rPr>
              <a:t> Child </a:t>
            </a:r>
            <a:r>
              <a:rPr lang="en-US" sz="1600">
                <a:solidFill>
                  <a:srgbClr val="C00000"/>
                </a:solidFill>
                <a:latin typeface="Consolas" panose="020B0609020204030204" pitchFamily="49" charset="0"/>
              </a:rPr>
              <a:t>extends</a:t>
            </a:r>
            <a:r>
              <a:rPr lang="en-US" sz="1600">
                <a:latin typeface="Consolas" panose="020B0609020204030204" pitchFamily="49" charset="0"/>
              </a:rPr>
              <a:t> Parent {</a:t>
            </a:r>
          </a:p>
          <a:p>
            <a:pPr marL="0" indent="0">
              <a:buNone/>
            </a:pPr>
            <a:r>
              <a:rPr lang="en-US" sz="1600">
                <a:solidFill>
                  <a:srgbClr val="0070C0"/>
                </a:solidFill>
                <a:latin typeface="Consolas" panose="020B0609020204030204" pitchFamily="49" charset="0"/>
              </a:rPr>
              <a:t>   void</a:t>
            </a:r>
            <a:r>
              <a:rPr lang="en-US" sz="1600">
                <a:latin typeface="Consolas" panose="020B0609020204030204" pitchFamily="49" charset="0"/>
              </a:rPr>
              <a:t> show(){</a:t>
            </a:r>
          </a:p>
          <a:p>
            <a:pPr marL="0" indent="0">
              <a:buNone/>
            </a:pPr>
            <a:r>
              <a:rPr lang="en-US" sz="1600">
                <a:latin typeface="Consolas" panose="020B0609020204030204" pitchFamily="49" charset="0"/>
              </a:rPr>
              <a:t>      </a:t>
            </a:r>
            <a:r>
              <a:rPr lang="en-US" sz="1600" err="1">
                <a:solidFill>
                  <a:srgbClr val="C00000"/>
                </a:solidFill>
                <a:latin typeface="Consolas" panose="020B0609020204030204" pitchFamily="49" charset="0"/>
              </a:rPr>
              <a:t>super</a:t>
            </a:r>
            <a:r>
              <a:rPr lang="en-US" sz="1600" err="1">
                <a:latin typeface="Consolas" panose="020B0609020204030204" pitchFamily="49" charset="0"/>
              </a:rPr>
              <a:t>.show</a:t>
            </a:r>
            <a:r>
              <a:rPr lang="en-US" sz="1600">
                <a:latin typeface="Consolas" panose="020B0609020204030204" pitchFamily="49" charset="0"/>
              </a:rPr>
              <a:t>();</a:t>
            </a:r>
          </a:p>
          <a:p>
            <a:pPr marL="0" indent="0">
              <a:buNone/>
            </a:pPr>
            <a:r>
              <a:rPr lang="en-US" sz="1600">
                <a:latin typeface="Consolas" panose="020B0609020204030204" pitchFamily="49" charset="0"/>
              </a:rPr>
              <a:t>      </a:t>
            </a:r>
            <a:r>
              <a:rPr lang="en-US" sz="1600" err="1">
                <a:solidFill>
                  <a:srgbClr val="C00000"/>
                </a:solidFill>
                <a:latin typeface="Consolas" panose="020B0609020204030204" pitchFamily="49" charset="0"/>
              </a:rPr>
              <a:t>System.out.println</a:t>
            </a:r>
            <a:r>
              <a:rPr lang="en-US" sz="1600">
                <a:latin typeface="Consolas" panose="020B0609020204030204" pitchFamily="49" charset="0"/>
              </a:rPr>
              <a:t>("</a:t>
            </a:r>
            <a:r>
              <a:rPr lang="en-US" sz="1600">
                <a:solidFill>
                  <a:srgbClr val="00B050"/>
                </a:solidFill>
                <a:latin typeface="Consolas" panose="020B0609020204030204" pitchFamily="49" charset="0"/>
              </a:rPr>
              <a:t>child class method</a:t>
            </a:r>
            <a:r>
              <a:rPr lang="en-US" sz="1600">
                <a:latin typeface="Consolas" panose="020B0609020204030204" pitchFamily="49" charset="0"/>
              </a:rPr>
              <a:t>");</a:t>
            </a:r>
          </a:p>
          <a:p>
            <a:pPr marL="0" indent="0">
              <a:buNone/>
            </a:pPr>
            <a:r>
              <a:rPr lang="en-US" sz="1600">
                <a:latin typeface="Consolas" panose="020B0609020204030204" pitchFamily="49" charset="0"/>
              </a:rPr>
              <a:t>   }</a:t>
            </a:r>
          </a:p>
          <a:p>
            <a:pPr marL="0" indent="0">
              <a:buNone/>
            </a:pPr>
            <a:r>
              <a:rPr lang="en-US" sz="1600">
                <a:solidFill>
                  <a:srgbClr val="0070C0"/>
                </a:solidFill>
                <a:latin typeface="Consolas" panose="020B0609020204030204" pitchFamily="49" charset="0"/>
              </a:rPr>
              <a:t>   public static void </a:t>
            </a:r>
            <a:r>
              <a:rPr lang="en-US" sz="1600">
                <a:latin typeface="Consolas" panose="020B0609020204030204" pitchFamily="49" charset="0"/>
              </a:rPr>
              <a:t>main(</a:t>
            </a:r>
            <a:r>
              <a:rPr lang="en-US" sz="1600">
                <a:solidFill>
                  <a:srgbClr val="C00000"/>
                </a:solidFill>
                <a:latin typeface="Consolas" panose="020B0609020204030204" pitchFamily="49" charset="0"/>
              </a:rPr>
              <a:t>String</a:t>
            </a:r>
            <a:r>
              <a:rPr lang="en-US" sz="1600">
                <a:latin typeface="Consolas" panose="020B0609020204030204" pitchFamily="49" charset="0"/>
              </a:rPr>
              <a:t> </a:t>
            </a:r>
            <a:r>
              <a:rPr lang="en-US" sz="1600" err="1">
                <a:latin typeface="Consolas" panose="020B0609020204030204" pitchFamily="49" charset="0"/>
              </a:rPr>
              <a:t>args</a:t>
            </a:r>
            <a:r>
              <a:rPr lang="en-US" sz="1600">
                <a:latin typeface="Consolas" panose="020B0609020204030204" pitchFamily="49" charset="0"/>
              </a:rPr>
              <a:t>[]){</a:t>
            </a:r>
          </a:p>
          <a:p>
            <a:pPr marL="0" indent="0">
              <a:buNone/>
            </a:pPr>
            <a:r>
              <a:rPr lang="en-US" sz="1600">
                <a:latin typeface="Consolas" panose="020B0609020204030204" pitchFamily="49" charset="0"/>
              </a:rPr>
              <a:t>      Parent </a:t>
            </a:r>
            <a:r>
              <a:rPr lang="en-US" sz="1600" err="1">
                <a:latin typeface="Consolas" panose="020B0609020204030204" pitchFamily="49" charset="0"/>
              </a:rPr>
              <a:t>ob</a:t>
            </a:r>
            <a:r>
              <a:rPr lang="en-US" sz="1600">
                <a:latin typeface="Consolas" panose="020B0609020204030204" pitchFamily="49" charset="0"/>
              </a:rPr>
              <a:t> = </a:t>
            </a:r>
            <a:r>
              <a:rPr lang="en-US" sz="1600">
                <a:solidFill>
                  <a:srgbClr val="C00000"/>
                </a:solidFill>
                <a:latin typeface="Consolas" panose="020B0609020204030204" pitchFamily="49" charset="0"/>
              </a:rPr>
              <a:t>new</a:t>
            </a:r>
            <a:r>
              <a:rPr lang="en-US" sz="1600">
                <a:latin typeface="Consolas" panose="020B0609020204030204" pitchFamily="49" charset="0"/>
              </a:rPr>
              <a:t> Child();</a:t>
            </a:r>
          </a:p>
          <a:p>
            <a:pPr marL="0" indent="0">
              <a:buNone/>
            </a:pPr>
            <a:r>
              <a:rPr lang="en-US" sz="1600">
                <a:latin typeface="Consolas" panose="020B0609020204030204" pitchFamily="49" charset="0"/>
              </a:rPr>
              <a:t>      </a:t>
            </a:r>
            <a:r>
              <a:rPr lang="en-US" sz="1600" err="1">
                <a:latin typeface="Consolas" panose="020B0609020204030204" pitchFamily="49" charset="0"/>
              </a:rPr>
              <a:t>ob.show</a:t>
            </a:r>
            <a:r>
              <a:rPr lang="en-US" sz="1600">
                <a:latin typeface="Consolas" panose="020B0609020204030204" pitchFamily="49" charset="0"/>
              </a:rPr>
              <a:t>();</a:t>
            </a:r>
          </a:p>
          <a:p>
            <a:pPr marL="0" indent="0">
              <a:buNone/>
            </a:pPr>
            <a:r>
              <a:rPr lang="en-US" sz="1600">
                <a:latin typeface="Consolas" panose="020B0609020204030204" pitchFamily="49" charset="0"/>
              </a:rPr>
              <a:t>   }</a:t>
            </a:r>
          </a:p>
          <a:p>
            <a:pPr marL="0" indent="0">
              <a:buNone/>
            </a:pPr>
            <a:r>
              <a:rPr lang="en-US" sz="1600">
                <a:latin typeface="Consolas" panose="020B0609020204030204" pitchFamily="49" charset="0"/>
              </a:rPr>
              <a:t>}</a:t>
            </a:r>
          </a:p>
        </p:txBody>
      </p:sp>
      <p:sp>
        <p:nvSpPr>
          <p:cNvPr id="7" name="Rectangle 6">
            <a:extLst>
              <a:ext uri="{FF2B5EF4-FFF2-40B4-BE49-F238E27FC236}">
                <a16:creationId xmlns:a16="http://schemas.microsoft.com/office/drawing/2014/main" id="{580EF079-3C50-42A4-9A74-5423D2661B02}"/>
              </a:ext>
            </a:extLst>
          </p:cNvPr>
          <p:cNvSpPr/>
          <p:nvPr/>
        </p:nvSpPr>
        <p:spPr>
          <a:xfrm>
            <a:off x="6938893" y="2622531"/>
            <a:ext cx="4006198" cy="193561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atin typeface="Consolas" panose="020B0609020204030204" pitchFamily="49" charset="0"/>
              </a:rPr>
              <a:t>parent class method</a:t>
            </a:r>
          </a:p>
          <a:p>
            <a:pPr algn="ctr"/>
            <a:r>
              <a:rPr lang="en-US">
                <a:latin typeface="Consolas" panose="020B0609020204030204" pitchFamily="49" charset="0"/>
              </a:rPr>
              <a:t>child class method</a:t>
            </a:r>
            <a:endParaRPr lang="en-IN">
              <a:latin typeface="Consolas" panose="020B0609020204030204" pitchFamily="49" charset="0"/>
            </a:endParaRPr>
          </a:p>
        </p:txBody>
      </p:sp>
    </p:spTree>
    <p:extLst>
      <p:ext uri="{BB962C8B-B14F-4D97-AF65-F5344CB8AC3E}">
        <p14:creationId xmlns:p14="http://schemas.microsoft.com/office/powerpoint/2010/main" val="120358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FF6F-7A8D-4082-927F-012EAF97A5BD}"/>
              </a:ext>
            </a:extLst>
          </p:cNvPr>
          <p:cNvSpPr>
            <a:spLocks noGrp="1"/>
          </p:cNvSpPr>
          <p:nvPr>
            <p:ph type="title"/>
          </p:nvPr>
        </p:nvSpPr>
        <p:spPr/>
        <p:txBody>
          <a:bodyPr>
            <a:normAutofit/>
          </a:bodyPr>
          <a:lstStyle/>
          <a:p>
            <a:r>
              <a:rPr lang="en-IN" b="1">
                <a:solidFill>
                  <a:srgbClr val="C00000"/>
                </a:solidFill>
                <a:latin typeface="Gill Sans MT" panose="020B0502020104020203" pitchFamily="34" charset="0"/>
              </a:rPr>
              <a:t>Rules</a:t>
            </a:r>
          </a:p>
        </p:txBody>
      </p:sp>
      <p:sp>
        <p:nvSpPr>
          <p:cNvPr id="3" name="Content Placeholder 2">
            <a:extLst>
              <a:ext uri="{FF2B5EF4-FFF2-40B4-BE49-F238E27FC236}">
                <a16:creationId xmlns:a16="http://schemas.microsoft.com/office/drawing/2014/main" id="{C437621E-CBEE-45C3-B1CF-B6F82BE9AF4C}"/>
              </a:ext>
            </a:extLst>
          </p:cNvPr>
          <p:cNvSpPr>
            <a:spLocks noGrp="1"/>
          </p:cNvSpPr>
          <p:nvPr>
            <p:ph idx="1"/>
          </p:nvPr>
        </p:nvSpPr>
        <p:spPr>
          <a:xfrm>
            <a:off x="838200" y="1423842"/>
            <a:ext cx="10896600" cy="4932507"/>
          </a:xfrm>
        </p:spPr>
        <p:txBody>
          <a:bodyPr>
            <a:noAutofit/>
          </a:bodyPr>
          <a:lstStyle/>
          <a:p>
            <a:pPr algn="just">
              <a:lnSpc>
                <a:spcPct val="100000"/>
              </a:lnSpc>
              <a:spcBef>
                <a:spcPts val="600"/>
              </a:spcBef>
            </a:pPr>
            <a:r>
              <a:rPr lang="en-US" b="1">
                <a:solidFill>
                  <a:srgbClr val="4A4A4A"/>
                </a:solidFill>
                <a:latin typeface="Gill Sans MT" panose="020B0502020104020203" pitchFamily="34" charset="0"/>
              </a:rPr>
              <a:t>The access modifier can only allow more access for the overridden method.</a:t>
            </a:r>
          </a:p>
          <a:p>
            <a:pPr algn="just">
              <a:lnSpc>
                <a:spcPct val="100000"/>
              </a:lnSpc>
              <a:spcBef>
                <a:spcPts val="600"/>
              </a:spcBef>
            </a:pPr>
            <a:r>
              <a:rPr lang="en-US" b="1">
                <a:solidFill>
                  <a:srgbClr val="4A4A4A"/>
                </a:solidFill>
                <a:latin typeface="Gill Sans MT" panose="020B0502020104020203" pitchFamily="34" charset="0"/>
              </a:rPr>
              <a:t>A final method does not support method overriding.</a:t>
            </a:r>
          </a:p>
          <a:p>
            <a:pPr algn="just">
              <a:lnSpc>
                <a:spcPct val="100000"/>
              </a:lnSpc>
              <a:spcBef>
                <a:spcPts val="600"/>
              </a:spcBef>
            </a:pPr>
            <a:r>
              <a:rPr lang="en-US" b="1">
                <a:solidFill>
                  <a:srgbClr val="4A4A4A"/>
                </a:solidFill>
                <a:latin typeface="Gill Sans MT" panose="020B0502020104020203" pitchFamily="34" charset="0"/>
              </a:rPr>
              <a:t>A static method cannot be overridden.</a:t>
            </a:r>
          </a:p>
          <a:p>
            <a:pPr algn="just">
              <a:lnSpc>
                <a:spcPct val="100000"/>
              </a:lnSpc>
              <a:spcBef>
                <a:spcPts val="600"/>
              </a:spcBef>
            </a:pPr>
            <a:r>
              <a:rPr lang="en-US" b="1">
                <a:solidFill>
                  <a:srgbClr val="4A4A4A"/>
                </a:solidFill>
                <a:latin typeface="Gill Sans MT" panose="020B0502020104020203" pitchFamily="34" charset="0"/>
              </a:rPr>
              <a:t>Private methods cannot be overridden.</a:t>
            </a:r>
          </a:p>
          <a:p>
            <a:pPr algn="just">
              <a:lnSpc>
                <a:spcPct val="100000"/>
              </a:lnSpc>
              <a:spcBef>
                <a:spcPts val="600"/>
              </a:spcBef>
            </a:pPr>
            <a:r>
              <a:rPr lang="en-US" b="1">
                <a:solidFill>
                  <a:srgbClr val="4A4A4A"/>
                </a:solidFill>
                <a:latin typeface="Gill Sans MT" panose="020B0502020104020203" pitchFamily="34" charset="0"/>
              </a:rPr>
              <a:t>The return type of the overriding method must be the same.</a:t>
            </a:r>
          </a:p>
          <a:p>
            <a:pPr algn="just">
              <a:lnSpc>
                <a:spcPct val="100000"/>
              </a:lnSpc>
              <a:spcBef>
                <a:spcPts val="600"/>
              </a:spcBef>
            </a:pPr>
            <a:r>
              <a:rPr lang="en-US" b="1">
                <a:solidFill>
                  <a:srgbClr val="4A4A4A"/>
                </a:solidFill>
                <a:latin typeface="Gill Sans MT" panose="020B0502020104020203" pitchFamily="34" charset="0"/>
              </a:rPr>
              <a:t>We can call the parent class method in the overriding method using the super keyword.</a:t>
            </a:r>
          </a:p>
          <a:p>
            <a:pPr algn="just">
              <a:lnSpc>
                <a:spcPct val="100000"/>
              </a:lnSpc>
              <a:spcBef>
                <a:spcPts val="600"/>
              </a:spcBef>
            </a:pPr>
            <a:r>
              <a:rPr lang="en-US" b="1">
                <a:solidFill>
                  <a:srgbClr val="4A4A4A"/>
                </a:solidFill>
                <a:latin typeface="Gill Sans MT" panose="020B0502020104020203" pitchFamily="34" charset="0"/>
              </a:rPr>
              <a:t>A constructor cannot be overridden because a child class and a parent class cannot have the constructor with the same name.</a:t>
            </a:r>
            <a:endParaRPr lang="en-IN" b="1">
              <a:solidFill>
                <a:srgbClr val="4A4A4A"/>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1ED0619A-789B-43F0-AF58-986D8C1D221E}"/>
              </a:ext>
            </a:extLst>
          </p:cNvPr>
          <p:cNvSpPr>
            <a:spLocks noGrp="1"/>
          </p:cNvSpPr>
          <p:nvPr>
            <p:ph type="sldNum" sz="quarter" idx="12"/>
          </p:nvPr>
        </p:nvSpPr>
        <p:spPr/>
        <p:txBody>
          <a:bodyPr/>
          <a:lstStyle/>
          <a:p>
            <a:fld id="{4DAC0951-10B0-4509-9BA5-FD8683A6F967}" type="slidenum">
              <a:rPr lang="en-IN" smtClean="0"/>
              <a:pPr/>
              <a:t>49</a:t>
            </a:fld>
            <a:endParaRPr lang="en-IN"/>
          </a:p>
        </p:txBody>
      </p:sp>
    </p:spTree>
    <p:extLst>
      <p:ext uri="{BB962C8B-B14F-4D97-AF65-F5344CB8AC3E}">
        <p14:creationId xmlns:p14="http://schemas.microsoft.com/office/powerpoint/2010/main" val="2424331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0BC8-2A37-E215-106A-7FFDDBC45E72}"/>
              </a:ext>
            </a:extLst>
          </p:cNvPr>
          <p:cNvSpPr>
            <a:spLocks noGrp="1"/>
          </p:cNvSpPr>
          <p:nvPr>
            <p:ph type="title"/>
          </p:nvPr>
        </p:nvSpPr>
        <p:spPr/>
        <p:txBody>
          <a:bodyPr/>
          <a:lstStyle/>
          <a:p>
            <a:r>
              <a:rPr lang="en-IN" b="1" dirty="0"/>
              <a:t>Key Difference </a:t>
            </a:r>
          </a:p>
        </p:txBody>
      </p:sp>
      <p:graphicFrame>
        <p:nvGraphicFramePr>
          <p:cNvPr id="5" name="Content Placeholder 4">
            <a:extLst>
              <a:ext uri="{FF2B5EF4-FFF2-40B4-BE49-F238E27FC236}">
                <a16:creationId xmlns:a16="http://schemas.microsoft.com/office/drawing/2014/main" id="{F79A505B-4970-9132-B074-BEF237ADC0BF}"/>
              </a:ext>
            </a:extLst>
          </p:cNvPr>
          <p:cNvGraphicFramePr>
            <a:graphicFrameLocks noGrp="1"/>
          </p:cNvGraphicFramePr>
          <p:nvPr>
            <p:ph idx="1"/>
            <p:extLst>
              <p:ext uri="{D42A27DB-BD31-4B8C-83A1-F6EECF244321}">
                <p14:modId xmlns:p14="http://schemas.microsoft.com/office/powerpoint/2010/main" val="1920208895"/>
              </p:ext>
            </p:extLst>
          </p:nvPr>
        </p:nvGraphicFramePr>
        <p:xfrm>
          <a:off x="1005349" y="2196091"/>
          <a:ext cx="10515600" cy="219456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3708282533"/>
                    </a:ext>
                  </a:extLst>
                </a:gridCol>
                <a:gridCol w="3505200">
                  <a:extLst>
                    <a:ext uri="{9D8B030D-6E8A-4147-A177-3AD203B41FA5}">
                      <a16:colId xmlns:a16="http://schemas.microsoft.com/office/drawing/2014/main" val="2281366853"/>
                    </a:ext>
                  </a:extLst>
                </a:gridCol>
                <a:gridCol w="3505200">
                  <a:extLst>
                    <a:ext uri="{9D8B030D-6E8A-4147-A177-3AD203B41FA5}">
                      <a16:colId xmlns:a16="http://schemas.microsoft.com/office/drawing/2014/main" val="381190813"/>
                    </a:ext>
                  </a:extLst>
                </a:gridCol>
              </a:tblGrid>
              <a:tr h="0">
                <a:tc>
                  <a:txBody>
                    <a:bodyPr/>
                    <a:lstStyle/>
                    <a:p>
                      <a:pPr>
                        <a:buNone/>
                      </a:pPr>
                      <a:r>
                        <a:rPr lang="en-IN" b="1" dirty="0"/>
                        <a:t>Feature</a:t>
                      </a:r>
                    </a:p>
                  </a:txBody>
                  <a:tcPr anchor="ctr"/>
                </a:tc>
                <a:tc>
                  <a:txBody>
                    <a:bodyPr/>
                    <a:lstStyle/>
                    <a:p>
                      <a:pPr>
                        <a:buNone/>
                      </a:pPr>
                      <a:r>
                        <a:rPr lang="en-IN" b="1"/>
                        <a:t>Overloading</a:t>
                      </a:r>
                    </a:p>
                  </a:txBody>
                  <a:tcPr anchor="ctr"/>
                </a:tc>
                <a:tc>
                  <a:txBody>
                    <a:bodyPr/>
                    <a:lstStyle/>
                    <a:p>
                      <a:pPr>
                        <a:buNone/>
                      </a:pPr>
                      <a:r>
                        <a:rPr lang="en-IN" b="1" dirty="0"/>
                        <a:t>Overriding</a:t>
                      </a:r>
                    </a:p>
                  </a:txBody>
                  <a:tcPr anchor="ctr"/>
                </a:tc>
                <a:extLst>
                  <a:ext uri="{0D108BD9-81ED-4DB2-BD59-A6C34878D82A}">
                    <a16:rowId xmlns:a16="http://schemas.microsoft.com/office/drawing/2014/main" val="3195501441"/>
                  </a:ext>
                </a:extLst>
              </a:tr>
              <a:tr h="0">
                <a:tc>
                  <a:txBody>
                    <a:bodyPr/>
                    <a:lstStyle/>
                    <a:p>
                      <a:pPr>
                        <a:buNone/>
                      </a:pPr>
                      <a:r>
                        <a:rPr lang="en-IN" dirty="0"/>
                        <a:t>Class</a:t>
                      </a:r>
                    </a:p>
                  </a:txBody>
                  <a:tcPr anchor="ctr"/>
                </a:tc>
                <a:tc>
                  <a:txBody>
                    <a:bodyPr/>
                    <a:lstStyle/>
                    <a:p>
                      <a:pPr>
                        <a:buNone/>
                      </a:pPr>
                      <a:r>
                        <a:rPr lang="en-IN" dirty="0"/>
                        <a:t>Same class</a:t>
                      </a:r>
                    </a:p>
                  </a:txBody>
                  <a:tcPr anchor="ctr"/>
                </a:tc>
                <a:tc>
                  <a:txBody>
                    <a:bodyPr/>
                    <a:lstStyle/>
                    <a:p>
                      <a:pPr>
                        <a:buNone/>
                      </a:pPr>
                      <a:r>
                        <a:rPr lang="en-IN" dirty="0"/>
                        <a:t>Parent–child classes</a:t>
                      </a:r>
                    </a:p>
                  </a:txBody>
                  <a:tcPr anchor="ctr"/>
                </a:tc>
                <a:extLst>
                  <a:ext uri="{0D108BD9-81ED-4DB2-BD59-A6C34878D82A}">
                    <a16:rowId xmlns:a16="http://schemas.microsoft.com/office/drawing/2014/main" val="1688107644"/>
                  </a:ext>
                </a:extLst>
              </a:tr>
              <a:tr h="0">
                <a:tc>
                  <a:txBody>
                    <a:bodyPr/>
                    <a:lstStyle/>
                    <a:p>
                      <a:pPr>
                        <a:buNone/>
                      </a:pPr>
                      <a:r>
                        <a:rPr lang="en-IN"/>
                        <a:t>Parameters</a:t>
                      </a:r>
                    </a:p>
                  </a:txBody>
                  <a:tcPr anchor="ctr"/>
                </a:tc>
                <a:tc>
                  <a:txBody>
                    <a:bodyPr/>
                    <a:lstStyle/>
                    <a:p>
                      <a:pPr>
                        <a:buNone/>
                      </a:pPr>
                      <a:r>
                        <a:rPr lang="en-IN"/>
                        <a:t>Must differ</a:t>
                      </a:r>
                    </a:p>
                  </a:txBody>
                  <a:tcPr anchor="ctr"/>
                </a:tc>
                <a:tc>
                  <a:txBody>
                    <a:bodyPr/>
                    <a:lstStyle/>
                    <a:p>
                      <a:pPr>
                        <a:buNone/>
                      </a:pPr>
                      <a:r>
                        <a:rPr lang="en-IN"/>
                        <a:t>Must be same</a:t>
                      </a:r>
                    </a:p>
                  </a:txBody>
                  <a:tcPr anchor="ctr"/>
                </a:tc>
                <a:extLst>
                  <a:ext uri="{0D108BD9-81ED-4DB2-BD59-A6C34878D82A}">
                    <a16:rowId xmlns:a16="http://schemas.microsoft.com/office/drawing/2014/main" val="1902725616"/>
                  </a:ext>
                </a:extLst>
              </a:tr>
              <a:tr h="0">
                <a:tc>
                  <a:txBody>
                    <a:bodyPr/>
                    <a:lstStyle/>
                    <a:p>
                      <a:pPr>
                        <a:buNone/>
                      </a:pPr>
                      <a:r>
                        <a:rPr lang="en-IN"/>
                        <a:t>Inheritance</a:t>
                      </a:r>
                    </a:p>
                  </a:txBody>
                  <a:tcPr anchor="ctr"/>
                </a:tc>
                <a:tc>
                  <a:txBody>
                    <a:bodyPr/>
                    <a:lstStyle/>
                    <a:p>
                      <a:pPr>
                        <a:buNone/>
                      </a:pPr>
                      <a:r>
                        <a:rPr lang="en-IN"/>
                        <a:t>Not required</a:t>
                      </a:r>
                    </a:p>
                  </a:txBody>
                  <a:tcPr anchor="ctr"/>
                </a:tc>
                <a:tc>
                  <a:txBody>
                    <a:bodyPr/>
                    <a:lstStyle/>
                    <a:p>
                      <a:pPr>
                        <a:buNone/>
                      </a:pPr>
                      <a:r>
                        <a:rPr lang="en-IN"/>
                        <a:t>Required</a:t>
                      </a:r>
                    </a:p>
                  </a:txBody>
                  <a:tcPr anchor="ctr"/>
                </a:tc>
                <a:extLst>
                  <a:ext uri="{0D108BD9-81ED-4DB2-BD59-A6C34878D82A}">
                    <a16:rowId xmlns:a16="http://schemas.microsoft.com/office/drawing/2014/main" val="2094305958"/>
                  </a:ext>
                </a:extLst>
              </a:tr>
              <a:tr h="0">
                <a:tc>
                  <a:txBody>
                    <a:bodyPr/>
                    <a:lstStyle/>
                    <a:p>
                      <a:pPr>
                        <a:buNone/>
                      </a:pPr>
                      <a:r>
                        <a:rPr lang="en-IN"/>
                        <a:t>Polymorphism</a:t>
                      </a:r>
                    </a:p>
                  </a:txBody>
                  <a:tcPr anchor="ctr"/>
                </a:tc>
                <a:tc>
                  <a:txBody>
                    <a:bodyPr/>
                    <a:lstStyle/>
                    <a:p>
                      <a:pPr>
                        <a:buNone/>
                      </a:pPr>
                      <a:r>
                        <a:rPr lang="en-IN"/>
                        <a:t>Compile-time</a:t>
                      </a:r>
                    </a:p>
                  </a:txBody>
                  <a:tcPr anchor="ctr"/>
                </a:tc>
                <a:tc>
                  <a:txBody>
                    <a:bodyPr/>
                    <a:lstStyle/>
                    <a:p>
                      <a:pPr>
                        <a:buNone/>
                      </a:pPr>
                      <a:r>
                        <a:rPr lang="en-IN"/>
                        <a:t>Run-time</a:t>
                      </a:r>
                    </a:p>
                  </a:txBody>
                  <a:tcPr anchor="ctr"/>
                </a:tc>
                <a:extLst>
                  <a:ext uri="{0D108BD9-81ED-4DB2-BD59-A6C34878D82A}">
                    <a16:rowId xmlns:a16="http://schemas.microsoft.com/office/drawing/2014/main" val="1772635523"/>
                  </a:ext>
                </a:extLst>
              </a:tr>
              <a:tr h="0">
                <a:tc>
                  <a:txBody>
                    <a:bodyPr/>
                    <a:lstStyle/>
                    <a:p>
                      <a:pPr>
                        <a:buNone/>
                      </a:pPr>
                      <a:r>
                        <a:rPr lang="en-IN"/>
                        <a:t>Method call decided</a:t>
                      </a:r>
                    </a:p>
                  </a:txBody>
                  <a:tcPr anchor="ctr"/>
                </a:tc>
                <a:tc>
                  <a:txBody>
                    <a:bodyPr/>
                    <a:lstStyle/>
                    <a:p>
                      <a:pPr>
                        <a:buNone/>
                      </a:pPr>
                      <a:r>
                        <a:rPr lang="en-IN" dirty="0"/>
                        <a:t>Compiler</a:t>
                      </a:r>
                    </a:p>
                  </a:txBody>
                  <a:tcPr anchor="ctr"/>
                </a:tc>
                <a:tc>
                  <a:txBody>
                    <a:bodyPr/>
                    <a:lstStyle/>
                    <a:p>
                      <a:pPr>
                        <a:buNone/>
                      </a:pPr>
                      <a:r>
                        <a:rPr lang="en-IN" dirty="0"/>
                        <a:t>JVM</a:t>
                      </a:r>
                    </a:p>
                  </a:txBody>
                  <a:tcPr anchor="ctr"/>
                </a:tc>
                <a:extLst>
                  <a:ext uri="{0D108BD9-81ED-4DB2-BD59-A6C34878D82A}">
                    <a16:rowId xmlns:a16="http://schemas.microsoft.com/office/drawing/2014/main" val="3775142365"/>
                  </a:ext>
                </a:extLst>
              </a:tr>
            </a:tbl>
          </a:graphicData>
        </a:graphic>
      </p:graphicFrame>
      <p:sp>
        <p:nvSpPr>
          <p:cNvPr id="4" name="Slide Number Placeholder 3">
            <a:extLst>
              <a:ext uri="{FF2B5EF4-FFF2-40B4-BE49-F238E27FC236}">
                <a16:creationId xmlns:a16="http://schemas.microsoft.com/office/drawing/2014/main" id="{D6E3B250-8ED5-C729-F200-E306FD04C68F}"/>
              </a:ext>
            </a:extLst>
          </p:cNvPr>
          <p:cNvSpPr>
            <a:spLocks noGrp="1"/>
          </p:cNvSpPr>
          <p:nvPr>
            <p:ph type="sldNum" sz="quarter" idx="12"/>
          </p:nvPr>
        </p:nvSpPr>
        <p:spPr/>
        <p:txBody>
          <a:bodyPr/>
          <a:lstStyle/>
          <a:p>
            <a:fld id="{4DAC0951-10B0-4509-9BA5-FD8683A6F967}" type="slidenum">
              <a:rPr lang="en-IN" smtClean="0"/>
              <a:pPr/>
              <a:t>50</a:t>
            </a:fld>
            <a:endParaRPr lang="en-IN"/>
          </a:p>
        </p:txBody>
      </p:sp>
    </p:spTree>
    <p:extLst>
      <p:ext uri="{BB962C8B-B14F-4D97-AF65-F5344CB8AC3E}">
        <p14:creationId xmlns:p14="http://schemas.microsoft.com/office/powerpoint/2010/main" val="3089063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EDE5A9-A098-4B1E-A3FA-903D0D9934C2}"/>
              </a:ext>
            </a:extLst>
          </p:cNvPr>
          <p:cNvSpPr>
            <a:spLocks noGrp="1"/>
          </p:cNvSpPr>
          <p:nvPr>
            <p:ph type="sldNum" sz="quarter" idx="12"/>
          </p:nvPr>
        </p:nvSpPr>
        <p:spPr/>
        <p:txBody>
          <a:bodyPr/>
          <a:lstStyle/>
          <a:p>
            <a:fld id="{4DAC0951-10B0-4509-9BA5-FD8683A6F967}" type="slidenum">
              <a:rPr lang="en-IN" smtClean="0"/>
              <a:pPr/>
              <a:t>51</a:t>
            </a:fld>
            <a:endParaRPr lang="en-IN"/>
          </a:p>
        </p:txBody>
      </p:sp>
      <p:graphicFrame>
        <p:nvGraphicFramePr>
          <p:cNvPr id="5" name="Table 5">
            <a:extLst>
              <a:ext uri="{FF2B5EF4-FFF2-40B4-BE49-F238E27FC236}">
                <a16:creationId xmlns:a16="http://schemas.microsoft.com/office/drawing/2014/main" id="{3E53DC78-45D0-4FFB-981B-751319CE7132}"/>
              </a:ext>
            </a:extLst>
          </p:cNvPr>
          <p:cNvGraphicFramePr>
            <a:graphicFrameLocks noGrp="1"/>
          </p:cNvGraphicFramePr>
          <p:nvPr>
            <p:extLst>
              <p:ext uri="{D42A27DB-BD31-4B8C-83A1-F6EECF244321}">
                <p14:modId xmlns:p14="http://schemas.microsoft.com/office/powerpoint/2010/main" val="3820252095"/>
              </p:ext>
            </p:extLst>
          </p:nvPr>
        </p:nvGraphicFramePr>
        <p:xfrm>
          <a:off x="752017" y="852723"/>
          <a:ext cx="10415640" cy="5152554"/>
        </p:xfrm>
        <a:graphic>
          <a:graphicData uri="http://schemas.openxmlformats.org/drawingml/2006/table">
            <a:tbl>
              <a:tblPr firstRow="1" bandRow="1">
                <a:tableStyleId>{5C22544A-7EE6-4342-B048-85BDC9FD1C3A}</a:tableStyleId>
              </a:tblPr>
              <a:tblGrid>
                <a:gridCol w="5207820">
                  <a:extLst>
                    <a:ext uri="{9D8B030D-6E8A-4147-A177-3AD203B41FA5}">
                      <a16:colId xmlns:a16="http://schemas.microsoft.com/office/drawing/2014/main" val="1788339864"/>
                    </a:ext>
                  </a:extLst>
                </a:gridCol>
                <a:gridCol w="5207820">
                  <a:extLst>
                    <a:ext uri="{9D8B030D-6E8A-4147-A177-3AD203B41FA5}">
                      <a16:colId xmlns:a16="http://schemas.microsoft.com/office/drawing/2014/main" val="1663101663"/>
                    </a:ext>
                  </a:extLst>
                </a:gridCol>
              </a:tblGrid>
              <a:tr h="484712">
                <a:tc>
                  <a:txBody>
                    <a:bodyPr/>
                    <a:lstStyle/>
                    <a:p>
                      <a:r>
                        <a:rPr lang="en-IN" sz="2400">
                          <a:latin typeface="Gill Sans MT" panose="020B0502020104020203" pitchFamily="34" charset="0"/>
                        </a:rPr>
                        <a:t>Method Overloading</a:t>
                      </a:r>
                    </a:p>
                  </a:txBody>
                  <a:tcPr>
                    <a:solidFill>
                      <a:srgbClr val="FF6600"/>
                    </a:solidFill>
                  </a:tcPr>
                </a:tc>
                <a:tc>
                  <a:txBody>
                    <a:bodyPr/>
                    <a:lstStyle/>
                    <a:p>
                      <a:r>
                        <a:rPr lang="en-IN" sz="2400">
                          <a:latin typeface="Gill Sans MT" panose="020B0502020104020203" pitchFamily="34" charset="0"/>
                        </a:rPr>
                        <a:t>Method overriding</a:t>
                      </a:r>
                    </a:p>
                  </a:txBody>
                  <a:tcPr>
                    <a:solidFill>
                      <a:srgbClr val="FF6600"/>
                    </a:solidFill>
                  </a:tcPr>
                </a:tc>
                <a:extLst>
                  <a:ext uri="{0D108BD9-81ED-4DB2-BD59-A6C34878D82A}">
                    <a16:rowId xmlns:a16="http://schemas.microsoft.com/office/drawing/2014/main" val="2896028452"/>
                  </a:ext>
                </a:extLst>
              </a:tr>
              <a:tr h="836626">
                <a:tc>
                  <a:txBody>
                    <a:bodyPr/>
                    <a:lstStyle/>
                    <a:p>
                      <a:r>
                        <a:rPr lang="en-US" sz="2400" b="0" i="0" kern="1200">
                          <a:solidFill>
                            <a:schemeClr val="dk1"/>
                          </a:solidFill>
                          <a:effectLst/>
                          <a:latin typeface="Gill Sans MT" panose="020B0502020104020203" pitchFamily="34" charset="0"/>
                          <a:ea typeface="+mn-ea"/>
                          <a:cs typeface="+mn-cs"/>
                        </a:rPr>
                        <a:t>It is used to increase the readability of the program</a:t>
                      </a:r>
                      <a:endParaRPr lang="en-IN" sz="2400">
                        <a:latin typeface="Gill Sans MT" panose="020B0502020104020203" pitchFamily="34" charset="0"/>
                      </a:endParaRPr>
                    </a:p>
                  </a:txBody>
                  <a:tcPr>
                    <a:solidFill>
                      <a:srgbClr val="92D050"/>
                    </a:solidFill>
                  </a:tcPr>
                </a:tc>
                <a:tc>
                  <a:txBody>
                    <a:bodyPr/>
                    <a:lstStyle/>
                    <a:p>
                      <a:r>
                        <a:rPr lang="en-US" sz="2400" b="0" i="0" kern="1200">
                          <a:solidFill>
                            <a:schemeClr val="dk1"/>
                          </a:solidFill>
                          <a:effectLst/>
                          <a:latin typeface="Gill Sans MT" panose="020B0502020104020203" pitchFamily="34" charset="0"/>
                          <a:ea typeface="+mn-ea"/>
                          <a:cs typeface="+mn-cs"/>
                        </a:rPr>
                        <a:t>Provides a specific implementation of the method already in the parent class</a:t>
                      </a:r>
                      <a:endParaRPr lang="en-IN" sz="2400">
                        <a:latin typeface="Gill Sans MT" panose="020B0502020104020203" pitchFamily="34" charset="0"/>
                      </a:endParaRPr>
                    </a:p>
                  </a:txBody>
                  <a:tcPr>
                    <a:solidFill>
                      <a:srgbClr val="92D050"/>
                    </a:solidFill>
                  </a:tcPr>
                </a:tc>
                <a:extLst>
                  <a:ext uri="{0D108BD9-81ED-4DB2-BD59-A6C34878D82A}">
                    <a16:rowId xmlns:a16="http://schemas.microsoft.com/office/drawing/2014/main" val="2728963528"/>
                  </a:ext>
                </a:extLst>
              </a:tr>
              <a:tr h="484712">
                <a:tc>
                  <a:txBody>
                    <a:bodyPr/>
                    <a:lstStyle/>
                    <a:p>
                      <a:r>
                        <a:rPr lang="en-US" sz="2400" b="0" i="0" kern="1200">
                          <a:solidFill>
                            <a:schemeClr val="dk1"/>
                          </a:solidFill>
                          <a:effectLst/>
                          <a:latin typeface="Gill Sans MT" panose="020B0502020104020203" pitchFamily="34" charset="0"/>
                          <a:ea typeface="+mn-ea"/>
                          <a:cs typeface="+mn-cs"/>
                        </a:rPr>
                        <a:t>It is performed within the same class</a:t>
                      </a:r>
                      <a:endParaRPr lang="en-IN" sz="2400">
                        <a:latin typeface="Gill Sans MT" panose="020B0502020104020203" pitchFamily="34" charset="0"/>
                      </a:endParaRPr>
                    </a:p>
                  </a:txBody>
                  <a:tcPr>
                    <a:solidFill>
                      <a:schemeClr val="accent6">
                        <a:lumMod val="60000"/>
                        <a:lumOff val="40000"/>
                      </a:schemeClr>
                    </a:solidFill>
                  </a:tcPr>
                </a:tc>
                <a:tc>
                  <a:txBody>
                    <a:bodyPr/>
                    <a:lstStyle/>
                    <a:p>
                      <a:r>
                        <a:rPr lang="en-IN" sz="2400" b="0" i="0" kern="1200">
                          <a:solidFill>
                            <a:schemeClr val="dk1"/>
                          </a:solidFill>
                          <a:effectLst/>
                          <a:latin typeface="Gill Sans MT" panose="020B0502020104020203" pitchFamily="34" charset="0"/>
                          <a:ea typeface="+mn-ea"/>
                          <a:cs typeface="+mn-cs"/>
                        </a:rPr>
                        <a:t>It involves multiple classes</a:t>
                      </a:r>
                      <a:endParaRPr lang="en-IN" sz="2400">
                        <a:latin typeface="Gill Sans MT" panose="020B0502020104020203" pitchFamily="34" charset="0"/>
                      </a:endParaRPr>
                    </a:p>
                  </a:txBody>
                  <a:tcPr>
                    <a:solidFill>
                      <a:schemeClr val="accent6">
                        <a:lumMod val="60000"/>
                        <a:lumOff val="40000"/>
                      </a:schemeClr>
                    </a:solidFill>
                  </a:tcPr>
                </a:tc>
                <a:extLst>
                  <a:ext uri="{0D108BD9-81ED-4DB2-BD59-A6C34878D82A}">
                    <a16:rowId xmlns:a16="http://schemas.microsoft.com/office/drawing/2014/main" val="3034426325"/>
                  </a:ext>
                </a:extLst>
              </a:tr>
              <a:tr h="836626">
                <a:tc>
                  <a:txBody>
                    <a:bodyPr/>
                    <a:lstStyle/>
                    <a:p>
                      <a:r>
                        <a:rPr lang="en-US" sz="2400" b="0" i="0" kern="1200">
                          <a:solidFill>
                            <a:schemeClr val="dk1"/>
                          </a:solidFill>
                          <a:effectLst/>
                          <a:latin typeface="Gill Sans MT" panose="020B0502020104020203" pitchFamily="34" charset="0"/>
                          <a:ea typeface="+mn-ea"/>
                          <a:cs typeface="+mn-cs"/>
                        </a:rPr>
                        <a:t>Parameters must be different in case of overloading</a:t>
                      </a:r>
                      <a:endParaRPr lang="en-IN" sz="2400">
                        <a:latin typeface="Gill Sans MT" panose="020B0502020104020203" pitchFamily="34" charset="0"/>
                      </a:endParaRPr>
                    </a:p>
                  </a:txBody>
                  <a:tcPr>
                    <a:solidFill>
                      <a:srgbClr val="92D050"/>
                    </a:solidFill>
                  </a:tcPr>
                </a:tc>
                <a:tc>
                  <a:txBody>
                    <a:bodyPr/>
                    <a:lstStyle/>
                    <a:p>
                      <a:r>
                        <a:rPr lang="en-US" sz="2400" b="0" i="0" kern="1200">
                          <a:solidFill>
                            <a:schemeClr val="dk1"/>
                          </a:solidFill>
                          <a:effectLst/>
                          <a:latin typeface="Gill Sans MT" panose="020B0502020104020203" pitchFamily="34" charset="0"/>
                          <a:ea typeface="+mn-ea"/>
                          <a:cs typeface="+mn-cs"/>
                        </a:rPr>
                        <a:t>Parameters must be same in case of overriding</a:t>
                      </a:r>
                      <a:endParaRPr lang="en-IN" sz="2400">
                        <a:latin typeface="Gill Sans MT" panose="020B0502020104020203" pitchFamily="34" charset="0"/>
                      </a:endParaRPr>
                    </a:p>
                  </a:txBody>
                  <a:tcPr>
                    <a:solidFill>
                      <a:srgbClr val="92D050"/>
                    </a:solidFill>
                  </a:tcPr>
                </a:tc>
                <a:extLst>
                  <a:ext uri="{0D108BD9-81ED-4DB2-BD59-A6C34878D82A}">
                    <a16:rowId xmlns:a16="http://schemas.microsoft.com/office/drawing/2014/main" val="58237613"/>
                  </a:ext>
                </a:extLst>
              </a:tr>
              <a:tr h="836626">
                <a:tc>
                  <a:txBody>
                    <a:bodyPr/>
                    <a:lstStyle/>
                    <a:p>
                      <a:r>
                        <a:rPr lang="en-US" sz="2400" b="0" i="0" kern="1200">
                          <a:solidFill>
                            <a:schemeClr val="dk1"/>
                          </a:solidFill>
                          <a:effectLst/>
                          <a:latin typeface="Gill Sans MT" panose="020B0502020104020203" pitchFamily="34" charset="0"/>
                          <a:ea typeface="+mn-ea"/>
                          <a:cs typeface="+mn-cs"/>
                        </a:rPr>
                        <a:t>Is an example of compile-time polymorphism</a:t>
                      </a:r>
                      <a:endParaRPr lang="en-IN" sz="2400">
                        <a:latin typeface="Gill Sans MT" panose="020B0502020104020203" pitchFamily="34" charset="0"/>
                      </a:endParaRPr>
                    </a:p>
                  </a:txBody>
                  <a:tcPr>
                    <a:solidFill>
                      <a:schemeClr val="accent6">
                        <a:lumMod val="60000"/>
                        <a:lumOff val="40000"/>
                      </a:schemeClr>
                    </a:solidFill>
                  </a:tcPr>
                </a:tc>
                <a:tc>
                  <a:txBody>
                    <a:bodyPr/>
                    <a:lstStyle/>
                    <a:p>
                      <a:r>
                        <a:rPr lang="en-US" sz="2400" b="0" i="0" kern="1200">
                          <a:solidFill>
                            <a:schemeClr val="dk1"/>
                          </a:solidFill>
                          <a:effectLst/>
                          <a:latin typeface="Gill Sans MT"/>
                          <a:ea typeface="+mn-ea"/>
                          <a:cs typeface="+mn-cs"/>
                        </a:rPr>
                        <a:t>It is an example of runtime polymorphism.</a:t>
                      </a:r>
                      <a:endParaRPr lang="en-IN" sz="2400">
                        <a:latin typeface="Gill Sans MT" panose="020B0502020104020203" pitchFamily="34" charset="0"/>
                      </a:endParaRPr>
                    </a:p>
                  </a:txBody>
                  <a:tcPr>
                    <a:solidFill>
                      <a:schemeClr val="accent6">
                        <a:lumMod val="60000"/>
                        <a:lumOff val="40000"/>
                      </a:schemeClr>
                    </a:solidFill>
                  </a:tcPr>
                </a:tc>
                <a:extLst>
                  <a:ext uri="{0D108BD9-81ED-4DB2-BD59-A6C34878D82A}">
                    <a16:rowId xmlns:a16="http://schemas.microsoft.com/office/drawing/2014/main" val="1538446120"/>
                  </a:ext>
                </a:extLst>
              </a:tr>
              <a:tr h="836626">
                <a:tc>
                  <a:txBody>
                    <a:bodyPr/>
                    <a:lstStyle/>
                    <a:p>
                      <a:r>
                        <a:rPr lang="en-US" sz="2400" b="0" i="0" kern="1200">
                          <a:solidFill>
                            <a:schemeClr val="dk1"/>
                          </a:solidFill>
                          <a:effectLst/>
                          <a:latin typeface="Gill Sans MT" panose="020B0502020104020203" pitchFamily="34" charset="0"/>
                          <a:ea typeface="+mn-ea"/>
                          <a:cs typeface="+mn-cs"/>
                        </a:rPr>
                        <a:t>Return type can be different but you must change the parameters as well.</a:t>
                      </a:r>
                      <a:endParaRPr lang="en-IN" sz="2400">
                        <a:latin typeface="Gill Sans MT" panose="020B0502020104020203" pitchFamily="34" charset="0"/>
                      </a:endParaRPr>
                    </a:p>
                  </a:txBody>
                  <a:tcPr>
                    <a:solidFill>
                      <a:srgbClr val="92D050"/>
                    </a:solidFill>
                  </a:tcPr>
                </a:tc>
                <a:tc>
                  <a:txBody>
                    <a:bodyPr/>
                    <a:lstStyle/>
                    <a:p>
                      <a:r>
                        <a:rPr lang="en-US" sz="2400" b="0" i="0" kern="1200">
                          <a:solidFill>
                            <a:schemeClr val="dk1"/>
                          </a:solidFill>
                          <a:effectLst/>
                          <a:latin typeface="Gill Sans MT" panose="020B0502020104020203" pitchFamily="34" charset="0"/>
                          <a:ea typeface="+mn-ea"/>
                          <a:cs typeface="+mn-cs"/>
                        </a:rPr>
                        <a:t>Return type must be same in overriding</a:t>
                      </a:r>
                      <a:endParaRPr lang="en-IN" sz="2400">
                        <a:latin typeface="Gill Sans MT" panose="020B0502020104020203" pitchFamily="34" charset="0"/>
                      </a:endParaRPr>
                    </a:p>
                  </a:txBody>
                  <a:tcPr>
                    <a:solidFill>
                      <a:srgbClr val="92D050"/>
                    </a:solidFill>
                  </a:tcPr>
                </a:tc>
                <a:extLst>
                  <a:ext uri="{0D108BD9-81ED-4DB2-BD59-A6C34878D82A}">
                    <a16:rowId xmlns:a16="http://schemas.microsoft.com/office/drawing/2014/main" val="2456003732"/>
                  </a:ext>
                </a:extLst>
              </a:tr>
              <a:tr h="836626">
                <a:tc>
                  <a:txBody>
                    <a:bodyPr/>
                    <a:lstStyle/>
                    <a:p>
                      <a:r>
                        <a:rPr lang="en-US" sz="2400" b="0" i="0" kern="1200">
                          <a:solidFill>
                            <a:schemeClr val="dk1"/>
                          </a:solidFill>
                          <a:effectLst/>
                          <a:latin typeface="Gill Sans MT" panose="020B0502020104020203" pitchFamily="34" charset="0"/>
                          <a:ea typeface="+mn-ea"/>
                          <a:cs typeface="+mn-cs"/>
                        </a:rPr>
                        <a:t>Static methods can be overloaded </a:t>
                      </a:r>
                      <a:endParaRPr lang="en-IN" sz="2400">
                        <a:latin typeface="Gill Sans MT" panose="020B0502020104020203" pitchFamily="34" charset="0"/>
                      </a:endParaRPr>
                    </a:p>
                  </a:txBody>
                  <a:tcPr>
                    <a:solidFill>
                      <a:schemeClr val="accent6">
                        <a:lumMod val="60000"/>
                        <a:lumOff val="40000"/>
                      </a:schemeClr>
                    </a:solidFill>
                  </a:tcPr>
                </a:tc>
                <a:tc>
                  <a:txBody>
                    <a:bodyPr/>
                    <a:lstStyle/>
                    <a:p>
                      <a:r>
                        <a:rPr lang="en-US" sz="2400" b="0" i="0" kern="1200">
                          <a:solidFill>
                            <a:schemeClr val="dk1"/>
                          </a:solidFill>
                          <a:effectLst/>
                          <a:latin typeface="Gill Sans MT" panose="020B0502020104020203" pitchFamily="34" charset="0"/>
                          <a:ea typeface="+mn-ea"/>
                          <a:cs typeface="+mn-cs"/>
                        </a:rPr>
                        <a:t>Overriding does not involve static methods.</a:t>
                      </a:r>
                      <a:endParaRPr lang="en-IN" sz="2400">
                        <a:latin typeface="Gill Sans MT" panose="020B0502020104020203" pitchFamily="34" charset="0"/>
                      </a:endParaRPr>
                    </a:p>
                  </a:txBody>
                  <a:tcPr>
                    <a:solidFill>
                      <a:schemeClr val="accent6">
                        <a:lumMod val="60000"/>
                        <a:lumOff val="40000"/>
                      </a:schemeClr>
                    </a:solidFill>
                  </a:tcPr>
                </a:tc>
                <a:extLst>
                  <a:ext uri="{0D108BD9-81ED-4DB2-BD59-A6C34878D82A}">
                    <a16:rowId xmlns:a16="http://schemas.microsoft.com/office/drawing/2014/main" val="3664802276"/>
                  </a:ext>
                </a:extLst>
              </a:tr>
            </a:tbl>
          </a:graphicData>
        </a:graphic>
      </p:graphicFrame>
    </p:spTree>
    <p:extLst>
      <p:ext uri="{BB962C8B-B14F-4D97-AF65-F5344CB8AC3E}">
        <p14:creationId xmlns:p14="http://schemas.microsoft.com/office/powerpoint/2010/main" val="3328230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CC21-15C0-5C04-CF4E-264BAF05EB71}"/>
              </a:ext>
            </a:extLst>
          </p:cNvPr>
          <p:cNvSpPr>
            <a:spLocks noGrp="1"/>
          </p:cNvSpPr>
          <p:nvPr>
            <p:ph type="title"/>
          </p:nvPr>
        </p:nvSpPr>
        <p:spPr/>
        <p:txBody>
          <a:bodyPr/>
          <a:lstStyle/>
          <a:p>
            <a:r>
              <a:rPr lang="en-IN" b="1" dirty="0"/>
              <a:t>Class Instance Variables</a:t>
            </a:r>
          </a:p>
        </p:txBody>
      </p:sp>
      <p:sp>
        <p:nvSpPr>
          <p:cNvPr id="3" name="Content Placeholder 2">
            <a:extLst>
              <a:ext uri="{FF2B5EF4-FFF2-40B4-BE49-F238E27FC236}">
                <a16:creationId xmlns:a16="http://schemas.microsoft.com/office/drawing/2014/main" id="{65709E4A-F5F6-0FF7-D77A-D6FEA42F3135}"/>
              </a:ext>
            </a:extLst>
          </p:cNvPr>
          <p:cNvSpPr>
            <a:spLocks noGrp="1"/>
          </p:cNvSpPr>
          <p:nvPr>
            <p:ph idx="1"/>
          </p:nvPr>
        </p:nvSpPr>
        <p:spPr/>
        <p:txBody>
          <a:bodyPr/>
          <a:lstStyle/>
          <a:p>
            <a:r>
              <a:rPr lang="en-US" b="1" dirty="0"/>
              <a:t>Instance variables</a:t>
            </a:r>
            <a:r>
              <a:rPr lang="en-US" dirty="0"/>
              <a:t> are variables that:</a:t>
            </a:r>
          </a:p>
          <a:p>
            <a:r>
              <a:rPr lang="en-US" dirty="0"/>
              <a:t>Are declared </a:t>
            </a:r>
            <a:r>
              <a:rPr lang="en-US" b="1" dirty="0"/>
              <a:t>inside a class</a:t>
            </a:r>
            <a:endParaRPr lang="en-US" dirty="0"/>
          </a:p>
          <a:p>
            <a:r>
              <a:rPr lang="en-US" dirty="0"/>
              <a:t>But </a:t>
            </a:r>
            <a:r>
              <a:rPr lang="en-US" b="1" dirty="0"/>
              <a:t>outside methods / constructors</a:t>
            </a:r>
            <a:endParaRPr lang="en-US" dirty="0"/>
          </a:p>
          <a:p>
            <a:r>
              <a:rPr lang="en-US" dirty="0"/>
              <a:t>Belong to </a:t>
            </a:r>
            <a:r>
              <a:rPr lang="en-US" b="1" dirty="0"/>
              <a:t>objects</a:t>
            </a:r>
            <a:r>
              <a:rPr lang="en-US" dirty="0"/>
              <a:t>, not the class</a:t>
            </a:r>
          </a:p>
          <a:p>
            <a:endParaRPr lang="en-IN" dirty="0"/>
          </a:p>
        </p:txBody>
      </p:sp>
      <p:sp>
        <p:nvSpPr>
          <p:cNvPr id="4" name="Slide Number Placeholder 3">
            <a:extLst>
              <a:ext uri="{FF2B5EF4-FFF2-40B4-BE49-F238E27FC236}">
                <a16:creationId xmlns:a16="http://schemas.microsoft.com/office/drawing/2014/main" id="{4D03832D-3C58-ACE9-369A-E82DB8271A6D}"/>
              </a:ext>
            </a:extLst>
          </p:cNvPr>
          <p:cNvSpPr>
            <a:spLocks noGrp="1"/>
          </p:cNvSpPr>
          <p:nvPr>
            <p:ph type="sldNum" sz="quarter" idx="12"/>
          </p:nvPr>
        </p:nvSpPr>
        <p:spPr/>
        <p:txBody>
          <a:bodyPr/>
          <a:lstStyle/>
          <a:p>
            <a:fld id="{4DAC0951-10B0-4509-9BA5-FD8683A6F967}" type="slidenum">
              <a:rPr lang="en-IN" smtClean="0"/>
              <a:pPr/>
              <a:t>52</a:t>
            </a:fld>
            <a:endParaRPr lang="en-IN"/>
          </a:p>
        </p:txBody>
      </p:sp>
      <p:pic>
        <p:nvPicPr>
          <p:cNvPr id="6" name="Picture 5">
            <a:extLst>
              <a:ext uri="{FF2B5EF4-FFF2-40B4-BE49-F238E27FC236}">
                <a16:creationId xmlns:a16="http://schemas.microsoft.com/office/drawing/2014/main" id="{859DE502-B244-DB8A-7417-1532BAFB4E7E}"/>
              </a:ext>
            </a:extLst>
          </p:cNvPr>
          <p:cNvPicPr>
            <a:picLocks noChangeAspect="1"/>
          </p:cNvPicPr>
          <p:nvPr/>
        </p:nvPicPr>
        <p:blipFill>
          <a:blip r:embed="rId2"/>
          <a:stretch>
            <a:fillRect/>
          </a:stretch>
        </p:blipFill>
        <p:spPr>
          <a:xfrm>
            <a:off x="690716" y="3879394"/>
            <a:ext cx="6081981" cy="2167444"/>
          </a:xfrm>
          <a:prstGeom prst="rect">
            <a:avLst/>
          </a:prstGeom>
        </p:spPr>
      </p:pic>
    </p:spTree>
    <p:extLst>
      <p:ext uri="{BB962C8B-B14F-4D97-AF65-F5344CB8AC3E}">
        <p14:creationId xmlns:p14="http://schemas.microsoft.com/office/powerpoint/2010/main" val="41207124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BE248-5532-A9C9-455C-4C98AD6EA52D}"/>
              </a:ext>
            </a:extLst>
          </p:cNvPr>
          <p:cNvSpPr>
            <a:spLocks noGrp="1"/>
          </p:cNvSpPr>
          <p:nvPr>
            <p:ph type="title"/>
          </p:nvPr>
        </p:nvSpPr>
        <p:spPr/>
        <p:txBody>
          <a:bodyPr/>
          <a:lstStyle/>
          <a:p>
            <a:r>
              <a:rPr lang="en-IN" b="1" dirty="0"/>
              <a:t>Characteristics of Instance Variables</a:t>
            </a:r>
          </a:p>
        </p:txBody>
      </p:sp>
      <p:sp>
        <p:nvSpPr>
          <p:cNvPr id="3" name="Content Placeholder 2">
            <a:extLst>
              <a:ext uri="{FF2B5EF4-FFF2-40B4-BE49-F238E27FC236}">
                <a16:creationId xmlns:a16="http://schemas.microsoft.com/office/drawing/2014/main" id="{AA139AD3-9795-6A98-1CE2-A5B465360C4B}"/>
              </a:ext>
            </a:extLst>
          </p:cNvPr>
          <p:cNvSpPr>
            <a:spLocks noGrp="1"/>
          </p:cNvSpPr>
          <p:nvPr>
            <p:ph idx="1"/>
          </p:nvPr>
        </p:nvSpPr>
        <p:spPr/>
        <p:txBody>
          <a:bodyPr/>
          <a:lstStyle/>
          <a:p>
            <a:r>
              <a:rPr lang="en-US" dirty="0"/>
              <a:t>Created when </a:t>
            </a:r>
            <a:r>
              <a:rPr lang="en-US" b="1" dirty="0"/>
              <a:t>object is created</a:t>
            </a:r>
          </a:p>
          <a:p>
            <a:r>
              <a:rPr lang="en-US" dirty="0"/>
              <a:t>Destroyed when </a:t>
            </a:r>
            <a:r>
              <a:rPr lang="en-US" b="1" dirty="0"/>
              <a:t>object is destroyed</a:t>
            </a:r>
          </a:p>
          <a:p>
            <a:r>
              <a:rPr lang="en-US" dirty="0"/>
              <a:t>Each object gets </a:t>
            </a:r>
            <a:r>
              <a:rPr lang="en-US" b="1" dirty="0"/>
              <a:t>separate copy</a:t>
            </a:r>
          </a:p>
          <a:p>
            <a:r>
              <a:rPr lang="en-US" dirty="0"/>
              <a:t>objects are Stored in </a:t>
            </a:r>
            <a:r>
              <a:rPr lang="en-US" b="1" dirty="0"/>
              <a:t>Heap memory; Instance variables are stored inside the </a:t>
            </a:r>
            <a:r>
              <a:rPr lang="en-US" b="1" dirty="0" err="1"/>
              <a:t>object;Local</a:t>
            </a:r>
            <a:r>
              <a:rPr lang="en-US" b="1" dirty="0"/>
              <a:t> variables are stored in Stack memory</a:t>
            </a:r>
          </a:p>
          <a:p>
            <a:r>
              <a:rPr lang="en-US" dirty="0"/>
              <a:t>Have </a:t>
            </a:r>
            <a:r>
              <a:rPr lang="en-US" b="1" dirty="0"/>
              <a:t>default values</a:t>
            </a:r>
            <a:endParaRPr lang="en-IN" dirty="0"/>
          </a:p>
        </p:txBody>
      </p:sp>
      <p:sp>
        <p:nvSpPr>
          <p:cNvPr id="4" name="Slide Number Placeholder 3">
            <a:extLst>
              <a:ext uri="{FF2B5EF4-FFF2-40B4-BE49-F238E27FC236}">
                <a16:creationId xmlns:a16="http://schemas.microsoft.com/office/drawing/2014/main" id="{C2DF2D96-6635-B431-10A7-D953DA15713F}"/>
              </a:ext>
            </a:extLst>
          </p:cNvPr>
          <p:cNvSpPr>
            <a:spLocks noGrp="1"/>
          </p:cNvSpPr>
          <p:nvPr>
            <p:ph type="sldNum" sz="quarter" idx="12"/>
          </p:nvPr>
        </p:nvSpPr>
        <p:spPr/>
        <p:txBody>
          <a:bodyPr/>
          <a:lstStyle/>
          <a:p>
            <a:fld id="{4DAC0951-10B0-4509-9BA5-FD8683A6F967}" type="slidenum">
              <a:rPr lang="en-IN" smtClean="0"/>
              <a:pPr/>
              <a:t>53</a:t>
            </a:fld>
            <a:endParaRPr lang="en-IN"/>
          </a:p>
        </p:txBody>
      </p:sp>
      <p:graphicFrame>
        <p:nvGraphicFramePr>
          <p:cNvPr id="5" name="Table 4">
            <a:extLst>
              <a:ext uri="{FF2B5EF4-FFF2-40B4-BE49-F238E27FC236}">
                <a16:creationId xmlns:a16="http://schemas.microsoft.com/office/drawing/2014/main" id="{E5551685-5E98-F3DF-5E86-376BA3A626FA}"/>
              </a:ext>
            </a:extLst>
          </p:cNvPr>
          <p:cNvGraphicFramePr>
            <a:graphicFrameLocks noGrp="1"/>
          </p:cNvGraphicFramePr>
          <p:nvPr>
            <p:extLst>
              <p:ext uri="{D42A27DB-BD31-4B8C-83A1-F6EECF244321}">
                <p14:modId xmlns:p14="http://schemas.microsoft.com/office/powerpoint/2010/main" val="1959898803"/>
              </p:ext>
            </p:extLst>
          </p:nvPr>
        </p:nvGraphicFramePr>
        <p:xfrm>
          <a:off x="838200" y="4710112"/>
          <a:ext cx="10515600" cy="182880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2918404915"/>
                    </a:ext>
                  </a:extLst>
                </a:gridCol>
                <a:gridCol w="5257800">
                  <a:extLst>
                    <a:ext uri="{9D8B030D-6E8A-4147-A177-3AD203B41FA5}">
                      <a16:colId xmlns:a16="http://schemas.microsoft.com/office/drawing/2014/main" val="1284222512"/>
                    </a:ext>
                  </a:extLst>
                </a:gridCol>
              </a:tblGrid>
              <a:tr h="0">
                <a:tc>
                  <a:txBody>
                    <a:bodyPr/>
                    <a:lstStyle/>
                    <a:p>
                      <a:pPr algn="ctr">
                        <a:buNone/>
                      </a:pPr>
                      <a:r>
                        <a:rPr lang="en-IN" b="1" dirty="0"/>
                        <a:t>Data Type</a:t>
                      </a:r>
                    </a:p>
                  </a:txBody>
                  <a:tcPr anchor="ctr"/>
                </a:tc>
                <a:tc>
                  <a:txBody>
                    <a:bodyPr/>
                    <a:lstStyle/>
                    <a:p>
                      <a:pPr algn="ctr">
                        <a:buNone/>
                      </a:pPr>
                      <a:r>
                        <a:rPr lang="en-IN" b="1" dirty="0"/>
                        <a:t>Default Value</a:t>
                      </a:r>
                    </a:p>
                  </a:txBody>
                  <a:tcPr anchor="ctr"/>
                </a:tc>
                <a:extLst>
                  <a:ext uri="{0D108BD9-81ED-4DB2-BD59-A6C34878D82A}">
                    <a16:rowId xmlns:a16="http://schemas.microsoft.com/office/drawing/2014/main" val="2718206526"/>
                  </a:ext>
                </a:extLst>
              </a:tr>
              <a:tr h="0">
                <a:tc>
                  <a:txBody>
                    <a:bodyPr/>
                    <a:lstStyle/>
                    <a:p>
                      <a:pPr>
                        <a:buNone/>
                      </a:pPr>
                      <a:r>
                        <a:rPr lang="en-IN"/>
                        <a:t>int</a:t>
                      </a:r>
                    </a:p>
                  </a:txBody>
                  <a:tcPr anchor="ctr"/>
                </a:tc>
                <a:tc>
                  <a:txBody>
                    <a:bodyPr/>
                    <a:lstStyle/>
                    <a:p>
                      <a:pPr>
                        <a:buNone/>
                      </a:pPr>
                      <a:r>
                        <a:rPr lang="en-IN"/>
                        <a:t>0</a:t>
                      </a:r>
                    </a:p>
                  </a:txBody>
                  <a:tcPr anchor="ctr"/>
                </a:tc>
                <a:extLst>
                  <a:ext uri="{0D108BD9-81ED-4DB2-BD59-A6C34878D82A}">
                    <a16:rowId xmlns:a16="http://schemas.microsoft.com/office/drawing/2014/main" val="1954533007"/>
                  </a:ext>
                </a:extLst>
              </a:tr>
              <a:tr h="0">
                <a:tc>
                  <a:txBody>
                    <a:bodyPr/>
                    <a:lstStyle/>
                    <a:p>
                      <a:pPr>
                        <a:buNone/>
                      </a:pPr>
                      <a:r>
                        <a:rPr lang="en-IN"/>
                        <a:t>float</a:t>
                      </a:r>
                    </a:p>
                  </a:txBody>
                  <a:tcPr anchor="ctr"/>
                </a:tc>
                <a:tc>
                  <a:txBody>
                    <a:bodyPr/>
                    <a:lstStyle/>
                    <a:p>
                      <a:pPr>
                        <a:buNone/>
                      </a:pPr>
                      <a:r>
                        <a:rPr lang="en-IN"/>
                        <a:t>0.0</a:t>
                      </a:r>
                    </a:p>
                  </a:txBody>
                  <a:tcPr anchor="ctr"/>
                </a:tc>
                <a:extLst>
                  <a:ext uri="{0D108BD9-81ED-4DB2-BD59-A6C34878D82A}">
                    <a16:rowId xmlns:a16="http://schemas.microsoft.com/office/drawing/2014/main" val="586981377"/>
                  </a:ext>
                </a:extLst>
              </a:tr>
              <a:tr h="0">
                <a:tc>
                  <a:txBody>
                    <a:bodyPr/>
                    <a:lstStyle/>
                    <a:p>
                      <a:pPr>
                        <a:buNone/>
                      </a:pPr>
                      <a:r>
                        <a:rPr lang="en-IN"/>
                        <a:t>boolean</a:t>
                      </a:r>
                    </a:p>
                  </a:txBody>
                  <a:tcPr anchor="ctr"/>
                </a:tc>
                <a:tc>
                  <a:txBody>
                    <a:bodyPr/>
                    <a:lstStyle/>
                    <a:p>
                      <a:pPr>
                        <a:buNone/>
                      </a:pPr>
                      <a:r>
                        <a:rPr lang="en-IN" dirty="0"/>
                        <a:t>false</a:t>
                      </a:r>
                    </a:p>
                  </a:txBody>
                  <a:tcPr anchor="ctr"/>
                </a:tc>
                <a:extLst>
                  <a:ext uri="{0D108BD9-81ED-4DB2-BD59-A6C34878D82A}">
                    <a16:rowId xmlns:a16="http://schemas.microsoft.com/office/drawing/2014/main" val="4109418196"/>
                  </a:ext>
                </a:extLst>
              </a:tr>
              <a:tr h="0">
                <a:tc>
                  <a:txBody>
                    <a:bodyPr/>
                    <a:lstStyle/>
                    <a:p>
                      <a:pPr>
                        <a:buNone/>
                      </a:pPr>
                      <a:r>
                        <a:rPr lang="en-IN" dirty="0"/>
                        <a:t>object</a:t>
                      </a:r>
                    </a:p>
                  </a:txBody>
                  <a:tcPr anchor="ctr"/>
                </a:tc>
                <a:tc>
                  <a:txBody>
                    <a:bodyPr/>
                    <a:lstStyle/>
                    <a:p>
                      <a:pPr>
                        <a:buNone/>
                      </a:pPr>
                      <a:r>
                        <a:rPr lang="en-IN" dirty="0"/>
                        <a:t>null</a:t>
                      </a:r>
                    </a:p>
                  </a:txBody>
                  <a:tcPr anchor="ctr"/>
                </a:tc>
                <a:extLst>
                  <a:ext uri="{0D108BD9-81ED-4DB2-BD59-A6C34878D82A}">
                    <a16:rowId xmlns:a16="http://schemas.microsoft.com/office/drawing/2014/main" val="4040319384"/>
                  </a:ext>
                </a:extLst>
              </a:tr>
            </a:tbl>
          </a:graphicData>
        </a:graphic>
      </p:graphicFrame>
    </p:spTree>
    <p:extLst>
      <p:ext uri="{BB962C8B-B14F-4D97-AF65-F5344CB8AC3E}">
        <p14:creationId xmlns:p14="http://schemas.microsoft.com/office/powerpoint/2010/main" val="41298181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46CFB-8D6E-54AE-74FB-7FFB1C510C04}"/>
              </a:ext>
            </a:extLst>
          </p:cNvPr>
          <p:cNvSpPr>
            <a:spLocks noGrp="1"/>
          </p:cNvSpPr>
          <p:nvPr>
            <p:ph type="title"/>
          </p:nvPr>
        </p:nvSpPr>
        <p:spPr/>
        <p:txBody>
          <a:bodyPr/>
          <a:lstStyle/>
          <a:p>
            <a:r>
              <a:rPr lang="en-IN" b="1" dirty="0"/>
              <a:t>Accessing Instance Variables</a:t>
            </a:r>
          </a:p>
        </p:txBody>
      </p:sp>
      <p:sp>
        <p:nvSpPr>
          <p:cNvPr id="3" name="Content Placeholder 2">
            <a:extLst>
              <a:ext uri="{FF2B5EF4-FFF2-40B4-BE49-F238E27FC236}">
                <a16:creationId xmlns:a16="http://schemas.microsoft.com/office/drawing/2014/main" id="{A06E2648-D1C5-B5D2-3E3D-791A89449047}"/>
              </a:ext>
            </a:extLst>
          </p:cNvPr>
          <p:cNvSpPr>
            <a:spLocks noGrp="1"/>
          </p:cNvSpPr>
          <p:nvPr>
            <p:ph idx="1"/>
          </p:nvPr>
        </p:nvSpPr>
        <p:spPr/>
        <p:txBody>
          <a:bodyPr/>
          <a:lstStyle/>
          <a:p>
            <a:r>
              <a:rPr lang="en-US"/>
              <a:t>Instance variables are accessed using </a:t>
            </a:r>
            <a:r>
              <a:rPr lang="en-US" b="1"/>
              <a:t>object reference</a:t>
            </a:r>
            <a:r>
              <a:rPr lang="en-US"/>
              <a:t>.</a:t>
            </a:r>
          </a:p>
          <a:p>
            <a:endParaRPr lang="en-IN" dirty="0"/>
          </a:p>
        </p:txBody>
      </p:sp>
      <p:sp>
        <p:nvSpPr>
          <p:cNvPr id="4" name="Slide Number Placeholder 3">
            <a:extLst>
              <a:ext uri="{FF2B5EF4-FFF2-40B4-BE49-F238E27FC236}">
                <a16:creationId xmlns:a16="http://schemas.microsoft.com/office/drawing/2014/main" id="{259467C9-F27A-1E25-C84F-BFBBB9226E5E}"/>
              </a:ext>
            </a:extLst>
          </p:cNvPr>
          <p:cNvSpPr>
            <a:spLocks noGrp="1"/>
          </p:cNvSpPr>
          <p:nvPr>
            <p:ph type="sldNum" sz="quarter" idx="12"/>
          </p:nvPr>
        </p:nvSpPr>
        <p:spPr/>
        <p:txBody>
          <a:bodyPr/>
          <a:lstStyle/>
          <a:p>
            <a:fld id="{4DAC0951-10B0-4509-9BA5-FD8683A6F967}" type="slidenum">
              <a:rPr lang="en-IN" smtClean="0"/>
              <a:pPr/>
              <a:t>54</a:t>
            </a:fld>
            <a:endParaRPr lang="en-IN"/>
          </a:p>
        </p:txBody>
      </p:sp>
      <p:pic>
        <p:nvPicPr>
          <p:cNvPr id="6" name="Picture 5">
            <a:extLst>
              <a:ext uri="{FF2B5EF4-FFF2-40B4-BE49-F238E27FC236}">
                <a16:creationId xmlns:a16="http://schemas.microsoft.com/office/drawing/2014/main" id="{8DA1330C-EF88-390F-A490-7C48DF113096}"/>
              </a:ext>
            </a:extLst>
          </p:cNvPr>
          <p:cNvPicPr>
            <a:picLocks noChangeAspect="1"/>
          </p:cNvPicPr>
          <p:nvPr/>
        </p:nvPicPr>
        <p:blipFill>
          <a:blip r:embed="rId2"/>
          <a:stretch>
            <a:fillRect/>
          </a:stretch>
        </p:blipFill>
        <p:spPr>
          <a:xfrm>
            <a:off x="1121219" y="2660600"/>
            <a:ext cx="4234078" cy="1704922"/>
          </a:xfrm>
          <a:prstGeom prst="rect">
            <a:avLst/>
          </a:prstGeom>
        </p:spPr>
      </p:pic>
      <p:sp>
        <p:nvSpPr>
          <p:cNvPr id="8" name="TextBox 7">
            <a:extLst>
              <a:ext uri="{FF2B5EF4-FFF2-40B4-BE49-F238E27FC236}">
                <a16:creationId xmlns:a16="http://schemas.microsoft.com/office/drawing/2014/main" id="{3BEE742D-9B10-265F-50C4-A80F474E2587}"/>
              </a:ext>
            </a:extLst>
          </p:cNvPr>
          <p:cNvSpPr txBox="1"/>
          <p:nvPr/>
        </p:nvSpPr>
        <p:spPr>
          <a:xfrm>
            <a:off x="1121218" y="4365522"/>
            <a:ext cx="9074833" cy="369332"/>
          </a:xfrm>
          <a:prstGeom prst="rect">
            <a:avLst/>
          </a:prstGeom>
          <a:noFill/>
        </p:spPr>
        <p:txBody>
          <a:bodyPr wrap="square">
            <a:spAutoFit/>
          </a:bodyPr>
          <a:lstStyle/>
          <a:p>
            <a:pPr>
              <a:buNone/>
            </a:pPr>
            <a:r>
              <a:rPr lang="en-US" b="1" dirty="0"/>
              <a:t>Cannot be accessed directly inside </a:t>
            </a:r>
            <a:r>
              <a:rPr lang="en-US" b="1" dirty="0">
                <a:latin typeface="Courier New" panose="02070309020205020404" pitchFamily="49" charset="0"/>
              </a:rPr>
              <a:t>static</a:t>
            </a:r>
            <a:r>
              <a:rPr lang="en-US" b="1" dirty="0"/>
              <a:t> method without object.</a:t>
            </a:r>
          </a:p>
        </p:txBody>
      </p:sp>
    </p:spTree>
    <p:extLst>
      <p:ext uri="{BB962C8B-B14F-4D97-AF65-F5344CB8AC3E}">
        <p14:creationId xmlns:p14="http://schemas.microsoft.com/office/powerpoint/2010/main" val="957283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FA33-363C-7386-C1D7-B5937FCF89D5}"/>
              </a:ext>
            </a:extLst>
          </p:cNvPr>
          <p:cNvSpPr>
            <a:spLocks noGrp="1"/>
          </p:cNvSpPr>
          <p:nvPr>
            <p:ph type="title"/>
          </p:nvPr>
        </p:nvSpPr>
        <p:spPr/>
        <p:txBody>
          <a:bodyPr/>
          <a:lstStyle/>
          <a:p>
            <a:r>
              <a:rPr lang="en-IN" b="1" dirty="0"/>
              <a:t>Instance Variables vs Local Variables</a:t>
            </a:r>
          </a:p>
        </p:txBody>
      </p:sp>
      <p:graphicFrame>
        <p:nvGraphicFramePr>
          <p:cNvPr id="5" name="Content Placeholder 4">
            <a:extLst>
              <a:ext uri="{FF2B5EF4-FFF2-40B4-BE49-F238E27FC236}">
                <a16:creationId xmlns:a16="http://schemas.microsoft.com/office/drawing/2014/main" id="{5784C1E5-AD21-51B1-6CEB-E13127E124BB}"/>
              </a:ext>
            </a:extLst>
          </p:cNvPr>
          <p:cNvGraphicFramePr>
            <a:graphicFrameLocks noGrp="1"/>
          </p:cNvGraphicFramePr>
          <p:nvPr>
            <p:ph idx="1"/>
            <p:extLst>
              <p:ext uri="{D42A27DB-BD31-4B8C-83A1-F6EECF244321}">
                <p14:modId xmlns:p14="http://schemas.microsoft.com/office/powerpoint/2010/main" val="1681060676"/>
              </p:ext>
            </p:extLst>
          </p:nvPr>
        </p:nvGraphicFramePr>
        <p:xfrm>
          <a:off x="838200" y="1916855"/>
          <a:ext cx="10515600" cy="182880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523431490"/>
                    </a:ext>
                  </a:extLst>
                </a:gridCol>
                <a:gridCol w="5257800">
                  <a:extLst>
                    <a:ext uri="{9D8B030D-6E8A-4147-A177-3AD203B41FA5}">
                      <a16:colId xmlns:a16="http://schemas.microsoft.com/office/drawing/2014/main" val="1329705414"/>
                    </a:ext>
                  </a:extLst>
                </a:gridCol>
              </a:tblGrid>
              <a:tr h="0">
                <a:tc>
                  <a:txBody>
                    <a:bodyPr/>
                    <a:lstStyle/>
                    <a:p>
                      <a:pPr algn="ctr">
                        <a:buNone/>
                      </a:pPr>
                      <a:r>
                        <a:rPr lang="en-IN" b="1" dirty="0"/>
                        <a:t>Instance Variable</a:t>
                      </a:r>
                    </a:p>
                  </a:txBody>
                  <a:tcPr anchor="ctr"/>
                </a:tc>
                <a:tc>
                  <a:txBody>
                    <a:bodyPr/>
                    <a:lstStyle/>
                    <a:p>
                      <a:pPr algn="ctr">
                        <a:buNone/>
                      </a:pPr>
                      <a:r>
                        <a:rPr lang="en-IN" b="1" dirty="0"/>
                        <a:t>Local Variable</a:t>
                      </a:r>
                    </a:p>
                  </a:txBody>
                  <a:tcPr anchor="ctr"/>
                </a:tc>
                <a:extLst>
                  <a:ext uri="{0D108BD9-81ED-4DB2-BD59-A6C34878D82A}">
                    <a16:rowId xmlns:a16="http://schemas.microsoft.com/office/drawing/2014/main" val="2812920068"/>
                  </a:ext>
                </a:extLst>
              </a:tr>
              <a:tr h="0">
                <a:tc>
                  <a:txBody>
                    <a:bodyPr/>
                    <a:lstStyle/>
                    <a:p>
                      <a:pPr>
                        <a:buNone/>
                      </a:pPr>
                      <a:r>
                        <a:rPr lang="en-IN"/>
                        <a:t>Declared in class</a:t>
                      </a:r>
                    </a:p>
                  </a:txBody>
                  <a:tcPr anchor="ctr"/>
                </a:tc>
                <a:tc>
                  <a:txBody>
                    <a:bodyPr/>
                    <a:lstStyle/>
                    <a:p>
                      <a:pPr>
                        <a:buNone/>
                      </a:pPr>
                      <a:r>
                        <a:rPr lang="en-IN"/>
                        <a:t>Declared in method</a:t>
                      </a:r>
                    </a:p>
                  </a:txBody>
                  <a:tcPr anchor="ctr"/>
                </a:tc>
                <a:extLst>
                  <a:ext uri="{0D108BD9-81ED-4DB2-BD59-A6C34878D82A}">
                    <a16:rowId xmlns:a16="http://schemas.microsoft.com/office/drawing/2014/main" val="2620095322"/>
                  </a:ext>
                </a:extLst>
              </a:tr>
              <a:tr h="0">
                <a:tc>
                  <a:txBody>
                    <a:bodyPr/>
                    <a:lstStyle/>
                    <a:p>
                      <a:pPr>
                        <a:buNone/>
                      </a:pPr>
                      <a:r>
                        <a:rPr lang="en-IN"/>
                        <a:t>Stored in Heap</a:t>
                      </a:r>
                    </a:p>
                  </a:txBody>
                  <a:tcPr anchor="ctr"/>
                </a:tc>
                <a:tc>
                  <a:txBody>
                    <a:bodyPr/>
                    <a:lstStyle/>
                    <a:p>
                      <a:pPr>
                        <a:buNone/>
                      </a:pPr>
                      <a:r>
                        <a:rPr lang="en-IN"/>
                        <a:t>Stored in Stack</a:t>
                      </a:r>
                    </a:p>
                  </a:txBody>
                  <a:tcPr anchor="ctr"/>
                </a:tc>
                <a:extLst>
                  <a:ext uri="{0D108BD9-81ED-4DB2-BD59-A6C34878D82A}">
                    <a16:rowId xmlns:a16="http://schemas.microsoft.com/office/drawing/2014/main" val="3725848210"/>
                  </a:ext>
                </a:extLst>
              </a:tr>
              <a:tr h="0">
                <a:tc>
                  <a:txBody>
                    <a:bodyPr/>
                    <a:lstStyle/>
                    <a:p>
                      <a:pPr>
                        <a:buNone/>
                      </a:pPr>
                      <a:r>
                        <a:rPr lang="en-IN"/>
                        <a:t>Default value exists</a:t>
                      </a:r>
                    </a:p>
                  </a:txBody>
                  <a:tcPr anchor="ctr"/>
                </a:tc>
                <a:tc>
                  <a:txBody>
                    <a:bodyPr/>
                    <a:lstStyle/>
                    <a:p>
                      <a:pPr>
                        <a:buNone/>
                      </a:pPr>
                      <a:r>
                        <a:rPr lang="en-IN"/>
                        <a:t>No default value</a:t>
                      </a:r>
                    </a:p>
                  </a:txBody>
                  <a:tcPr anchor="ctr"/>
                </a:tc>
                <a:extLst>
                  <a:ext uri="{0D108BD9-81ED-4DB2-BD59-A6C34878D82A}">
                    <a16:rowId xmlns:a16="http://schemas.microsoft.com/office/drawing/2014/main" val="1376141802"/>
                  </a:ext>
                </a:extLst>
              </a:tr>
              <a:tr h="0">
                <a:tc>
                  <a:txBody>
                    <a:bodyPr/>
                    <a:lstStyle/>
                    <a:p>
                      <a:pPr>
                        <a:buNone/>
                      </a:pPr>
                      <a:r>
                        <a:rPr lang="en-IN"/>
                        <a:t>Object dependent</a:t>
                      </a:r>
                    </a:p>
                  </a:txBody>
                  <a:tcPr anchor="ctr"/>
                </a:tc>
                <a:tc>
                  <a:txBody>
                    <a:bodyPr/>
                    <a:lstStyle/>
                    <a:p>
                      <a:pPr>
                        <a:buNone/>
                      </a:pPr>
                      <a:r>
                        <a:rPr lang="en-IN" dirty="0"/>
                        <a:t>Method dependent</a:t>
                      </a:r>
                    </a:p>
                  </a:txBody>
                  <a:tcPr anchor="ctr"/>
                </a:tc>
                <a:extLst>
                  <a:ext uri="{0D108BD9-81ED-4DB2-BD59-A6C34878D82A}">
                    <a16:rowId xmlns:a16="http://schemas.microsoft.com/office/drawing/2014/main" val="2861392677"/>
                  </a:ext>
                </a:extLst>
              </a:tr>
            </a:tbl>
          </a:graphicData>
        </a:graphic>
      </p:graphicFrame>
      <p:sp>
        <p:nvSpPr>
          <p:cNvPr id="4" name="Slide Number Placeholder 3">
            <a:extLst>
              <a:ext uri="{FF2B5EF4-FFF2-40B4-BE49-F238E27FC236}">
                <a16:creationId xmlns:a16="http://schemas.microsoft.com/office/drawing/2014/main" id="{449DE4E2-FA4B-3949-9062-D22811277932}"/>
              </a:ext>
            </a:extLst>
          </p:cNvPr>
          <p:cNvSpPr>
            <a:spLocks noGrp="1"/>
          </p:cNvSpPr>
          <p:nvPr>
            <p:ph type="sldNum" sz="quarter" idx="12"/>
          </p:nvPr>
        </p:nvSpPr>
        <p:spPr/>
        <p:txBody>
          <a:bodyPr/>
          <a:lstStyle/>
          <a:p>
            <a:fld id="{4DAC0951-10B0-4509-9BA5-FD8683A6F967}" type="slidenum">
              <a:rPr lang="en-IN" smtClean="0"/>
              <a:pPr/>
              <a:t>55</a:t>
            </a:fld>
            <a:endParaRPr lang="en-IN"/>
          </a:p>
        </p:txBody>
      </p:sp>
      <p:sp>
        <p:nvSpPr>
          <p:cNvPr id="7" name="TextBox 6">
            <a:extLst>
              <a:ext uri="{FF2B5EF4-FFF2-40B4-BE49-F238E27FC236}">
                <a16:creationId xmlns:a16="http://schemas.microsoft.com/office/drawing/2014/main" id="{54B206D2-8114-06BA-61F1-8F94F389728A}"/>
              </a:ext>
            </a:extLst>
          </p:cNvPr>
          <p:cNvSpPr txBox="1"/>
          <p:nvPr/>
        </p:nvSpPr>
        <p:spPr>
          <a:xfrm>
            <a:off x="757083" y="3971822"/>
            <a:ext cx="6096000" cy="369332"/>
          </a:xfrm>
          <a:prstGeom prst="rect">
            <a:avLst/>
          </a:prstGeom>
          <a:noFill/>
        </p:spPr>
        <p:txBody>
          <a:bodyPr wrap="square">
            <a:spAutoFit/>
          </a:bodyPr>
          <a:lstStyle/>
          <a:p>
            <a:r>
              <a:rPr lang="en-IN" b="1" dirty="0"/>
              <a:t>Instance Variables and Polymorphism</a:t>
            </a:r>
          </a:p>
        </p:txBody>
      </p:sp>
      <p:sp>
        <p:nvSpPr>
          <p:cNvPr id="9" name="TextBox 8">
            <a:extLst>
              <a:ext uri="{FF2B5EF4-FFF2-40B4-BE49-F238E27FC236}">
                <a16:creationId xmlns:a16="http://schemas.microsoft.com/office/drawing/2014/main" id="{EC64C78E-3C12-4102-5D81-39830497C990}"/>
              </a:ext>
            </a:extLst>
          </p:cNvPr>
          <p:cNvSpPr txBox="1"/>
          <p:nvPr/>
        </p:nvSpPr>
        <p:spPr>
          <a:xfrm>
            <a:off x="4473677" y="3971822"/>
            <a:ext cx="6096000" cy="369332"/>
          </a:xfrm>
          <a:prstGeom prst="rect">
            <a:avLst/>
          </a:prstGeom>
          <a:noFill/>
        </p:spPr>
        <p:txBody>
          <a:bodyPr wrap="square">
            <a:spAutoFit/>
          </a:bodyPr>
          <a:lstStyle/>
          <a:p>
            <a:r>
              <a:rPr lang="en-IN" dirty="0"/>
              <a:t>- Instance variables </a:t>
            </a:r>
            <a:r>
              <a:rPr lang="en-IN" b="1" dirty="0"/>
              <a:t>do NOT support polymorphism</a:t>
            </a:r>
            <a:endParaRPr lang="en-IN" dirty="0"/>
          </a:p>
        </p:txBody>
      </p:sp>
      <p:pic>
        <p:nvPicPr>
          <p:cNvPr id="11" name="Picture 10">
            <a:extLst>
              <a:ext uri="{FF2B5EF4-FFF2-40B4-BE49-F238E27FC236}">
                <a16:creationId xmlns:a16="http://schemas.microsoft.com/office/drawing/2014/main" id="{1B474B5F-8972-6178-9B3C-7893915BC5A1}"/>
              </a:ext>
            </a:extLst>
          </p:cNvPr>
          <p:cNvPicPr>
            <a:picLocks noChangeAspect="1"/>
          </p:cNvPicPr>
          <p:nvPr/>
        </p:nvPicPr>
        <p:blipFill>
          <a:blip r:embed="rId3"/>
          <a:stretch>
            <a:fillRect/>
          </a:stretch>
        </p:blipFill>
        <p:spPr>
          <a:xfrm>
            <a:off x="838200" y="4488949"/>
            <a:ext cx="3062657" cy="1233425"/>
          </a:xfrm>
          <a:prstGeom prst="rect">
            <a:avLst/>
          </a:prstGeom>
        </p:spPr>
      </p:pic>
      <p:sp>
        <p:nvSpPr>
          <p:cNvPr id="13" name="TextBox 12">
            <a:extLst>
              <a:ext uri="{FF2B5EF4-FFF2-40B4-BE49-F238E27FC236}">
                <a16:creationId xmlns:a16="http://schemas.microsoft.com/office/drawing/2014/main" id="{DD09B52B-1C32-F8AB-E814-3228A54F7CA1}"/>
              </a:ext>
            </a:extLst>
          </p:cNvPr>
          <p:cNvSpPr txBox="1"/>
          <p:nvPr/>
        </p:nvSpPr>
        <p:spPr>
          <a:xfrm>
            <a:off x="4188542" y="5076043"/>
            <a:ext cx="6096000" cy="646331"/>
          </a:xfrm>
          <a:prstGeom prst="rect">
            <a:avLst/>
          </a:prstGeom>
          <a:noFill/>
        </p:spPr>
        <p:txBody>
          <a:bodyPr wrap="square">
            <a:spAutoFit/>
          </a:bodyPr>
          <a:lstStyle/>
          <a:p>
            <a:r>
              <a:rPr lang="en-US" dirty="0"/>
              <a:t>Variable access depends on </a:t>
            </a:r>
            <a:r>
              <a:rPr lang="en-US" b="1" dirty="0"/>
              <a:t>reference type</a:t>
            </a:r>
            <a:br>
              <a:rPr lang="en-US" dirty="0"/>
            </a:br>
            <a:r>
              <a:rPr lang="en-US" dirty="0"/>
              <a:t>Method access depends on </a:t>
            </a:r>
            <a:r>
              <a:rPr lang="en-US" b="1" dirty="0"/>
              <a:t>object type</a:t>
            </a:r>
            <a:endParaRPr lang="en-IN" dirty="0"/>
          </a:p>
        </p:txBody>
      </p:sp>
      <p:sp>
        <p:nvSpPr>
          <p:cNvPr id="6" name="TextBox 5">
            <a:extLst>
              <a:ext uri="{FF2B5EF4-FFF2-40B4-BE49-F238E27FC236}">
                <a16:creationId xmlns:a16="http://schemas.microsoft.com/office/drawing/2014/main" id="{D3CD893B-EC92-C9B0-784E-B3403B263C6F}"/>
              </a:ext>
            </a:extLst>
          </p:cNvPr>
          <p:cNvSpPr txBox="1"/>
          <p:nvPr/>
        </p:nvSpPr>
        <p:spPr>
          <a:xfrm>
            <a:off x="4188542" y="5760851"/>
            <a:ext cx="6096000" cy="369332"/>
          </a:xfrm>
          <a:prstGeom prst="rect">
            <a:avLst/>
          </a:prstGeom>
          <a:noFill/>
        </p:spPr>
        <p:txBody>
          <a:bodyPr wrap="square">
            <a:spAutoFit/>
          </a:bodyPr>
          <a:lstStyle/>
          <a:p>
            <a:pPr>
              <a:buNone/>
            </a:pPr>
            <a:r>
              <a:rPr lang="en-US" dirty="0"/>
              <a:t>Because variables are </a:t>
            </a:r>
            <a:r>
              <a:rPr lang="en-US" b="1" dirty="0"/>
              <a:t>not overridden</a:t>
            </a:r>
            <a:r>
              <a:rPr lang="en-US" dirty="0"/>
              <a:t> — they are </a:t>
            </a:r>
            <a:r>
              <a:rPr lang="en-US" b="1" dirty="0"/>
              <a:t>hidden</a:t>
            </a:r>
            <a:r>
              <a:rPr lang="en-US" dirty="0"/>
              <a:t>.</a:t>
            </a:r>
          </a:p>
        </p:txBody>
      </p:sp>
    </p:spTree>
    <p:extLst>
      <p:ext uri="{BB962C8B-B14F-4D97-AF65-F5344CB8AC3E}">
        <p14:creationId xmlns:p14="http://schemas.microsoft.com/office/powerpoint/2010/main" val="316154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FC97AA-5BF3-FDF1-8D11-1460A9F8C003}"/>
              </a:ext>
            </a:extLst>
          </p:cNvPr>
          <p:cNvSpPr>
            <a:spLocks noGrp="1"/>
          </p:cNvSpPr>
          <p:nvPr>
            <p:ph type="sldNum" sz="quarter" idx="12"/>
          </p:nvPr>
        </p:nvSpPr>
        <p:spPr/>
        <p:txBody>
          <a:bodyPr/>
          <a:lstStyle/>
          <a:p>
            <a:fld id="{4DAC0951-10B0-4509-9BA5-FD8683A6F967}" type="slidenum">
              <a:rPr lang="en-IN" smtClean="0"/>
              <a:pPr/>
              <a:t>56</a:t>
            </a:fld>
            <a:endParaRPr lang="en-IN"/>
          </a:p>
        </p:txBody>
      </p:sp>
      <p:pic>
        <p:nvPicPr>
          <p:cNvPr id="6" name="Picture 5">
            <a:extLst>
              <a:ext uri="{FF2B5EF4-FFF2-40B4-BE49-F238E27FC236}">
                <a16:creationId xmlns:a16="http://schemas.microsoft.com/office/drawing/2014/main" id="{89F7564D-CC44-B81E-3058-89730742F34F}"/>
              </a:ext>
            </a:extLst>
          </p:cNvPr>
          <p:cNvPicPr>
            <a:picLocks noChangeAspect="1"/>
          </p:cNvPicPr>
          <p:nvPr/>
        </p:nvPicPr>
        <p:blipFill>
          <a:blip r:embed="rId2"/>
          <a:stretch>
            <a:fillRect/>
          </a:stretch>
        </p:blipFill>
        <p:spPr>
          <a:xfrm>
            <a:off x="377700" y="1022602"/>
            <a:ext cx="6209913" cy="5516310"/>
          </a:xfrm>
          <a:prstGeom prst="rect">
            <a:avLst/>
          </a:prstGeom>
        </p:spPr>
      </p:pic>
      <p:sp>
        <p:nvSpPr>
          <p:cNvPr id="8" name="TextBox 7">
            <a:extLst>
              <a:ext uri="{FF2B5EF4-FFF2-40B4-BE49-F238E27FC236}">
                <a16:creationId xmlns:a16="http://schemas.microsoft.com/office/drawing/2014/main" id="{EB254B6B-3336-4D97-45E2-779F564B02A8}"/>
              </a:ext>
            </a:extLst>
          </p:cNvPr>
          <p:cNvSpPr txBox="1"/>
          <p:nvPr/>
        </p:nvSpPr>
        <p:spPr>
          <a:xfrm>
            <a:off x="6784258" y="5242741"/>
            <a:ext cx="5338916" cy="369332"/>
          </a:xfrm>
          <a:prstGeom prst="rect">
            <a:avLst/>
          </a:prstGeom>
          <a:noFill/>
        </p:spPr>
        <p:txBody>
          <a:bodyPr wrap="square">
            <a:spAutoFit/>
          </a:bodyPr>
          <a:lstStyle/>
          <a:p>
            <a:pPr>
              <a:buNone/>
            </a:pPr>
            <a:r>
              <a:rPr lang="en-US" dirty="0">
                <a:latin typeface="Courier New" panose="02070309020205020404" pitchFamily="49" charset="0"/>
              </a:rPr>
              <a:t>id</a:t>
            </a:r>
            <a:r>
              <a:rPr lang="en-US" dirty="0"/>
              <a:t> and </a:t>
            </a:r>
            <a:r>
              <a:rPr lang="en-US" dirty="0">
                <a:latin typeface="Courier New" panose="02070309020205020404" pitchFamily="49" charset="0"/>
              </a:rPr>
              <a:t>name</a:t>
            </a:r>
            <a:r>
              <a:rPr lang="en-US" dirty="0"/>
              <a:t> belong to the object </a:t>
            </a:r>
            <a:r>
              <a:rPr lang="en-US" dirty="0">
                <a:latin typeface="Courier New" panose="02070309020205020404" pitchFamily="49" charset="0"/>
              </a:rPr>
              <a:t>s1</a:t>
            </a:r>
            <a:r>
              <a:rPr lang="en-US" dirty="0"/>
              <a:t>, not to the class.</a:t>
            </a:r>
          </a:p>
        </p:txBody>
      </p:sp>
      <p:sp>
        <p:nvSpPr>
          <p:cNvPr id="10" name="TextBox 9">
            <a:extLst>
              <a:ext uri="{FF2B5EF4-FFF2-40B4-BE49-F238E27FC236}">
                <a16:creationId xmlns:a16="http://schemas.microsoft.com/office/drawing/2014/main" id="{54272417-0C49-E90D-637E-4E6381F2E4C3}"/>
              </a:ext>
            </a:extLst>
          </p:cNvPr>
          <p:cNvSpPr txBox="1"/>
          <p:nvPr/>
        </p:nvSpPr>
        <p:spPr>
          <a:xfrm>
            <a:off x="377700" y="319088"/>
            <a:ext cx="6440128" cy="461665"/>
          </a:xfrm>
          <a:prstGeom prst="rect">
            <a:avLst/>
          </a:prstGeom>
          <a:noFill/>
        </p:spPr>
        <p:txBody>
          <a:bodyPr wrap="square">
            <a:spAutoFit/>
          </a:bodyPr>
          <a:lstStyle/>
          <a:p>
            <a:r>
              <a:rPr lang="en-IN" sz="2400" b="1" dirty="0"/>
              <a:t>Basic Instance Variables</a:t>
            </a:r>
          </a:p>
        </p:txBody>
      </p:sp>
    </p:spTree>
    <p:extLst>
      <p:ext uri="{BB962C8B-B14F-4D97-AF65-F5344CB8AC3E}">
        <p14:creationId xmlns:p14="http://schemas.microsoft.com/office/powerpoint/2010/main" val="1474817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BF51-9ADC-35D4-B5C2-C04DE382649F}"/>
              </a:ext>
            </a:extLst>
          </p:cNvPr>
          <p:cNvSpPr>
            <a:spLocks noGrp="1"/>
          </p:cNvSpPr>
          <p:nvPr>
            <p:ph type="title"/>
          </p:nvPr>
        </p:nvSpPr>
        <p:spPr/>
        <p:txBody>
          <a:bodyPr/>
          <a:lstStyle/>
          <a:p>
            <a:r>
              <a:rPr lang="en-US" b="1" dirty="0"/>
              <a:t>Each Object Has Its Own Copy</a:t>
            </a:r>
            <a:endParaRPr lang="en-IN" b="1" dirty="0"/>
          </a:p>
        </p:txBody>
      </p:sp>
      <p:sp>
        <p:nvSpPr>
          <p:cNvPr id="4" name="Slide Number Placeholder 3">
            <a:extLst>
              <a:ext uri="{FF2B5EF4-FFF2-40B4-BE49-F238E27FC236}">
                <a16:creationId xmlns:a16="http://schemas.microsoft.com/office/drawing/2014/main" id="{C9F45F38-D493-B23F-67F6-535E3D5AC395}"/>
              </a:ext>
            </a:extLst>
          </p:cNvPr>
          <p:cNvSpPr>
            <a:spLocks noGrp="1"/>
          </p:cNvSpPr>
          <p:nvPr>
            <p:ph type="sldNum" sz="quarter" idx="12"/>
          </p:nvPr>
        </p:nvSpPr>
        <p:spPr/>
        <p:txBody>
          <a:bodyPr/>
          <a:lstStyle/>
          <a:p>
            <a:fld id="{4DAC0951-10B0-4509-9BA5-FD8683A6F967}" type="slidenum">
              <a:rPr lang="en-IN" smtClean="0"/>
              <a:pPr/>
              <a:t>57</a:t>
            </a:fld>
            <a:endParaRPr lang="en-IN"/>
          </a:p>
        </p:txBody>
      </p:sp>
      <p:pic>
        <p:nvPicPr>
          <p:cNvPr id="6" name="Picture 5">
            <a:extLst>
              <a:ext uri="{FF2B5EF4-FFF2-40B4-BE49-F238E27FC236}">
                <a16:creationId xmlns:a16="http://schemas.microsoft.com/office/drawing/2014/main" id="{B864E7F0-F83F-60D0-0AD8-E599B34E8308}"/>
              </a:ext>
            </a:extLst>
          </p:cNvPr>
          <p:cNvPicPr>
            <a:picLocks noChangeAspect="1"/>
          </p:cNvPicPr>
          <p:nvPr/>
        </p:nvPicPr>
        <p:blipFill>
          <a:blip r:embed="rId2"/>
          <a:stretch>
            <a:fillRect/>
          </a:stretch>
        </p:blipFill>
        <p:spPr>
          <a:xfrm>
            <a:off x="936359" y="1463387"/>
            <a:ext cx="5936390" cy="4892963"/>
          </a:xfrm>
          <a:prstGeom prst="rect">
            <a:avLst/>
          </a:prstGeom>
        </p:spPr>
      </p:pic>
      <p:pic>
        <p:nvPicPr>
          <p:cNvPr id="8" name="Picture 7">
            <a:extLst>
              <a:ext uri="{FF2B5EF4-FFF2-40B4-BE49-F238E27FC236}">
                <a16:creationId xmlns:a16="http://schemas.microsoft.com/office/drawing/2014/main" id="{ED263C32-23CD-1F5E-9DD8-4C5B17AD5CFC}"/>
              </a:ext>
            </a:extLst>
          </p:cNvPr>
          <p:cNvPicPr>
            <a:picLocks noChangeAspect="1"/>
          </p:cNvPicPr>
          <p:nvPr/>
        </p:nvPicPr>
        <p:blipFill>
          <a:blip r:embed="rId3"/>
          <a:stretch>
            <a:fillRect/>
          </a:stretch>
        </p:blipFill>
        <p:spPr>
          <a:xfrm>
            <a:off x="4543169" y="5959401"/>
            <a:ext cx="5858693" cy="533474"/>
          </a:xfrm>
          <a:prstGeom prst="rect">
            <a:avLst/>
          </a:prstGeom>
        </p:spPr>
      </p:pic>
    </p:spTree>
    <p:extLst>
      <p:ext uri="{BB962C8B-B14F-4D97-AF65-F5344CB8AC3E}">
        <p14:creationId xmlns:p14="http://schemas.microsoft.com/office/powerpoint/2010/main" val="2194238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CA32F-6F97-1CF1-BFA5-D833B6B2BE59}"/>
              </a:ext>
            </a:extLst>
          </p:cNvPr>
          <p:cNvSpPr>
            <a:spLocks noGrp="1"/>
          </p:cNvSpPr>
          <p:nvPr>
            <p:ph type="title"/>
          </p:nvPr>
        </p:nvSpPr>
        <p:spPr/>
        <p:txBody>
          <a:bodyPr/>
          <a:lstStyle/>
          <a:p>
            <a:r>
              <a:rPr lang="en-US" b="1" dirty="0"/>
              <a:t>Default Values of Instance Variables</a:t>
            </a:r>
            <a:endParaRPr lang="en-IN" b="1" dirty="0"/>
          </a:p>
        </p:txBody>
      </p:sp>
      <p:sp>
        <p:nvSpPr>
          <p:cNvPr id="4" name="Slide Number Placeholder 3">
            <a:extLst>
              <a:ext uri="{FF2B5EF4-FFF2-40B4-BE49-F238E27FC236}">
                <a16:creationId xmlns:a16="http://schemas.microsoft.com/office/drawing/2014/main" id="{77C98553-1079-E84B-080A-1D0FFF7BACDF}"/>
              </a:ext>
            </a:extLst>
          </p:cNvPr>
          <p:cNvSpPr>
            <a:spLocks noGrp="1"/>
          </p:cNvSpPr>
          <p:nvPr>
            <p:ph type="sldNum" sz="quarter" idx="12"/>
          </p:nvPr>
        </p:nvSpPr>
        <p:spPr/>
        <p:txBody>
          <a:bodyPr/>
          <a:lstStyle/>
          <a:p>
            <a:fld id="{4DAC0951-10B0-4509-9BA5-FD8683A6F967}" type="slidenum">
              <a:rPr lang="en-IN" smtClean="0"/>
              <a:pPr/>
              <a:t>58</a:t>
            </a:fld>
            <a:endParaRPr lang="en-IN"/>
          </a:p>
        </p:txBody>
      </p:sp>
      <p:pic>
        <p:nvPicPr>
          <p:cNvPr id="6" name="Picture 5">
            <a:extLst>
              <a:ext uri="{FF2B5EF4-FFF2-40B4-BE49-F238E27FC236}">
                <a16:creationId xmlns:a16="http://schemas.microsoft.com/office/drawing/2014/main" id="{6BC977CE-F630-70D7-6C77-DC4E6F8034A0}"/>
              </a:ext>
            </a:extLst>
          </p:cNvPr>
          <p:cNvPicPr>
            <a:picLocks noChangeAspect="1"/>
          </p:cNvPicPr>
          <p:nvPr/>
        </p:nvPicPr>
        <p:blipFill>
          <a:blip r:embed="rId2"/>
          <a:stretch>
            <a:fillRect/>
          </a:stretch>
        </p:blipFill>
        <p:spPr>
          <a:xfrm>
            <a:off x="589937" y="1637577"/>
            <a:ext cx="7315198" cy="4727434"/>
          </a:xfrm>
          <a:prstGeom prst="rect">
            <a:avLst/>
          </a:prstGeom>
        </p:spPr>
      </p:pic>
      <p:sp>
        <p:nvSpPr>
          <p:cNvPr id="8" name="TextBox 7">
            <a:extLst>
              <a:ext uri="{FF2B5EF4-FFF2-40B4-BE49-F238E27FC236}">
                <a16:creationId xmlns:a16="http://schemas.microsoft.com/office/drawing/2014/main" id="{2CA5522B-3B7D-1A31-4A03-0A27C4E9B4CB}"/>
              </a:ext>
            </a:extLst>
          </p:cNvPr>
          <p:cNvSpPr txBox="1"/>
          <p:nvPr/>
        </p:nvSpPr>
        <p:spPr>
          <a:xfrm>
            <a:off x="5653548" y="5535458"/>
            <a:ext cx="6096000" cy="369332"/>
          </a:xfrm>
          <a:prstGeom prst="rect">
            <a:avLst/>
          </a:prstGeom>
          <a:noFill/>
        </p:spPr>
        <p:txBody>
          <a:bodyPr wrap="square">
            <a:spAutoFit/>
          </a:bodyPr>
          <a:lstStyle/>
          <a:p>
            <a:r>
              <a:rPr lang="en-US" dirty="0"/>
              <a:t>Instance variables always get </a:t>
            </a:r>
            <a:r>
              <a:rPr lang="en-US" b="1" dirty="0"/>
              <a:t>default values</a:t>
            </a:r>
            <a:r>
              <a:rPr lang="en-US" dirty="0"/>
              <a:t>.</a:t>
            </a:r>
            <a:endParaRPr lang="en-IN" dirty="0"/>
          </a:p>
        </p:txBody>
      </p:sp>
    </p:spTree>
    <p:extLst>
      <p:ext uri="{BB962C8B-B14F-4D97-AF65-F5344CB8AC3E}">
        <p14:creationId xmlns:p14="http://schemas.microsoft.com/office/powerpoint/2010/main" val="3994103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455B-8951-8CEF-430F-25C71D415F9B}"/>
              </a:ext>
            </a:extLst>
          </p:cNvPr>
          <p:cNvSpPr>
            <a:spLocks noGrp="1"/>
          </p:cNvSpPr>
          <p:nvPr>
            <p:ph type="title"/>
          </p:nvPr>
        </p:nvSpPr>
        <p:spPr/>
        <p:txBody>
          <a:bodyPr/>
          <a:lstStyle/>
          <a:p>
            <a:r>
              <a:rPr lang="en-IN" b="1" dirty="0"/>
              <a:t>Instance Variable vs Local Variable</a:t>
            </a:r>
          </a:p>
        </p:txBody>
      </p:sp>
      <p:sp>
        <p:nvSpPr>
          <p:cNvPr id="3" name="Content Placeholder 2">
            <a:extLst>
              <a:ext uri="{FF2B5EF4-FFF2-40B4-BE49-F238E27FC236}">
                <a16:creationId xmlns:a16="http://schemas.microsoft.com/office/drawing/2014/main" id="{F65DD5A8-F180-A0ED-EBF6-0E3E4D5B337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80A31A5-672E-62A7-8936-4E1EAA79F064}"/>
              </a:ext>
            </a:extLst>
          </p:cNvPr>
          <p:cNvSpPr>
            <a:spLocks noGrp="1"/>
          </p:cNvSpPr>
          <p:nvPr>
            <p:ph type="sldNum" sz="quarter" idx="12"/>
          </p:nvPr>
        </p:nvSpPr>
        <p:spPr/>
        <p:txBody>
          <a:bodyPr/>
          <a:lstStyle/>
          <a:p>
            <a:fld id="{4DAC0951-10B0-4509-9BA5-FD8683A6F967}" type="slidenum">
              <a:rPr lang="en-IN" smtClean="0"/>
              <a:pPr/>
              <a:t>59</a:t>
            </a:fld>
            <a:endParaRPr lang="en-IN"/>
          </a:p>
        </p:txBody>
      </p:sp>
      <p:pic>
        <p:nvPicPr>
          <p:cNvPr id="6" name="Picture 5">
            <a:extLst>
              <a:ext uri="{FF2B5EF4-FFF2-40B4-BE49-F238E27FC236}">
                <a16:creationId xmlns:a16="http://schemas.microsoft.com/office/drawing/2014/main" id="{3BC6C975-1B18-403E-F1FF-0294BE27D586}"/>
              </a:ext>
            </a:extLst>
          </p:cNvPr>
          <p:cNvPicPr>
            <a:picLocks noChangeAspect="1"/>
          </p:cNvPicPr>
          <p:nvPr/>
        </p:nvPicPr>
        <p:blipFill>
          <a:blip r:embed="rId2"/>
          <a:stretch>
            <a:fillRect/>
          </a:stretch>
        </p:blipFill>
        <p:spPr>
          <a:xfrm>
            <a:off x="838200" y="1433568"/>
            <a:ext cx="5715340" cy="4922782"/>
          </a:xfrm>
          <a:prstGeom prst="rect">
            <a:avLst/>
          </a:prstGeom>
        </p:spPr>
      </p:pic>
      <p:sp>
        <p:nvSpPr>
          <p:cNvPr id="8" name="TextBox 7">
            <a:extLst>
              <a:ext uri="{FF2B5EF4-FFF2-40B4-BE49-F238E27FC236}">
                <a16:creationId xmlns:a16="http://schemas.microsoft.com/office/drawing/2014/main" id="{069C8B83-3CF5-791C-4EC3-FBA63899C4CD}"/>
              </a:ext>
            </a:extLst>
          </p:cNvPr>
          <p:cNvSpPr txBox="1"/>
          <p:nvPr/>
        </p:nvSpPr>
        <p:spPr>
          <a:xfrm>
            <a:off x="4925961" y="5637463"/>
            <a:ext cx="6096000" cy="369332"/>
          </a:xfrm>
          <a:prstGeom prst="rect">
            <a:avLst/>
          </a:prstGeom>
          <a:noFill/>
        </p:spPr>
        <p:txBody>
          <a:bodyPr wrap="square">
            <a:spAutoFit/>
          </a:bodyPr>
          <a:lstStyle/>
          <a:p>
            <a:pPr>
              <a:buNone/>
            </a:pPr>
            <a:r>
              <a:rPr lang="en-US" dirty="0"/>
              <a:t>Local variables </a:t>
            </a:r>
            <a:r>
              <a:rPr lang="en-US" b="1" dirty="0"/>
              <a:t>must be initialized</a:t>
            </a:r>
            <a:r>
              <a:rPr lang="en-US" dirty="0"/>
              <a:t>, instance variables </a:t>
            </a:r>
            <a:r>
              <a:rPr lang="en-US" b="1" dirty="0"/>
              <a:t>need not</a:t>
            </a:r>
            <a:r>
              <a:rPr lang="en-US" dirty="0"/>
              <a:t>.</a:t>
            </a:r>
          </a:p>
        </p:txBody>
      </p:sp>
    </p:spTree>
    <p:extLst>
      <p:ext uri="{BB962C8B-B14F-4D97-AF65-F5344CB8AC3E}">
        <p14:creationId xmlns:p14="http://schemas.microsoft.com/office/powerpoint/2010/main" val="3522270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0CF92-E75D-2307-5816-9B3EB786DE45}"/>
              </a:ext>
            </a:extLst>
          </p:cNvPr>
          <p:cNvSpPr>
            <a:spLocks noGrp="1"/>
          </p:cNvSpPr>
          <p:nvPr>
            <p:ph type="title"/>
          </p:nvPr>
        </p:nvSpPr>
        <p:spPr/>
        <p:txBody>
          <a:bodyPr/>
          <a:lstStyle/>
          <a:p>
            <a:r>
              <a:rPr lang="en-IN" b="1" dirty="0"/>
              <a:t>Instance Variables &amp; Polymorphism</a:t>
            </a:r>
          </a:p>
        </p:txBody>
      </p:sp>
      <p:sp>
        <p:nvSpPr>
          <p:cNvPr id="4" name="Slide Number Placeholder 3">
            <a:extLst>
              <a:ext uri="{FF2B5EF4-FFF2-40B4-BE49-F238E27FC236}">
                <a16:creationId xmlns:a16="http://schemas.microsoft.com/office/drawing/2014/main" id="{ACEACB16-F8F9-BE94-519A-73580E5F1C1D}"/>
              </a:ext>
            </a:extLst>
          </p:cNvPr>
          <p:cNvSpPr>
            <a:spLocks noGrp="1"/>
          </p:cNvSpPr>
          <p:nvPr>
            <p:ph type="sldNum" sz="quarter" idx="12"/>
          </p:nvPr>
        </p:nvSpPr>
        <p:spPr/>
        <p:txBody>
          <a:bodyPr/>
          <a:lstStyle/>
          <a:p>
            <a:fld id="{4DAC0951-10B0-4509-9BA5-FD8683A6F967}" type="slidenum">
              <a:rPr lang="en-IN" smtClean="0"/>
              <a:pPr/>
              <a:t>60</a:t>
            </a:fld>
            <a:endParaRPr lang="en-IN"/>
          </a:p>
        </p:txBody>
      </p:sp>
      <p:pic>
        <p:nvPicPr>
          <p:cNvPr id="6" name="Picture 5">
            <a:extLst>
              <a:ext uri="{FF2B5EF4-FFF2-40B4-BE49-F238E27FC236}">
                <a16:creationId xmlns:a16="http://schemas.microsoft.com/office/drawing/2014/main" id="{47DA64FE-857F-897D-C254-FC946A294707}"/>
              </a:ext>
            </a:extLst>
          </p:cNvPr>
          <p:cNvPicPr>
            <a:picLocks noChangeAspect="1"/>
          </p:cNvPicPr>
          <p:nvPr/>
        </p:nvPicPr>
        <p:blipFill>
          <a:blip r:embed="rId2"/>
          <a:stretch>
            <a:fillRect/>
          </a:stretch>
        </p:blipFill>
        <p:spPr>
          <a:xfrm>
            <a:off x="510664" y="1583765"/>
            <a:ext cx="5817793" cy="4835058"/>
          </a:xfrm>
          <a:prstGeom prst="rect">
            <a:avLst/>
          </a:prstGeom>
        </p:spPr>
      </p:pic>
      <p:sp>
        <p:nvSpPr>
          <p:cNvPr id="8" name="TextBox 7">
            <a:extLst>
              <a:ext uri="{FF2B5EF4-FFF2-40B4-BE49-F238E27FC236}">
                <a16:creationId xmlns:a16="http://schemas.microsoft.com/office/drawing/2014/main" id="{A7CD6CCE-5F11-010A-621E-6A2BBF342EE6}"/>
              </a:ext>
            </a:extLst>
          </p:cNvPr>
          <p:cNvSpPr txBox="1"/>
          <p:nvPr/>
        </p:nvSpPr>
        <p:spPr>
          <a:xfrm>
            <a:off x="4807974" y="5807631"/>
            <a:ext cx="6096000" cy="369332"/>
          </a:xfrm>
          <a:prstGeom prst="rect">
            <a:avLst/>
          </a:prstGeom>
          <a:noFill/>
        </p:spPr>
        <p:txBody>
          <a:bodyPr wrap="square">
            <a:spAutoFit/>
          </a:bodyPr>
          <a:lstStyle/>
          <a:p>
            <a:pPr>
              <a:buNone/>
            </a:pPr>
            <a:r>
              <a:rPr lang="en-IN" dirty="0"/>
              <a:t>Instance variables depend on </a:t>
            </a:r>
            <a:r>
              <a:rPr lang="en-IN" b="1" dirty="0"/>
              <a:t>reference type</a:t>
            </a:r>
            <a:r>
              <a:rPr lang="en-IN" dirty="0"/>
              <a:t>, not object type.</a:t>
            </a:r>
          </a:p>
        </p:txBody>
      </p:sp>
      <p:sp>
        <p:nvSpPr>
          <p:cNvPr id="7" name="TextBox 6">
            <a:extLst>
              <a:ext uri="{FF2B5EF4-FFF2-40B4-BE49-F238E27FC236}">
                <a16:creationId xmlns:a16="http://schemas.microsoft.com/office/drawing/2014/main" id="{AB318EAE-E8D7-7BCE-7D49-8056C642A249}"/>
              </a:ext>
            </a:extLst>
          </p:cNvPr>
          <p:cNvSpPr txBox="1"/>
          <p:nvPr/>
        </p:nvSpPr>
        <p:spPr>
          <a:xfrm>
            <a:off x="6899788" y="2271831"/>
            <a:ext cx="4454012" cy="1477328"/>
          </a:xfrm>
          <a:prstGeom prst="rect">
            <a:avLst/>
          </a:prstGeom>
          <a:noFill/>
        </p:spPr>
        <p:txBody>
          <a:bodyPr wrap="square">
            <a:spAutoFit/>
          </a:bodyPr>
          <a:lstStyle/>
          <a:p>
            <a:pPr>
              <a:buNone/>
            </a:pPr>
            <a:r>
              <a:rPr lang="en-US" b="1" dirty="0"/>
              <a:t>Real Advantage of Instance Variables</a:t>
            </a:r>
          </a:p>
          <a:p>
            <a:pPr>
              <a:buNone/>
            </a:pPr>
            <a:r>
              <a:rPr lang="en-US" dirty="0"/>
              <a:t>✔ Maintain object state</a:t>
            </a:r>
            <a:br>
              <a:rPr lang="en-US" dirty="0"/>
            </a:br>
            <a:r>
              <a:rPr lang="en-US" dirty="0"/>
              <a:t>✔ Share data between methods</a:t>
            </a:r>
            <a:br>
              <a:rPr lang="en-US" dirty="0"/>
            </a:br>
            <a:r>
              <a:rPr lang="en-US" dirty="0"/>
              <a:t>✔ Store real-world properties</a:t>
            </a:r>
            <a:br>
              <a:rPr lang="en-US" dirty="0"/>
            </a:br>
            <a:r>
              <a:rPr lang="en-US" dirty="0"/>
              <a:t>✔ Lifetime tied to object</a:t>
            </a:r>
          </a:p>
        </p:txBody>
      </p:sp>
    </p:spTree>
    <p:extLst>
      <p:ext uri="{BB962C8B-B14F-4D97-AF65-F5344CB8AC3E}">
        <p14:creationId xmlns:p14="http://schemas.microsoft.com/office/powerpoint/2010/main" val="3701895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8A4F7-4907-CC4C-7568-B6D3B6C43B9C}"/>
              </a:ext>
            </a:extLst>
          </p:cNvPr>
          <p:cNvSpPr>
            <a:spLocks noGrp="1"/>
          </p:cNvSpPr>
          <p:nvPr>
            <p:ph type="title"/>
          </p:nvPr>
        </p:nvSpPr>
        <p:spPr/>
        <p:txBody>
          <a:bodyPr/>
          <a:lstStyle/>
          <a:p>
            <a:r>
              <a:rPr lang="en-IN" b="1" dirty="0"/>
              <a:t>What is Garbage Collector?</a:t>
            </a:r>
          </a:p>
        </p:txBody>
      </p:sp>
      <p:sp>
        <p:nvSpPr>
          <p:cNvPr id="3" name="Content Placeholder 2">
            <a:extLst>
              <a:ext uri="{FF2B5EF4-FFF2-40B4-BE49-F238E27FC236}">
                <a16:creationId xmlns:a16="http://schemas.microsoft.com/office/drawing/2014/main" id="{211D8D30-D2E1-33B4-7D8F-452A2181CB1A}"/>
              </a:ext>
            </a:extLst>
          </p:cNvPr>
          <p:cNvSpPr>
            <a:spLocks noGrp="1"/>
          </p:cNvSpPr>
          <p:nvPr>
            <p:ph idx="1"/>
          </p:nvPr>
        </p:nvSpPr>
        <p:spPr/>
        <p:txBody>
          <a:bodyPr/>
          <a:lstStyle/>
          <a:p>
            <a:r>
              <a:rPr lang="en-US" b="1" dirty="0"/>
              <a:t>Garbage Collector (GC)</a:t>
            </a:r>
            <a:r>
              <a:rPr lang="en-US" dirty="0"/>
              <a:t> is an automatic memory management system in Java.</a:t>
            </a:r>
          </a:p>
          <a:p>
            <a:r>
              <a:rPr lang="en-US" dirty="0"/>
              <a:t>It:</a:t>
            </a:r>
          </a:p>
          <a:p>
            <a:pPr lvl="1"/>
            <a:r>
              <a:rPr lang="en-US" dirty="0"/>
              <a:t>Identifies unused objects</a:t>
            </a:r>
          </a:p>
          <a:p>
            <a:pPr lvl="1"/>
            <a:r>
              <a:rPr lang="en-US" dirty="0"/>
              <a:t>Frees heap memory</a:t>
            </a:r>
          </a:p>
          <a:p>
            <a:pPr lvl="1"/>
            <a:r>
              <a:rPr lang="en-US" dirty="0"/>
              <a:t>Prevents memory leaks</a:t>
            </a:r>
          </a:p>
          <a:p>
            <a:pPr lvl="1"/>
            <a:r>
              <a:rPr lang="en-US" dirty="0"/>
              <a:t>Programmer </a:t>
            </a:r>
            <a:r>
              <a:rPr lang="en-US" b="1" dirty="0"/>
              <a:t>cannot delete objects manually</a:t>
            </a:r>
            <a:endParaRPr lang="en-US" dirty="0"/>
          </a:p>
          <a:p>
            <a:endParaRPr lang="en-IN" dirty="0"/>
          </a:p>
        </p:txBody>
      </p:sp>
      <p:sp>
        <p:nvSpPr>
          <p:cNvPr id="4" name="Slide Number Placeholder 3">
            <a:extLst>
              <a:ext uri="{FF2B5EF4-FFF2-40B4-BE49-F238E27FC236}">
                <a16:creationId xmlns:a16="http://schemas.microsoft.com/office/drawing/2014/main" id="{17A39537-7C96-08CD-46A8-223226C0EE16}"/>
              </a:ext>
            </a:extLst>
          </p:cNvPr>
          <p:cNvSpPr>
            <a:spLocks noGrp="1"/>
          </p:cNvSpPr>
          <p:nvPr>
            <p:ph type="sldNum" sz="quarter" idx="12"/>
          </p:nvPr>
        </p:nvSpPr>
        <p:spPr/>
        <p:txBody>
          <a:bodyPr/>
          <a:lstStyle/>
          <a:p>
            <a:fld id="{4DAC0951-10B0-4509-9BA5-FD8683A6F967}" type="slidenum">
              <a:rPr lang="en-IN" smtClean="0"/>
              <a:pPr/>
              <a:t>61</a:t>
            </a:fld>
            <a:endParaRPr lang="en-IN"/>
          </a:p>
        </p:txBody>
      </p:sp>
    </p:spTree>
    <p:extLst>
      <p:ext uri="{BB962C8B-B14F-4D97-AF65-F5344CB8AC3E}">
        <p14:creationId xmlns:p14="http://schemas.microsoft.com/office/powerpoint/2010/main" val="23989632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D129-1F30-AB1A-03AB-92FF2928AEF0}"/>
              </a:ext>
            </a:extLst>
          </p:cNvPr>
          <p:cNvSpPr>
            <a:spLocks noGrp="1"/>
          </p:cNvSpPr>
          <p:nvPr>
            <p:ph type="title"/>
          </p:nvPr>
        </p:nvSpPr>
        <p:spPr/>
        <p:txBody>
          <a:bodyPr/>
          <a:lstStyle/>
          <a:p>
            <a:r>
              <a:rPr lang="en-IN" b="1" dirty="0"/>
              <a:t>Garbage Collection Process</a:t>
            </a:r>
          </a:p>
        </p:txBody>
      </p:sp>
      <p:sp>
        <p:nvSpPr>
          <p:cNvPr id="3" name="Content Placeholder 2">
            <a:extLst>
              <a:ext uri="{FF2B5EF4-FFF2-40B4-BE49-F238E27FC236}">
                <a16:creationId xmlns:a16="http://schemas.microsoft.com/office/drawing/2014/main" id="{C05EB5FA-4EB7-5525-6396-5C434A42AF76}"/>
              </a:ext>
            </a:extLst>
          </p:cNvPr>
          <p:cNvSpPr>
            <a:spLocks noGrp="1"/>
          </p:cNvSpPr>
          <p:nvPr>
            <p:ph idx="1"/>
          </p:nvPr>
        </p:nvSpPr>
        <p:spPr/>
        <p:txBody>
          <a:bodyPr/>
          <a:lstStyle/>
          <a:p>
            <a:pPr marL="0" indent="0">
              <a:lnSpc>
                <a:spcPct val="150000"/>
              </a:lnSpc>
              <a:buNone/>
            </a:pPr>
            <a:r>
              <a:rPr lang="en-US" dirty="0"/>
              <a:t>1️⃣ Object created → stored in heap</a:t>
            </a:r>
            <a:br>
              <a:rPr lang="en-US" dirty="0"/>
            </a:br>
            <a:r>
              <a:rPr lang="en-US" dirty="0"/>
              <a:t>2️⃣ Object used by program</a:t>
            </a:r>
            <a:br>
              <a:rPr lang="en-US" dirty="0"/>
            </a:br>
            <a:r>
              <a:rPr lang="en-US" dirty="0"/>
              <a:t>3️⃣ Reference removed</a:t>
            </a:r>
            <a:br>
              <a:rPr lang="en-US" dirty="0"/>
            </a:br>
            <a:r>
              <a:rPr lang="en-US" dirty="0"/>
              <a:t>4️⃣ GC identifies unused object</a:t>
            </a:r>
            <a:br>
              <a:rPr lang="en-US" dirty="0"/>
            </a:br>
            <a:r>
              <a:rPr lang="en-US" dirty="0"/>
              <a:t>5️⃣ Memory reclaimed</a:t>
            </a:r>
          </a:p>
          <a:p>
            <a:r>
              <a:rPr lang="en-US" dirty="0"/>
              <a:t>GC runs </a:t>
            </a:r>
            <a:r>
              <a:rPr lang="en-US" b="1" dirty="0"/>
              <a:t>automatically</a:t>
            </a:r>
            <a:r>
              <a:rPr lang="en-US" dirty="0"/>
              <a:t>, not immediately</a:t>
            </a:r>
          </a:p>
          <a:p>
            <a:endParaRPr lang="en-IN" dirty="0"/>
          </a:p>
        </p:txBody>
      </p:sp>
      <p:sp>
        <p:nvSpPr>
          <p:cNvPr id="4" name="Slide Number Placeholder 3">
            <a:extLst>
              <a:ext uri="{FF2B5EF4-FFF2-40B4-BE49-F238E27FC236}">
                <a16:creationId xmlns:a16="http://schemas.microsoft.com/office/drawing/2014/main" id="{CA73F275-C6C6-D1D7-3698-D438AF9736E5}"/>
              </a:ext>
            </a:extLst>
          </p:cNvPr>
          <p:cNvSpPr>
            <a:spLocks noGrp="1"/>
          </p:cNvSpPr>
          <p:nvPr>
            <p:ph type="sldNum" sz="quarter" idx="12"/>
          </p:nvPr>
        </p:nvSpPr>
        <p:spPr/>
        <p:txBody>
          <a:bodyPr/>
          <a:lstStyle/>
          <a:p>
            <a:fld id="{4DAC0951-10B0-4509-9BA5-FD8683A6F967}" type="slidenum">
              <a:rPr lang="en-IN" smtClean="0"/>
              <a:pPr/>
              <a:t>62</a:t>
            </a:fld>
            <a:endParaRPr lang="en-IN"/>
          </a:p>
        </p:txBody>
      </p:sp>
      <p:sp>
        <p:nvSpPr>
          <p:cNvPr id="6" name="TextBox 5">
            <a:extLst>
              <a:ext uri="{FF2B5EF4-FFF2-40B4-BE49-F238E27FC236}">
                <a16:creationId xmlns:a16="http://schemas.microsoft.com/office/drawing/2014/main" id="{44B313DB-335B-F241-A27F-DD7CC47F6BF8}"/>
              </a:ext>
            </a:extLst>
          </p:cNvPr>
          <p:cNvSpPr txBox="1"/>
          <p:nvPr/>
        </p:nvSpPr>
        <p:spPr>
          <a:xfrm>
            <a:off x="973392" y="5807631"/>
            <a:ext cx="7403691" cy="646331"/>
          </a:xfrm>
          <a:prstGeom prst="rect">
            <a:avLst/>
          </a:prstGeom>
          <a:noFill/>
        </p:spPr>
        <p:txBody>
          <a:bodyPr wrap="square">
            <a:spAutoFit/>
          </a:bodyPr>
          <a:lstStyle/>
          <a:p>
            <a:r>
              <a:rPr lang="en-US" b="1" dirty="0"/>
              <a:t>Mark and Sweep (Basic Algorithm)</a:t>
            </a:r>
            <a:r>
              <a:rPr lang="en-US" b="1" dirty="0">
                <a:sym typeface="Wingdings" panose="05000000000000000000" pitchFamily="2" charset="2"/>
              </a:rPr>
              <a:t>Mark Phase and Sweep Phase</a:t>
            </a:r>
            <a:br>
              <a:rPr lang="en-US" b="1" dirty="0">
                <a:sym typeface="Wingdings" panose="05000000000000000000" pitchFamily="2" charset="2"/>
              </a:rPr>
            </a:br>
            <a:r>
              <a:rPr lang="en-US" b="1" dirty="0">
                <a:sym typeface="Wingdings" panose="05000000000000000000" pitchFamily="2" charset="2"/>
              </a:rPr>
              <a:t>Mark and Compact Improved version Avoids fragmentation</a:t>
            </a:r>
            <a:endParaRPr lang="en-IN" b="1" dirty="0"/>
          </a:p>
        </p:txBody>
      </p:sp>
    </p:spTree>
    <p:extLst>
      <p:ext uri="{BB962C8B-B14F-4D97-AF65-F5344CB8AC3E}">
        <p14:creationId xmlns:p14="http://schemas.microsoft.com/office/powerpoint/2010/main" val="3461665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CDAFC-DBB4-21B8-34F2-90BEDAB12B66}"/>
              </a:ext>
            </a:extLst>
          </p:cNvPr>
          <p:cNvSpPr>
            <a:spLocks noGrp="1"/>
          </p:cNvSpPr>
          <p:nvPr>
            <p:ph type="title"/>
          </p:nvPr>
        </p:nvSpPr>
        <p:spPr/>
        <p:txBody>
          <a:bodyPr/>
          <a:lstStyle/>
          <a:p>
            <a:r>
              <a:rPr lang="en-US" b="1" dirty="0"/>
              <a:t>Can We Force Garbage Collection?</a:t>
            </a:r>
            <a:endParaRPr lang="en-IN" b="1" dirty="0"/>
          </a:p>
        </p:txBody>
      </p:sp>
      <p:sp>
        <p:nvSpPr>
          <p:cNvPr id="3" name="Content Placeholder 2">
            <a:extLst>
              <a:ext uri="{FF2B5EF4-FFF2-40B4-BE49-F238E27FC236}">
                <a16:creationId xmlns:a16="http://schemas.microsoft.com/office/drawing/2014/main" id="{300ABB58-831C-00BF-9C1B-BAC3E904D01C}"/>
              </a:ext>
            </a:extLst>
          </p:cNvPr>
          <p:cNvSpPr>
            <a:spLocks noGrp="1"/>
          </p:cNvSpPr>
          <p:nvPr>
            <p:ph idx="1"/>
          </p:nvPr>
        </p:nvSpPr>
        <p:spPr/>
        <p:txBody>
          <a:bodyPr/>
          <a:lstStyle/>
          <a:p>
            <a:r>
              <a:rPr lang="en-US" b="1" dirty="0"/>
              <a:t>No</a:t>
            </a:r>
            <a:r>
              <a:rPr lang="en-US" dirty="0"/>
              <a:t>, we cannot force it.</a:t>
            </a:r>
          </a:p>
          <a:p>
            <a:r>
              <a:rPr lang="en-US" dirty="0"/>
              <a:t>We can only </a:t>
            </a:r>
            <a:r>
              <a:rPr lang="en-US" b="1" dirty="0"/>
              <a:t>request</a:t>
            </a:r>
            <a:r>
              <a:rPr lang="en-US" dirty="0"/>
              <a:t> JVM</a:t>
            </a:r>
          </a:p>
          <a:p>
            <a:pPr marL="0" indent="0">
              <a:buNone/>
            </a:pPr>
            <a:endParaRPr lang="en-IN" dirty="0"/>
          </a:p>
        </p:txBody>
      </p:sp>
      <p:sp>
        <p:nvSpPr>
          <p:cNvPr id="4" name="Slide Number Placeholder 3">
            <a:extLst>
              <a:ext uri="{FF2B5EF4-FFF2-40B4-BE49-F238E27FC236}">
                <a16:creationId xmlns:a16="http://schemas.microsoft.com/office/drawing/2014/main" id="{B8ED8034-70BD-8994-80D8-82D587E53549}"/>
              </a:ext>
            </a:extLst>
          </p:cNvPr>
          <p:cNvSpPr>
            <a:spLocks noGrp="1"/>
          </p:cNvSpPr>
          <p:nvPr>
            <p:ph type="sldNum" sz="quarter" idx="12"/>
          </p:nvPr>
        </p:nvSpPr>
        <p:spPr/>
        <p:txBody>
          <a:bodyPr/>
          <a:lstStyle/>
          <a:p>
            <a:fld id="{4DAC0951-10B0-4509-9BA5-FD8683A6F967}" type="slidenum">
              <a:rPr lang="en-IN" smtClean="0"/>
              <a:pPr/>
              <a:t>63</a:t>
            </a:fld>
            <a:endParaRPr lang="en-IN"/>
          </a:p>
        </p:txBody>
      </p:sp>
      <p:pic>
        <p:nvPicPr>
          <p:cNvPr id="6" name="Picture 5">
            <a:extLst>
              <a:ext uri="{FF2B5EF4-FFF2-40B4-BE49-F238E27FC236}">
                <a16:creationId xmlns:a16="http://schemas.microsoft.com/office/drawing/2014/main" id="{00BCB0C7-147F-8542-5BFB-C32707AB7122}"/>
              </a:ext>
            </a:extLst>
          </p:cNvPr>
          <p:cNvPicPr>
            <a:picLocks noChangeAspect="1"/>
          </p:cNvPicPr>
          <p:nvPr/>
        </p:nvPicPr>
        <p:blipFill>
          <a:blip r:embed="rId2"/>
          <a:stretch>
            <a:fillRect/>
          </a:stretch>
        </p:blipFill>
        <p:spPr>
          <a:xfrm>
            <a:off x="1161914" y="3006477"/>
            <a:ext cx="2134123" cy="690452"/>
          </a:xfrm>
          <a:prstGeom prst="rect">
            <a:avLst/>
          </a:prstGeom>
        </p:spPr>
      </p:pic>
      <p:sp>
        <p:nvSpPr>
          <p:cNvPr id="8" name="TextBox 7">
            <a:extLst>
              <a:ext uri="{FF2B5EF4-FFF2-40B4-BE49-F238E27FC236}">
                <a16:creationId xmlns:a16="http://schemas.microsoft.com/office/drawing/2014/main" id="{A74D9BCE-7A12-DA93-BDA8-A301F2480D4E}"/>
              </a:ext>
            </a:extLst>
          </p:cNvPr>
          <p:cNvSpPr txBox="1"/>
          <p:nvPr/>
        </p:nvSpPr>
        <p:spPr>
          <a:xfrm>
            <a:off x="1161914" y="4001294"/>
            <a:ext cx="6096000" cy="369332"/>
          </a:xfrm>
          <a:prstGeom prst="rect">
            <a:avLst/>
          </a:prstGeom>
          <a:noFill/>
        </p:spPr>
        <p:txBody>
          <a:bodyPr wrap="square">
            <a:spAutoFit/>
          </a:bodyPr>
          <a:lstStyle/>
          <a:p>
            <a:r>
              <a:rPr lang="en-US" b="1" dirty="0"/>
              <a:t>JVM decides whether to run GC or not</a:t>
            </a:r>
            <a:endParaRPr lang="en-IN" b="1" dirty="0"/>
          </a:p>
        </p:txBody>
      </p:sp>
    </p:spTree>
    <p:extLst>
      <p:ext uri="{BB962C8B-B14F-4D97-AF65-F5344CB8AC3E}">
        <p14:creationId xmlns:p14="http://schemas.microsoft.com/office/powerpoint/2010/main" val="25825154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CA5D-69AD-18BB-9376-A68E373C3F20}"/>
              </a:ext>
            </a:extLst>
          </p:cNvPr>
          <p:cNvSpPr>
            <a:spLocks noGrp="1"/>
          </p:cNvSpPr>
          <p:nvPr>
            <p:ph type="title"/>
          </p:nvPr>
        </p:nvSpPr>
        <p:spPr/>
        <p:txBody>
          <a:bodyPr/>
          <a:lstStyle/>
          <a:p>
            <a:r>
              <a:rPr lang="en-IN" b="1" dirty="0"/>
              <a:t>finalize() Method (Conceptual)</a:t>
            </a:r>
            <a:endParaRPr lang="en-IN" dirty="0"/>
          </a:p>
        </p:txBody>
      </p:sp>
      <p:sp>
        <p:nvSpPr>
          <p:cNvPr id="3" name="Content Placeholder 2">
            <a:extLst>
              <a:ext uri="{FF2B5EF4-FFF2-40B4-BE49-F238E27FC236}">
                <a16:creationId xmlns:a16="http://schemas.microsoft.com/office/drawing/2014/main" id="{C685ABBA-15EA-9BB1-05BF-CFD39D0A659B}"/>
              </a:ext>
            </a:extLst>
          </p:cNvPr>
          <p:cNvSpPr>
            <a:spLocks noGrp="1"/>
          </p:cNvSpPr>
          <p:nvPr>
            <p:ph idx="1"/>
          </p:nvPr>
        </p:nvSpPr>
        <p:spPr>
          <a:xfrm>
            <a:off x="838200" y="1825625"/>
            <a:ext cx="10960510" cy="4351338"/>
          </a:xfrm>
        </p:spPr>
        <p:txBody>
          <a:bodyPr/>
          <a:lstStyle/>
          <a:p>
            <a:r>
              <a:rPr lang="en-US" dirty="0"/>
              <a:t>finalize() is a method that is called by the </a:t>
            </a:r>
            <a:r>
              <a:rPr lang="en-US" b="1" dirty="0"/>
              <a:t>Garbage Collector </a:t>
            </a:r>
            <a:r>
              <a:rPr lang="en-US" dirty="0"/>
              <a:t>before an object is removed from memory</a:t>
            </a:r>
          </a:p>
          <a:p>
            <a:r>
              <a:rPr lang="en-US" b="1" dirty="0"/>
              <a:t>When is it called?</a:t>
            </a:r>
          </a:p>
          <a:p>
            <a:pPr lvl="1"/>
            <a:r>
              <a:rPr lang="en-US" dirty="0"/>
              <a:t>Object becomes unreachable</a:t>
            </a:r>
          </a:p>
          <a:p>
            <a:pPr lvl="1"/>
            <a:r>
              <a:rPr lang="en-US" dirty="0"/>
              <a:t>GC decides to remove it</a:t>
            </a:r>
          </a:p>
          <a:p>
            <a:pPr lvl="1"/>
            <a:r>
              <a:rPr lang="en-US" dirty="0"/>
              <a:t>Before reclaiming memory, </a:t>
            </a:r>
          </a:p>
          <a:p>
            <a:pPr marL="457200" lvl="1" indent="0">
              <a:buNone/>
            </a:pPr>
            <a:r>
              <a:rPr lang="en-US" dirty="0"/>
              <a:t>JVM may call finalize()</a:t>
            </a:r>
          </a:p>
          <a:p>
            <a:pPr marL="0" indent="0">
              <a:buNone/>
            </a:pPr>
            <a:endParaRPr lang="en-IN" dirty="0"/>
          </a:p>
        </p:txBody>
      </p:sp>
      <p:sp>
        <p:nvSpPr>
          <p:cNvPr id="4" name="Slide Number Placeholder 3">
            <a:extLst>
              <a:ext uri="{FF2B5EF4-FFF2-40B4-BE49-F238E27FC236}">
                <a16:creationId xmlns:a16="http://schemas.microsoft.com/office/drawing/2014/main" id="{102DEA41-15A3-066F-2DA0-EFECFC9C90BD}"/>
              </a:ext>
            </a:extLst>
          </p:cNvPr>
          <p:cNvSpPr>
            <a:spLocks noGrp="1"/>
          </p:cNvSpPr>
          <p:nvPr>
            <p:ph type="sldNum" sz="quarter" idx="12"/>
          </p:nvPr>
        </p:nvSpPr>
        <p:spPr/>
        <p:txBody>
          <a:bodyPr/>
          <a:lstStyle/>
          <a:p>
            <a:fld id="{4DAC0951-10B0-4509-9BA5-FD8683A6F967}" type="slidenum">
              <a:rPr lang="en-IN" smtClean="0"/>
              <a:pPr/>
              <a:t>64</a:t>
            </a:fld>
            <a:endParaRPr lang="en-IN"/>
          </a:p>
        </p:txBody>
      </p:sp>
      <p:pic>
        <p:nvPicPr>
          <p:cNvPr id="7" name="Picture 6">
            <a:extLst>
              <a:ext uri="{FF2B5EF4-FFF2-40B4-BE49-F238E27FC236}">
                <a16:creationId xmlns:a16="http://schemas.microsoft.com/office/drawing/2014/main" id="{DA1F35BF-CCD2-0BB6-7A22-5787598113BA}"/>
              </a:ext>
            </a:extLst>
          </p:cNvPr>
          <p:cNvPicPr>
            <a:picLocks noChangeAspect="1"/>
          </p:cNvPicPr>
          <p:nvPr/>
        </p:nvPicPr>
        <p:blipFill>
          <a:blip r:embed="rId2"/>
          <a:stretch>
            <a:fillRect/>
          </a:stretch>
        </p:blipFill>
        <p:spPr>
          <a:xfrm>
            <a:off x="838200" y="4901265"/>
            <a:ext cx="4906060" cy="1362265"/>
          </a:xfrm>
          <a:prstGeom prst="rect">
            <a:avLst/>
          </a:prstGeom>
        </p:spPr>
      </p:pic>
      <p:sp>
        <p:nvSpPr>
          <p:cNvPr id="9" name="TextBox 8">
            <a:extLst>
              <a:ext uri="{FF2B5EF4-FFF2-40B4-BE49-F238E27FC236}">
                <a16:creationId xmlns:a16="http://schemas.microsoft.com/office/drawing/2014/main" id="{2C4A5411-5558-33D8-9764-A946E811EE47}"/>
              </a:ext>
            </a:extLst>
          </p:cNvPr>
          <p:cNvSpPr txBox="1"/>
          <p:nvPr/>
        </p:nvSpPr>
        <p:spPr>
          <a:xfrm>
            <a:off x="6096000" y="5397732"/>
            <a:ext cx="6096000" cy="369332"/>
          </a:xfrm>
          <a:prstGeom prst="rect">
            <a:avLst/>
          </a:prstGeom>
          <a:noFill/>
        </p:spPr>
        <p:txBody>
          <a:bodyPr wrap="square">
            <a:spAutoFit/>
          </a:bodyPr>
          <a:lstStyle/>
          <a:p>
            <a:r>
              <a:rPr lang="en-US" dirty="0">
                <a:latin typeface="Courier New" panose="02070309020205020404" pitchFamily="49" charset="0"/>
              </a:rPr>
              <a:t>finalize()</a:t>
            </a:r>
            <a:r>
              <a:rPr lang="en-US" dirty="0"/>
              <a:t> is deprecated in modern Java9+</a:t>
            </a:r>
            <a:endParaRPr lang="en-IN" dirty="0"/>
          </a:p>
        </p:txBody>
      </p:sp>
      <p:sp>
        <p:nvSpPr>
          <p:cNvPr id="6" name="TextBox 5">
            <a:extLst>
              <a:ext uri="{FF2B5EF4-FFF2-40B4-BE49-F238E27FC236}">
                <a16:creationId xmlns:a16="http://schemas.microsoft.com/office/drawing/2014/main" id="{36BCDD86-02E7-A81C-384B-65A9D96F3FAF}"/>
              </a:ext>
            </a:extLst>
          </p:cNvPr>
          <p:cNvSpPr txBox="1"/>
          <p:nvPr/>
        </p:nvSpPr>
        <p:spPr>
          <a:xfrm>
            <a:off x="5968181" y="2873015"/>
            <a:ext cx="6096000" cy="1477328"/>
          </a:xfrm>
          <a:prstGeom prst="rect">
            <a:avLst/>
          </a:prstGeom>
          <a:noFill/>
        </p:spPr>
        <p:txBody>
          <a:bodyPr wrap="square">
            <a:spAutoFit/>
          </a:bodyPr>
          <a:lstStyle/>
          <a:p>
            <a:pPr>
              <a:buNone/>
            </a:pPr>
            <a:r>
              <a:rPr lang="en-US" dirty="0"/>
              <a:t>Because:</a:t>
            </a:r>
          </a:p>
          <a:p>
            <a:pPr>
              <a:buFont typeface="Arial" panose="020B0604020202020204" pitchFamily="34" charset="0"/>
              <a:buChar char="•"/>
            </a:pPr>
            <a:r>
              <a:rPr lang="en-US" dirty="0"/>
              <a:t>GC may not run immediately</a:t>
            </a:r>
          </a:p>
          <a:p>
            <a:pPr>
              <a:buFont typeface="Arial" panose="020B0604020202020204" pitchFamily="34" charset="0"/>
              <a:buChar char="•"/>
            </a:pPr>
            <a:r>
              <a:rPr lang="en-US" dirty="0"/>
              <a:t>Program may end before GC runs</a:t>
            </a:r>
          </a:p>
          <a:p>
            <a:pPr>
              <a:buFont typeface="Arial" panose="020B0604020202020204" pitchFamily="34" charset="0"/>
              <a:buChar char="•"/>
            </a:pPr>
            <a:r>
              <a:rPr lang="en-US" dirty="0"/>
              <a:t>JVM may ignore it</a:t>
            </a:r>
          </a:p>
          <a:p>
            <a:pPr>
              <a:buNone/>
            </a:pPr>
            <a:r>
              <a:rPr lang="en-US" dirty="0"/>
              <a:t>So you cannot rely on </a:t>
            </a:r>
            <a:r>
              <a:rPr lang="en-US" dirty="0">
                <a:latin typeface="Courier New" panose="02070309020205020404" pitchFamily="49" charset="0"/>
              </a:rPr>
              <a:t>finalize()</a:t>
            </a:r>
            <a:r>
              <a:rPr lang="en-US" dirty="0"/>
              <a:t> for important cleanup.</a:t>
            </a:r>
          </a:p>
        </p:txBody>
      </p:sp>
      <p:sp>
        <p:nvSpPr>
          <p:cNvPr id="10" name="TextBox 9">
            <a:extLst>
              <a:ext uri="{FF2B5EF4-FFF2-40B4-BE49-F238E27FC236}">
                <a16:creationId xmlns:a16="http://schemas.microsoft.com/office/drawing/2014/main" id="{F5F1A565-01A2-C87E-C326-3F45215A9415}"/>
              </a:ext>
            </a:extLst>
          </p:cNvPr>
          <p:cNvSpPr txBox="1"/>
          <p:nvPr/>
        </p:nvSpPr>
        <p:spPr>
          <a:xfrm>
            <a:off x="5968181" y="2598656"/>
            <a:ext cx="6096000" cy="369332"/>
          </a:xfrm>
          <a:prstGeom prst="rect">
            <a:avLst/>
          </a:prstGeom>
          <a:noFill/>
        </p:spPr>
        <p:txBody>
          <a:bodyPr wrap="square">
            <a:spAutoFit/>
          </a:bodyPr>
          <a:lstStyle/>
          <a:p>
            <a:r>
              <a:rPr lang="en-IN" dirty="0"/>
              <a:t>⚠ </a:t>
            </a:r>
            <a:r>
              <a:rPr lang="en-IN" b="1" dirty="0"/>
              <a:t>Not guaranteed to execute</a:t>
            </a:r>
            <a:endParaRPr lang="en-IN" dirty="0"/>
          </a:p>
        </p:txBody>
      </p:sp>
    </p:spTree>
    <p:extLst>
      <p:ext uri="{BB962C8B-B14F-4D97-AF65-F5344CB8AC3E}">
        <p14:creationId xmlns:p14="http://schemas.microsoft.com/office/powerpoint/2010/main" val="37475508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F3F74-00D7-387B-C720-83FE29F35288}"/>
              </a:ext>
            </a:extLst>
          </p:cNvPr>
          <p:cNvSpPr>
            <a:spLocks noGrp="1"/>
          </p:cNvSpPr>
          <p:nvPr>
            <p:ph type="title"/>
          </p:nvPr>
        </p:nvSpPr>
        <p:spPr/>
        <p:txBody>
          <a:bodyPr/>
          <a:lstStyle/>
          <a:p>
            <a:r>
              <a:rPr lang="en-US" b="1" dirty="0"/>
              <a:t>Instance Variables &amp; GC – Relation</a:t>
            </a:r>
            <a:endParaRPr lang="en-IN" dirty="0"/>
          </a:p>
        </p:txBody>
      </p:sp>
      <p:sp>
        <p:nvSpPr>
          <p:cNvPr id="3" name="Content Placeholder 2">
            <a:extLst>
              <a:ext uri="{FF2B5EF4-FFF2-40B4-BE49-F238E27FC236}">
                <a16:creationId xmlns:a16="http://schemas.microsoft.com/office/drawing/2014/main" id="{1D375B86-5FBA-BC6C-5D4A-1E5DC1C003F5}"/>
              </a:ext>
            </a:extLst>
          </p:cNvPr>
          <p:cNvSpPr>
            <a:spLocks noGrp="1"/>
          </p:cNvSpPr>
          <p:nvPr>
            <p:ph idx="1"/>
          </p:nvPr>
        </p:nvSpPr>
        <p:spPr/>
        <p:txBody>
          <a:bodyPr/>
          <a:lstStyle/>
          <a:p>
            <a:r>
              <a:rPr lang="en-US" dirty="0"/>
              <a:t>Instance variables are stored in heap</a:t>
            </a:r>
          </a:p>
          <a:p>
            <a:r>
              <a:rPr lang="en-US" dirty="0"/>
              <a:t>When object is destroyed → instance variables also removed</a:t>
            </a:r>
          </a:p>
          <a:p>
            <a:r>
              <a:rPr lang="en-US" dirty="0"/>
              <a:t>GC clears </a:t>
            </a:r>
            <a:r>
              <a:rPr lang="en-US" b="1" dirty="0"/>
              <a:t>entire object memory</a:t>
            </a:r>
            <a:endParaRPr lang="en-US" dirty="0"/>
          </a:p>
          <a:p>
            <a:endParaRPr lang="en-IN" dirty="0"/>
          </a:p>
        </p:txBody>
      </p:sp>
      <p:sp>
        <p:nvSpPr>
          <p:cNvPr id="4" name="Slide Number Placeholder 3">
            <a:extLst>
              <a:ext uri="{FF2B5EF4-FFF2-40B4-BE49-F238E27FC236}">
                <a16:creationId xmlns:a16="http://schemas.microsoft.com/office/drawing/2014/main" id="{98669D5B-E451-81B2-A498-A802122CB8C0}"/>
              </a:ext>
            </a:extLst>
          </p:cNvPr>
          <p:cNvSpPr>
            <a:spLocks noGrp="1"/>
          </p:cNvSpPr>
          <p:nvPr>
            <p:ph type="sldNum" sz="quarter" idx="12"/>
          </p:nvPr>
        </p:nvSpPr>
        <p:spPr/>
        <p:txBody>
          <a:bodyPr/>
          <a:lstStyle/>
          <a:p>
            <a:fld id="{4DAC0951-10B0-4509-9BA5-FD8683A6F967}" type="slidenum">
              <a:rPr lang="en-IN" smtClean="0"/>
              <a:pPr/>
              <a:t>65</a:t>
            </a:fld>
            <a:endParaRPr lang="en-IN"/>
          </a:p>
        </p:txBody>
      </p:sp>
    </p:spTree>
    <p:extLst>
      <p:ext uri="{BB962C8B-B14F-4D97-AF65-F5344CB8AC3E}">
        <p14:creationId xmlns:p14="http://schemas.microsoft.com/office/powerpoint/2010/main" val="1533056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7B744-0544-1A81-8A9B-D8C86BD2DCE7}"/>
              </a:ext>
            </a:extLst>
          </p:cNvPr>
          <p:cNvSpPr>
            <a:spLocks noGrp="1"/>
          </p:cNvSpPr>
          <p:nvPr>
            <p:ph type="title"/>
          </p:nvPr>
        </p:nvSpPr>
        <p:spPr/>
        <p:txBody>
          <a:bodyPr/>
          <a:lstStyle/>
          <a:p>
            <a:r>
              <a:rPr lang="en-US" b="1" dirty="0"/>
              <a:t>Object Eligible for Garbage Collection</a:t>
            </a:r>
            <a:endParaRPr lang="en-IN" dirty="0"/>
          </a:p>
        </p:txBody>
      </p:sp>
      <p:pic>
        <p:nvPicPr>
          <p:cNvPr id="6" name="Content Placeholder 5">
            <a:extLst>
              <a:ext uri="{FF2B5EF4-FFF2-40B4-BE49-F238E27FC236}">
                <a16:creationId xmlns:a16="http://schemas.microsoft.com/office/drawing/2014/main" id="{FC446DC8-34D3-01D6-A438-E87914C5A951}"/>
              </a:ext>
            </a:extLst>
          </p:cNvPr>
          <p:cNvPicPr>
            <a:picLocks noGrp="1" noChangeAspect="1"/>
          </p:cNvPicPr>
          <p:nvPr>
            <p:ph idx="1"/>
          </p:nvPr>
        </p:nvPicPr>
        <p:blipFill>
          <a:blip r:embed="rId2"/>
          <a:stretch>
            <a:fillRect/>
          </a:stretch>
        </p:blipFill>
        <p:spPr>
          <a:xfrm>
            <a:off x="838200" y="1794357"/>
            <a:ext cx="6496957" cy="2229161"/>
          </a:xfrm>
          <a:prstGeom prst="rect">
            <a:avLst/>
          </a:prstGeom>
        </p:spPr>
      </p:pic>
      <p:sp>
        <p:nvSpPr>
          <p:cNvPr id="4" name="Slide Number Placeholder 3">
            <a:extLst>
              <a:ext uri="{FF2B5EF4-FFF2-40B4-BE49-F238E27FC236}">
                <a16:creationId xmlns:a16="http://schemas.microsoft.com/office/drawing/2014/main" id="{947BF1DB-4A49-09DB-2DBA-8DF57685FBFB}"/>
              </a:ext>
            </a:extLst>
          </p:cNvPr>
          <p:cNvSpPr>
            <a:spLocks noGrp="1"/>
          </p:cNvSpPr>
          <p:nvPr>
            <p:ph type="sldNum" sz="quarter" idx="12"/>
          </p:nvPr>
        </p:nvSpPr>
        <p:spPr/>
        <p:txBody>
          <a:bodyPr/>
          <a:lstStyle/>
          <a:p>
            <a:fld id="{4DAC0951-10B0-4509-9BA5-FD8683A6F967}" type="slidenum">
              <a:rPr lang="en-IN" smtClean="0"/>
              <a:pPr/>
              <a:t>66</a:t>
            </a:fld>
            <a:endParaRPr lang="en-IN"/>
          </a:p>
        </p:txBody>
      </p:sp>
      <p:sp>
        <p:nvSpPr>
          <p:cNvPr id="8" name="TextBox 7">
            <a:extLst>
              <a:ext uri="{FF2B5EF4-FFF2-40B4-BE49-F238E27FC236}">
                <a16:creationId xmlns:a16="http://schemas.microsoft.com/office/drawing/2014/main" id="{908A5002-A811-FC51-3162-CDCDB374549A}"/>
              </a:ext>
            </a:extLst>
          </p:cNvPr>
          <p:cNvSpPr txBox="1"/>
          <p:nvPr/>
        </p:nvSpPr>
        <p:spPr>
          <a:xfrm>
            <a:off x="838200" y="4338172"/>
            <a:ext cx="6096000" cy="369332"/>
          </a:xfrm>
          <a:prstGeom prst="rect">
            <a:avLst/>
          </a:prstGeom>
          <a:noFill/>
        </p:spPr>
        <p:txBody>
          <a:bodyPr wrap="square">
            <a:spAutoFit/>
          </a:bodyPr>
          <a:lstStyle/>
          <a:p>
            <a:pPr>
              <a:buNone/>
            </a:pPr>
            <a:r>
              <a:rPr lang="en-US" dirty="0"/>
              <a:t>No reference → object is ready for garbage collection.</a:t>
            </a:r>
          </a:p>
        </p:txBody>
      </p:sp>
    </p:spTree>
    <p:extLst>
      <p:ext uri="{BB962C8B-B14F-4D97-AF65-F5344CB8AC3E}">
        <p14:creationId xmlns:p14="http://schemas.microsoft.com/office/powerpoint/2010/main" val="18220552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EF6F0-F897-E73B-41FA-A64B7B059D4D}"/>
              </a:ext>
            </a:extLst>
          </p:cNvPr>
          <p:cNvSpPr>
            <a:spLocks noGrp="1"/>
          </p:cNvSpPr>
          <p:nvPr>
            <p:ph type="title"/>
          </p:nvPr>
        </p:nvSpPr>
        <p:spPr/>
        <p:txBody>
          <a:bodyPr/>
          <a:lstStyle/>
          <a:p>
            <a:r>
              <a:rPr lang="en-IN" b="1" dirty="0"/>
              <a:t>Reassigning Reference</a:t>
            </a:r>
          </a:p>
        </p:txBody>
      </p:sp>
      <p:pic>
        <p:nvPicPr>
          <p:cNvPr id="6" name="Content Placeholder 5">
            <a:extLst>
              <a:ext uri="{FF2B5EF4-FFF2-40B4-BE49-F238E27FC236}">
                <a16:creationId xmlns:a16="http://schemas.microsoft.com/office/drawing/2014/main" id="{AE11149B-0F9C-FE70-8586-221F88814663}"/>
              </a:ext>
            </a:extLst>
          </p:cNvPr>
          <p:cNvPicPr>
            <a:picLocks noGrp="1" noChangeAspect="1"/>
          </p:cNvPicPr>
          <p:nvPr>
            <p:ph idx="1"/>
          </p:nvPr>
        </p:nvPicPr>
        <p:blipFill>
          <a:blip r:embed="rId2"/>
          <a:stretch>
            <a:fillRect/>
          </a:stretch>
        </p:blipFill>
        <p:spPr>
          <a:xfrm>
            <a:off x="948495" y="1690688"/>
            <a:ext cx="8083096" cy="3137882"/>
          </a:xfrm>
          <a:prstGeom prst="rect">
            <a:avLst/>
          </a:prstGeom>
        </p:spPr>
      </p:pic>
      <p:sp>
        <p:nvSpPr>
          <p:cNvPr id="4" name="Slide Number Placeholder 3">
            <a:extLst>
              <a:ext uri="{FF2B5EF4-FFF2-40B4-BE49-F238E27FC236}">
                <a16:creationId xmlns:a16="http://schemas.microsoft.com/office/drawing/2014/main" id="{BC34C189-F425-0871-AEF3-C83103B9E6C5}"/>
              </a:ext>
            </a:extLst>
          </p:cNvPr>
          <p:cNvSpPr>
            <a:spLocks noGrp="1"/>
          </p:cNvSpPr>
          <p:nvPr>
            <p:ph type="sldNum" sz="quarter" idx="12"/>
          </p:nvPr>
        </p:nvSpPr>
        <p:spPr/>
        <p:txBody>
          <a:bodyPr/>
          <a:lstStyle/>
          <a:p>
            <a:fld id="{4DAC0951-10B0-4509-9BA5-FD8683A6F967}" type="slidenum">
              <a:rPr lang="en-IN" smtClean="0"/>
              <a:pPr/>
              <a:t>67</a:t>
            </a:fld>
            <a:endParaRPr lang="en-IN"/>
          </a:p>
        </p:txBody>
      </p:sp>
      <p:sp>
        <p:nvSpPr>
          <p:cNvPr id="8" name="TextBox 7">
            <a:extLst>
              <a:ext uri="{FF2B5EF4-FFF2-40B4-BE49-F238E27FC236}">
                <a16:creationId xmlns:a16="http://schemas.microsoft.com/office/drawing/2014/main" id="{55F3B470-7993-5637-AD7F-24D55800B907}"/>
              </a:ext>
            </a:extLst>
          </p:cNvPr>
          <p:cNvSpPr txBox="1"/>
          <p:nvPr/>
        </p:nvSpPr>
        <p:spPr>
          <a:xfrm>
            <a:off x="948495" y="5167312"/>
            <a:ext cx="6096000" cy="369332"/>
          </a:xfrm>
          <a:prstGeom prst="rect">
            <a:avLst/>
          </a:prstGeom>
          <a:noFill/>
        </p:spPr>
        <p:txBody>
          <a:bodyPr wrap="square">
            <a:spAutoFit/>
          </a:bodyPr>
          <a:lstStyle/>
          <a:p>
            <a:r>
              <a:rPr lang="en-US" dirty="0"/>
              <a:t>Old object loses reference → GC candidate.</a:t>
            </a:r>
            <a:endParaRPr lang="en-IN" dirty="0"/>
          </a:p>
        </p:txBody>
      </p:sp>
    </p:spTree>
    <p:extLst>
      <p:ext uri="{BB962C8B-B14F-4D97-AF65-F5344CB8AC3E}">
        <p14:creationId xmlns:p14="http://schemas.microsoft.com/office/powerpoint/2010/main" val="30010384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7DE8B-4037-74AD-B27B-07D24094BC1D}"/>
              </a:ext>
            </a:extLst>
          </p:cNvPr>
          <p:cNvSpPr>
            <a:spLocks noGrp="1"/>
          </p:cNvSpPr>
          <p:nvPr>
            <p:ph type="title"/>
          </p:nvPr>
        </p:nvSpPr>
        <p:spPr/>
        <p:txBody>
          <a:bodyPr/>
          <a:lstStyle/>
          <a:p>
            <a:r>
              <a:rPr lang="en-IN" b="1" dirty="0"/>
              <a:t>Garbage Collection Request</a:t>
            </a:r>
          </a:p>
        </p:txBody>
      </p:sp>
      <p:sp>
        <p:nvSpPr>
          <p:cNvPr id="4" name="Slide Number Placeholder 3">
            <a:extLst>
              <a:ext uri="{FF2B5EF4-FFF2-40B4-BE49-F238E27FC236}">
                <a16:creationId xmlns:a16="http://schemas.microsoft.com/office/drawing/2014/main" id="{936AF7D5-970E-D315-D305-3BD9EC8ADFE7}"/>
              </a:ext>
            </a:extLst>
          </p:cNvPr>
          <p:cNvSpPr>
            <a:spLocks noGrp="1"/>
          </p:cNvSpPr>
          <p:nvPr>
            <p:ph type="sldNum" sz="quarter" idx="12"/>
          </p:nvPr>
        </p:nvSpPr>
        <p:spPr/>
        <p:txBody>
          <a:bodyPr/>
          <a:lstStyle/>
          <a:p>
            <a:fld id="{4DAC0951-10B0-4509-9BA5-FD8683A6F967}" type="slidenum">
              <a:rPr lang="en-IN" smtClean="0"/>
              <a:pPr/>
              <a:t>68</a:t>
            </a:fld>
            <a:endParaRPr lang="en-IN"/>
          </a:p>
        </p:txBody>
      </p:sp>
      <p:pic>
        <p:nvPicPr>
          <p:cNvPr id="6" name="Picture 5">
            <a:extLst>
              <a:ext uri="{FF2B5EF4-FFF2-40B4-BE49-F238E27FC236}">
                <a16:creationId xmlns:a16="http://schemas.microsoft.com/office/drawing/2014/main" id="{195DD685-F79D-0524-0B9D-D5BCFEBBC64B}"/>
              </a:ext>
            </a:extLst>
          </p:cNvPr>
          <p:cNvPicPr>
            <a:picLocks noChangeAspect="1"/>
          </p:cNvPicPr>
          <p:nvPr/>
        </p:nvPicPr>
        <p:blipFill>
          <a:blip r:embed="rId2"/>
          <a:stretch>
            <a:fillRect/>
          </a:stretch>
        </p:blipFill>
        <p:spPr>
          <a:xfrm>
            <a:off x="630282" y="1501401"/>
            <a:ext cx="6962614" cy="2972276"/>
          </a:xfrm>
          <a:prstGeom prst="rect">
            <a:avLst/>
          </a:prstGeom>
        </p:spPr>
      </p:pic>
      <p:sp>
        <p:nvSpPr>
          <p:cNvPr id="8" name="TextBox 7">
            <a:extLst>
              <a:ext uri="{FF2B5EF4-FFF2-40B4-BE49-F238E27FC236}">
                <a16:creationId xmlns:a16="http://schemas.microsoft.com/office/drawing/2014/main" id="{A08B3C18-1657-664D-D1A4-6772DA5E978B}"/>
              </a:ext>
            </a:extLst>
          </p:cNvPr>
          <p:cNvSpPr txBox="1"/>
          <p:nvPr/>
        </p:nvSpPr>
        <p:spPr>
          <a:xfrm>
            <a:off x="630282" y="4987267"/>
            <a:ext cx="6096000" cy="369332"/>
          </a:xfrm>
          <a:prstGeom prst="rect">
            <a:avLst/>
          </a:prstGeom>
          <a:noFill/>
        </p:spPr>
        <p:txBody>
          <a:bodyPr wrap="square">
            <a:spAutoFit/>
          </a:bodyPr>
          <a:lstStyle/>
          <a:p>
            <a:r>
              <a:rPr lang="en-US" dirty="0"/>
              <a:t>GC </a:t>
            </a:r>
            <a:r>
              <a:rPr lang="en-US" b="1" dirty="0"/>
              <a:t>may or may not run</a:t>
            </a:r>
            <a:r>
              <a:rPr lang="en-US" dirty="0"/>
              <a:t>.</a:t>
            </a:r>
            <a:endParaRPr lang="en-IN" dirty="0"/>
          </a:p>
        </p:txBody>
      </p:sp>
    </p:spTree>
    <p:extLst>
      <p:ext uri="{BB962C8B-B14F-4D97-AF65-F5344CB8AC3E}">
        <p14:creationId xmlns:p14="http://schemas.microsoft.com/office/powerpoint/2010/main" val="42408137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9F28-8131-6026-33BF-AE3B03018F16}"/>
              </a:ext>
            </a:extLst>
          </p:cNvPr>
          <p:cNvSpPr>
            <a:spLocks noGrp="1"/>
          </p:cNvSpPr>
          <p:nvPr>
            <p:ph type="title"/>
          </p:nvPr>
        </p:nvSpPr>
        <p:spPr/>
        <p:txBody>
          <a:bodyPr/>
          <a:lstStyle/>
          <a:p>
            <a:r>
              <a:rPr lang="en-IN" b="1" dirty="0"/>
              <a:t>finalize() Method</a:t>
            </a:r>
          </a:p>
        </p:txBody>
      </p:sp>
      <p:sp>
        <p:nvSpPr>
          <p:cNvPr id="4" name="Slide Number Placeholder 3">
            <a:extLst>
              <a:ext uri="{FF2B5EF4-FFF2-40B4-BE49-F238E27FC236}">
                <a16:creationId xmlns:a16="http://schemas.microsoft.com/office/drawing/2014/main" id="{19547244-3447-1110-0024-EF5070D40DBB}"/>
              </a:ext>
            </a:extLst>
          </p:cNvPr>
          <p:cNvSpPr>
            <a:spLocks noGrp="1"/>
          </p:cNvSpPr>
          <p:nvPr>
            <p:ph type="sldNum" sz="quarter" idx="12"/>
          </p:nvPr>
        </p:nvSpPr>
        <p:spPr/>
        <p:txBody>
          <a:bodyPr/>
          <a:lstStyle/>
          <a:p>
            <a:fld id="{4DAC0951-10B0-4509-9BA5-FD8683A6F967}" type="slidenum">
              <a:rPr lang="en-IN" smtClean="0"/>
              <a:pPr/>
              <a:t>69</a:t>
            </a:fld>
            <a:endParaRPr lang="en-IN"/>
          </a:p>
        </p:txBody>
      </p:sp>
      <p:pic>
        <p:nvPicPr>
          <p:cNvPr id="6" name="Picture 5">
            <a:extLst>
              <a:ext uri="{FF2B5EF4-FFF2-40B4-BE49-F238E27FC236}">
                <a16:creationId xmlns:a16="http://schemas.microsoft.com/office/drawing/2014/main" id="{5BC39ED1-F1E4-5323-8C8E-B7EDBFBB35D5}"/>
              </a:ext>
            </a:extLst>
          </p:cNvPr>
          <p:cNvPicPr>
            <a:picLocks noChangeAspect="1"/>
          </p:cNvPicPr>
          <p:nvPr/>
        </p:nvPicPr>
        <p:blipFill>
          <a:blip r:embed="rId2"/>
          <a:stretch>
            <a:fillRect/>
          </a:stretch>
        </p:blipFill>
        <p:spPr>
          <a:xfrm>
            <a:off x="838200" y="1518573"/>
            <a:ext cx="6716453" cy="4195101"/>
          </a:xfrm>
          <a:prstGeom prst="rect">
            <a:avLst/>
          </a:prstGeom>
        </p:spPr>
      </p:pic>
      <p:sp>
        <p:nvSpPr>
          <p:cNvPr id="8" name="TextBox 7">
            <a:extLst>
              <a:ext uri="{FF2B5EF4-FFF2-40B4-BE49-F238E27FC236}">
                <a16:creationId xmlns:a16="http://schemas.microsoft.com/office/drawing/2014/main" id="{8F6E00CF-57B8-7746-6F41-D782FB3AB7BA}"/>
              </a:ext>
            </a:extLst>
          </p:cNvPr>
          <p:cNvSpPr txBox="1"/>
          <p:nvPr/>
        </p:nvSpPr>
        <p:spPr>
          <a:xfrm>
            <a:off x="838200" y="6004535"/>
            <a:ext cx="6096000" cy="369332"/>
          </a:xfrm>
          <a:prstGeom prst="rect">
            <a:avLst/>
          </a:prstGeom>
          <a:noFill/>
        </p:spPr>
        <p:txBody>
          <a:bodyPr wrap="square">
            <a:spAutoFit/>
          </a:bodyPr>
          <a:lstStyle/>
          <a:p>
            <a:pPr>
              <a:buNone/>
            </a:pPr>
            <a:r>
              <a:rPr lang="en-US" dirty="0">
                <a:latin typeface="Courier New" panose="02070309020205020404" pitchFamily="49" charset="0"/>
              </a:rPr>
              <a:t>finalize()</a:t>
            </a:r>
            <a:r>
              <a:rPr lang="en-US" dirty="0"/>
              <a:t> is </a:t>
            </a:r>
            <a:r>
              <a:rPr lang="en-US" b="1" dirty="0"/>
              <a:t>not guaranteed</a:t>
            </a:r>
            <a:r>
              <a:rPr lang="en-US" dirty="0"/>
              <a:t> to execute.</a:t>
            </a:r>
          </a:p>
        </p:txBody>
      </p:sp>
    </p:spTree>
    <p:extLst>
      <p:ext uri="{BB962C8B-B14F-4D97-AF65-F5344CB8AC3E}">
        <p14:creationId xmlns:p14="http://schemas.microsoft.com/office/powerpoint/2010/main" val="7695160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45EA-7104-71BB-4EB0-BF319BC3F5AD}"/>
              </a:ext>
            </a:extLst>
          </p:cNvPr>
          <p:cNvSpPr>
            <a:spLocks noGrp="1"/>
          </p:cNvSpPr>
          <p:nvPr>
            <p:ph type="title"/>
          </p:nvPr>
        </p:nvSpPr>
        <p:spPr/>
        <p:txBody>
          <a:bodyPr/>
          <a:lstStyle/>
          <a:p>
            <a:r>
              <a:rPr lang="en-IN" b="1" dirty="0"/>
              <a:t>Instance Variables + GC Together</a:t>
            </a:r>
          </a:p>
        </p:txBody>
      </p:sp>
      <p:sp>
        <p:nvSpPr>
          <p:cNvPr id="4" name="Slide Number Placeholder 3">
            <a:extLst>
              <a:ext uri="{FF2B5EF4-FFF2-40B4-BE49-F238E27FC236}">
                <a16:creationId xmlns:a16="http://schemas.microsoft.com/office/drawing/2014/main" id="{C5D8F6CF-9D74-D0E0-27F7-F73D6FB67F89}"/>
              </a:ext>
            </a:extLst>
          </p:cNvPr>
          <p:cNvSpPr>
            <a:spLocks noGrp="1"/>
          </p:cNvSpPr>
          <p:nvPr>
            <p:ph type="sldNum" sz="quarter" idx="12"/>
          </p:nvPr>
        </p:nvSpPr>
        <p:spPr/>
        <p:txBody>
          <a:bodyPr/>
          <a:lstStyle/>
          <a:p>
            <a:fld id="{4DAC0951-10B0-4509-9BA5-FD8683A6F967}" type="slidenum">
              <a:rPr lang="en-IN" smtClean="0"/>
              <a:pPr/>
              <a:t>70</a:t>
            </a:fld>
            <a:endParaRPr lang="en-IN"/>
          </a:p>
        </p:txBody>
      </p:sp>
      <p:pic>
        <p:nvPicPr>
          <p:cNvPr id="6" name="Picture 5">
            <a:extLst>
              <a:ext uri="{FF2B5EF4-FFF2-40B4-BE49-F238E27FC236}">
                <a16:creationId xmlns:a16="http://schemas.microsoft.com/office/drawing/2014/main" id="{0AD025B4-70B5-563C-CFDB-2C1EBC945C0A}"/>
              </a:ext>
            </a:extLst>
          </p:cNvPr>
          <p:cNvPicPr>
            <a:picLocks noChangeAspect="1"/>
          </p:cNvPicPr>
          <p:nvPr/>
        </p:nvPicPr>
        <p:blipFill>
          <a:blip r:embed="rId2"/>
          <a:stretch>
            <a:fillRect/>
          </a:stretch>
        </p:blipFill>
        <p:spPr>
          <a:xfrm>
            <a:off x="838200" y="1690688"/>
            <a:ext cx="7544188" cy="4158831"/>
          </a:xfrm>
          <a:prstGeom prst="rect">
            <a:avLst/>
          </a:prstGeom>
        </p:spPr>
      </p:pic>
      <p:sp>
        <p:nvSpPr>
          <p:cNvPr id="8" name="TextBox 7">
            <a:extLst>
              <a:ext uri="{FF2B5EF4-FFF2-40B4-BE49-F238E27FC236}">
                <a16:creationId xmlns:a16="http://schemas.microsoft.com/office/drawing/2014/main" id="{5C60CD6A-1C64-BFAD-231B-E129D7D0C406}"/>
              </a:ext>
            </a:extLst>
          </p:cNvPr>
          <p:cNvSpPr txBox="1"/>
          <p:nvPr/>
        </p:nvSpPr>
        <p:spPr>
          <a:xfrm>
            <a:off x="838200" y="5987018"/>
            <a:ext cx="7157885" cy="369332"/>
          </a:xfrm>
          <a:prstGeom prst="rect">
            <a:avLst/>
          </a:prstGeom>
          <a:noFill/>
        </p:spPr>
        <p:txBody>
          <a:bodyPr wrap="square">
            <a:spAutoFit/>
          </a:bodyPr>
          <a:lstStyle/>
          <a:p>
            <a:pPr>
              <a:buNone/>
            </a:pPr>
            <a:r>
              <a:rPr lang="en-US" dirty="0"/>
              <a:t>When object is destroyed → instance variables are destroyed too.</a:t>
            </a:r>
          </a:p>
        </p:txBody>
      </p:sp>
    </p:spTree>
    <p:extLst>
      <p:ext uri="{BB962C8B-B14F-4D97-AF65-F5344CB8AC3E}">
        <p14:creationId xmlns:p14="http://schemas.microsoft.com/office/powerpoint/2010/main" val="3285871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7747B-FC93-444C-AD15-FF2FFBB7A7B4}"/>
              </a:ext>
            </a:extLst>
          </p:cNvPr>
          <p:cNvSpPr>
            <a:spLocks noGrp="1"/>
          </p:cNvSpPr>
          <p:nvPr>
            <p:ph idx="1"/>
          </p:nvPr>
        </p:nvSpPr>
        <p:spPr>
          <a:xfrm>
            <a:off x="2984938" y="2288190"/>
            <a:ext cx="5625662" cy="1650671"/>
          </a:xfrm>
        </p:spPr>
        <p:txBody>
          <a:bodyPr>
            <a:normAutofit/>
          </a:bodyPr>
          <a:lstStyle/>
          <a:p>
            <a:pPr marL="0" indent="0">
              <a:buNone/>
            </a:pPr>
            <a:r>
              <a:rPr lang="en-IN" sz="6000">
                <a:solidFill>
                  <a:srgbClr val="C00000"/>
                </a:solidFill>
                <a:latin typeface="Gill Sans MT" panose="020B0502020104020203" pitchFamily="34" charset="0"/>
              </a:rPr>
              <a:t>THANK YOU….</a:t>
            </a:r>
          </a:p>
        </p:txBody>
      </p:sp>
      <p:sp>
        <p:nvSpPr>
          <p:cNvPr id="4" name="Slide Number Placeholder 3">
            <a:extLst>
              <a:ext uri="{FF2B5EF4-FFF2-40B4-BE49-F238E27FC236}">
                <a16:creationId xmlns:a16="http://schemas.microsoft.com/office/drawing/2014/main" id="{F0764523-E918-4897-9A82-4D30A10A59DA}"/>
              </a:ext>
            </a:extLst>
          </p:cNvPr>
          <p:cNvSpPr>
            <a:spLocks noGrp="1"/>
          </p:cNvSpPr>
          <p:nvPr>
            <p:ph type="sldNum" sz="quarter" idx="12"/>
          </p:nvPr>
        </p:nvSpPr>
        <p:spPr/>
        <p:txBody>
          <a:bodyPr/>
          <a:lstStyle/>
          <a:p>
            <a:fld id="{4DAC0951-10B0-4509-9BA5-FD8683A6F967}" type="slidenum">
              <a:rPr lang="en-IN" smtClean="0"/>
              <a:pPr/>
              <a:t>71</a:t>
            </a:fld>
            <a:endParaRPr lang="en-IN"/>
          </a:p>
        </p:txBody>
      </p:sp>
    </p:spTree>
    <p:extLst>
      <p:ext uri="{BB962C8B-B14F-4D97-AF65-F5344CB8AC3E}">
        <p14:creationId xmlns:p14="http://schemas.microsoft.com/office/powerpoint/2010/main" val="2373491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F024F883C1EB439D9CEBB07B391432" ma:contentTypeVersion="15" ma:contentTypeDescription="Create a new document." ma:contentTypeScope="" ma:versionID="6f22b1dbeecc3e7de865b1be03530839">
  <xsd:schema xmlns:xsd="http://www.w3.org/2001/XMLSchema" xmlns:xs="http://www.w3.org/2001/XMLSchema" xmlns:p="http://schemas.microsoft.com/office/2006/metadata/properties" xmlns:ns2="1ff8b294-f911-4921-bab2-b129d30999ae" xmlns:ns3="e44f19b1-23d1-4256-85b7-751a04667b80" targetNamespace="http://schemas.microsoft.com/office/2006/metadata/properties" ma:root="true" ma:fieldsID="75f53b8d75ebd5e719e62bb1ec10ff60" ns2:_="" ns3:_="">
    <xsd:import namespace="1ff8b294-f911-4921-bab2-b129d30999ae"/>
    <xsd:import namespace="e44f19b1-23d1-4256-85b7-751a04667b8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8b294-f911-4921-bab2-b129d30999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2c9b6d1-cdd5-49c1-8e2f-edd4e44511e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44f19b1-23d1-4256-85b7-751a04667b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729088f-7ac0-41da-9388-edb58686ae28}" ma:internalName="TaxCatchAll" ma:showField="CatchAllData" ma:web="e44f19b1-23d1-4256-85b7-751a04667b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44f19b1-23d1-4256-85b7-751a04667b80" xsi:nil="true"/>
    <lcf76f155ced4ddcb4097134ff3c332f xmlns="1ff8b294-f911-4921-bab2-b129d30999a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C2398F8-08AB-4250-BCD8-4FFDDC36853E}">
  <ds:schemaRefs>
    <ds:schemaRef ds:uri="http://schemas.microsoft.com/sharepoint/v3/contenttype/forms"/>
  </ds:schemaRefs>
</ds:datastoreItem>
</file>

<file path=customXml/itemProps2.xml><?xml version="1.0" encoding="utf-8"?>
<ds:datastoreItem xmlns:ds="http://schemas.openxmlformats.org/officeDocument/2006/customXml" ds:itemID="{FA6040FF-032D-4568-B585-C49ECB5E9236}">
  <ds:schemaRefs>
    <ds:schemaRef ds:uri="1ff8b294-f911-4921-bab2-b129d30999ae"/>
    <ds:schemaRef ds:uri="e44f19b1-23d1-4256-85b7-751a04667b80"/>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9E168F-EA8E-49EB-BBEA-4A67837F4DF3}">
  <ds:schemaRefs>
    <ds:schemaRef ds:uri="1ff8b294-f911-4921-bab2-b129d30999ae"/>
    <ds:schemaRef ds:uri="e44f19b1-23d1-4256-85b7-751a04667b80"/>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Ion</Template>
  <TotalTime>525</TotalTime>
  <Words>3767</Words>
  <Application>Microsoft Office PowerPoint</Application>
  <PresentationFormat>Widescreen</PresentationFormat>
  <Paragraphs>701</Paragraphs>
  <Slides>71</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71</vt:i4>
      </vt:variant>
    </vt:vector>
  </HeadingPairs>
  <TitlesOfParts>
    <vt:vector size="85" baseType="lpstr">
      <vt:lpstr>Arial</vt:lpstr>
      <vt:lpstr>Arial MT</vt:lpstr>
      <vt:lpstr>Arial Rounded MT Bold</vt:lpstr>
      <vt:lpstr>Baskerville Old Face</vt:lpstr>
      <vt:lpstr>Calibri</vt:lpstr>
      <vt:lpstr>Calibri Light</vt:lpstr>
      <vt:lpstr>Consolas</vt:lpstr>
      <vt:lpstr>Courier New</vt:lpstr>
      <vt:lpstr>Gill Sans MT</vt:lpstr>
      <vt:lpstr>Roboto</vt:lpstr>
      <vt:lpstr>Times New Roman</vt:lpstr>
      <vt:lpstr>Verdana</vt:lpstr>
      <vt:lpstr>Wingdings</vt:lpstr>
      <vt:lpstr>Office Theme</vt:lpstr>
      <vt:lpstr>Object Oriented Paradigm</vt:lpstr>
      <vt:lpstr>Contents - Inheritance</vt:lpstr>
      <vt:lpstr>RULE 1: Multiple Inheritance is NOT permitted in Java</vt:lpstr>
      <vt:lpstr>Rules of Inheritance in JAVA</vt:lpstr>
      <vt:lpstr>RULE 2: Cyclic Inheritance is NOT permitted in Java.</vt:lpstr>
      <vt:lpstr>RULE 3: Private members do NOT get inherited.</vt:lpstr>
      <vt:lpstr>RULE 4: Constructors cannot be Inherited in Java.</vt:lpstr>
      <vt:lpstr>RULE 5: In Java, we assign parent reference to child objects.</vt:lpstr>
      <vt:lpstr>RULE 6: Constructors get executed because of super() present in the constructor.</vt:lpstr>
      <vt:lpstr>Constructors in Java</vt:lpstr>
      <vt:lpstr>Rules for creating Java constructor</vt:lpstr>
      <vt:lpstr>PowerPoint Presentation</vt:lpstr>
      <vt:lpstr>Java Default Constructor</vt:lpstr>
      <vt:lpstr>public class Bike1</vt:lpstr>
      <vt:lpstr>Java Parameterized Constructor</vt:lpstr>
      <vt:lpstr>PowerPoint Presentation</vt:lpstr>
      <vt:lpstr>PowerPoint Presentation</vt:lpstr>
      <vt:lpstr>Constructor Overloading in Java</vt:lpstr>
      <vt:lpstr>PowerPoint Presentation</vt:lpstr>
      <vt:lpstr>What is Polymorphism?</vt:lpstr>
      <vt:lpstr>Polymorphism in Java</vt:lpstr>
      <vt:lpstr>PowerPoint Presentation</vt:lpstr>
      <vt:lpstr>PowerPoint Presentation</vt:lpstr>
      <vt:lpstr>Types of Polymorphism</vt:lpstr>
      <vt:lpstr>Method Overloading &amp; Overriding</vt:lpstr>
      <vt:lpstr>Overloading</vt:lpstr>
      <vt:lpstr>Example</vt:lpstr>
      <vt:lpstr>Overloading the main() method</vt:lpstr>
      <vt:lpstr>Overloading static Methods</vt:lpstr>
      <vt:lpstr>What is super Keyword in Java?</vt:lpstr>
      <vt:lpstr>Super Keyword</vt:lpstr>
      <vt:lpstr>PowerPoint Presentation</vt:lpstr>
      <vt:lpstr>1) super is used to refer immediate parent class instance variable.</vt:lpstr>
      <vt:lpstr>PowerPoint Presentation</vt:lpstr>
      <vt:lpstr>2) super can be used to invoke parent class method</vt:lpstr>
      <vt:lpstr>PowerPoint Presentation</vt:lpstr>
      <vt:lpstr>PowerPoint Presentation</vt:lpstr>
      <vt:lpstr>PowerPoint Presentation</vt:lpstr>
      <vt:lpstr>3) super is used to invoke parent class constructor.</vt:lpstr>
      <vt:lpstr>PowerPoint Presentation</vt:lpstr>
      <vt:lpstr>PowerPoint Presentation</vt:lpstr>
      <vt:lpstr>final Keyword In Java</vt:lpstr>
      <vt:lpstr>1) Java final variable</vt:lpstr>
      <vt:lpstr>2) Java final method</vt:lpstr>
      <vt:lpstr>3) Java final class</vt:lpstr>
      <vt:lpstr>Method Overriding</vt:lpstr>
      <vt:lpstr>Example</vt:lpstr>
      <vt:lpstr>Program to show overriding using super keyword</vt:lpstr>
      <vt:lpstr>Rules</vt:lpstr>
      <vt:lpstr>Key Difference </vt:lpstr>
      <vt:lpstr>PowerPoint Presentation</vt:lpstr>
      <vt:lpstr>Class Instance Variables</vt:lpstr>
      <vt:lpstr>Characteristics of Instance Variables</vt:lpstr>
      <vt:lpstr>Accessing Instance Variables</vt:lpstr>
      <vt:lpstr>Instance Variables vs Local Variables</vt:lpstr>
      <vt:lpstr>PowerPoint Presentation</vt:lpstr>
      <vt:lpstr>Each Object Has Its Own Copy</vt:lpstr>
      <vt:lpstr>Default Values of Instance Variables</vt:lpstr>
      <vt:lpstr>Instance Variable vs Local Variable</vt:lpstr>
      <vt:lpstr>Instance Variables &amp; Polymorphism</vt:lpstr>
      <vt:lpstr>What is Garbage Collector?</vt:lpstr>
      <vt:lpstr>Garbage Collection Process</vt:lpstr>
      <vt:lpstr>Can We Force Garbage Collection?</vt:lpstr>
      <vt:lpstr>finalize() Method (Conceptual)</vt:lpstr>
      <vt:lpstr>Instance Variables &amp; GC – Relation</vt:lpstr>
      <vt:lpstr>Object Eligible for Garbage Collection</vt:lpstr>
      <vt:lpstr>Reassigning Reference</vt:lpstr>
      <vt:lpstr>Garbage Collection Request</vt:lpstr>
      <vt:lpstr>finalize() Method</vt:lpstr>
      <vt:lpstr>Instance Variables + GC Together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Sreedevi - A. G [CSE]</dc:creator>
  <cp:lastModifiedBy>Priyanka C</cp:lastModifiedBy>
  <cp:revision>32</cp:revision>
  <dcterms:created xsi:type="dcterms:W3CDTF">2020-07-16T06:46:11Z</dcterms:created>
  <dcterms:modified xsi:type="dcterms:W3CDTF">2026-02-12T03:33:38Z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0x010100C1F024F883C1EB439D9CEBB07B391432</vt:lpwstr>
  </property>
  <property fmtid="{D5CDD505-2E9C-101B-9397-08002B2CF9AE}" pid="3" name="MediaServiceImageTags">
    <vt:lpwstr/>
  </property>
</Properties>
</file>