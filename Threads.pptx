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57" r:id="rId3"/>
    <p:sldId id="358" r:id="rId4"/>
    <p:sldId id="359" r:id="rId5"/>
    <p:sldId id="360" r:id="rId6"/>
    <p:sldId id="361" r:id="rId7"/>
    <p:sldId id="362" r:id="rId8"/>
    <p:sldId id="363" r:id="rId9"/>
    <p:sldId id="364" r:id="rId10"/>
    <p:sldId id="365" r:id="rId11"/>
    <p:sldId id="366" r:id="rId12"/>
    <p:sldId id="367" r:id="rId13"/>
    <p:sldId id="368" r:id="rId14"/>
    <p:sldId id="369" r:id="rId15"/>
    <p:sldId id="370" r:id="rId16"/>
    <p:sldId id="371" r:id="rId17"/>
    <p:sldId id="372" r:id="rId18"/>
    <p:sldId id="373" r:id="rId19"/>
    <p:sldId id="374" r:id="rId20"/>
    <p:sldId id="375" r:id="rId21"/>
    <p:sldId id="376" r:id="rId22"/>
    <p:sldId id="377" r:id="rId23"/>
    <p:sldId id="378" r:id="rId24"/>
    <p:sldId id="379" r:id="rId25"/>
    <p:sldId id="380" r:id="rId26"/>
    <p:sldId id="381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C1D28-F9AD-70A4-F524-6B93EB63ED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F62BBF-AF46-05E8-C3B5-02BEF3B602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4819B4-80CC-DF3D-9EC6-6A4C30400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07F3A-FEEC-4F13-817D-921B0B25A8F0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078663-5D8E-DD49-FA78-9802E14C0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43C2E1-12D2-215A-997F-9F597F5F9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BCC15-A013-44B8-911F-B5A07272DC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71399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0695B-7558-C72A-1402-98C1BEC6B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238CCB-B197-B4FD-4387-F45A4AA767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ADDB9D-34BD-277F-3EC9-85226FF17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07F3A-FEEC-4F13-817D-921B0B25A8F0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CB9458-BBAF-2672-B75E-18673DEA7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E24BEB-DC5A-32FD-4A5D-4758A7796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BCC15-A013-44B8-911F-B5A07272DC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4536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67B0E-F705-FB85-BFBF-45294A738E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4F6CFC-7FFA-D198-6FC3-76F4B8C348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781F4D-4FA0-6042-5D28-81BD58B00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07F3A-FEEC-4F13-817D-921B0B25A8F0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2AA96C-38BF-87C6-F5A1-2B5F4029A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BAEA2C-61FF-345F-B580-7AA78DCB4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BCC15-A013-44B8-911F-B5A07272DC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72606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39252-ABE9-8AC1-1E4D-7B7981D498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1AECED-B3A0-DE45-1B9C-EE544239A0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0A6EA6-2885-7B9D-775F-E9049A8087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278F92-206C-2C06-0AA1-3096D0D8C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07F3A-FEEC-4F13-817D-921B0B25A8F0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1FA1E4-22F6-9F11-0BD0-58992B4EB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AE00E8-4D9D-9F41-2393-19A3BEA1D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BCC15-A013-44B8-911F-B5A07272DC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6105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1F224-FBA7-0B91-13EA-FF57E739F0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9A9670-120A-9A46-EC72-DFBC36DC80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759132-BEC1-D235-262C-77960A2558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CD95E9-27D8-0861-0265-4FAD7A44DD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54DAFD-7010-4B9B-93BD-3792F6D35F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F7B22C-6A1C-8EA0-87B0-7C954C800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07F3A-FEEC-4F13-817D-921B0B25A8F0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F0EF51-4A6F-A6A9-186D-2C3B48C4B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DCAB1F4-845A-5B83-097C-B2FE152E2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BCC15-A013-44B8-911F-B5A07272DC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41656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AB3AF-49A4-9EAC-68E4-8976686E9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2059F0-1254-5BAA-20DE-D303E7D03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07F3A-FEEC-4F13-817D-921B0B25A8F0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CBAE71-6061-9342-D856-83A04A234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3CE287-36C5-98D7-CAE9-7ABD3349B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BCC15-A013-44B8-911F-B5A07272DC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55708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EAC1F6-94DC-ED3F-7D56-C0FCE24FC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07F3A-FEEC-4F13-817D-921B0B25A8F0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81A206-3CB2-84EA-A95C-A13C07937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C6A31D-616F-9620-F91D-27F167310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BCC15-A013-44B8-911F-B5A07272DC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83433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24998-92A0-8B84-FE98-882C6A191A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1EEEF9-ADA3-E568-4B37-FF037F3F92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0F01A8-4170-1836-3AB7-8564224631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E1DF2F-8FDD-CEDA-7F94-9D4EE5DEE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07F3A-FEEC-4F13-817D-921B0B25A8F0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DB146C-197A-6D5C-69D4-BF9264F6E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BD0E7C-E82F-D907-2D4E-FEEACF0AA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BCC15-A013-44B8-911F-B5A07272DC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07284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0EA91-4F9F-1C75-1334-0D7DA5D24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AA10F06-75D5-F9BE-0D3C-4563B923A9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42389E-41C9-18B9-C7A5-20ECBBDCE4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418DBD-BA3A-FE61-8717-B733D172B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07F3A-FEEC-4F13-817D-921B0B25A8F0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8634E1-5277-E927-C942-31A02149C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7B9A69-437D-938B-2206-8619E7EA1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BCC15-A013-44B8-911F-B5A07272DC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37025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7AE0E-0A7B-887C-4C0D-6A0ADDD7E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F70675-1120-8817-108F-2645FBEF0F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64EFB0-1904-8E3E-7FDD-7E71E6613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07F3A-FEEC-4F13-817D-921B0B25A8F0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F72B03-FCCD-46A2-6A79-5FEA7962C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8FCCE2-F957-1FC4-D07B-984B76C74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BCC15-A013-44B8-911F-B5A07272DC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51577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59DF7A1-C544-DEE3-A68E-636CD35F6F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F56D39-B8FF-A60A-D995-C159A728AB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9D6071-4343-9298-0C8F-833E80605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07F3A-FEEC-4F13-817D-921B0B25A8F0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5AB2B1-A81A-2A84-1DB0-DBD88BC9C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BB8D18-C35F-34FB-B33A-531524C0D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BCC15-A013-44B8-911F-B5A07272DC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97051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12968" y="742346"/>
            <a:ext cx="11166065" cy="4062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33" b="0" i="0">
                <a:solidFill>
                  <a:srgbClr val="610B37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1"/>
            <a:ext cx="8534400" cy="2308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67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109876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8614AE-FE79-D2E0-04CA-C49271CEC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C03410-7C03-EEF7-F98C-2FE8EC70FC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1F2CB4-F919-1895-0E82-0FF5D213A3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507F3A-FEEC-4F13-817D-921B0B25A8F0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40B608-D030-A024-8D03-28F4C0E449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926302-4A16-5D40-0D4D-88F9C9A024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ABCC15-A013-44B8-911F-B5A07272DC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2563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javatpoint.com/object-class" TargetMode="External"/><Relationship Id="rId2" Type="http://schemas.openxmlformats.org/officeDocument/2006/relationships/hyperlink" Target="https://www.javatpoint.com/java-constructor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3FBC4-1382-5526-90DA-8391767A0A1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Threads 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671477-E8EB-119E-1854-CE0F4107E5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JAVA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726347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2423" y="1045101"/>
            <a:ext cx="6305485" cy="820565"/>
          </a:xfrm>
          <a:prstGeom prst="rect">
            <a:avLst/>
          </a:prstGeom>
        </p:spPr>
        <p:txBody>
          <a:bodyPr vert="horz" wrap="square" lIns="0" tIns="426612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2533" b="1" dirty="0"/>
              <a:t>What</a:t>
            </a:r>
            <a:r>
              <a:rPr sz="2533" b="1" spc="-73" dirty="0"/>
              <a:t> </a:t>
            </a:r>
            <a:r>
              <a:rPr sz="2533" b="1" dirty="0"/>
              <a:t>is</a:t>
            </a:r>
            <a:r>
              <a:rPr sz="2533" b="1" spc="-107" dirty="0"/>
              <a:t> </a:t>
            </a:r>
            <a:r>
              <a:rPr sz="2533" b="1" dirty="0"/>
              <a:t>Thread</a:t>
            </a:r>
            <a:r>
              <a:rPr sz="2533" b="1" spc="-67" dirty="0"/>
              <a:t> </a:t>
            </a:r>
            <a:r>
              <a:rPr sz="2533" b="1" dirty="0"/>
              <a:t>in</a:t>
            </a:r>
            <a:r>
              <a:rPr sz="2533" b="1" spc="-67" dirty="0"/>
              <a:t> </a:t>
            </a:r>
            <a:r>
              <a:rPr sz="2533" b="1" spc="-27" dirty="0"/>
              <a:t>java</a:t>
            </a:r>
            <a:endParaRPr sz="2533" b="1" dirty="0"/>
          </a:p>
        </p:txBody>
      </p:sp>
      <p:sp>
        <p:nvSpPr>
          <p:cNvPr id="3" name="object 3"/>
          <p:cNvSpPr txBox="1"/>
          <p:nvPr/>
        </p:nvSpPr>
        <p:spPr>
          <a:xfrm>
            <a:off x="684845" y="2305022"/>
            <a:ext cx="9242212" cy="2791576"/>
          </a:xfrm>
          <a:prstGeom prst="rect">
            <a:avLst/>
          </a:prstGeom>
        </p:spPr>
        <p:txBody>
          <a:bodyPr vert="horz" wrap="square" lIns="0" tIns="57573" rIns="0" bIns="0" rtlCol="0">
            <a:spAutoFit/>
          </a:bodyPr>
          <a:lstStyle/>
          <a:p>
            <a:pPr marL="453802" indent="-436869">
              <a:lnSpc>
                <a:spcPct val="200000"/>
              </a:lnSpc>
              <a:spcBef>
                <a:spcPts val="453"/>
              </a:spcBef>
              <a:buFont typeface="Arial"/>
              <a:buChar char="●"/>
              <a:tabLst>
                <a:tab pos="453802" algn="l"/>
              </a:tabLst>
            </a:pPr>
            <a:r>
              <a:rPr sz="1733" dirty="0">
                <a:latin typeface="Verdana"/>
                <a:cs typeface="Verdana"/>
              </a:rPr>
              <a:t>A</a:t>
            </a:r>
            <a:r>
              <a:rPr sz="1733" spc="-40" dirty="0">
                <a:latin typeface="Verdana"/>
                <a:cs typeface="Verdana"/>
              </a:rPr>
              <a:t> </a:t>
            </a:r>
            <a:r>
              <a:rPr sz="1733" dirty="0">
                <a:latin typeface="Verdana"/>
                <a:cs typeface="Verdana"/>
              </a:rPr>
              <a:t>thread</a:t>
            </a:r>
            <a:r>
              <a:rPr sz="1733" spc="-40" dirty="0">
                <a:latin typeface="Verdana"/>
                <a:cs typeface="Verdana"/>
              </a:rPr>
              <a:t> </a:t>
            </a:r>
            <a:r>
              <a:rPr sz="1733" dirty="0">
                <a:latin typeface="Verdana"/>
                <a:cs typeface="Verdana"/>
              </a:rPr>
              <a:t>is</a:t>
            </a:r>
            <a:r>
              <a:rPr sz="1733" spc="-33" dirty="0">
                <a:latin typeface="Verdana"/>
                <a:cs typeface="Verdana"/>
              </a:rPr>
              <a:t> </a:t>
            </a:r>
            <a:r>
              <a:rPr sz="1733" dirty="0">
                <a:latin typeface="Verdana"/>
                <a:cs typeface="Verdana"/>
              </a:rPr>
              <a:t>a</a:t>
            </a:r>
            <a:r>
              <a:rPr sz="1733" spc="-40" dirty="0">
                <a:latin typeface="Verdana"/>
                <a:cs typeface="Verdana"/>
              </a:rPr>
              <a:t> </a:t>
            </a:r>
            <a:r>
              <a:rPr sz="1733" spc="-13" dirty="0">
                <a:latin typeface="Verdana"/>
                <a:cs typeface="Verdana"/>
              </a:rPr>
              <a:t>lightweight</a:t>
            </a:r>
            <a:r>
              <a:rPr sz="1733" spc="-33" dirty="0">
                <a:latin typeface="Verdana"/>
                <a:cs typeface="Verdana"/>
              </a:rPr>
              <a:t> </a:t>
            </a:r>
            <a:r>
              <a:rPr sz="1733" spc="-13" dirty="0">
                <a:latin typeface="Verdana"/>
                <a:cs typeface="Verdana"/>
              </a:rPr>
              <a:t>subprocess,</a:t>
            </a:r>
            <a:r>
              <a:rPr sz="1733" spc="-40" dirty="0">
                <a:latin typeface="Verdana"/>
                <a:cs typeface="Verdana"/>
              </a:rPr>
              <a:t> </a:t>
            </a:r>
            <a:r>
              <a:rPr sz="1733" dirty="0">
                <a:latin typeface="Verdana"/>
                <a:cs typeface="Verdana"/>
              </a:rPr>
              <a:t>the</a:t>
            </a:r>
            <a:r>
              <a:rPr sz="1733" spc="-40" dirty="0">
                <a:latin typeface="Verdana"/>
                <a:cs typeface="Verdana"/>
              </a:rPr>
              <a:t> </a:t>
            </a:r>
            <a:r>
              <a:rPr sz="1733" dirty="0">
                <a:latin typeface="Verdana"/>
                <a:cs typeface="Verdana"/>
              </a:rPr>
              <a:t>smallest</a:t>
            </a:r>
            <a:r>
              <a:rPr sz="1733" spc="-33" dirty="0">
                <a:latin typeface="Verdana"/>
                <a:cs typeface="Verdana"/>
              </a:rPr>
              <a:t> </a:t>
            </a:r>
            <a:r>
              <a:rPr sz="1733" dirty="0">
                <a:latin typeface="Verdana"/>
                <a:cs typeface="Verdana"/>
              </a:rPr>
              <a:t>unit</a:t>
            </a:r>
            <a:r>
              <a:rPr sz="1733" spc="-40" dirty="0">
                <a:latin typeface="Verdana"/>
                <a:cs typeface="Verdana"/>
              </a:rPr>
              <a:t> </a:t>
            </a:r>
            <a:r>
              <a:rPr sz="1733" dirty="0">
                <a:latin typeface="Verdana"/>
                <a:cs typeface="Verdana"/>
              </a:rPr>
              <a:t>of</a:t>
            </a:r>
            <a:r>
              <a:rPr sz="1733" spc="-33" dirty="0">
                <a:latin typeface="Verdana"/>
                <a:cs typeface="Verdana"/>
              </a:rPr>
              <a:t> </a:t>
            </a:r>
            <a:r>
              <a:rPr sz="1733" spc="-13" dirty="0">
                <a:latin typeface="Verdana"/>
                <a:cs typeface="Verdana"/>
              </a:rPr>
              <a:t>processing.</a:t>
            </a:r>
            <a:endParaRPr sz="1733" dirty="0">
              <a:latin typeface="Verdana"/>
              <a:cs typeface="Verdana"/>
            </a:endParaRPr>
          </a:p>
          <a:p>
            <a:pPr marL="529153" indent="-512221">
              <a:lnSpc>
                <a:spcPct val="200000"/>
              </a:lnSpc>
              <a:spcBef>
                <a:spcPts val="320"/>
              </a:spcBef>
              <a:buFont typeface="Arial"/>
              <a:buChar char="●"/>
              <a:tabLst>
                <a:tab pos="529153" algn="l"/>
              </a:tabLst>
            </a:pPr>
            <a:r>
              <a:rPr sz="1733" dirty="0">
                <a:latin typeface="Verdana"/>
                <a:cs typeface="Verdana"/>
              </a:rPr>
              <a:t>It</a:t>
            </a:r>
            <a:r>
              <a:rPr sz="1733" spc="-27" dirty="0">
                <a:latin typeface="Verdana"/>
                <a:cs typeface="Verdana"/>
              </a:rPr>
              <a:t> </a:t>
            </a:r>
            <a:r>
              <a:rPr sz="1733" dirty="0">
                <a:latin typeface="Verdana"/>
                <a:cs typeface="Verdana"/>
              </a:rPr>
              <a:t>is</a:t>
            </a:r>
            <a:r>
              <a:rPr sz="1733" spc="-27" dirty="0">
                <a:latin typeface="Verdana"/>
                <a:cs typeface="Verdana"/>
              </a:rPr>
              <a:t> </a:t>
            </a:r>
            <a:r>
              <a:rPr sz="1733" dirty="0">
                <a:latin typeface="Verdana"/>
                <a:cs typeface="Verdana"/>
              </a:rPr>
              <a:t>a</a:t>
            </a:r>
            <a:r>
              <a:rPr sz="1733" spc="-20" dirty="0">
                <a:latin typeface="Verdana"/>
                <a:cs typeface="Verdana"/>
              </a:rPr>
              <a:t> </a:t>
            </a:r>
            <a:r>
              <a:rPr sz="1733" dirty="0">
                <a:latin typeface="Verdana"/>
                <a:cs typeface="Verdana"/>
              </a:rPr>
              <a:t>separate</a:t>
            </a:r>
            <a:r>
              <a:rPr sz="1733" spc="-27" dirty="0">
                <a:latin typeface="Verdana"/>
                <a:cs typeface="Verdana"/>
              </a:rPr>
              <a:t> </a:t>
            </a:r>
            <a:r>
              <a:rPr sz="1733" dirty="0">
                <a:latin typeface="Verdana"/>
                <a:cs typeface="Verdana"/>
              </a:rPr>
              <a:t>path</a:t>
            </a:r>
            <a:r>
              <a:rPr sz="1733" spc="-20" dirty="0">
                <a:latin typeface="Verdana"/>
                <a:cs typeface="Verdana"/>
              </a:rPr>
              <a:t> </a:t>
            </a:r>
            <a:r>
              <a:rPr sz="1733" dirty="0">
                <a:latin typeface="Verdana"/>
                <a:cs typeface="Verdana"/>
              </a:rPr>
              <a:t>of</a:t>
            </a:r>
            <a:r>
              <a:rPr sz="1733" spc="-27" dirty="0">
                <a:latin typeface="Verdana"/>
                <a:cs typeface="Verdana"/>
              </a:rPr>
              <a:t> </a:t>
            </a:r>
            <a:r>
              <a:rPr sz="1733" spc="-13" dirty="0">
                <a:latin typeface="Verdana"/>
                <a:cs typeface="Verdana"/>
              </a:rPr>
              <a:t>execution.</a:t>
            </a:r>
            <a:endParaRPr sz="1733" dirty="0">
              <a:latin typeface="Verdana"/>
              <a:cs typeface="Verdana"/>
            </a:endParaRPr>
          </a:p>
          <a:p>
            <a:pPr marL="453802" indent="-436869">
              <a:lnSpc>
                <a:spcPct val="200000"/>
              </a:lnSpc>
              <a:spcBef>
                <a:spcPts val="320"/>
              </a:spcBef>
              <a:buFont typeface="Arial"/>
              <a:buChar char="●"/>
              <a:tabLst>
                <a:tab pos="453802" algn="l"/>
              </a:tabLst>
            </a:pPr>
            <a:r>
              <a:rPr sz="1733" dirty="0">
                <a:latin typeface="Verdana"/>
                <a:cs typeface="Verdana"/>
              </a:rPr>
              <a:t>Threads</a:t>
            </a:r>
            <a:r>
              <a:rPr sz="1733" spc="-73" dirty="0">
                <a:latin typeface="Verdana"/>
                <a:cs typeface="Verdana"/>
              </a:rPr>
              <a:t> </a:t>
            </a:r>
            <a:r>
              <a:rPr sz="1733" dirty="0">
                <a:latin typeface="Verdana"/>
                <a:cs typeface="Verdana"/>
              </a:rPr>
              <a:t>are</a:t>
            </a:r>
            <a:r>
              <a:rPr sz="1733" spc="-73" dirty="0">
                <a:latin typeface="Verdana"/>
                <a:cs typeface="Verdana"/>
              </a:rPr>
              <a:t> </a:t>
            </a:r>
            <a:r>
              <a:rPr sz="1733" spc="-13" dirty="0">
                <a:latin typeface="Verdana"/>
                <a:cs typeface="Verdana"/>
              </a:rPr>
              <a:t>independent.</a:t>
            </a:r>
            <a:endParaRPr sz="1733" dirty="0">
              <a:latin typeface="Verdana"/>
              <a:cs typeface="Verdana"/>
            </a:endParaRPr>
          </a:p>
          <a:p>
            <a:pPr marL="453802" indent="-436869">
              <a:lnSpc>
                <a:spcPct val="200000"/>
              </a:lnSpc>
              <a:spcBef>
                <a:spcPts val="320"/>
              </a:spcBef>
              <a:buFont typeface="Arial"/>
              <a:buChar char="●"/>
              <a:tabLst>
                <a:tab pos="453802" algn="l"/>
              </a:tabLst>
            </a:pPr>
            <a:r>
              <a:rPr sz="1733" dirty="0">
                <a:latin typeface="Verdana"/>
                <a:cs typeface="Verdana"/>
              </a:rPr>
              <a:t>If</a:t>
            </a:r>
            <a:r>
              <a:rPr sz="1733" spc="-47" dirty="0">
                <a:latin typeface="Verdana"/>
                <a:cs typeface="Verdana"/>
              </a:rPr>
              <a:t> </a:t>
            </a:r>
            <a:r>
              <a:rPr sz="1733" dirty="0">
                <a:latin typeface="Verdana"/>
                <a:cs typeface="Verdana"/>
              </a:rPr>
              <a:t>there</a:t>
            </a:r>
            <a:r>
              <a:rPr sz="1733" spc="-47" dirty="0">
                <a:latin typeface="Verdana"/>
                <a:cs typeface="Verdana"/>
              </a:rPr>
              <a:t> </a:t>
            </a:r>
            <a:r>
              <a:rPr sz="1733" dirty="0">
                <a:latin typeface="Verdana"/>
                <a:cs typeface="Verdana"/>
              </a:rPr>
              <a:t>occurs</a:t>
            </a:r>
            <a:r>
              <a:rPr sz="1733" spc="-40" dirty="0">
                <a:latin typeface="Verdana"/>
                <a:cs typeface="Verdana"/>
              </a:rPr>
              <a:t> </a:t>
            </a:r>
            <a:r>
              <a:rPr sz="1733" dirty="0">
                <a:latin typeface="Verdana"/>
                <a:cs typeface="Verdana"/>
              </a:rPr>
              <a:t>exception</a:t>
            </a:r>
            <a:r>
              <a:rPr sz="1733" spc="-47" dirty="0">
                <a:latin typeface="Verdana"/>
                <a:cs typeface="Verdana"/>
              </a:rPr>
              <a:t> </a:t>
            </a:r>
            <a:r>
              <a:rPr sz="1733" dirty="0">
                <a:latin typeface="Verdana"/>
                <a:cs typeface="Verdana"/>
              </a:rPr>
              <a:t>in</a:t>
            </a:r>
            <a:r>
              <a:rPr sz="1733" spc="-40" dirty="0">
                <a:latin typeface="Verdana"/>
                <a:cs typeface="Verdana"/>
              </a:rPr>
              <a:t> </a:t>
            </a:r>
            <a:r>
              <a:rPr sz="1733" dirty="0">
                <a:latin typeface="Verdana"/>
                <a:cs typeface="Verdana"/>
              </a:rPr>
              <a:t>one</a:t>
            </a:r>
            <a:r>
              <a:rPr sz="1733" spc="-47" dirty="0">
                <a:latin typeface="Verdana"/>
                <a:cs typeface="Verdana"/>
              </a:rPr>
              <a:t> </a:t>
            </a:r>
            <a:r>
              <a:rPr sz="1733" dirty="0">
                <a:latin typeface="Verdana"/>
                <a:cs typeface="Verdana"/>
              </a:rPr>
              <a:t>thread,</a:t>
            </a:r>
            <a:r>
              <a:rPr sz="1733" spc="-40" dirty="0">
                <a:latin typeface="Verdana"/>
                <a:cs typeface="Verdana"/>
              </a:rPr>
              <a:t> </a:t>
            </a:r>
            <a:r>
              <a:rPr sz="1733" dirty="0">
                <a:latin typeface="Verdana"/>
                <a:cs typeface="Verdana"/>
              </a:rPr>
              <a:t>it</a:t>
            </a:r>
            <a:r>
              <a:rPr sz="1733" spc="-47" dirty="0">
                <a:latin typeface="Verdana"/>
                <a:cs typeface="Verdana"/>
              </a:rPr>
              <a:t> </a:t>
            </a:r>
            <a:r>
              <a:rPr sz="1733" dirty="0">
                <a:latin typeface="Verdana"/>
                <a:cs typeface="Verdana"/>
              </a:rPr>
              <a:t>doesn't</a:t>
            </a:r>
            <a:r>
              <a:rPr sz="1733" spc="-47" dirty="0">
                <a:latin typeface="Verdana"/>
                <a:cs typeface="Verdana"/>
              </a:rPr>
              <a:t> </a:t>
            </a:r>
            <a:r>
              <a:rPr sz="1733" dirty="0">
                <a:latin typeface="Verdana"/>
                <a:cs typeface="Verdana"/>
              </a:rPr>
              <a:t>affect</a:t>
            </a:r>
            <a:r>
              <a:rPr sz="1733" spc="-40" dirty="0">
                <a:latin typeface="Verdana"/>
                <a:cs typeface="Verdana"/>
              </a:rPr>
              <a:t> </a:t>
            </a:r>
            <a:r>
              <a:rPr sz="1733" dirty="0">
                <a:latin typeface="Verdana"/>
                <a:cs typeface="Verdana"/>
              </a:rPr>
              <a:t>other</a:t>
            </a:r>
            <a:r>
              <a:rPr sz="1733" spc="-47" dirty="0">
                <a:latin typeface="Verdana"/>
                <a:cs typeface="Verdana"/>
              </a:rPr>
              <a:t> </a:t>
            </a:r>
            <a:r>
              <a:rPr sz="1733" spc="-13" dirty="0">
                <a:latin typeface="Verdana"/>
                <a:cs typeface="Verdana"/>
              </a:rPr>
              <a:t>threads.</a:t>
            </a:r>
            <a:endParaRPr sz="1733" dirty="0">
              <a:latin typeface="Verdana"/>
              <a:cs typeface="Verdana"/>
            </a:endParaRPr>
          </a:p>
          <a:p>
            <a:pPr marL="529153" indent="-512221">
              <a:lnSpc>
                <a:spcPct val="200000"/>
              </a:lnSpc>
              <a:spcBef>
                <a:spcPts val="320"/>
              </a:spcBef>
              <a:buFont typeface="Arial"/>
              <a:buChar char="●"/>
              <a:tabLst>
                <a:tab pos="529153" algn="l"/>
              </a:tabLst>
            </a:pPr>
            <a:r>
              <a:rPr sz="1733" dirty="0">
                <a:latin typeface="Verdana"/>
                <a:cs typeface="Verdana"/>
              </a:rPr>
              <a:t>It</a:t>
            </a:r>
            <a:r>
              <a:rPr sz="1733" spc="-67" dirty="0">
                <a:latin typeface="Verdana"/>
                <a:cs typeface="Verdana"/>
              </a:rPr>
              <a:t> </a:t>
            </a:r>
            <a:r>
              <a:rPr sz="1733" dirty="0">
                <a:latin typeface="Verdana"/>
                <a:cs typeface="Verdana"/>
              </a:rPr>
              <a:t>uses</a:t>
            </a:r>
            <a:r>
              <a:rPr sz="1733" spc="-67" dirty="0">
                <a:latin typeface="Verdana"/>
                <a:cs typeface="Verdana"/>
              </a:rPr>
              <a:t> </a:t>
            </a:r>
            <a:r>
              <a:rPr sz="1733" dirty="0">
                <a:latin typeface="Verdana"/>
                <a:cs typeface="Verdana"/>
              </a:rPr>
              <a:t>a</a:t>
            </a:r>
            <a:r>
              <a:rPr sz="1733" spc="-60" dirty="0">
                <a:latin typeface="Verdana"/>
                <a:cs typeface="Verdana"/>
              </a:rPr>
              <a:t> </a:t>
            </a:r>
            <a:r>
              <a:rPr sz="1733" dirty="0">
                <a:latin typeface="Verdana"/>
                <a:cs typeface="Verdana"/>
              </a:rPr>
              <a:t>shared</a:t>
            </a:r>
            <a:r>
              <a:rPr sz="1733" spc="-67" dirty="0">
                <a:latin typeface="Verdana"/>
                <a:cs typeface="Verdana"/>
              </a:rPr>
              <a:t> </a:t>
            </a:r>
            <a:r>
              <a:rPr sz="1733" dirty="0">
                <a:latin typeface="Verdana"/>
                <a:cs typeface="Verdana"/>
              </a:rPr>
              <a:t>memory</a:t>
            </a:r>
            <a:r>
              <a:rPr sz="1733" spc="-60" dirty="0">
                <a:latin typeface="Verdana"/>
                <a:cs typeface="Verdana"/>
              </a:rPr>
              <a:t> </a:t>
            </a:r>
            <a:r>
              <a:rPr sz="1733" spc="-13" dirty="0">
                <a:latin typeface="Verdana"/>
                <a:cs typeface="Verdana"/>
              </a:rPr>
              <a:t>area.</a:t>
            </a:r>
            <a:endParaRPr sz="1733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34141" y="656430"/>
            <a:ext cx="5197384" cy="554516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21806" y="769047"/>
            <a:ext cx="2845522" cy="820565"/>
          </a:xfrm>
          <a:prstGeom prst="rect">
            <a:avLst/>
          </a:prstGeom>
        </p:spPr>
        <p:txBody>
          <a:bodyPr vert="horz" wrap="square" lIns="0" tIns="426612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2533" b="1" dirty="0">
                <a:latin typeface="Arial"/>
                <a:cs typeface="Arial"/>
              </a:rPr>
              <a:t>Java</a:t>
            </a:r>
            <a:r>
              <a:rPr sz="2533" b="1" spc="-107" dirty="0">
                <a:latin typeface="Arial"/>
                <a:cs typeface="Arial"/>
              </a:rPr>
              <a:t> </a:t>
            </a:r>
            <a:r>
              <a:rPr sz="2533" b="1" dirty="0">
                <a:latin typeface="Arial"/>
                <a:cs typeface="Arial"/>
              </a:rPr>
              <a:t>Thread</a:t>
            </a:r>
            <a:r>
              <a:rPr sz="2533" b="1" spc="-107" dirty="0">
                <a:latin typeface="Arial"/>
                <a:cs typeface="Arial"/>
              </a:rPr>
              <a:t> </a:t>
            </a:r>
            <a:r>
              <a:rPr sz="2533" b="1" spc="-13" dirty="0">
                <a:latin typeface="Arial"/>
                <a:cs typeface="Arial"/>
              </a:rPr>
              <a:t>class</a:t>
            </a:r>
            <a:endParaRPr sz="2533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69244" y="1934761"/>
            <a:ext cx="10651067" cy="150257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453802" indent="-436869">
              <a:spcBef>
                <a:spcPts val="133"/>
              </a:spcBef>
              <a:buFont typeface="Arial"/>
              <a:buChar char="●"/>
              <a:tabLst>
                <a:tab pos="453802" algn="l"/>
              </a:tabLst>
            </a:pPr>
            <a:r>
              <a:rPr sz="1733" b="1" dirty="0">
                <a:latin typeface="Verdana"/>
                <a:cs typeface="Verdana"/>
              </a:rPr>
              <a:t>Java</a:t>
            </a:r>
            <a:r>
              <a:rPr sz="1733" b="1" spc="-67" dirty="0">
                <a:latin typeface="Verdana"/>
                <a:cs typeface="Verdana"/>
              </a:rPr>
              <a:t> </a:t>
            </a:r>
            <a:r>
              <a:rPr sz="1733" b="1" dirty="0">
                <a:latin typeface="Verdana"/>
                <a:cs typeface="Verdana"/>
              </a:rPr>
              <a:t>provides</a:t>
            </a:r>
            <a:r>
              <a:rPr sz="1733" b="1" spc="-67" dirty="0">
                <a:latin typeface="Verdana"/>
                <a:cs typeface="Verdana"/>
              </a:rPr>
              <a:t> </a:t>
            </a:r>
            <a:r>
              <a:rPr sz="1733" b="1" dirty="0">
                <a:latin typeface="Verdana"/>
                <a:cs typeface="Verdana"/>
              </a:rPr>
              <a:t>Thread</a:t>
            </a:r>
            <a:r>
              <a:rPr sz="1733" b="1" spc="-67" dirty="0">
                <a:latin typeface="Verdana"/>
                <a:cs typeface="Verdana"/>
              </a:rPr>
              <a:t> </a:t>
            </a:r>
            <a:r>
              <a:rPr sz="1733" b="1" dirty="0">
                <a:latin typeface="Verdana"/>
                <a:cs typeface="Verdana"/>
              </a:rPr>
              <a:t>class</a:t>
            </a:r>
            <a:r>
              <a:rPr sz="1733" b="1" spc="-60" dirty="0">
                <a:latin typeface="Verdana"/>
                <a:cs typeface="Verdana"/>
              </a:rPr>
              <a:t> </a:t>
            </a:r>
            <a:r>
              <a:rPr sz="1733" b="1" dirty="0">
                <a:latin typeface="Verdana"/>
                <a:cs typeface="Verdana"/>
              </a:rPr>
              <a:t>to</a:t>
            </a:r>
            <a:r>
              <a:rPr sz="1733" b="1" spc="-67" dirty="0">
                <a:latin typeface="Verdana"/>
                <a:cs typeface="Verdana"/>
              </a:rPr>
              <a:t> </a:t>
            </a:r>
            <a:r>
              <a:rPr sz="1733" b="1" dirty="0">
                <a:latin typeface="Verdana"/>
                <a:cs typeface="Verdana"/>
              </a:rPr>
              <a:t>achieve</a:t>
            </a:r>
            <a:r>
              <a:rPr sz="1733" b="1" spc="-67" dirty="0">
                <a:latin typeface="Verdana"/>
                <a:cs typeface="Verdana"/>
              </a:rPr>
              <a:t> </a:t>
            </a:r>
            <a:r>
              <a:rPr sz="1733" b="1" dirty="0">
                <a:latin typeface="Verdana"/>
                <a:cs typeface="Verdana"/>
              </a:rPr>
              <a:t>thread</a:t>
            </a:r>
            <a:r>
              <a:rPr sz="1733" b="1" spc="-67" dirty="0">
                <a:latin typeface="Verdana"/>
                <a:cs typeface="Verdana"/>
              </a:rPr>
              <a:t> </a:t>
            </a:r>
            <a:r>
              <a:rPr sz="1733" b="1" spc="-13" dirty="0">
                <a:latin typeface="Verdana"/>
                <a:cs typeface="Verdana"/>
              </a:rPr>
              <a:t>programming.</a:t>
            </a:r>
            <a:endParaRPr sz="1733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buFont typeface="Arial"/>
              <a:buChar char="●"/>
            </a:pPr>
            <a:endParaRPr sz="1733" dirty="0">
              <a:latin typeface="Verdana"/>
              <a:cs typeface="Verdana"/>
            </a:endParaRPr>
          </a:p>
          <a:p>
            <a:pPr>
              <a:spcBef>
                <a:spcPts val="847"/>
              </a:spcBef>
              <a:buFont typeface="Arial"/>
              <a:buChar char="●"/>
            </a:pPr>
            <a:endParaRPr sz="1733" dirty="0">
              <a:latin typeface="Verdana"/>
              <a:cs typeface="Verdana"/>
            </a:endParaRPr>
          </a:p>
          <a:p>
            <a:pPr marL="453802" marR="6773" indent="-437716">
              <a:lnSpc>
                <a:spcPct val="115399"/>
              </a:lnSpc>
              <a:spcBef>
                <a:spcPts val="7"/>
              </a:spcBef>
              <a:buClr>
                <a:srgbClr val="434343"/>
              </a:buClr>
              <a:buFont typeface="Arial"/>
              <a:buChar char="●"/>
              <a:tabLst>
                <a:tab pos="453802" algn="l"/>
              </a:tabLst>
            </a:pPr>
            <a:r>
              <a:rPr sz="1733" b="1" dirty="0">
                <a:latin typeface="Verdana"/>
                <a:cs typeface="Verdana"/>
              </a:rPr>
              <a:t>Thread</a:t>
            </a:r>
            <a:r>
              <a:rPr sz="1733" b="1" spc="-73" dirty="0">
                <a:latin typeface="Verdana"/>
                <a:cs typeface="Verdana"/>
              </a:rPr>
              <a:t> </a:t>
            </a:r>
            <a:r>
              <a:rPr sz="1733" b="1" dirty="0">
                <a:latin typeface="Verdana"/>
                <a:cs typeface="Verdana"/>
              </a:rPr>
              <a:t>class</a:t>
            </a:r>
            <a:r>
              <a:rPr sz="1733" b="1" spc="-67" dirty="0">
                <a:latin typeface="Verdana"/>
                <a:cs typeface="Verdana"/>
              </a:rPr>
              <a:t> </a:t>
            </a:r>
            <a:r>
              <a:rPr sz="1733" b="1" dirty="0">
                <a:latin typeface="Verdana"/>
                <a:cs typeface="Verdana"/>
              </a:rPr>
              <a:t>provides</a:t>
            </a:r>
            <a:r>
              <a:rPr sz="1733" b="1" spc="-60" dirty="0">
                <a:latin typeface="Verdana"/>
                <a:cs typeface="Verdana"/>
              </a:rPr>
              <a:t> </a:t>
            </a:r>
            <a:r>
              <a:rPr sz="1733" b="1" dirty="0">
                <a:solidFill>
                  <a:srgbClr val="008000"/>
                </a:solidFill>
                <a:latin typeface="Verdana"/>
                <a:cs typeface="Verdana"/>
                <a:hlinkClick r:id="rId2"/>
              </a:rPr>
              <a:t>constructors</a:t>
            </a:r>
            <a:r>
              <a:rPr sz="1733" b="1" spc="-60" dirty="0">
                <a:solidFill>
                  <a:srgbClr val="008000"/>
                </a:solidFill>
                <a:latin typeface="Verdana"/>
                <a:cs typeface="Verdana"/>
              </a:rPr>
              <a:t> </a:t>
            </a:r>
            <a:r>
              <a:rPr sz="1733" b="1" dirty="0">
                <a:latin typeface="Verdana"/>
                <a:cs typeface="Verdana"/>
              </a:rPr>
              <a:t>and</a:t>
            </a:r>
            <a:r>
              <a:rPr sz="1733" b="1" spc="-67" dirty="0">
                <a:latin typeface="Verdana"/>
                <a:cs typeface="Verdana"/>
              </a:rPr>
              <a:t> </a:t>
            </a:r>
            <a:r>
              <a:rPr sz="1733" b="1" dirty="0">
                <a:latin typeface="Verdana"/>
                <a:cs typeface="Verdana"/>
              </a:rPr>
              <a:t>methods</a:t>
            </a:r>
            <a:r>
              <a:rPr sz="1733" b="1" spc="-67" dirty="0">
                <a:latin typeface="Verdana"/>
                <a:cs typeface="Verdana"/>
              </a:rPr>
              <a:t> </a:t>
            </a:r>
            <a:r>
              <a:rPr sz="1733" b="1" dirty="0">
                <a:latin typeface="Verdana"/>
                <a:cs typeface="Verdana"/>
              </a:rPr>
              <a:t>to</a:t>
            </a:r>
            <a:r>
              <a:rPr sz="1733" b="1" spc="-67" dirty="0">
                <a:latin typeface="Verdana"/>
                <a:cs typeface="Verdana"/>
              </a:rPr>
              <a:t> </a:t>
            </a:r>
            <a:r>
              <a:rPr sz="1733" b="1" dirty="0">
                <a:latin typeface="Verdana"/>
                <a:cs typeface="Verdana"/>
              </a:rPr>
              <a:t>create</a:t>
            </a:r>
            <a:r>
              <a:rPr sz="1733" b="1" spc="-67" dirty="0">
                <a:latin typeface="Verdana"/>
                <a:cs typeface="Verdana"/>
              </a:rPr>
              <a:t> </a:t>
            </a:r>
            <a:r>
              <a:rPr sz="1733" b="1" dirty="0">
                <a:latin typeface="Verdana"/>
                <a:cs typeface="Verdana"/>
              </a:rPr>
              <a:t>and</a:t>
            </a:r>
            <a:r>
              <a:rPr sz="1733" b="1" spc="-67" dirty="0">
                <a:latin typeface="Verdana"/>
                <a:cs typeface="Verdana"/>
              </a:rPr>
              <a:t> </a:t>
            </a:r>
            <a:r>
              <a:rPr sz="1733" b="1" dirty="0">
                <a:latin typeface="Verdana"/>
                <a:cs typeface="Verdana"/>
              </a:rPr>
              <a:t>perform</a:t>
            </a:r>
            <a:r>
              <a:rPr sz="1733" b="1" spc="-67" dirty="0">
                <a:latin typeface="Verdana"/>
                <a:cs typeface="Verdana"/>
              </a:rPr>
              <a:t> </a:t>
            </a:r>
            <a:r>
              <a:rPr sz="1733" b="1" spc="-13" dirty="0">
                <a:latin typeface="Verdana"/>
                <a:cs typeface="Verdana"/>
              </a:rPr>
              <a:t>operations </a:t>
            </a:r>
            <a:r>
              <a:rPr sz="1733" b="1" dirty="0">
                <a:latin typeface="Verdana"/>
                <a:cs typeface="Verdana"/>
              </a:rPr>
              <a:t>on</a:t>
            </a:r>
            <a:r>
              <a:rPr sz="1733" b="1" spc="-27" dirty="0">
                <a:latin typeface="Verdana"/>
                <a:cs typeface="Verdana"/>
              </a:rPr>
              <a:t> </a:t>
            </a:r>
            <a:r>
              <a:rPr sz="1733" b="1" dirty="0">
                <a:latin typeface="Verdana"/>
                <a:cs typeface="Verdana"/>
              </a:rPr>
              <a:t>a</a:t>
            </a:r>
            <a:r>
              <a:rPr sz="1733" b="1" spc="-7" dirty="0">
                <a:latin typeface="Verdana"/>
                <a:cs typeface="Verdana"/>
              </a:rPr>
              <a:t> </a:t>
            </a:r>
            <a:r>
              <a:rPr sz="1733" b="1" spc="-13" dirty="0">
                <a:latin typeface="Verdana"/>
                <a:cs typeface="Verdana"/>
              </a:rPr>
              <a:t>thread.</a:t>
            </a:r>
            <a:endParaRPr sz="1733" dirty="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9245" y="4127628"/>
            <a:ext cx="9124527" cy="283774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453802" indent="-436869">
              <a:spcBef>
                <a:spcPts val="133"/>
              </a:spcBef>
              <a:buClr>
                <a:srgbClr val="434343"/>
              </a:buClr>
              <a:buFont typeface="Arial"/>
              <a:buChar char="●"/>
              <a:tabLst>
                <a:tab pos="453802" algn="l"/>
              </a:tabLst>
            </a:pPr>
            <a:r>
              <a:rPr sz="1733" b="1" dirty="0">
                <a:latin typeface="Verdana"/>
                <a:cs typeface="Verdana"/>
              </a:rPr>
              <a:t>Thread</a:t>
            </a:r>
            <a:r>
              <a:rPr sz="1733" b="1" spc="-73" dirty="0">
                <a:latin typeface="Verdana"/>
                <a:cs typeface="Verdana"/>
              </a:rPr>
              <a:t> </a:t>
            </a:r>
            <a:r>
              <a:rPr sz="1733" b="1" dirty="0">
                <a:latin typeface="Verdana"/>
                <a:cs typeface="Verdana"/>
              </a:rPr>
              <a:t>class</a:t>
            </a:r>
            <a:r>
              <a:rPr sz="1733" b="1" spc="-67" dirty="0">
                <a:latin typeface="Verdana"/>
                <a:cs typeface="Verdana"/>
              </a:rPr>
              <a:t> </a:t>
            </a:r>
            <a:r>
              <a:rPr sz="1733" b="1" dirty="0">
                <a:latin typeface="Verdana"/>
                <a:cs typeface="Verdana"/>
              </a:rPr>
              <a:t>extends</a:t>
            </a:r>
            <a:r>
              <a:rPr sz="1733" b="1" spc="-67" dirty="0">
                <a:latin typeface="Verdana"/>
                <a:cs typeface="Verdana"/>
              </a:rPr>
              <a:t> </a:t>
            </a:r>
            <a:r>
              <a:rPr sz="1733" b="1" dirty="0">
                <a:solidFill>
                  <a:srgbClr val="008000"/>
                </a:solidFill>
                <a:latin typeface="Verdana"/>
                <a:cs typeface="Verdana"/>
                <a:hlinkClick r:id="rId3"/>
              </a:rPr>
              <a:t>Object</a:t>
            </a:r>
            <a:r>
              <a:rPr sz="1733" b="1" spc="-67" dirty="0">
                <a:solidFill>
                  <a:srgbClr val="008000"/>
                </a:solidFill>
                <a:latin typeface="Verdana"/>
                <a:cs typeface="Verdana"/>
                <a:hlinkClick r:id="rId3"/>
              </a:rPr>
              <a:t> </a:t>
            </a:r>
            <a:r>
              <a:rPr sz="1733" b="1" dirty="0">
                <a:solidFill>
                  <a:srgbClr val="008000"/>
                </a:solidFill>
                <a:latin typeface="Verdana"/>
                <a:cs typeface="Verdana"/>
                <a:hlinkClick r:id="rId3"/>
              </a:rPr>
              <a:t>class</a:t>
            </a:r>
            <a:r>
              <a:rPr sz="1733" b="1" spc="-67" dirty="0">
                <a:solidFill>
                  <a:srgbClr val="008000"/>
                </a:solidFill>
                <a:latin typeface="Verdana"/>
                <a:cs typeface="Verdana"/>
              </a:rPr>
              <a:t> </a:t>
            </a:r>
            <a:r>
              <a:rPr sz="1733" b="1" dirty="0">
                <a:latin typeface="Verdana"/>
                <a:cs typeface="Verdana"/>
              </a:rPr>
              <a:t>and</a:t>
            </a:r>
            <a:r>
              <a:rPr sz="1733" b="1" spc="-67" dirty="0">
                <a:latin typeface="Verdana"/>
                <a:cs typeface="Verdana"/>
              </a:rPr>
              <a:t> </a:t>
            </a:r>
            <a:r>
              <a:rPr sz="1733" b="1" spc="-13" dirty="0">
                <a:latin typeface="Verdana"/>
                <a:cs typeface="Verdana"/>
              </a:rPr>
              <a:t>implements</a:t>
            </a:r>
            <a:r>
              <a:rPr sz="1733" b="1" spc="-73" dirty="0">
                <a:latin typeface="Verdana"/>
                <a:cs typeface="Verdana"/>
              </a:rPr>
              <a:t> </a:t>
            </a:r>
            <a:r>
              <a:rPr sz="1733" b="1" dirty="0">
                <a:latin typeface="Verdana"/>
                <a:cs typeface="Verdana"/>
              </a:rPr>
              <a:t>Runnable</a:t>
            </a:r>
            <a:r>
              <a:rPr sz="1733" b="1" spc="-67" dirty="0">
                <a:latin typeface="Verdana"/>
                <a:cs typeface="Verdana"/>
              </a:rPr>
              <a:t> </a:t>
            </a:r>
            <a:r>
              <a:rPr sz="1733" b="1" spc="-13" dirty="0">
                <a:latin typeface="Verdana"/>
                <a:cs typeface="Verdana"/>
              </a:rPr>
              <a:t>interface</a:t>
            </a:r>
            <a:endParaRPr sz="1733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10706" y="650556"/>
            <a:ext cx="10418126" cy="866453"/>
          </a:xfrm>
          <a:prstGeom prst="rect">
            <a:avLst/>
          </a:prstGeom>
        </p:spPr>
        <p:txBody>
          <a:bodyPr vert="horz" wrap="square" lIns="0" tIns="18751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b="1" dirty="0">
                <a:latin typeface="Arial"/>
                <a:cs typeface="Arial"/>
              </a:rPr>
              <a:t>Life</a:t>
            </a:r>
            <a:r>
              <a:rPr b="1" spc="-93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cycle</a:t>
            </a:r>
            <a:r>
              <a:rPr b="1" spc="-87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of</a:t>
            </a:r>
            <a:r>
              <a:rPr b="1" spc="-93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a</a:t>
            </a:r>
            <a:r>
              <a:rPr b="1" spc="-87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Thread</a:t>
            </a:r>
            <a:r>
              <a:rPr b="1" spc="-87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(Thread</a:t>
            </a:r>
            <a:r>
              <a:rPr b="1" spc="-93" dirty="0">
                <a:latin typeface="Arial"/>
                <a:cs typeface="Arial"/>
              </a:rPr>
              <a:t> </a:t>
            </a:r>
            <a:r>
              <a:rPr b="1" spc="-13" dirty="0">
                <a:latin typeface="Arial"/>
                <a:cs typeface="Arial"/>
              </a:rPr>
              <a:t>States)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74657" y="1855563"/>
            <a:ext cx="10805160" cy="3210366"/>
          </a:xfrm>
          <a:prstGeom prst="rect">
            <a:avLst/>
          </a:prstGeom>
        </p:spPr>
        <p:txBody>
          <a:bodyPr vert="horz" wrap="square" lIns="0" tIns="58420" rIns="0" bIns="0" rtlCol="0">
            <a:spAutoFit/>
          </a:bodyPr>
          <a:lstStyle/>
          <a:p>
            <a:pPr marL="463962" indent="-447029">
              <a:lnSpc>
                <a:spcPct val="150000"/>
              </a:lnSpc>
              <a:spcBef>
                <a:spcPts val="460"/>
              </a:spcBef>
              <a:buFont typeface="Arial"/>
              <a:buChar char="●"/>
              <a:tabLst>
                <a:tab pos="463962" algn="l"/>
              </a:tabLst>
            </a:pPr>
            <a:r>
              <a:rPr sz="1867" dirty="0">
                <a:latin typeface="Verdana"/>
                <a:cs typeface="Verdana"/>
              </a:rPr>
              <a:t>A</a:t>
            </a:r>
            <a:r>
              <a:rPr sz="1867" spc="-27" dirty="0">
                <a:latin typeface="Verdana"/>
                <a:cs typeface="Verdana"/>
              </a:rPr>
              <a:t> </a:t>
            </a:r>
            <a:r>
              <a:rPr sz="1867" dirty="0">
                <a:latin typeface="Verdana"/>
                <a:cs typeface="Verdana"/>
              </a:rPr>
              <a:t>thread</a:t>
            </a:r>
            <a:r>
              <a:rPr sz="1867" spc="-27" dirty="0">
                <a:latin typeface="Verdana"/>
                <a:cs typeface="Verdana"/>
              </a:rPr>
              <a:t> </a:t>
            </a:r>
            <a:r>
              <a:rPr sz="1867" dirty="0">
                <a:latin typeface="Verdana"/>
                <a:cs typeface="Verdana"/>
              </a:rPr>
              <a:t>can</a:t>
            </a:r>
            <a:r>
              <a:rPr sz="1867" spc="-27" dirty="0">
                <a:latin typeface="Verdana"/>
                <a:cs typeface="Verdana"/>
              </a:rPr>
              <a:t> </a:t>
            </a:r>
            <a:r>
              <a:rPr sz="1867" dirty="0">
                <a:latin typeface="Verdana"/>
                <a:cs typeface="Verdana"/>
              </a:rPr>
              <a:t>be</a:t>
            </a:r>
            <a:r>
              <a:rPr sz="1867" spc="-20" dirty="0">
                <a:latin typeface="Verdana"/>
                <a:cs typeface="Verdana"/>
              </a:rPr>
              <a:t> </a:t>
            </a:r>
            <a:r>
              <a:rPr sz="1867" dirty="0">
                <a:latin typeface="Verdana"/>
                <a:cs typeface="Verdana"/>
              </a:rPr>
              <a:t>in</a:t>
            </a:r>
            <a:r>
              <a:rPr sz="1867" spc="-27" dirty="0">
                <a:latin typeface="Verdana"/>
                <a:cs typeface="Verdana"/>
              </a:rPr>
              <a:t> </a:t>
            </a:r>
            <a:r>
              <a:rPr sz="1867" dirty="0">
                <a:latin typeface="Verdana"/>
                <a:cs typeface="Verdana"/>
              </a:rPr>
              <a:t>one</a:t>
            </a:r>
            <a:r>
              <a:rPr sz="1867" spc="-27" dirty="0">
                <a:latin typeface="Verdana"/>
                <a:cs typeface="Verdana"/>
              </a:rPr>
              <a:t> </a:t>
            </a:r>
            <a:r>
              <a:rPr sz="1867" dirty="0">
                <a:latin typeface="Verdana"/>
                <a:cs typeface="Verdana"/>
              </a:rPr>
              <a:t>of</a:t>
            </a:r>
            <a:r>
              <a:rPr sz="1867" spc="-27" dirty="0">
                <a:latin typeface="Verdana"/>
                <a:cs typeface="Verdana"/>
              </a:rPr>
              <a:t> </a:t>
            </a:r>
            <a:r>
              <a:rPr sz="1867" dirty="0">
                <a:latin typeface="Verdana"/>
                <a:cs typeface="Verdana"/>
              </a:rPr>
              <a:t>the</a:t>
            </a:r>
            <a:r>
              <a:rPr sz="1867" spc="-20" dirty="0">
                <a:latin typeface="Verdana"/>
                <a:cs typeface="Verdana"/>
              </a:rPr>
              <a:t> </a:t>
            </a:r>
            <a:r>
              <a:rPr sz="1867" dirty="0">
                <a:latin typeface="Verdana"/>
                <a:cs typeface="Verdana"/>
              </a:rPr>
              <a:t>five</a:t>
            </a:r>
            <a:r>
              <a:rPr sz="1867" spc="-27" dirty="0">
                <a:latin typeface="Verdana"/>
                <a:cs typeface="Verdana"/>
              </a:rPr>
              <a:t> </a:t>
            </a:r>
            <a:r>
              <a:rPr sz="1867" spc="-13" dirty="0">
                <a:latin typeface="Verdana"/>
                <a:cs typeface="Verdana"/>
              </a:rPr>
              <a:t>states.</a:t>
            </a:r>
            <a:endParaRPr sz="1867" dirty="0">
              <a:latin typeface="Verdana"/>
              <a:cs typeface="Verdana"/>
            </a:endParaRPr>
          </a:p>
          <a:p>
            <a:pPr marL="464808" marR="884745" indent="-448722">
              <a:lnSpc>
                <a:spcPct val="150000"/>
              </a:lnSpc>
              <a:spcBef>
                <a:spcPts val="113"/>
              </a:spcBef>
              <a:buFont typeface="Arial"/>
              <a:buChar char="●"/>
              <a:tabLst>
                <a:tab pos="464808" algn="l"/>
              </a:tabLst>
            </a:pPr>
            <a:r>
              <a:rPr sz="1867" dirty="0">
                <a:latin typeface="Verdana"/>
                <a:cs typeface="Verdana"/>
              </a:rPr>
              <a:t>According</a:t>
            </a:r>
            <a:r>
              <a:rPr sz="1867" spc="-40" dirty="0">
                <a:latin typeface="Verdana"/>
                <a:cs typeface="Verdana"/>
              </a:rPr>
              <a:t> </a:t>
            </a:r>
            <a:r>
              <a:rPr sz="1867" dirty="0">
                <a:latin typeface="Verdana"/>
                <a:cs typeface="Verdana"/>
              </a:rPr>
              <a:t>to</a:t>
            </a:r>
            <a:r>
              <a:rPr sz="1867" spc="-33" dirty="0">
                <a:latin typeface="Verdana"/>
                <a:cs typeface="Verdana"/>
              </a:rPr>
              <a:t> </a:t>
            </a:r>
            <a:r>
              <a:rPr sz="1867" dirty="0">
                <a:latin typeface="Verdana"/>
                <a:cs typeface="Verdana"/>
              </a:rPr>
              <a:t>sun,</a:t>
            </a:r>
            <a:r>
              <a:rPr sz="1867" spc="-33" dirty="0">
                <a:latin typeface="Verdana"/>
                <a:cs typeface="Verdana"/>
              </a:rPr>
              <a:t> </a:t>
            </a:r>
            <a:r>
              <a:rPr sz="1867" dirty="0">
                <a:latin typeface="Verdana"/>
                <a:cs typeface="Verdana"/>
              </a:rPr>
              <a:t>there</a:t>
            </a:r>
            <a:r>
              <a:rPr sz="1867" spc="-40" dirty="0">
                <a:latin typeface="Verdana"/>
                <a:cs typeface="Verdana"/>
              </a:rPr>
              <a:t> </a:t>
            </a:r>
            <a:r>
              <a:rPr sz="1867" dirty="0">
                <a:latin typeface="Verdana"/>
                <a:cs typeface="Verdana"/>
              </a:rPr>
              <a:t>is</a:t>
            </a:r>
            <a:r>
              <a:rPr sz="1867" spc="-33" dirty="0">
                <a:latin typeface="Verdana"/>
                <a:cs typeface="Verdana"/>
              </a:rPr>
              <a:t> </a:t>
            </a:r>
            <a:r>
              <a:rPr sz="1867" dirty="0">
                <a:latin typeface="Verdana"/>
                <a:cs typeface="Verdana"/>
              </a:rPr>
              <a:t>only</a:t>
            </a:r>
            <a:r>
              <a:rPr sz="1867" spc="-33" dirty="0">
                <a:latin typeface="Verdana"/>
                <a:cs typeface="Verdana"/>
              </a:rPr>
              <a:t> </a:t>
            </a:r>
            <a:r>
              <a:rPr sz="1867" dirty="0">
                <a:latin typeface="Verdana"/>
                <a:cs typeface="Verdana"/>
              </a:rPr>
              <a:t>4</a:t>
            </a:r>
            <a:r>
              <a:rPr sz="1867" spc="-40" dirty="0">
                <a:latin typeface="Verdana"/>
                <a:cs typeface="Verdana"/>
              </a:rPr>
              <a:t> </a:t>
            </a:r>
            <a:r>
              <a:rPr sz="1867" dirty="0">
                <a:latin typeface="Verdana"/>
                <a:cs typeface="Verdana"/>
              </a:rPr>
              <a:t>states</a:t>
            </a:r>
            <a:r>
              <a:rPr sz="1867" spc="-33" dirty="0">
                <a:latin typeface="Verdana"/>
                <a:cs typeface="Verdana"/>
              </a:rPr>
              <a:t> </a:t>
            </a:r>
            <a:r>
              <a:rPr sz="1867" dirty="0">
                <a:latin typeface="Verdana"/>
                <a:cs typeface="Verdana"/>
              </a:rPr>
              <a:t>in</a:t>
            </a:r>
            <a:r>
              <a:rPr sz="1867" spc="-33" dirty="0">
                <a:latin typeface="Verdana"/>
                <a:cs typeface="Verdana"/>
              </a:rPr>
              <a:t> </a:t>
            </a:r>
            <a:r>
              <a:rPr sz="1867" dirty="0">
                <a:latin typeface="Verdana"/>
                <a:cs typeface="Verdana"/>
              </a:rPr>
              <a:t>thread</a:t>
            </a:r>
            <a:r>
              <a:rPr sz="1867" spc="-40" dirty="0">
                <a:latin typeface="Verdana"/>
                <a:cs typeface="Verdana"/>
              </a:rPr>
              <a:t> </a:t>
            </a:r>
            <a:r>
              <a:rPr sz="1867" dirty="0">
                <a:latin typeface="Verdana"/>
                <a:cs typeface="Verdana"/>
              </a:rPr>
              <a:t>life</a:t>
            </a:r>
            <a:r>
              <a:rPr sz="1867" spc="-33" dirty="0">
                <a:latin typeface="Verdana"/>
                <a:cs typeface="Verdana"/>
              </a:rPr>
              <a:t> </a:t>
            </a:r>
            <a:r>
              <a:rPr sz="1867" dirty="0">
                <a:latin typeface="Verdana"/>
                <a:cs typeface="Verdana"/>
              </a:rPr>
              <a:t>cycle</a:t>
            </a:r>
            <a:r>
              <a:rPr sz="1867" spc="-33" dirty="0">
                <a:latin typeface="Verdana"/>
                <a:cs typeface="Verdana"/>
              </a:rPr>
              <a:t> </a:t>
            </a:r>
            <a:r>
              <a:rPr sz="1867" dirty="0">
                <a:latin typeface="Verdana"/>
                <a:cs typeface="Verdana"/>
              </a:rPr>
              <a:t>in</a:t>
            </a:r>
            <a:r>
              <a:rPr sz="1867" spc="-40" dirty="0">
                <a:latin typeface="Verdana"/>
                <a:cs typeface="Verdana"/>
              </a:rPr>
              <a:t> </a:t>
            </a:r>
            <a:r>
              <a:rPr sz="1867" dirty="0">
                <a:latin typeface="Verdana"/>
                <a:cs typeface="Verdana"/>
              </a:rPr>
              <a:t>java</a:t>
            </a:r>
            <a:r>
              <a:rPr sz="1867" spc="-33" dirty="0">
                <a:latin typeface="Verdana"/>
                <a:cs typeface="Verdana"/>
              </a:rPr>
              <a:t> </a:t>
            </a:r>
            <a:r>
              <a:rPr sz="1867" spc="-27" dirty="0">
                <a:latin typeface="Verdana"/>
                <a:cs typeface="Verdana"/>
              </a:rPr>
              <a:t>new, </a:t>
            </a:r>
            <a:r>
              <a:rPr sz="1867" dirty="0">
                <a:latin typeface="Verdana"/>
                <a:cs typeface="Verdana"/>
              </a:rPr>
              <a:t>runnable,</a:t>
            </a:r>
            <a:r>
              <a:rPr sz="1867" spc="-80" dirty="0">
                <a:latin typeface="Verdana"/>
                <a:cs typeface="Verdana"/>
              </a:rPr>
              <a:t> </a:t>
            </a:r>
            <a:r>
              <a:rPr sz="1867" spc="-27" dirty="0">
                <a:latin typeface="Verdana"/>
                <a:cs typeface="Verdana"/>
              </a:rPr>
              <a:t>non-</a:t>
            </a:r>
            <a:r>
              <a:rPr sz="1867" dirty="0">
                <a:latin typeface="Verdana"/>
                <a:cs typeface="Verdana"/>
              </a:rPr>
              <a:t>runnable</a:t>
            </a:r>
            <a:r>
              <a:rPr sz="1867" spc="-80" dirty="0">
                <a:latin typeface="Verdana"/>
                <a:cs typeface="Verdana"/>
              </a:rPr>
              <a:t> </a:t>
            </a:r>
            <a:r>
              <a:rPr sz="1867" dirty="0">
                <a:latin typeface="Verdana"/>
                <a:cs typeface="Verdana"/>
              </a:rPr>
              <a:t>and</a:t>
            </a:r>
            <a:r>
              <a:rPr sz="1867" spc="-80" dirty="0">
                <a:latin typeface="Verdana"/>
                <a:cs typeface="Verdana"/>
              </a:rPr>
              <a:t> </a:t>
            </a:r>
            <a:r>
              <a:rPr sz="1867" spc="-13" dirty="0">
                <a:latin typeface="Verdana"/>
                <a:cs typeface="Verdana"/>
              </a:rPr>
              <a:t>terminated.</a:t>
            </a:r>
            <a:endParaRPr sz="1867" dirty="0">
              <a:latin typeface="Verdana"/>
              <a:cs typeface="Verdana"/>
            </a:endParaRPr>
          </a:p>
          <a:p>
            <a:pPr marL="463962" indent="-447029">
              <a:lnSpc>
                <a:spcPct val="150000"/>
              </a:lnSpc>
              <a:spcBef>
                <a:spcPts val="213"/>
              </a:spcBef>
              <a:buFont typeface="Arial"/>
              <a:buChar char="●"/>
              <a:tabLst>
                <a:tab pos="463962" algn="l"/>
              </a:tabLst>
            </a:pPr>
            <a:r>
              <a:rPr sz="1867" dirty="0">
                <a:latin typeface="Verdana"/>
                <a:cs typeface="Verdana"/>
              </a:rPr>
              <a:t>There</a:t>
            </a:r>
            <a:r>
              <a:rPr sz="1867" spc="-60" dirty="0">
                <a:latin typeface="Verdana"/>
                <a:cs typeface="Verdana"/>
              </a:rPr>
              <a:t> </a:t>
            </a:r>
            <a:r>
              <a:rPr sz="1867" dirty="0">
                <a:latin typeface="Verdana"/>
                <a:cs typeface="Verdana"/>
              </a:rPr>
              <a:t>is</a:t>
            </a:r>
            <a:r>
              <a:rPr sz="1867" spc="-53" dirty="0">
                <a:latin typeface="Verdana"/>
                <a:cs typeface="Verdana"/>
              </a:rPr>
              <a:t> </a:t>
            </a:r>
            <a:r>
              <a:rPr sz="1867" dirty="0">
                <a:latin typeface="Verdana"/>
                <a:cs typeface="Verdana"/>
              </a:rPr>
              <a:t>no</a:t>
            </a:r>
            <a:r>
              <a:rPr sz="1867" spc="-53" dirty="0">
                <a:latin typeface="Verdana"/>
                <a:cs typeface="Verdana"/>
              </a:rPr>
              <a:t> </a:t>
            </a:r>
            <a:r>
              <a:rPr sz="1867" dirty="0">
                <a:latin typeface="Verdana"/>
                <a:cs typeface="Verdana"/>
              </a:rPr>
              <a:t>running</a:t>
            </a:r>
            <a:r>
              <a:rPr sz="1867" spc="-53" dirty="0">
                <a:latin typeface="Verdana"/>
                <a:cs typeface="Verdana"/>
              </a:rPr>
              <a:t> </a:t>
            </a:r>
            <a:r>
              <a:rPr sz="1867" spc="-13" dirty="0">
                <a:latin typeface="Verdana"/>
                <a:cs typeface="Verdana"/>
              </a:rPr>
              <a:t>state.</a:t>
            </a:r>
            <a:endParaRPr sz="1867" dirty="0">
              <a:latin typeface="Verdana"/>
              <a:cs typeface="Verdana"/>
            </a:endParaRPr>
          </a:p>
          <a:p>
            <a:pPr marL="463962" indent="-447029">
              <a:lnSpc>
                <a:spcPct val="150000"/>
              </a:lnSpc>
              <a:spcBef>
                <a:spcPts val="360"/>
              </a:spcBef>
              <a:buFont typeface="Arial"/>
              <a:buChar char="●"/>
              <a:tabLst>
                <a:tab pos="463962" algn="l"/>
              </a:tabLst>
            </a:pPr>
            <a:r>
              <a:rPr sz="1867" dirty="0">
                <a:latin typeface="Verdana"/>
                <a:cs typeface="Verdana"/>
              </a:rPr>
              <a:t>But</a:t>
            </a:r>
            <a:r>
              <a:rPr sz="1867" spc="-40" dirty="0">
                <a:latin typeface="Verdana"/>
                <a:cs typeface="Verdana"/>
              </a:rPr>
              <a:t> </a:t>
            </a:r>
            <a:r>
              <a:rPr sz="1867" dirty="0">
                <a:latin typeface="Verdana"/>
                <a:cs typeface="Verdana"/>
              </a:rPr>
              <a:t>for</a:t>
            </a:r>
            <a:r>
              <a:rPr sz="1867" spc="-33" dirty="0">
                <a:latin typeface="Verdana"/>
                <a:cs typeface="Verdana"/>
              </a:rPr>
              <a:t> </a:t>
            </a:r>
            <a:r>
              <a:rPr sz="1867" dirty="0">
                <a:latin typeface="Verdana"/>
                <a:cs typeface="Verdana"/>
              </a:rPr>
              <a:t>better</a:t>
            </a:r>
            <a:r>
              <a:rPr sz="1867" spc="-40" dirty="0">
                <a:latin typeface="Verdana"/>
                <a:cs typeface="Verdana"/>
              </a:rPr>
              <a:t> </a:t>
            </a:r>
            <a:r>
              <a:rPr sz="1867" dirty="0">
                <a:latin typeface="Verdana"/>
                <a:cs typeface="Verdana"/>
              </a:rPr>
              <a:t>understanding</a:t>
            </a:r>
            <a:r>
              <a:rPr sz="1867" spc="-33" dirty="0">
                <a:latin typeface="Verdana"/>
                <a:cs typeface="Verdana"/>
              </a:rPr>
              <a:t> </a:t>
            </a:r>
            <a:r>
              <a:rPr sz="1867" dirty="0">
                <a:latin typeface="Verdana"/>
                <a:cs typeface="Verdana"/>
              </a:rPr>
              <a:t>the</a:t>
            </a:r>
            <a:r>
              <a:rPr sz="1867" spc="-40" dirty="0">
                <a:latin typeface="Verdana"/>
                <a:cs typeface="Verdana"/>
              </a:rPr>
              <a:t> </a:t>
            </a:r>
            <a:r>
              <a:rPr sz="1867" dirty="0">
                <a:latin typeface="Verdana"/>
                <a:cs typeface="Verdana"/>
              </a:rPr>
              <a:t>threads,</a:t>
            </a:r>
            <a:r>
              <a:rPr sz="1867" spc="-33" dirty="0">
                <a:latin typeface="Verdana"/>
                <a:cs typeface="Verdana"/>
              </a:rPr>
              <a:t> </a:t>
            </a:r>
            <a:r>
              <a:rPr sz="1867" dirty="0">
                <a:latin typeface="Verdana"/>
                <a:cs typeface="Verdana"/>
              </a:rPr>
              <a:t>we</a:t>
            </a:r>
            <a:r>
              <a:rPr sz="1867" spc="-40" dirty="0">
                <a:latin typeface="Verdana"/>
                <a:cs typeface="Verdana"/>
              </a:rPr>
              <a:t> </a:t>
            </a:r>
            <a:r>
              <a:rPr sz="1867" dirty="0">
                <a:latin typeface="Verdana"/>
                <a:cs typeface="Verdana"/>
              </a:rPr>
              <a:t>are</a:t>
            </a:r>
            <a:r>
              <a:rPr sz="1867" spc="-33" dirty="0">
                <a:latin typeface="Verdana"/>
                <a:cs typeface="Verdana"/>
              </a:rPr>
              <a:t> </a:t>
            </a:r>
            <a:r>
              <a:rPr sz="1867" dirty="0">
                <a:latin typeface="Verdana"/>
                <a:cs typeface="Verdana"/>
              </a:rPr>
              <a:t>explaining</a:t>
            </a:r>
            <a:r>
              <a:rPr sz="1867" spc="-33" dirty="0">
                <a:latin typeface="Verdana"/>
                <a:cs typeface="Verdana"/>
              </a:rPr>
              <a:t> </a:t>
            </a:r>
            <a:r>
              <a:rPr sz="1867" dirty="0">
                <a:latin typeface="Verdana"/>
                <a:cs typeface="Verdana"/>
              </a:rPr>
              <a:t>it</a:t>
            </a:r>
            <a:r>
              <a:rPr sz="1867" spc="-40" dirty="0">
                <a:latin typeface="Verdana"/>
                <a:cs typeface="Verdana"/>
              </a:rPr>
              <a:t> </a:t>
            </a:r>
            <a:r>
              <a:rPr sz="1867" dirty="0">
                <a:latin typeface="Verdana"/>
                <a:cs typeface="Verdana"/>
              </a:rPr>
              <a:t>in</a:t>
            </a:r>
            <a:r>
              <a:rPr sz="1867" spc="-33" dirty="0">
                <a:latin typeface="Verdana"/>
                <a:cs typeface="Verdana"/>
              </a:rPr>
              <a:t> </a:t>
            </a:r>
            <a:r>
              <a:rPr sz="1867" dirty="0">
                <a:latin typeface="Verdana"/>
                <a:cs typeface="Verdana"/>
              </a:rPr>
              <a:t>the</a:t>
            </a:r>
            <a:r>
              <a:rPr sz="1867" spc="-40" dirty="0">
                <a:latin typeface="Verdana"/>
                <a:cs typeface="Verdana"/>
              </a:rPr>
              <a:t> </a:t>
            </a:r>
            <a:r>
              <a:rPr sz="1867" dirty="0">
                <a:latin typeface="Verdana"/>
                <a:cs typeface="Verdana"/>
              </a:rPr>
              <a:t>5</a:t>
            </a:r>
            <a:r>
              <a:rPr sz="1867" spc="-33" dirty="0">
                <a:latin typeface="Verdana"/>
                <a:cs typeface="Verdana"/>
              </a:rPr>
              <a:t> </a:t>
            </a:r>
            <a:r>
              <a:rPr sz="1867" spc="-13" dirty="0">
                <a:latin typeface="Verdana"/>
                <a:cs typeface="Verdana"/>
              </a:rPr>
              <a:t>states.</a:t>
            </a:r>
            <a:endParaRPr sz="1867" dirty="0">
              <a:latin typeface="Verdana"/>
              <a:cs typeface="Verdana"/>
            </a:endParaRPr>
          </a:p>
          <a:p>
            <a:pPr marL="463962" indent="-447029">
              <a:lnSpc>
                <a:spcPct val="150000"/>
              </a:lnSpc>
              <a:spcBef>
                <a:spcPts val="360"/>
              </a:spcBef>
              <a:buFont typeface="Arial"/>
              <a:buChar char="●"/>
              <a:tabLst>
                <a:tab pos="463962" algn="l"/>
              </a:tabLst>
            </a:pPr>
            <a:r>
              <a:rPr sz="1867" dirty="0">
                <a:latin typeface="Verdana"/>
                <a:cs typeface="Verdana"/>
              </a:rPr>
              <a:t>The</a:t>
            </a:r>
            <a:r>
              <a:rPr sz="1867" spc="-33" dirty="0">
                <a:latin typeface="Verdana"/>
                <a:cs typeface="Verdana"/>
              </a:rPr>
              <a:t> </a:t>
            </a:r>
            <a:r>
              <a:rPr sz="1867" dirty="0">
                <a:latin typeface="Verdana"/>
                <a:cs typeface="Verdana"/>
              </a:rPr>
              <a:t>life</a:t>
            </a:r>
            <a:r>
              <a:rPr sz="1867" spc="-33" dirty="0">
                <a:latin typeface="Verdana"/>
                <a:cs typeface="Verdana"/>
              </a:rPr>
              <a:t> </a:t>
            </a:r>
            <a:r>
              <a:rPr sz="1867" dirty="0">
                <a:latin typeface="Verdana"/>
                <a:cs typeface="Verdana"/>
              </a:rPr>
              <a:t>cycle</a:t>
            </a:r>
            <a:r>
              <a:rPr sz="1867" spc="-27" dirty="0">
                <a:latin typeface="Verdana"/>
                <a:cs typeface="Verdana"/>
              </a:rPr>
              <a:t> </a:t>
            </a:r>
            <a:r>
              <a:rPr sz="1867" dirty="0">
                <a:latin typeface="Verdana"/>
                <a:cs typeface="Verdana"/>
              </a:rPr>
              <a:t>of</a:t>
            </a:r>
            <a:r>
              <a:rPr sz="1867" spc="-33" dirty="0">
                <a:latin typeface="Verdana"/>
                <a:cs typeface="Verdana"/>
              </a:rPr>
              <a:t> </a:t>
            </a:r>
            <a:r>
              <a:rPr sz="1867" dirty="0">
                <a:latin typeface="Verdana"/>
                <a:cs typeface="Verdana"/>
              </a:rPr>
              <a:t>the</a:t>
            </a:r>
            <a:r>
              <a:rPr sz="1867" spc="-27" dirty="0">
                <a:latin typeface="Verdana"/>
                <a:cs typeface="Verdana"/>
              </a:rPr>
              <a:t> </a:t>
            </a:r>
            <a:r>
              <a:rPr sz="1867" dirty="0">
                <a:latin typeface="Verdana"/>
                <a:cs typeface="Verdana"/>
              </a:rPr>
              <a:t>thread</a:t>
            </a:r>
            <a:r>
              <a:rPr sz="1867" spc="-33" dirty="0">
                <a:latin typeface="Verdana"/>
                <a:cs typeface="Verdana"/>
              </a:rPr>
              <a:t> </a:t>
            </a:r>
            <a:r>
              <a:rPr sz="1867" dirty="0">
                <a:latin typeface="Verdana"/>
                <a:cs typeface="Verdana"/>
              </a:rPr>
              <a:t>in</a:t>
            </a:r>
            <a:r>
              <a:rPr sz="1867" spc="-27" dirty="0">
                <a:latin typeface="Verdana"/>
                <a:cs typeface="Verdana"/>
              </a:rPr>
              <a:t> </a:t>
            </a:r>
            <a:r>
              <a:rPr sz="1867" dirty="0">
                <a:latin typeface="Verdana"/>
                <a:cs typeface="Verdana"/>
              </a:rPr>
              <a:t>java</a:t>
            </a:r>
            <a:r>
              <a:rPr sz="1867" spc="-33" dirty="0">
                <a:latin typeface="Verdana"/>
                <a:cs typeface="Verdana"/>
              </a:rPr>
              <a:t> </a:t>
            </a:r>
            <a:r>
              <a:rPr sz="1867" dirty="0">
                <a:latin typeface="Verdana"/>
                <a:cs typeface="Verdana"/>
              </a:rPr>
              <a:t>is</a:t>
            </a:r>
            <a:r>
              <a:rPr sz="1867" spc="-27" dirty="0">
                <a:latin typeface="Verdana"/>
                <a:cs typeface="Verdana"/>
              </a:rPr>
              <a:t> </a:t>
            </a:r>
            <a:r>
              <a:rPr sz="1867" dirty="0">
                <a:latin typeface="Verdana"/>
                <a:cs typeface="Verdana"/>
              </a:rPr>
              <a:t>controlled</a:t>
            </a:r>
            <a:r>
              <a:rPr sz="1867" spc="-33" dirty="0">
                <a:latin typeface="Verdana"/>
                <a:cs typeface="Verdana"/>
              </a:rPr>
              <a:t> </a:t>
            </a:r>
            <a:r>
              <a:rPr sz="1867" dirty="0">
                <a:latin typeface="Verdana"/>
                <a:cs typeface="Verdana"/>
              </a:rPr>
              <a:t>by</a:t>
            </a:r>
            <a:r>
              <a:rPr sz="1867" spc="-27" dirty="0">
                <a:latin typeface="Verdana"/>
                <a:cs typeface="Verdana"/>
              </a:rPr>
              <a:t> JVM.</a:t>
            </a:r>
            <a:endParaRPr sz="1867" dirty="0">
              <a:latin typeface="Verdana"/>
              <a:cs typeface="Verdana"/>
            </a:endParaRPr>
          </a:p>
          <a:p>
            <a:pPr marL="463962" indent="-447029">
              <a:lnSpc>
                <a:spcPct val="150000"/>
              </a:lnSpc>
              <a:spcBef>
                <a:spcPts val="360"/>
              </a:spcBef>
              <a:buFont typeface="Arial"/>
              <a:buChar char="●"/>
              <a:tabLst>
                <a:tab pos="463962" algn="l"/>
              </a:tabLst>
            </a:pPr>
            <a:r>
              <a:rPr sz="1867" dirty="0">
                <a:latin typeface="Verdana"/>
                <a:cs typeface="Verdana"/>
              </a:rPr>
              <a:t>The</a:t>
            </a:r>
            <a:r>
              <a:rPr sz="1867" spc="-40" dirty="0">
                <a:latin typeface="Verdana"/>
                <a:cs typeface="Verdana"/>
              </a:rPr>
              <a:t> </a:t>
            </a:r>
            <a:r>
              <a:rPr sz="1867" dirty="0">
                <a:latin typeface="Verdana"/>
                <a:cs typeface="Verdana"/>
              </a:rPr>
              <a:t>java</a:t>
            </a:r>
            <a:r>
              <a:rPr sz="1867" spc="-40" dirty="0">
                <a:latin typeface="Verdana"/>
                <a:cs typeface="Verdana"/>
              </a:rPr>
              <a:t> </a:t>
            </a:r>
            <a:r>
              <a:rPr sz="1867" dirty="0">
                <a:latin typeface="Verdana"/>
                <a:cs typeface="Verdana"/>
              </a:rPr>
              <a:t>thread</a:t>
            </a:r>
            <a:r>
              <a:rPr sz="1867" spc="-40" dirty="0">
                <a:latin typeface="Verdana"/>
                <a:cs typeface="Verdana"/>
              </a:rPr>
              <a:t> </a:t>
            </a:r>
            <a:r>
              <a:rPr sz="1867" dirty="0">
                <a:latin typeface="Verdana"/>
                <a:cs typeface="Verdana"/>
              </a:rPr>
              <a:t>states</a:t>
            </a:r>
            <a:r>
              <a:rPr sz="1867" spc="-40" dirty="0">
                <a:latin typeface="Verdana"/>
                <a:cs typeface="Verdana"/>
              </a:rPr>
              <a:t> </a:t>
            </a:r>
            <a:r>
              <a:rPr sz="1867" dirty="0">
                <a:latin typeface="Verdana"/>
                <a:cs typeface="Verdana"/>
              </a:rPr>
              <a:t>are</a:t>
            </a:r>
            <a:r>
              <a:rPr sz="1867" spc="-40" dirty="0">
                <a:latin typeface="Verdana"/>
                <a:cs typeface="Verdana"/>
              </a:rPr>
              <a:t> </a:t>
            </a:r>
            <a:r>
              <a:rPr sz="1867" dirty="0">
                <a:latin typeface="Verdana"/>
                <a:cs typeface="Verdana"/>
              </a:rPr>
              <a:t>as</a:t>
            </a:r>
            <a:r>
              <a:rPr sz="1867" spc="-40" dirty="0">
                <a:latin typeface="Verdana"/>
                <a:cs typeface="Verdana"/>
              </a:rPr>
              <a:t> </a:t>
            </a:r>
            <a:r>
              <a:rPr sz="1867" spc="-13" dirty="0">
                <a:latin typeface="Verdana"/>
                <a:cs typeface="Verdana"/>
              </a:rPr>
              <a:t>follows:</a:t>
            </a:r>
            <a:endParaRPr sz="1867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99882" y="1949206"/>
            <a:ext cx="3372273" cy="181246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39313" indent="-522380">
              <a:spcBef>
                <a:spcPts val="133"/>
              </a:spcBef>
              <a:buAutoNum type="arabicPeriod"/>
              <a:tabLst>
                <a:tab pos="539313" algn="l"/>
              </a:tabLst>
            </a:pPr>
            <a:r>
              <a:rPr sz="1600" b="1" spc="-33" dirty="0">
                <a:latin typeface="Verdana"/>
                <a:cs typeface="Verdana"/>
              </a:rPr>
              <a:t>New</a:t>
            </a:r>
            <a:endParaRPr sz="1600">
              <a:latin typeface="Verdana"/>
              <a:cs typeface="Verdana"/>
            </a:endParaRPr>
          </a:p>
          <a:p>
            <a:pPr marL="539313" indent="-522380">
              <a:spcBef>
                <a:spcPts val="1147"/>
              </a:spcBef>
              <a:buAutoNum type="arabicPeriod"/>
              <a:tabLst>
                <a:tab pos="539313" algn="l"/>
              </a:tabLst>
            </a:pPr>
            <a:r>
              <a:rPr sz="1600" b="1" spc="-13" dirty="0">
                <a:latin typeface="Verdana"/>
                <a:cs typeface="Verdana"/>
              </a:rPr>
              <a:t>Runnable</a:t>
            </a:r>
            <a:endParaRPr sz="1600">
              <a:latin typeface="Verdana"/>
              <a:cs typeface="Verdana"/>
            </a:endParaRPr>
          </a:p>
          <a:p>
            <a:pPr marL="539313" indent="-522380">
              <a:spcBef>
                <a:spcPts val="1080"/>
              </a:spcBef>
              <a:buAutoNum type="arabicPeriod"/>
              <a:tabLst>
                <a:tab pos="539313" algn="l"/>
              </a:tabLst>
            </a:pPr>
            <a:r>
              <a:rPr sz="1600" b="1" spc="-13" dirty="0">
                <a:latin typeface="Verdana"/>
                <a:cs typeface="Verdana"/>
              </a:rPr>
              <a:t>Running</a:t>
            </a:r>
            <a:endParaRPr sz="1600">
              <a:latin typeface="Verdana"/>
              <a:cs typeface="Verdana"/>
            </a:endParaRPr>
          </a:p>
          <a:p>
            <a:pPr marL="539313" indent="-522380">
              <a:spcBef>
                <a:spcPts val="1080"/>
              </a:spcBef>
              <a:buAutoNum type="arabicPeriod"/>
              <a:tabLst>
                <a:tab pos="539313" algn="l"/>
              </a:tabLst>
            </a:pPr>
            <a:r>
              <a:rPr sz="1600" b="1" spc="-13" dirty="0">
                <a:latin typeface="Verdana"/>
                <a:cs typeface="Verdana"/>
              </a:rPr>
              <a:t>Non-</a:t>
            </a:r>
            <a:r>
              <a:rPr sz="1600" b="1" dirty="0">
                <a:latin typeface="Verdana"/>
                <a:cs typeface="Verdana"/>
              </a:rPr>
              <a:t>Runnable</a:t>
            </a:r>
            <a:r>
              <a:rPr sz="1600" b="1" spc="-27" dirty="0">
                <a:latin typeface="Verdana"/>
                <a:cs typeface="Verdana"/>
              </a:rPr>
              <a:t> </a:t>
            </a:r>
            <a:r>
              <a:rPr sz="1600" b="1" spc="-13" dirty="0">
                <a:latin typeface="Verdana"/>
                <a:cs typeface="Verdana"/>
              </a:rPr>
              <a:t>(Blocked)</a:t>
            </a:r>
            <a:endParaRPr sz="1600">
              <a:latin typeface="Verdana"/>
              <a:cs typeface="Verdana"/>
            </a:endParaRPr>
          </a:p>
          <a:p>
            <a:pPr marL="539313" indent="-522380">
              <a:spcBef>
                <a:spcPts val="1080"/>
              </a:spcBef>
              <a:buAutoNum type="arabicPeriod"/>
              <a:tabLst>
                <a:tab pos="539313" algn="l"/>
              </a:tabLst>
            </a:pPr>
            <a:r>
              <a:rPr sz="1600" b="1" spc="-13" dirty="0">
                <a:latin typeface="Verdana"/>
                <a:cs typeface="Verdana"/>
              </a:rPr>
              <a:t>Terminated</a:t>
            </a:r>
            <a:endParaRPr sz="16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83032" y="72467"/>
            <a:ext cx="9763667" cy="637156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2967" y="1970257"/>
            <a:ext cx="906780" cy="345330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2133" b="1" dirty="0">
                <a:solidFill>
                  <a:srgbClr val="610B4B"/>
                </a:solidFill>
                <a:latin typeface="Arial"/>
                <a:cs typeface="Arial"/>
              </a:rPr>
              <a:t>1)</a:t>
            </a:r>
            <a:r>
              <a:rPr sz="2133" b="1" spc="-27" dirty="0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2133" b="1" spc="-33" dirty="0">
                <a:solidFill>
                  <a:srgbClr val="610B4B"/>
                </a:solidFill>
                <a:latin typeface="Arial"/>
                <a:cs typeface="Arial"/>
              </a:rPr>
              <a:t>New</a:t>
            </a:r>
            <a:endParaRPr sz="2133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12967" y="2555927"/>
            <a:ext cx="10650220" cy="22221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333" b="1" dirty="0">
                <a:latin typeface="Verdana"/>
                <a:cs typeface="Verdana"/>
              </a:rPr>
              <a:t>The</a:t>
            </a:r>
            <a:r>
              <a:rPr sz="1333" b="1" spc="-40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thread</a:t>
            </a:r>
            <a:r>
              <a:rPr sz="1333" b="1" spc="-33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is</a:t>
            </a:r>
            <a:r>
              <a:rPr sz="1333" b="1" spc="-40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in</a:t>
            </a:r>
            <a:r>
              <a:rPr sz="1333" b="1" spc="-33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new</a:t>
            </a:r>
            <a:r>
              <a:rPr sz="1333" b="1" spc="-33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state</a:t>
            </a:r>
            <a:r>
              <a:rPr sz="1333" b="1" spc="-40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if</a:t>
            </a:r>
            <a:r>
              <a:rPr sz="1333" b="1" spc="-33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you</a:t>
            </a:r>
            <a:r>
              <a:rPr sz="1333" b="1" spc="-40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create</a:t>
            </a:r>
            <a:r>
              <a:rPr sz="1333" b="1" spc="-33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an</a:t>
            </a:r>
            <a:r>
              <a:rPr sz="1333" b="1" spc="-33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instance</a:t>
            </a:r>
            <a:r>
              <a:rPr sz="1333" b="1" spc="-40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of</a:t>
            </a:r>
            <a:r>
              <a:rPr sz="1333" b="1" spc="-33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Thread</a:t>
            </a:r>
            <a:r>
              <a:rPr sz="1333" b="1" spc="-40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class</a:t>
            </a:r>
            <a:r>
              <a:rPr sz="1333" b="1" spc="-33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but</a:t>
            </a:r>
            <a:r>
              <a:rPr sz="1333" b="1" spc="-33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before</a:t>
            </a:r>
            <a:r>
              <a:rPr sz="1333" b="1" spc="-40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the</a:t>
            </a:r>
            <a:r>
              <a:rPr sz="1333" b="1" spc="-33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invocation</a:t>
            </a:r>
            <a:r>
              <a:rPr sz="1333" b="1" spc="-40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of</a:t>
            </a:r>
            <a:r>
              <a:rPr sz="1333" b="1" spc="-33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start()</a:t>
            </a:r>
            <a:r>
              <a:rPr sz="1333" b="1" spc="-33" dirty="0">
                <a:latin typeface="Verdana"/>
                <a:cs typeface="Verdana"/>
              </a:rPr>
              <a:t> </a:t>
            </a:r>
            <a:r>
              <a:rPr sz="1333" b="1" spc="-13" dirty="0">
                <a:latin typeface="Verdana"/>
                <a:cs typeface="Verdana"/>
              </a:rPr>
              <a:t>method.</a:t>
            </a:r>
            <a:endParaRPr sz="1333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2968" y="3025997"/>
            <a:ext cx="1584113" cy="3453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133" b="1" dirty="0">
                <a:solidFill>
                  <a:srgbClr val="610B4B"/>
                </a:solidFill>
                <a:latin typeface="Arial"/>
                <a:cs typeface="Arial"/>
              </a:rPr>
              <a:t>2)</a:t>
            </a:r>
            <a:r>
              <a:rPr sz="2133" b="1" spc="-27" dirty="0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2133" b="1" spc="-13" dirty="0">
                <a:solidFill>
                  <a:srgbClr val="610B4B"/>
                </a:solidFill>
                <a:latin typeface="Arial"/>
                <a:cs typeface="Arial"/>
              </a:rPr>
              <a:t>Runnable</a:t>
            </a:r>
            <a:endParaRPr sz="2133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12967" y="3597327"/>
            <a:ext cx="11058312" cy="45824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lnSpc>
                <a:spcPct val="112500"/>
              </a:lnSpc>
              <a:spcBef>
                <a:spcPts val="133"/>
              </a:spcBef>
            </a:pPr>
            <a:r>
              <a:rPr sz="1333" b="1" dirty="0">
                <a:latin typeface="Verdana"/>
                <a:cs typeface="Verdana"/>
              </a:rPr>
              <a:t>The</a:t>
            </a:r>
            <a:r>
              <a:rPr sz="1333" b="1" spc="-33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thread</a:t>
            </a:r>
            <a:r>
              <a:rPr sz="1333" b="1" spc="-33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is</a:t>
            </a:r>
            <a:r>
              <a:rPr sz="1333" b="1" spc="-33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in</a:t>
            </a:r>
            <a:r>
              <a:rPr sz="1333" b="1" spc="-33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runnable</a:t>
            </a:r>
            <a:r>
              <a:rPr sz="1333" b="1" spc="-33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state</a:t>
            </a:r>
            <a:r>
              <a:rPr sz="1333" b="1" spc="-33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after</a:t>
            </a:r>
            <a:r>
              <a:rPr sz="1333" b="1" spc="-33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invocation</a:t>
            </a:r>
            <a:r>
              <a:rPr sz="1333" b="1" spc="-33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of</a:t>
            </a:r>
            <a:r>
              <a:rPr sz="1333" b="1" spc="-33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start()</a:t>
            </a:r>
            <a:r>
              <a:rPr sz="1333" b="1" spc="-33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method,</a:t>
            </a:r>
            <a:r>
              <a:rPr sz="1333" b="1" spc="-33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but</a:t>
            </a:r>
            <a:r>
              <a:rPr sz="1333" b="1" spc="-33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the</a:t>
            </a:r>
            <a:r>
              <a:rPr sz="1333" b="1" spc="-33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thread</a:t>
            </a:r>
            <a:r>
              <a:rPr sz="1333" b="1" spc="-33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scheduler</a:t>
            </a:r>
            <a:r>
              <a:rPr sz="1333" b="1" spc="-33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has</a:t>
            </a:r>
            <a:r>
              <a:rPr sz="1333" b="1" spc="-33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not</a:t>
            </a:r>
            <a:r>
              <a:rPr sz="1333" b="1" spc="-33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selected</a:t>
            </a:r>
            <a:r>
              <a:rPr sz="1333" b="1" spc="-33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it</a:t>
            </a:r>
            <a:r>
              <a:rPr sz="1333" b="1" spc="-27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to</a:t>
            </a:r>
            <a:r>
              <a:rPr sz="1333" b="1" spc="-33" dirty="0">
                <a:latin typeface="Verdana"/>
                <a:cs typeface="Verdana"/>
              </a:rPr>
              <a:t> be </a:t>
            </a:r>
            <a:r>
              <a:rPr sz="1333" b="1" dirty="0">
                <a:latin typeface="Verdana"/>
                <a:cs typeface="Verdana"/>
              </a:rPr>
              <a:t>the</a:t>
            </a:r>
            <a:r>
              <a:rPr sz="1333" b="1" spc="-33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running</a:t>
            </a:r>
            <a:r>
              <a:rPr sz="1333" b="1" spc="-33" dirty="0">
                <a:latin typeface="Verdana"/>
                <a:cs typeface="Verdana"/>
              </a:rPr>
              <a:t> </a:t>
            </a:r>
            <a:r>
              <a:rPr sz="1333" b="1" spc="-13" dirty="0">
                <a:latin typeface="Verdana"/>
                <a:cs typeface="Verdana"/>
              </a:rPr>
              <a:t>thread.</a:t>
            </a:r>
            <a:endParaRPr sz="1333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12968" y="4321395"/>
            <a:ext cx="1446953" cy="3453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133" b="1" dirty="0">
                <a:solidFill>
                  <a:srgbClr val="610B4B"/>
                </a:solidFill>
                <a:latin typeface="Arial"/>
                <a:cs typeface="Arial"/>
              </a:rPr>
              <a:t>3)</a:t>
            </a:r>
            <a:r>
              <a:rPr sz="2133" b="1" spc="-27" dirty="0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2133" b="1" spc="-13" dirty="0">
                <a:solidFill>
                  <a:srgbClr val="610B4B"/>
                </a:solidFill>
                <a:latin typeface="Arial"/>
                <a:cs typeface="Arial"/>
              </a:rPr>
              <a:t>Running</a:t>
            </a:r>
            <a:endParaRPr sz="2133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12967" y="4918127"/>
            <a:ext cx="6573520" cy="22221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333" b="1" dirty="0">
                <a:latin typeface="Verdana"/>
                <a:cs typeface="Verdana"/>
              </a:rPr>
              <a:t>The</a:t>
            </a:r>
            <a:r>
              <a:rPr sz="1333" b="1" spc="-33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thread</a:t>
            </a:r>
            <a:r>
              <a:rPr sz="1333" b="1" spc="-33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is</a:t>
            </a:r>
            <a:r>
              <a:rPr sz="1333" b="1" spc="-33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in</a:t>
            </a:r>
            <a:r>
              <a:rPr sz="1333" b="1" spc="-33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running</a:t>
            </a:r>
            <a:r>
              <a:rPr sz="1333" b="1" spc="-33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state</a:t>
            </a:r>
            <a:r>
              <a:rPr sz="1333" b="1" spc="-33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if</a:t>
            </a:r>
            <a:r>
              <a:rPr sz="1333" b="1" spc="-27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the</a:t>
            </a:r>
            <a:r>
              <a:rPr sz="1333" b="1" spc="-33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thread</a:t>
            </a:r>
            <a:r>
              <a:rPr sz="1333" b="1" spc="-33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scheduler</a:t>
            </a:r>
            <a:r>
              <a:rPr sz="1333" b="1" spc="-33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has</a:t>
            </a:r>
            <a:r>
              <a:rPr sz="1333" b="1" spc="-33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selected</a:t>
            </a:r>
            <a:r>
              <a:rPr sz="1333" b="1" spc="-33" dirty="0">
                <a:latin typeface="Verdana"/>
                <a:cs typeface="Verdana"/>
              </a:rPr>
              <a:t> it.</a:t>
            </a:r>
            <a:endParaRPr sz="1333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2967" y="1970257"/>
            <a:ext cx="3510280" cy="345330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2133" b="1" dirty="0">
                <a:solidFill>
                  <a:srgbClr val="610B4B"/>
                </a:solidFill>
                <a:latin typeface="Arial"/>
                <a:cs typeface="Arial"/>
              </a:rPr>
              <a:t>4)</a:t>
            </a:r>
            <a:r>
              <a:rPr sz="2133" b="1" spc="-27" dirty="0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2133" b="1" spc="-13" dirty="0">
                <a:solidFill>
                  <a:srgbClr val="610B4B"/>
                </a:solidFill>
                <a:latin typeface="Arial"/>
                <a:cs typeface="Arial"/>
              </a:rPr>
              <a:t>Non-</a:t>
            </a:r>
            <a:r>
              <a:rPr sz="2133" b="1" dirty="0">
                <a:solidFill>
                  <a:srgbClr val="610B4B"/>
                </a:solidFill>
                <a:latin typeface="Arial"/>
                <a:cs typeface="Arial"/>
              </a:rPr>
              <a:t>Runnable</a:t>
            </a:r>
            <a:r>
              <a:rPr sz="2133" b="1" spc="-27" dirty="0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2133" b="1" spc="-13" dirty="0">
                <a:solidFill>
                  <a:srgbClr val="610B4B"/>
                </a:solidFill>
                <a:latin typeface="Arial"/>
                <a:cs typeface="Arial"/>
              </a:rPr>
              <a:t>(Blocked)</a:t>
            </a:r>
            <a:endParaRPr sz="2133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12967" y="2555927"/>
            <a:ext cx="7703820" cy="22221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333" b="1" dirty="0">
                <a:latin typeface="Verdana"/>
                <a:cs typeface="Verdana"/>
              </a:rPr>
              <a:t>This</a:t>
            </a:r>
            <a:r>
              <a:rPr sz="1333" b="1" spc="-27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is</a:t>
            </a:r>
            <a:r>
              <a:rPr sz="1333" b="1" spc="-27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the</a:t>
            </a:r>
            <a:r>
              <a:rPr sz="1333" b="1" spc="-20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state</a:t>
            </a:r>
            <a:r>
              <a:rPr sz="1333" b="1" spc="-27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when</a:t>
            </a:r>
            <a:r>
              <a:rPr sz="1333" b="1" spc="-20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the</a:t>
            </a:r>
            <a:r>
              <a:rPr sz="1333" b="1" spc="-27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thread</a:t>
            </a:r>
            <a:r>
              <a:rPr sz="1333" b="1" spc="-27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is</a:t>
            </a:r>
            <a:r>
              <a:rPr sz="1333" b="1" spc="-20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still</a:t>
            </a:r>
            <a:r>
              <a:rPr sz="1333" b="1" spc="-27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alive,</a:t>
            </a:r>
            <a:r>
              <a:rPr sz="1333" b="1" spc="-20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but</a:t>
            </a:r>
            <a:r>
              <a:rPr sz="1333" b="1" spc="-27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is</a:t>
            </a:r>
            <a:r>
              <a:rPr sz="1333" b="1" spc="-27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currently</a:t>
            </a:r>
            <a:r>
              <a:rPr sz="1333" b="1" spc="-20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not</a:t>
            </a:r>
            <a:r>
              <a:rPr sz="1333" b="1" spc="-27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eligible</a:t>
            </a:r>
            <a:r>
              <a:rPr sz="1333" b="1" spc="-20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to</a:t>
            </a:r>
            <a:r>
              <a:rPr sz="1333" b="1" spc="-27" dirty="0">
                <a:latin typeface="Verdana"/>
                <a:cs typeface="Verdana"/>
              </a:rPr>
              <a:t> run.</a:t>
            </a:r>
            <a:endParaRPr sz="1333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2967" y="3025997"/>
            <a:ext cx="1788160" cy="3453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133" b="1" dirty="0">
                <a:solidFill>
                  <a:srgbClr val="610B4B"/>
                </a:solidFill>
                <a:latin typeface="Arial"/>
                <a:cs typeface="Arial"/>
              </a:rPr>
              <a:t>5)</a:t>
            </a:r>
            <a:r>
              <a:rPr sz="2133" b="1" spc="-27" dirty="0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2133" b="1" spc="-13" dirty="0">
                <a:solidFill>
                  <a:srgbClr val="610B4B"/>
                </a:solidFill>
                <a:latin typeface="Arial"/>
                <a:cs typeface="Arial"/>
              </a:rPr>
              <a:t>Terminated</a:t>
            </a:r>
            <a:endParaRPr sz="2133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12967" y="3622727"/>
            <a:ext cx="6464300" cy="22221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333" b="1" dirty="0">
                <a:latin typeface="Verdana"/>
                <a:cs typeface="Verdana"/>
              </a:rPr>
              <a:t>A</a:t>
            </a:r>
            <a:r>
              <a:rPr sz="1333" b="1" spc="-27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thread</a:t>
            </a:r>
            <a:r>
              <a:rPr sz="1333" b="1" spc="-27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is</a:t>
            </a:r>
            <a:r>
              <a:rPr sz="1333" b="1" spc="-27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in</a:t>
            </a:r>
            <a:r>
              <a:rPr sz="1333" b="1" spc="-27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terminated</a:t>
            </a:r>
            <a:r>
              <a:rPr sz="1333" b="1" spc="-27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or</a:t>
            </a:r>
            <a:r>
              <a:rPr sz="1333" b="1" spc="-27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dead</a:t>
            </a:r>
            <a:r>
              <a:rPr sz="1333" b="1" spc="-27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state</a:t>
            </a:r>
            <a:r>
              <a:rPr sz="1333" b="1" spc="-27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when</a:t>
            </a:r>
            <a:r>
              <a:rPr sz="1333" b="1" spc="-27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its</a:t>
            </a:r>
            <a:r>
              <a:rPr sz="1333" b="1" spc="-27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run()</a:t>
            </a:r>
            <a:r>
              <a:rPr sz="1333" b="1" spc="-27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method</a:t>
            </a:r>
            <a:r>
              <a:rPr sz="1333" b="1" spc="-27" dirty="0">
                <a:latin typeface="Verdana"/>
                <a:cs typeface="Verdana"/>
              </a:rPr>
              <a:t> </a:t>
            </a:r>
            <a:r>
              <a:rPr sz="1333" b="1" spc="-13" dirty="0">
                <a:latin typeface="Verdana"/>
                <a:cs typeface="Verdana"/>
              </a:rPr>
              <a:t>exits</a:t>
            </a:r>
            <a:endParaRPr sz="1333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4634" y="673016"/>
            <a:ext cx="6373910" cy="694207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dirty="0"/>
              <a:t>How</a:t>
            </a:r>
            <a:r>
              <a:rPr spc="-60" dirty="0"/>
              <a:t> </a:t>
            </a:r>
            <a:r>
              <a:rPr dirty="0"/>
              <a:t>to</a:t>
            </a:r>
            <a:r>
              <a:rPr spc="-60" dirty="0"/>
              <a:t> </a:t>
            </a:r>
            <a:r>
              <a:rPr dirty="0"/>
              <a:t>create</a:t>
            </a:r>
            <a:r>
              <a:rPr spc="-60" dirty="0"/>
              <a:t> </a:t>
            </a:r>
            <a:r>
              <a:rPr spc="-13" dirty="0"/>
              <a:t>thread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12967" y="2547460"/>
            <a:ext cx="4173220" cy="991468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333" b="1" dirty="0">
                <a:latin typeface="Verdana"/>
                <a:cs typeface="Verdana"/>
              </a:rPr>
              <a:t>There</a:t>
            </a:r>
            <a:r>
              <a:rPr sz="1333" b="1" spc="-33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are</a:t>
            </a:r>
            <a:r>
              <a:rPr sz="1333" b="1" spc="-27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two</a:t>
            </a:r>
            <a:r>
              <a:rPr sz="1333" b="1" spc="-33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ways</a:t>
            </a:r>
            <a:r>
              <a:rPr sz="1333" b="1" spc="-27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to</a:t>
            </a:r>
            <a:r>
              <a:rPr sz="1333" b="1" spc="-27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create</a:t>
            </a:r>
            <a:r>
              <a:rPr sz="1333" b="1" spc="-33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a</a:t>
            </a:r>
            <a:r>
              <a:rPr sz="1333" b="1" spc="-27" dirty="0">
                <a:latin typeface="Verdana"/>
                <a:cs typeface="Verdana"/>
              </a:rPr>
              <a:t> </a:t>
            </a:r>
            <a:r>
              <a:rPr sz="1333" b="1" spc="-13" dirty="0">
                <a:latin typeface="Verdana"/>
                <a:cs typeface="Verdana"/>
              </a:rPr>
              <a:t>thread:</a:t>
            </a:r>
            <a:endParaRPr sz="1333">
              <a:latin typeface="Verdana"/>
              <a:cs typeface="Verdana"/>
            </a:endParaRPr>
          </a:p>
          <a:p>
            <a:pPr>
              <a:spcBef>
                <a:spcPts val="339"/>
              </a:spcBef>
            </a:pPr>
            <a:endParaRPr sz="1333">
              <a:latin typeface="Verdana"/>
              <a:cs typeface="Verdana"/>
            </a:endParaRPr>
          </a:p>
          <a:p>
            <a:pPr marL="625671" indent="-485975">
              <a:spcBef>
                <a:spcPts val="7"/>
              </a:spcBef>
              <a:buAutoNum type="arabicPeriod"/>
              <a:tabLst>
                <a:tab pos="625671" algn="l"/>
              </a:tabLst>
            </a:pPr>
            <a:r>
              <a:rPr sz="1333" b="1" dirty="0">
                <a:latin typeface="Verdana"/>
                <a:cs typeface="Verdana"/>
              </a:rPr>
              <a:t>By</a:t>
            </a:r>
            <a:r>
              <a:rPr sz="1333" b="1" spc="-60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extending</a:t>
            </a:r>
            <a:r>
              <a:rPr sz="1333" b="1" spc="-53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Thread</a:t>
            </a:r>
            <a:r>
              <a:rPr sz="1333" b="1" spc="-53" dirty="0">
                <a:latin typeface="Verdana"/>
                <a:cs typeface="Verdana"/>
              </a:rPr>
              <a:t> </a:t>
            </a:r>
            <a:r>
              <a:rPr sz="1333" b="1" spc="-13" dirty="0">
                <a:latin typeface="Verdana"/>
                <a:cs typeface="Verdana"/>
              </a:rPr>
              <a:t>class</a:t>
            </a:r>
            <a:endParaRPr sz="1333">
              <a:latin typeface="Verdana"/>
              <a:cs typeface="Verdana"/>
            </a:endParaRPr>
          </a:p>
          <a:p>
            <a:pPr marL="625671" indent="-485975">
              <a:spcBef>
                <a:spcPts val="900"/>
              </a:spcBef>
              <a:buAutoNum type="arabicPeriod"/>
              <a:tabLst>
                <a:tab pos="625671" algn="l"/>
              </a:tabLst>
            </a:pPr>
            <a:r>
              <a:rPr sz="1333" b="1" dirty="0">
                <a:latin typeface="Verdana"/>
                <a:cs typeface="Verdana"/>
              </a:rPr>
              <a:t>By</a:t>
            </a:r>
            <a:r>
              <a:rPr sz="1333" b="1" spc="-67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implementing</a:t>
            </a:r>
            <a:r>
              <a:rPr sz="1333" b="1" spc="-47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Runnable</a:t>
            </a:r>
            <a:r>
              <a:rPr sz="1333" b="1" spc="-47" dirty="0">
                <a:latin typeface="Verdana"/>
                <a:cs typeface="Verdana"/>
              </a:rPr>
              <a:t> </a:t>
            </a:r>
            <a:r>
              <a:rPr sz="1333" b="1" spc="-13" dirty="0">
                <a:latin typeface="Verdana"/>
                <a:cs typeface="Verdana"/>
              </a:rPr>
              <a:t>interface.</a:t>
            </a:r>
            <a:endParaRPr sz="1333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3281" y="984728"/>
            <a:ext cx="2872295" cy="532751"/>
          </a:xfrm>
          <a:prstGeom prst="rect">
            <a:avLst/>
          </a:prstGeom>
        </p:spPr>
        <p:txBody>
          <a:bodyPr vert="horz" wrap="square" lIns="0" tIns="121135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2667" b="1" dirty="0">
                <a:solidFill>
                  <a:srgbClr val="000000"/>
                </a:solidFill>
                <a:latin typeface="Verdana"/>
                <a:cs typeface="Verdana"/>
              </a:rPr>
              <a:t>Thread</a:t>
            </a:r>
            <a:r>
              <a:rPr sz="2667" b="1" spc="-147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2667" b="1" spc="-13" dirty="0">
                <a:solidFill>
                  <a:srgbClr val="000000"/>
                </a:solidFill>
                <a:latin typeface="Verdana"/>
                <a:cs typeface="Verdana"/>
              </a:rPr>
              <a:t>class</a:t>
            </a:r>
            <a:endParaRPr sz="2667" dirty="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12967" y="1729748"/>
            <a:ext cx="9867053" cy="141511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467" b="1" dirty="0">
                <a:latin typeface="Verdana"/>
                <a:cs typeface="Verdana"/>
              </a:rPr>
              <a:t>Thread</a:t>
            </a:r>
            <a:r>
              <a:rPr sz="1467" b="1" spc="-53" dirty="0">
                <a:latin typeface="Verdana"/>
                <a:cs typeface="Verdana"/>
              </a:rPr>
              <a:t> </a:t>
            </a:r>
            <a:r>
              <a:rPr sz="1467" b="1" dirty="0">
                <a:latin typeface="Verdana"/>
                <a:cs typeface="Verdana"/>
              </a:rPr>
              <a:t>class</a:t>
            </a:r>
            <a:r>
              <a:rPr sz="1467" b="1" spc="-47" dirty="0">
                <a:latin typeface="Verdana"/>
                <a:cs typeface="Verdana"/>
              </a:rPr>
              <a:t> </a:t>
            </a:r>
            <a:r>
              <a:rPr sz="1467" b="1" dirty="0">
                <a:latin typeface="Verdana"/>
                <a:cs typeface="Verdana"/>
              </a:rPr>
              <a:t>provide</a:t>
            </a:r>
            <a:r>
              <a:rPr sz="1467" b="1" spc="-47" dirty="0">
                <a:latin typeface="Verdana"/>
                <a:cs typeface="Verdana"/>
              </a:rPr>
              <a:t> </a:t>
            </a:r>
            <a:r>
              <a:rPr sz="1467" b="1" spc="-13" dirty="0">
                <a:latin typeface="Verdana"/>
                <a:cs typeface="Verdana"/>
              </a:rPr>
              <a:t>constructors</a:t>
            </a:r>
            <a:r>
              <a:rPr sz="1467" b="1" spc="-47" dirty="0">
                <a:latin typeface="Verdana"/>
                <a:cs typeface="Verdana"/>
              </a:rPr>
              <a:t> </a:t>
            </a:r>
            <a:r>
              <a:rPr sz="1467" b="1" dirty="0">
                <a:latin typeface="Verdana"/>
                <a:cs typeface="Verdana"/>
              </a:rPr>
              <a:t>and</a:t>
            </a:r>
            <a:r>
              <a:rPr sz="1467" b="1" spc="-47" dirty="0">
                <a:latin typeface="Verdana"/>
                <a:cs typeface="Verdana"/>
              </a:rPr>
              <a:t> </a:t>
            </a:r>
            <a:r>
              <a:rPr sz="1467" b="1" dirty="0">
                <a:latin typeface="Verdana"/>
                <a:cs typeface="Verdana"/>
              </a:rPr>
              <a:t>methods</a:t>
            </a:r>
            <a:r>
              <a:rPr sz="1467" b="1" spc="-47" dirty="0">
                <a:latin typeface="Verdana"/>
                <a:cs typeface="Verdana"/>
              </a:rPr>
              <a:t> </a:t>
            </a:r>
            <a:r>
              <a:rPr sz="1467" b="1" dirty="0">
                <a:latin typeface="Verdana"/>
                <a:cs typeface="Verdana"/>
              </a:rPr>
              <a:t>to</a:t>
            </a:r>
            <a:r>
              <a:rPr sz="1467" b="1" spc="-47" dirty="0">
                <a:latin typeface="Verdana"/>
                <a:cs typeface="Verdana"/>
              </a:rPr>
              <a:t> </a:t>
            </a:r>
            <a:r>
              <a:rPr sz="1467" b="1" dirty="0">
                <a:latin typeface="Verdana"/>
                <a:cs typeface="Verdana"/>
              </a:rPr>
              <a:t>create</a:t>
            </a:r>
            <a:r>
              <a:rPr sz="1467" b="1" spc="-47" dirty="0">
                <a:latin typeface="Verdana"/>
                <a:cs typeface="Verdana"/>
              </a:rPr>
              <a:t> </a:t>
            </a:r>
            <a:r>
              <a:rPr sz="1467" b="1" dirty="0">
                <a:latin typeface="Verdana"/>
                <a:cs typeface="Verdana"/>
              </a:rPr>
              <a:t>and</a:t>
            </a:r>
            <a:r>
              <a:rPr sz="1467" b="1" spc="-47" dirty="0">
                <a:latin typeface="Verdana"/>
                <a:cs typeface="Verdana"/>
              </a:rPr>
              <a:t> </a:t>
            </a:r>
            <a:r>
              <a:rPr sz="1467" b="1" dirty="0">
                <a:latin typeface="Verdana"/>
                <a:cs typeface="Verdana"/>
              </a:rPr>
              <a:t>perform</a:t>
            </a:r>
            <a:r>
              <a:rPr sz="1467" b="1" spc="-47" dirty="0">
                <a:latin typeface="Verdana"/>
                <a:cs typeface="Verdana"/>
              </a:rPr>
              <a:t> </a:t>
            </a:r>
            <a:r>
              <a:rPr sz="1467" b="1" dirty="0">
                <a:latin typeface="Verdana"/>
                <a:cs typeface="Verdana"/>
              </a:rPr>
              <a:t>operations</a:t>
            </a:r>
            <a:r>
              <a:rPr sz="1467" b="1" spc="-47" dirty="0">
                <a:latin typeface="Verdana"/>
                <a:cs typeface="Verdana"/>
              </a:rPr>
              <a:t> </a:t>
            </a:r>
            <a:r>
              <a:rPr sz="1467" b="1" dirty="0">
                <a:latin typeface="Verdana"/>
                <a:cs typeface="Verdana"/>
              </a:rPr>
              <a:t>on</a:t>
            </a:r>
            <a:r>
              <a:rPr sz="1467" b="1" spc="-47" dirty="0">
                <a:latin typeface="Verdana"/>
                <a:cs typeface="Verdana"/>
              </a:rPr>
              <a:t> </a:t>
            </a:r>
            <a:r>
              <a:rPr sz="1467" b="1" dirty="0">
                <a:latin typeface="Verdana"/>
                <a:cs typeface="Verdana"/>
              </a:rPr>
              <a:t>a</a:t>
            </a:r>
            <a:r>
              <a:rPr sz="1467" b="1" spc="-47" dirty="0">
                <a:latin typeface="Verdana"/>
                <a:cs typeface="Verdana"/>
              </a:rPr>
              <a:t> </a:t>
            </a:r>
            <a:r>
              <a:rPr sz="1467" b="1" spc="-13" dirty="0">
                <a:latin typeface="Verdana"/>
                <a:cs typeface="Verdana"/>
              </a:rPr>
              <a:t>thread.</a:t>
            </a:r>
            <a:endParaRPr sz="1467">
              <a:latin typeface="Verdana"/>
              <a:cs typeface="Verdana"/>
            </a:endParaRPr>
          </a:p>
          <a:p>
            <a:pPr>
              <a:spcBef>
                <a:spcPts val="653"/>
              </a:spcBef>
            </a:pPr>
            <a:endParaRPr sz="1467">
              <a:latin typeface="Verdana"/>
              <a:cs typeface="Verdana"/>
            </a:endParaRPr>
          </a:p>
          <a:p>
            <a:pPr marL="16933"/>
            <a:r>
              <a:rPr sz="1467" b="1" dirty="0">
                <a:latin typeface="Verdana"/>
                <a:cs typeface="Verdana"/>
              </a:rPr>
              <a:t>Thread</a:t>
            </a:r>
            <a:r>
              <a:rPr sz="1467" b="1" spc="-53" dirty="0">
                <a:latin typeface="Verdana"/>
                <a:cs typeface="Verdana"/>
              </a:rPr>
              <a:t> </a:t>
            </a:r>
            <a:r>
              <a:rPr sz="1467" b="1" dirty="0">
                <a:latin typeface="Verdana"/>
                <a:cs typeface="Verdana"/>
              </a:rPr>
              <a:t>class</a:t>
            </a:r>
            <a:r>
              <a:rPr sz="1467" b="1" spc="-47" dirty="0">
                <a:latin typeface="Verdana"/>
                <a:cs typeface="Verdana"/>
              </a:rPr>
              <a:t> </a:t>
            </a:r>
            <a:r>
              <a:rPr sz="1467" b="1" dirty="0">
                <a:latin typeface="Verdana"/>
                <a:cs typeface="Verdana"/>
              </a:rPr>
              <a:t>extends</a:t>
            </a:r>
            <a:r>
              <a:rPr sz="1467" b="1" spc="-53" dirty="0">
                <a:latin typeface="Verdana"/>
                <a:cs typeface="Verdana"/>
              </a:rPr>
              <a:t> </a:t>
            </a:r>
            <a:r>
              <a:rPr sz="1467" b="1" dirty="0">
                <a:latin typeface="Verdana"/>
                <a:cs typeface="Verdana"/>
              </a:rPr>
              <a:t>Object</a:t>
            </a:r>
            <a:r>
              <a:rPr sz="1467" b="1" spc="-47" dirty="0">
                <a:latin typeface="Verdana"/>
                <a:cs typeface="Verdana"/>
              </a:rPr>
              <a:t> </a:t>
            </a:r>
            <a:r>
              <a:rPr sz="1467" b="1" dirty="0">
                <a:latin typeface="Verdana"/>
                <a:cs typeface="Verdana"/>
              </a:rPr>
              <a:t>class</a:t>
            </a:r>
            <a:r>
              <a:rPr sz="1467" b="1" spc="-47" dirty="0">
                <a:latin typeface="Verdana"/>
                <a:cs typeface="Verdana"/>
              </a:rPr>
              <a:t> </a:t>
            </a:r>
            <a:r>
              <a:rPr sz="1467" b="1" dirty="0">
                <a:latin typeface="Verdana"/>
                <a:cs typeface="Verdana"/>
              </a:rPr>
              <a:t>and</a:t>
            </a:r>
            <a:r>
              <a:rPr sz="1467" b="1" spc="-53" dirty="0">
                <a:latin typeface="Verdana"/>
                <a:cs typeface="Verdana"/>
              </a:rPr>
              <a:t> </a:t>
            </a:r>
            <a:r>
              <a:rPr sz="1467" b="1" dirty="0">
                <a:latin typeface="Verdana"/>
                <a:cs typeface="Verdana"/>
              </a:rPr>
              <a:t>implements</a:t>
            </a:r>
            <a:r>
              <a:rPr sz="1467" b="1" spc="-47" dirty="0">
                <a:latin typeface="Verdana"/>
                <a:cs typeface="Verdana"/>
              </a:rPr>
              <a:t> </a:t>
            </a:r>
            <a:r>
              <a:rPr sz="1467" b="1" spc="-13" dirty="0">
                <a:latin typeface="Verdana"/>
                <a:cs typeface="Verdana"/>
              </a:rPr>
              <a:t>Runnable</a:t>
            </a:r>
            <a:r>
              <a:rPr sz="1467" b="1" spc="-47" dirty="0">
                <a:latin typeface="Verdana"/>
                <a:cs typeface="Verdana"/>
              </a:rPr>
              <a:t> </a:t>
            </a:r>
            <a:r>
              <a:rPr sz="1467" b="1" spc="-13" dirty="0">
                <a:latin typeface="Verdana"/>
                <a:cs typeface="Verdana"/>
              </a:rPr>
              <a:t>interface.</a:t>
            </a:r>
            <a:endParaRPr sz="1467">
              <a:latin typeface="Verdana"/>
              <a:cs typeface="Verdana"/>
            </a:endParaRPr>
          </a:p>
          <a:p>
            <a:pPr>
              <a:spcBef>
                <a:spcPts val="633"/>
              </a:spcBef>
            </a:pPr>
            <a:endParaRPr sz="1467">
              <a:latin typeface="Verdana"/>
              <a:cs typeface="Verdana"/>
            </a:endParaRPr>
          </a:p>
          <a:p>
            <a:pPr marL="16933"/>
            <a:r>
              <a:rPr sz="2133" b="1" dirty="0">
                <a:solidFill>
                  <a:srgbClr val="610B4B"/>
                </a:solidFill>
                <a:latin typeface="Arial"/>
                <a:cs typeface="Arial"/>
              </a:rPr>
              <a:t>Commonly</a:t>
            </a:r>
            <a:r>
              <a:rPr sz="2133" b="1" spc="-47" dirty="0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2133" b="1" dirty="0">
                <a:solidFill>
                  <a:srgbClr val="610B4B"/>
                </a:solidFill>
                <a:latin typeface="Arial"/>
                <a:cs typeface="Arial"/>
              </a:rPr>
              <a:t>used</a:t>
            </a:r>
            <a:r>
              <a:rPr sz="2133" b="1" spc="-47" dirty="0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2133" b="1" dirty="0">
                <a:solidFill>
                  <a:srgbClr val="610B4B"/>
                </a:solidFill>
                <a:latin typeface="Arial"/>
                <a:cs typeface="Arial"/>
              </a:rPr>
              <a:t>Constructors</a:t>
            </a:r>
            <a:r>
              <a:rPr sz="2133" b="1" spc="-47" dirty="0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2133" b="1" dirty="0">
                <a:solidFill>
                  <a:srgbClr val="610B4B"/>
                </a:solidFill>
                <a:latin typeface="Arial"/>
                <a:cs typeface="Arial"/>
              </a:rPr>
              <a:t>of</a:t>
            </a:r>
            <a:r>
              <a:rPr sz="2133" b="1" spc="-47" dirty="0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2133" b="1" dirty="0">
                <a:solidFill>
                  <a:srgbClr val="610B4B"/>
                </a:solidFill>
                <a:latin typeface="Arial"/>
                <a:cs typeface="Arial"/>
              </a:rPr>
              <a:t>Thread</a:t>
            </a:r>
            <a:r>
              <a:rPr sz="2133" b="1" spc="-47" dirty="0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2133" b="1" spc="-13" dirty="0">
                <a:solidFill>
                  <a:srgbClr val="610B4B"/>
                </a:solidFill>
                <a:latin typeface="Arial"/>
                <a:cs typeface="Arial"/>
              </a:rPr>
              <a:t>class:</a:t>
            </a:r>
            <a:endParaRPr sz="2133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5528" y="3711628"/>
            <a:ext cx="3549227" cy="1299244"/>
          </a:xfrm>
          <a:prstGeom prst="rect">
            <a:avLst/>
          </a:prstGeom>
        </p:spPr>
        <p:txBody>
          <a:bodyPr vert="horz" wrap="square" lIns="0" tIns="131233" rIns="0" bIns="0" rtlCol="0">
            <a:spAutoFit/>
          </a:bodyPr>
          <a:lstStyle/>
          <a:p>
            <a:pPr marL="423323" indent="-406390">
              <a:spcBef>
                <a:spcPts val="1033"/>
              </a:spcBef>
              <a:buFont typeface="Arial"/>
              <a:buChar char="●"/>
              <a:tabLst>
                <a:tab pos="423323" algn="l"/>
              </a:tabLst>
            </a:pPr>
            <a:r>
              <a:rPr sz="1333" b="1" spc="-13" dirty="0">
                <a:latin typeface="Verdana"/>
                <a:cs typeface="Verdana"/>
              </a:rPr>
              <a:t>Thread()</a:t>
            </a:r>
            <a:endParaRPr sz="1333">
              <a:latin typeface="Verdana"/>
              <a:cs typeface="Verdana"/>
            </a:endParaRPr>
          </a:p>
          <a:p>
            <a:pPr marL="423323" indent="-406390">
              <a:spcBef>
                <a:spcPts val="900"/>
              </a:spcBef>
              <a:buFont typeface="Arial"/>
              <a:buChar char="●"/>
              <a:tabLst>
                <a:tab pos="423323" algn="l"/>
              </a:tabLst>
            </a:pPr>
            <a:r>
              <a:rPr sz="1333" b="1" dirty="0">
                <a:latin typeface="Verdana"/>
                <a:cs typeface="Verdana"/>
              </a:rPr>
              <a:t>Thread(String</a:t>
            </a:r>
            <a:r>
              <a:rPr sz="1333" b="1" spc="-87" dirty="0">
                <a:latin typeface="Verdana"/>
                <a:cs typeface="Verdana"/>
              </a:rPr>
              <a:t> </a:t>
            </a:r>
            <a:r>
              <a:rPr sz="1333" b="1" spc="-13" dirty="0">
                <a:latin typeface="Verdana"/>
                <a:cs typeface="Verdana"/>
              </a:rPr>
              <a:t>name)</a:t>
            </a:r>
            <a:endParaRPr sz="1333">
              <a:latin typeface="Verdana"/>
              <a:cs typeface="Verdana"/>
            </a:endParaRPr>
          </a:p>
          <a:p>
            <a:pPr marL="423323" indent="-406390">
              <a:spcBef>
                <a:spcPts val="900"/>
              </a:spcBef>
              <a:buFont typeface="Arial"/>
              <a:buChar char="●"/>
              <a:tabLst>
                <a:tab pos="423323" algn="l"/>
              </a:tabLst>
            </a:pPr>
            <a:r>
              <a:rPr sz="1333" b="1" dirty="0">
                <a:latin typeface="Verdana"/>
                <a:cs typeface="Verdana"/>
              </a:rPr>
              <a:t>Thread(Runnable</a:t>
            </a:r>
            <a:r>
              <a:rPr sz="1333" b="1" spc="-100" dirty="0">
                <a:latin typeface="Verdana"/>
                <a:cs typeface="Verdana"/>
              </a:rPr>
              <a:t> </a:t>
            </a:r>
            <a:r>
              <a:rPr sz="1333" b="1" spc="-33" dirty="0">
                <a:latin typeface="Verdana"/>
                <a:cs typeface="Verdana"/>
              </a:rPr>
              <a:t>r)</a:t>
            </a:r>
            <a:endParaRPr sz="1333">
              <a:latin typeface="Verdana"/>
              <a:cs typeface="Verdana"/>
            </a:endParaRPr>
          </a:p>
          <a:p>
            <a:pPr marL="423323" indent="-406390">
              <a:spcBef>
                <a:spcPts val="900"/>
              </a:spcBef>
              <a:buFont typeface="Arial"/>
              <a:buChar char="●"/>
              <a:tabLst>
                <a:tab pos="423323" algn="l"/>
              </a:tabLst>
            </a:pPr>
            <a:r>
              <a:rPr sz="1333" b="1" dirty="0">
                <a:latin typeface="Verdana"/>
                <a:cs typeface="Verdana"/>
              </a:rPr>
              <a:t>Thread(Runnable</a:t>
            </a:r>
            <a:r>
              <a:rPr sz="1333" b="1" spc="-80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r,String</a:t>
            </a:r>
            <a:r>
              <a:rPr sz="1333" b="1" spc="-73" dirty="0">
                <a:latin typeface="Verdana"/>
                <a:cs typeface="Verdana"/>
              </a:rPr>
              <a:t> </a:t>
            </a:r>
            <a:r>
              <a:rPr sz="1333" b="1" spc="-13" dirty="0">
                <a:latin typeface="Verdana"/>
                <a:cs typeface="Verdana"/>
              </a:rPr>
              <a:t>name)</a:t>
            </a:r>
            <a:endParaRPr sz="1333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1599" y="5411732"/>
            <a:ext cx="7874000" cy="243840"/>
          </a:xfrm>
          <a:custGeom>
            <a:avLst/>
            <a:gdLst/>
            <a:ahLst/>
            <a:cxnLst/>
            <a:rect l="l" t="t" r="r" b="b"/>
            <a:pathLst>
              <a:path w="5905500" h="182879">
                <a:moveTo>
                  <a:pt x="5905202" y="182879"/>
                </a:moveTo>
                <a:lnTo>
                  <a:pt x="0" y="182879"/>
                </a:lnTo>
                <a:lnTo>
                  <a:pt x="0" y="0"/>
                </a:lnTo>
                <a:lnTo>
                  <a:pt x="5905202" y="0"/>
                </a:lnTo>
                <a:lnTo>
                  <a:pt x="5905202" y="18287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17600" y="1024208"/>
            <a:ext cx="14020800" cy="692667"/>
          </a:xfrm>
          <a:prstGeom prst="rect">
            <a:avLst/>
          </a:prstGeom>
        </p:spPr>
        <p:txBody>
          <a:bodyPr vert="horz" wrap="square" lIns="0" tIns="360911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2133" b="1" dirty="0">
                <a:solidFill>
                  <a:srgbClr val="610B4B"/>
                </a:solidFill>
                <a:latin typeface="Arial"/>
                <a:cs typeface="Arial"/>
              </a:rPr>
              <a:t>Commonly</a:t>
            </a:r>
            <a:r>
              <a:rPr sz="2133" b="1" spc="-40" dirty="0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2133" b="1" dirty="0">
                <a:solidFill>
                  <a:srgbClr val="610B4B"/>
                </a:solidFill>
                <a:latin typeface="Arial"/>
                <a:cs typeface="Arial"/>
              </a:rPr>
              <a:t>used</a:t>
            </a:r>
            <a:r>
              <a:rPr sz="2133" b="1" spc="-40" dirty="0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2133" b="1" dirty="0">
                <a:solidFill>
                  <a:srgbClr val="610B4B"/>
                </a:solidFill>
                <a:latin typeface="Arial"/>
                <a:cs typeface="Arial"/>
              </a:rPr>
              <a:t>methods</a:t>
            </a:r>
            <a:r>
              <a:rPr sz="2133" b="1" spc="-40" dirty="0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2133" b="1" dirty="0">
                <a:solidFill>
                  <a:srgbClr val="610B4B"/>
                </a:solidFill>
                <a:latin typeface="Arial"/>
                <a:cs typeface="Arial"/>
              </a:rPr>
              <a:t>of</a:t>
            </a:r>
            <a:r>
              <a:rPr sz="2133" b="1" spc="-40" dirty="0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2133" b="1" dirty="0">
                <a:solidFill>
                  <a:srgbClr val="610B4B"/>
                </a:solidFill>
                <a:latin typeface="Arial"/>
                <a:cs typeface="Arial"/>
              </a:rPr>
              <a:t>Thread</a:t>
            </a:r>
            <a:r>
              <a:rPr sz="2133" b="1" spc="-40" dirty="0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2133" b="1" spc="-13" dirty="0">
                <a:solidFill>
                  <a:srgbClr val="610B4B"/>
                </a:solidFill>
                <a:latin typeface="Arial"/>
                <a:cs typeface="Arial"/>
              </a:rPr>
              <a:t>class</a:t>
            </a:r>
            <a:endParaRPr sz="2133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4666" y="1949206"/>
            <a:ext cx="10853420" cy="374247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24074" indent="-507141">
              <a:spcBef>
                <a:spcPts val="133"/>
              </a:spcBef>
              <a:buFont typeface="Verdana"/>
              <a:buAutoNum type="arabicPeriod"/>
              <a:tabLst>
                <a:tab pos="524074" algn="l"/>
              </a:tabLst>
            </a:pPr>
            <a:r>
              <a:rPr sz="1600" b="1" dirty="0">
                <a:latin typeface="Verdana"/>
                <a:cs typeface="Verdana"/>
              </a:rPr>
              <a:t>public</a:t>
            </a:r>
            <a:r>
              <a:rPr sz="1600" b="1" spc="-40" dirty="0">
                <a:latin typeface="Verdana"/>
                <a:cs typeface="Verdana"/>
              </a:rPr>
              <a:t> </a:t>
            </a:r>
            <a:r>
              <a:rPr sz="1600" b="1" dirty="0">
                <a:latin typeface="Verdana"/>
                <a:cs typeface="Verdana"/>
              </a:rPr>
              <a:t>void</a:t>
            </a:r>
            <a:r>
              <a:rPr sz="1600" b="1" spc="-40" dirty="0">
                <a:latin typeface="Verdana"/>
                <a:cs typeface="Verdana"/>
              </a:rPr>
              <a:t> </a:t>
            </a:r>
            <a:r>
              <a:rPr sz="1600" b="1" dirty="0">
                <a:latin typeface="Verdana"/>
                <a:cs typeface="Verdana"/>
              </a:rPr>
              <a:t>run():</a:t>
            </a:r>
            <a:r>
              <a:rPr sz="1600" b="1" spc="-27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is</a:t>
            </a:r>
            <a:r>
              <a:rPr sz="1600" spc="-4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used</a:t>
            </a:r>
            <a:r>
              <a:rPr sz="1600" spc="-4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to</a:t>
            </a:r>
            <a:r>
              <a:rPr sz="1600" spc="-4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perform</a:t>
            </a:r>
            <a:r>
              <a:rPr sz="1600" spc="-4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action</a:t>
            </a:r>
            <a:r>
              <a:rPr sz="1600" spc="-33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for</a:t>
            </a:r>
            <a:r>
              <a:rPr sz="1600" spc="-4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a</a:t>
            </a:r>
            <a:r>
              <a:rPr sz="1600" spc="-40" dirty="0">
                <a:latin typeface="Verdana"/>
                <a:cs typeface="Verdana"/>
              </a:rPr>
              <a:t> </a:t>
            </a:r>
            <a:r>
              <a:rPr sz="1600" spc="-13" dirty="0">
                <a:latin typeface="Verdana"/>
                <a:cs typeface="Verdana"/>
              </a:rPr>
              <a:t>thread.</a:t>
            </a:r>
            <a:endParaRPr sz="1600">
              <a:latin typeface="Verdana"/>
              <a:cs typeface="Verdana"/>
            </a:endParaRPr>
          </a:p>
          <a:p>
            <a:pPr marL="524074" indent="-507141">
              <a:spcBef>
                <a:spcPts val="1147"/>
              </a:spcBef>
              <a:buFont typeface="Verdana"/>
              <a:buAutoNum type="arabicPeriod"/>
              <a:tabLst>
                <a:tab pos="524074" algn="l"/>
              </a:tabLst>
            </a:pPr>
            <a:r>
              <a:rPr sz="1600" b="1" dirty="0">
                <a:latin typeface="Verdana"/>
                <a:cs typeface="Verdana"/>
              </a:rPr>
              <a:t>public</a:t>
            </a:r>
            <a:r>
              <a:rPr sz="1600" b="1" spc="-47" dirty="0">
                <a:latin typeface="Verdana"/>
                <a:cs typeface="Verdana"/>
              </a:rPr>
              <a:t> </a:t>
            </a:r>
            <a:r>
              <a:rPr sz="1600" b="1" dirty="0">
                <a:latin typeface="Verdana"/>
                <a:cs typeface="Verdana"/>
              </a:rPr>
              <a:t>void</a:t>
            </a:r>
            <a:r>
              <a:rPr sz="1600" b="1" spc="-47" dirty="0">
                <a:latin typeface="Verdana"/>
                <a:cs typeface="Verdana"/>
              </a:rPr>
              <a:t> </a:t>
            </a:r>
            <a:r>
              <a:rPr sz="1600" b="1" dirty="0">
                <a:latin typeface="Verdana"/>
                <a:cs typeface="Verdana"/>
              </a:rPr>
              <a:t>start():</a:t>
            </a:r>
            <a:r>
              <a:rPr sz="1600" b="1" spc="-4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starts</a:t>
            </a:r>
            <a:r>
              <a:rPr sz="1600" spc="-47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the</a:t>
            </a:r>
            <a:r>
              <a:rPr sz="1600" spc="-47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execution</a:t>
            </a:r>
            <a:r>
              <a:rPr sz="1600" spc="-47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of</a:t>
            </a:r>
            <a:r>
              <a:rPr sz="1600" spc="-47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the</a:t>
            </a:r>
            <a:r>
              <a:rPr sz="1600" spc="-53" dirty="0">
                <a:latin typeface="Verdana"/>
                <a:cs typeface="Verdana"/>
              </a:rPr>
              <a:t> </a:t>
            </a:r>
            <a:r>
              <a:rPr sz="1600" spc="-13" dirty="0">
                <a:latin typeface="Verdana"/>
                <a:cs typeface="Verdana"/>
              </a:rPr>
              <a:t>thread.JVM</a:t>
            </a:r>
            <a:r>
              <a:rPr sz="1600" spc="-47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calls</a:t>
            </a:r>
            <a:r>
              <a:rPr sz="1600" spc="-47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the</a:t>
            </a:r>
            <a:r>
              <a:rPr sz="1600" spc="-47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run()</a:t>
            </a:r>
            <a:r>
              <a:rPr sz="1600" spc="-47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method</a:t>
            </a:r>
            <a:r>
              <a:rPr sz="1600" spc="-47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on</a:t>
            </a:r>
            <a:r>
              <a:rPr sz="1600" spc="-53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the</a:t>
            </a:r>
            <a:r>
              <a:rPr sz="1600" spc="-47" dirty="0">
                <a:latin typeface="Verdana"/>
                <a:cs typeface="Verdana"/>
              </a:rPr>
              <a:t> </a:t>
            </a:r>
            <a:r>
              <a:rPr sz="1600" spc="-13" dirty="0">
                <a:latin typeface="Verdana"/>
                <a:cs typeface="Verdana"/>
              </a:rPr>
              <a:t>thread.</a:t>
            </a:r>
            <a:endParaRPr sz="1600">
              <a:latin typeface="Verdana"/>
              <a:cs typeface="Verdana"/>
            </a:endParaRPr>
          </a:p>
          <a:p>
            <a:pPr marL="524074" marR="6773" indent="-507987">
              <a:lnSpc>
                <a:spcPct val="156200"/>
              </a:lnSpc>
              <a:buFont typeface="Verdana"/>
              <a:buAutoNum type="arabicPeriod"/>
              <a:tabLst>
                <a:tab pos="524074" algn="l"/>
              </a:tabLst>
            </a:pPr>
            <a:r>
              <a:rPr sz="1600" b="1" dirty="0">
                <a:latin typeface="Verdana"/>
                <a:cs typeface="Verdana"/>
              </a:rPr>
              <a:t>public</a:t>
            </a:r>
            <a:r>
              <a:rPr sz="1600" b="1" spc="-67" dirty="0">
                <a:latin typeface="Verdana"/>
                <a:cs typeface="Verdana"/>
              </a:rPr>
              <a:t> </a:t>
            </a:r>
            <a:r>
              <a:rPr sz="1600" b="1" dirty="0">
                <a:latin typeface="Verdana"/>
                <a:cs typeface="Verdana"/>
              </a:rPr>
              <a:t>void</a:t>
            </a:r>
            <a:r>
              <a:rPr sz="1600" b="1" spc="-60" dirty="0">
                <a:latin typeface="Verdana"/>
                <a:cs typeface="Verdana"/>
              </a:rPr>
              <a:t> </a:t>
            </a:r>
            <a:r>
              <a:rPr sz="1600" b="1" spc="-13" dirty="0">
                <a:latin typeface="Verdana"/>
                <a:cs typeface="Verdana"/>
              </a:rPr>
              <a:t>sleep(long</a:t>
            </a:r>
            <a:r>
              <a:rPr sz="1600" b="1" spc="-60" dirty="0">
                <a:latin typeface="Verdana"/>
                <a:cs typeface="Verdana"/>
              </a:rPr>
              <a:t> </a:t>
            </a:r>
            <a:r>
              <a:rPr sz="1600" b="1" spc="-13" dirty="0">
                <a:latin typeface="Verdana"/>
                <a:cs typeface="Verdana"/>
              </a:rPr>
              <a:t>miliseconds):</a:t>
            </a:r>
            <a:r>
              <a:rPr sz="1600" b="1" spc="-4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Causes</a:t>
            </a:r>
            <a:r>
              <a:rPr sz="1600" spc="-67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the</a:t>
            </a:r>
            <a:r>
              <a:rPr sz="1600" spc="-6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currently</a:t>
            </a:r>
            <a:r>
              <a:rPr sz="1600" spc="-6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executing</a:t>
            </a:r>
            <a:r>
              <a:rPr sz="1600" spc="-67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thread</a:t>
            </a:r>
            <a:r>
              <a:rPr sz="1600" spc="-6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to</a:t>
            </a:r>
            <a:r>
              <a:rPr sz="1600" spc="-6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sleep</a:t>
            </a:r>
            <a:r>
              <a:rPr sz="1600" spc="-67" dirty="0">
                <a:latin typeface="Verdana"/>
                <a:cs typeface="Verdana"/>
              </a:rPr>
              <a:t> </a:t>
            </a:r>
            <a:r>
              <a:rPr sz="1600" spc="-13" dirty="0">
                <a:latin typeface="Verdana"/>
                <a:cs typeface="Verdana"/>
              </a:rPr>
              <a:t>(temporarily </a:t>
            </a:r>
            <a:r>
              <a:rPr sz="1600" dirty="0">
                <a:latin typeface="Verdana"/>
                <a:cs typeface="Verdana"/>
              </a:rPr>
              <a:t>cease</a:t>
            </a:r>
            <a:r>
              <a:rPr sz="1600" spc="-47" dirty="0">
                <a:latin typeface="Verdana"/>
                <a:cs typeface="Verdana"/>
              </a:rPr>
              <a:t> </a:t>
            </a:r>
            <a:r>
              <a:rPr sz="1600" spc="-13" dirty="0">
                <a:latin typeface="Verdana"/>
                <a:cs typeface="Verdana"/>
              </a:rPr>
              <a:t>execution)</a:t>
            </a:r>
            <a:r>
              <a:rPr sz="1600" spc="-47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for</a:t>
            </a:r>
            <a:r>
              <a:rPr sz="1600" spc="-47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the</a:t>
            </a:r>
            <a:r>
              <a:rPr sz="1600" spc="-47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specified</a:t>
            </a:r>
            <a:r>
              <a:rPr sz="1600" spc="-4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number</a:t>
            </a:r>
            <a:r>
              <a:rPr sz="1600" spc="-47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of</a:t>
            </a:r>
            <a:r>
              <a:rPr sz="1600" spc="-47" dirty="0">
                <a:latin typeface="Verdana"/>
                <a:cs typeface="Verdana"/>
              </a:rPr>
              <a:t> </a:t>
            </a:r>
            <a:r>
              <a:rPr sz="1600" spc="-13" dirty="0">
                <a:latin typeface="Verdana"/>
                <a:cs typeface="Verdana"/>
              </a:rPr>
              <a:t>milliseconds.</a:t>
            </a:r>
            <a:endParaRPr sz="1600">
              <a:latin typeface="Verdana"/>
              <a:cs typeface="Verdana"/>
            </a:endParaRPr>
          </a:p>
          <a:p>
            <a:pPr marL="524074" indent="-507141">
              <a:spcBef>
                <a:spcPts val="1080"/>
              </a:spcBef>
              <a:buFont typeface="Verdana"/>
              <a:buAutoNum type="arabicPeriod"/>
              <a:tabLst>
                <a:tab pos="524074" algn="l"/>
              </a:tabLst>
            </a:pPr>
            <a:r>
              <a:rPr sz="1600" b="1" dirty="0">
                <a:latin typeface="Verdana"/>
                <a:cs typeface="Verdana"/>
              </a:rPr>
              <a:t>public</a:t>
            </a:r>
            <a:r>
              <a:rPr sz="1600" b="1" spc="-53" dirty="0">
                <a:latin typeface="Verdana"/>
                <a:cs typeface="Verdana"/>
              </a:rPr>
              <a:t> </a:t>
            </a:r>
            <a:r>
              <a:rPr sz="1600" b="1" dirty="0">
                <a:latin typeface="Verdana"/>
                <a:cs typeface="Verdana"/>
              </a:rPr>
              <a:t>void</a:t>
            </a:r>
            <a:r>
              <a:rPr sz="1600" b="1" spc="-53" dirty="0">
                <a:latin typeface="Verdana"/>
                <a:cs typeface="Verdana"/>
              </a:rPr>
              <a:t> </a:t>
            </a:r>
            <a:r>
              <a:rPr sz="1600" b="1" dirty="0">
                <a:latin typeface="Verdana"/>
                <a:cs typeface="Verdana"/>
              </a:rPr>
              <a:t>join():</a:t>
            </a:r>
            <a:r>
              <a:rPr sz="1600" b="1" spc="-33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waits</a:t>
            </a:r>
            <a:r>
              <a:rPr sz="1600" spc="-53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for</a:t>
            </a:r>
            <a:r>
              <a:rPr sz="1600" spc="-53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a</a:t>
            </a:r>
            <a:r>
              <a:rPr sz="1600" spc="-53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thread</a:t>
            </a:r>
            <a:r>
              <a:rPr sz="1600" spc="-47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to</a:t>
            </a:r>
            <a:r>
              <a:rPr sz="1600" spc="-53" dirty="0">
                <a:latin typeface="Verdana"/>
                <a:cs typeface="Verdana"/>
              </a:rPr>
              <a:t> </a:t>
            </a:r>
            <a:r>
              <a:rPr sz="1600" spc="-27" dirty="0">
                <a:latin typeface="Verdana"/>
                <a:cs typeface="Verdana"/>
              </a:rPr>
              <a:t>die.</a:t>
            </a:r>
            <a:endParaRPr sz="1600">
              <a:latin typeface="Verdana"/>
              <a:cs typeface="Verdana"/>
            </a:endParaRPr>
          </a:p>
          <a:p>
            <a:pPr marL="524074" indent="-507141">
              <a:spcBef>
                <a:spcPts val="1080"/>
              </a:spcBef>
              <a:buFont typeface="Verdana"/>
              <a:buAutoNum type="arabicPeriod"/>
              <a:tabLst>
                <a:tab pos="524074" algn="l"/>
              </a:tabLst>
            </a:pPr>
            <a:r>
              <a:rPr sz="1600" b="1" dirty="0">
                <a:latin typeface="Verdana"/>
                <a:cs typeface="Verdana"/>
              </a:rPr>
              <a:t>public</a:t>
            </a:r>
            <a:r>
              <a:rPr sz="1600" b="1" spc="-47" dirty="0">
                <a:latin typeface="Verdana"/>
                <a:cs typeface="Verdana"/>
              </a:rPr>
              <a:t> </a:t>
            </a:r>
            <a:r>
              <a:rPr sz="1600" b="1" dirty="0">
                <a:latin typeface="Verdana"/>
                <a:cs typeface="Verdana"/>
              </a:rPr>
              <a:t>void</a:t>
            </a:r>
            <a:r>
              <a:rPr sz="1600" b="1" spc="-40" dirty="0">
                <a:latin typeface="Verdana"/>
                <a:cs typeface="Verdana"/>
              </a:rPr>
              <a:t> </a:t>
            </a:r>
            <a:r>
              <a:rPr sz="1600" b="1" dirty="0">
                <a:latin typeface="Verdana"/>
                <a:cs typeface="Verdana"/>
              </a:rPr>
              <a:t>join(long</a:t>
            </a:r>
            <a:r>
              <a:rPr sz="1600" b="1" spc="-47" dirty="0">
                <a:latin typeface="Verdana"/>
                <a:cs typeface="Verdana"/>
              </a:rPr>
              <a:t> </a:t>
            </a:r>
            <a:r>
              <a:rPr sz="1600" b="1" spc="-13" dirty="0">
                <a:latin typeface="Verdana"/>
                <a:cs typeface="Verdana"/>
              </a:rPr>
              <a:t>miliseconds):</a:t>
            </a:r>
            <a:r>
              <a:rPr sz="1600" b="1" spc="-2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waits</a:t>
            </a:r>
            <a:r>
              <a:rPr sz="1600" spc="-47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for</a:t>
            </a:r>
            <a:r>
              <a:rPr sz="1600" spc="-47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a</a:t>
            </a:r>
            <a:r>
              <a:rPr sz="1600" spc="-4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thread</a:t>
            </a:r>
            <a:r>
              <a:rPr sz="1600" spc="-47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to</a:t>
            </a:r>
            <a:r>
              <a:rPr sz="1600" spc="-4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die</a:t>
            </a:r>
            <a:r>
              <a:rPr sz="1600" spc="-47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for</a:t>
            </a:r>
            <a:r>
              <a:rPr sz="1600" spc="-47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the</a:t>
            </a:r>
            <a:r>
              <a:rPr sz="1600" spc="-4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specified</a:t>
            </a:r>
            <a:r>
              <a:rPr sz="1600" spc="-47" dirty="0">
                <a:latin typeface="Verdana"/>
                <a:cs typeface="Verdana"/>
              </a:rPr>
              <a:t> </a:t>
            </a:r>
            <a:r>
              <a:rPr sz="1600" spc="-13" dirty="0">
                <a:latin typeface="Verdana"/>
                <a:cs typeface="Verdana"/>
              </a:rPr>
              <a:t>miliseconds.</a:t>
            </a:r>
            <a:endParaRPr sz="1600">
              <a:latin typeface="Verdana"/>
              <a:cs typeface="Verdana"/>
            </a:endParaRPr>
          </a:p>
          <a:p>
            <a:pPr marL="524074" indent="-507141">
              <a:spcBef>
                <a:spcPts val="1080"/>
              </a:spcBef>
              <a:buFont typeface="Verdana"/>
              <a:buAutoNum type="arabicPeriod"/>
              <a:tabLst>
                <a:tab pos="524074" algn="l"/>
              </a:tabLst>
            </a:pPr>
            <a:r>
              <a:rPr sz="1600" b="1" dirty="0">
                <a:latin typeface="Verdana"/>
                <a:cs typeface="Verdana"/>
              </a:rPr>
              <a:t>public</a:t>
            </a:r>
            <a:r>
              <a:rPr sz="1600" b="1" spc="-47" dirty="0">
                <a:latin typeface="Verdana"/>
                <a:cs typeface="Verdana"/>
              </a:rPr>
              <a:t> </a:t>
            </a:r>
            <a:r>
              <a:rPr sz="1600" b="1" dirty="0">
                <a:latin typeface="Verdana"/>
                <a:cs typeface="Verdana"/>
              </a:rPr>
              <a:t>int</a:t>
            </a:r>
            <a:r>
              <a:rPr sz="1600" b="1" spc="-47" dirty="0">
                <a:latin typeface="Verdana"/>
                <a:cs typeface="Verdana"/>
              </a:rPr>
              <a:t> </a:t>
            </a:r>
            <a:r>
              <a:rPr sz="1600" b="1" spc="-13" dirty="0">
                <a:latin typeface="Verdana"/>
                <a:cs typeface="Verdana"/>
              </a:rPr>
              <a:t>getPriority():</a:t>
            </a:r>
            <a:r>
              <a:rPr sz="1600" b="1" spc="-27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returns</a:t>
            </a:r>
            <a:r>
              <a:rPr sz="1600" spc="-47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the</a:t>
            </a:r>
            <a:r>
              <a:rPr sz="1600" spc="-47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priority</a:t>
            </a:r>
            <a:r>
              <a:rPr sz="1600" spc="-53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of</a:t>
            </a:r>
            <a:r>
              <a:rPr sz="1600" spc="-47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the</a:t>
            </a:r>
            <a:r>
              <a:rPr sz="1600" spc="-47" dirty="0">
                <a:latin typeface="Verdana"/>
                <a:cs typeface="Verdana"/>
              </a:rPr>
              <a:t> </a:t>
            </a:r>
            <a:r>
              <a:rPr sz="1600" spc="-13" dirty="0">
                <a:latin typeface="Verdana"/>
                <a:cs typeface="Verdana"/>
              </a:rPr>
              <a:t>thread.</a:t>
            </a:r>
            <a:endParaRPr sz="1600">
              <a:latin typeface="Verdana"/>
              <a:cs typeface="Verdana"/>
            </a:endParaRPr>
          </a:p>
          <a:p>
            <a:pPr marL="524074" indent="-507141">
              <a:spcBef>
                <a:spcPts val="1080"/>
              </a:spcBef>
              <a:buFont typeface="Verdana"/>
              <a:buAutoNum type="arabicPeriod"/>
              <a:tabLst>
                <a:tab pos="524074" algn="l"/>
              </a:tabLst>
            </a:pPr>
            <a:r>
              <a:rPr sz="1600" b="1" dirty="0">
                <a:latin typeface="Verdana"/>
                <a:cs typeface="Verdana"/>
              </a:rPr>
              <a:t>public</a:t>
            </a:r>
            <a:r>
              <a:rPr sz="1600" b="1" spc="-60" dirty="0">
                <a:latin typeface="Verdana"/>
                <a:cs typeface="Verdana"/>
              </a:rPr>
              <a:t> </a:t>
            </a:r>
            <a:r>
              <a:rPr sz="1600" b="1" dirty="0">
                <a:latin typeface="Verdana"/>
                <a:cs typeface="Verdana"/>
              </a:rPr>
              <a:t>int</a:t>
            </a:r>
            <a:r>
              <a:rPr sz="1600" b="1" spc="-60" dirty="0">
                <a:latin typeface="Verdana"/>
                <a:cs typeface="Verdana"/>
              </a:rPr>
              <a:t> </a:t>
            </a:r>
            <a:r>
              <a:rPr sz="1600" b="1" spc="-13" dirty="0">
                <a:latin typeface="Verdana"/>
                <a:cs typeface="Verdana"/>
              </a:rPr>
              <a:t>setPriority(int</a:t>
            </a:r>
            <a:r>
              <a:rPr sz="1600" b="1" spc="-60" dirty="0">
                <a:latin typeface="Verdana"/>
                <a:cs typeface="Verdana"/>
              </a:rPr>
              <a:t> </a:t>
            </a:r>
            <a:r>
              <a:rPr sz="1600" b="1" dirty="0">
                <a:latin typeface="Verdana"/>
                <a:cs typeface="Verdana"/>
              </a:rPr>
              <a:t>priority):</a:t>
            </a:r>
            <a:r>
              <a:rPr sz="1600" b="1" spc="-27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changes</a:t>
            </a:r>
            <a:r>
              <a:rPr sz="1600" spc="-6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the</a:t>
            </a:r>
            <a:r>
              <a:rPr sz="1600" spc="-6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priority</a:t>
            </a:r>
            <a:r>
              <a:rPr sz="1600" spc="-53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of</a:t>
            </a:r>
            <a:r>
              <a:rPr sz="1600" spc="-6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the</a:t>
            </a:r>
            <a:r>
              <a:rPr sz="1600" spc="-60" dirty="0">
                <a:latin typeface="Verdana"/>
                <a:cs typeface="Verdana"/>
              </a:rPr>
              <a:t> </a:t>
            </a:r>
            <a:r>
              <a:rPr sz="1600" spc="-13" dirty="0">
                <a:latin typeface="Verdana"/>
                <a:cs typeface="Verdana"/>
              </a:rPr>
              <a:t>thread.</a:t>
            </a:r>
            <a:endParaRPr sz="1600">
              <a:latin typeface="Verdana"/>
              <a:cs typeface="Verdana"/>
            </a:endParaRPr>
          </a:p>
          <a:p>
            <a:pPr marL="524074" indent="-507141">
              <a:spcBef>
                <a:spcPts val="1080"/>
              </a:spcBef>
              <a:buFont typeface="Verdana"/>
              <a:buAutoNum type="arabicPeriod"/>
              <a:tabLst>
                <a:tab pos="524074" algn="l"/>
              </a:tabLst>
            </a:pPr>
            <a:r>
              <a:rPr sz="1600" b="1" dirty="0">
                <a:latin typeface="Verdana"/>
                <a:cs typeface="Verdana"/>
              </a:rPr>
              <a:t>public</a:t>
            </a:r>
            <a:r>
              <a:rPr sz="1600" b="1" spc="-53" dirty="0">
                <a:latin typeface="Verdana"/>
                <a:cs typeface="Verdana"/>
              </a:rPr>
              <a:t> </a:t>
            </a:r>
            <a:r>
              <a:rPr sz="1600" b="1" dirty="0">
                <a:latin typeface="Verdana"/>
                <a:cs typeface="Verdana"/>
              </a:rPr>
              <a:t>String</a:t>
            </a:r>
            <a:r>
              <a:rPr sz="1600" b="1" spc="-47" dirty="0">
                <a:latin typeface="Verdana"/>
                <a:cs typeface="Verdana"/>
              </a:rPr>
              <a:t> </a:t>
            </a:r>
            <a:r>
              <a:rPr sz="1600" b="1" spc="-13" dirty="0">
                <a:latin typeface="Verdana"/>
                <a:cs typeface="Verdana"/>
              </a:rPr>
              <a:t>getName():</a:t>
            </a:r>
            <a:r>
              <a:rPr sz="1600" b="1" spc="-4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returns</a:t>
            </a:r>
            <a:r>
              <a:rPr sz="1600" spc="-47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the</a:t>
            </a:r>
            <a:r>
              <a:rPr sz="1600" spc="-53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name</a:t>
            </a:r>
            <a:r>
              <a:rPr sz="1600" spc="-47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of</a:t>
            </a:r>
            <a:r>
              <a:rPr sz="1600" spc="-53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the</a:t>
            </a:r>
            <a:r>
              <a:rPr sz="1600" spc="-47" dirty="0">
                <a:latin typeface="Verdana"/>
                <a:cs typeface="Verdana"/>
              </a:rPr>
              <a:t> </a:t>
            </a:r>
            <a:r>
              <a:rPr sz="1600" spc="-13" dirty="0">
                <a:latin typeface="Verdana"/>
                <a:cs typeface="Verdana"/>
              </a:rPr>
              <a:t>thread.</a:t>
            </a:r>
            <a:endParaRPr sz="1600">
              <a:latin typeface="Verdana"/>
              <a:cs typeface="Verdana"/>
            </a:endParaRPr>
          </a:p>
          <a:p>
            <a:pPr marL="524074" indent="-507141">
              <a:spcBef>
                <a:spcPts val="1080"/>
              </a:spcBef>
              <a:buFont typeface="Verdana"/>
              <a:buAutoNum type="arabicPeriod"/>
              <a:tabLst>
                <a:tab pos="524074" algn="l"/>
              </a:tabLst>
            </a:pPr>
            <a:r>
              <a:rPr sz="1600" b="1" dirty="0">
                <a:latin typeface="Verdana"/>
                <a:cs typeface="Verdana"/>
              </a:rPr>
              <a:t>public</a:t>
            </a:r>
            <a:r>
              <a:rPr sz="1600" b="1" spc="-60" dirty="0">
                <a:latin typeface="Verdana"/>
                <a:cs typeface="Verdana"/>
              </a:rPr>
              <a:t> </a:t>
            </a:r>
            <a:r>
              <a:rPr sz="1600" b="1" dirty="0">
                <a:latin typeface="Verdana"/>
                <a:cs typeface="Verdana"/>
              </a:rPr>
              <a:t>void</a:t>
            </a:r>
            <a:r>
              <a:rPr sz="1600" b="1" spc="-53" dirty="0">
                <a:latin typeface="Verdana"/>
                <a:cs typeface="Verdana"/>
              </a:rPr>
              <a:t> </a:t>
            </a:r>
            <a:r>
              <a:rPr sz="1600" b="1" spc="-13" dirty="0">
                <a:latin typeface="Verdana"/>
                <a:cs typeface="Verdana"/>
              </a:rPr>
              <a:t>setName(String</a:t>
            </a:r>
            <a:r>
              <a:rPr sz="1600" b="1" spc="-60" dirty="0">
                <a:latin typeface="Verdana"/>
                <a:cs typeface="Verdana"/>
              </a:rPr>
              <a:t> </a:t>
            </a:r>
            <a:r>
              <a:rPr sz="1600" b="1" dirty="0">
                <a:latin typeface="Verdana"/>
                <a:cs typeface="Verdana"/>
              </a:rPr>
              <a:t>name):</a:t>
            </a:r>
            <a:r>
              <a:rPr sz="1600" b="1" spc="-33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changes</a:t>
            </a:r>
            <a:r>
              <a:rPr sz="1600" spc="-6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the</a:t>
            </a:r>
            <a:r>
              <a:rPr sz="1600" spc="-53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name</a:t>
            </a:r>
            <a:r>
              <a:rPr sz="1600" spc="-6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of</a:t>
            </a:r>
            <a:r>
              <a:rPr sz="1600" spc="-53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the</a:t>
            </a:r>
            <a:r>
              <a:rPr sz="1600" spc="-60" dirty="0">
                <a:latin typeface="Verdana"/>
                <a:cs typeface="Verdana"/>
              </a:rPr>
              <a:t> </a:t>
            </a:r>
            <a:r>
              <a:rPr sz="1600" spc="-13" dirty="0">
                <a:latin typeface="Verdana"/>
                <a:cs typeface="Verdana"/>
              </a:rPr>
              <a:t>thread</a:t>
            </a:r>
            <a:endParaRPr sz="16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2967" y="731977"/>
            <a:ext cx="2833737" cy="692667"/>
          </a:xfrm>
          <a:prstGeom prst="rect">
            <a:avLst/>
          </a:prstGeom>
        </p:spPr>
        <p:txBody>
          <a:bodyPr vert="horz" wrap="square" lIns="0" tIns="360911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2133" b="1" dirty="0">
                <a:solidFill>
                  <a:srgbClr val="610B4B"/>
                </a:solidFill>
                <a:latin typeface="Arial"/>
                <a:cs typeface="Arial"/>
              </a:rPr>
              <a:t>Runnable</a:t>
            </a:r>
            <a:r>
              <a:rPr sz="2133" b="1" spc="-53" dirty="0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2133" b="1" spc="-13" dirty="0">
                <a:solidFill>
                  <a:srgbClr val="610B4B"/>
                </a:solidFill>
                <a:latin typeface="Arial"/>
                <a:cs typeface="Arial"/>
              </a:rPr>
              <a:t>interface:</a:t>
            </a:r>
            <a:endParaRPr sz="2133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12967" y="1693513"/>
            <a:ext cx="11007512" cy="112714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lnSpc>
                <a:spcPct val="114599"/>
              </a:lnSpc>
              <a:spcBef>
                <a:spcPts val="133"/>
              </a:spcBef>
            </a:pPr>
            <a:r>
              <a:rPr sz="1600" b="1" dirty="0">
                <a:latin typeface="Verdana"/>
                <a:cs typeface="Verdana"/>
              </a:rPr>
              <a:t>The</a:t>
            </a:r>
            <a:r>
              <a:rPr sz="1600" b="1" spc="-40" dirty="0">
                <a:latin typeface="Verdana"/>
                <a:cs typeface="Verdana"/>
              </a:rPr>
              <a:t> </a:t>
            </a:r>
            <a:r>
              <a:rPr sz="1600" b="1" dirty="0">
                <a:latin typeface="Verdana"/>
                <a:cs typeface="Verdana"/>
              </a:rPr>
              <a:t>Runnable</a:t>
            </a:r>
            <a:r>
              <a:rPr sz="1600" b="1" spc="-33" dirty="0">
                <a:latin typeface="Verdana"/>
                <a:cs typeface="Verdana"/>
              </a:rPr>
              <a:t> </a:t>
            </a:r>
            <a:r>
              <a:rPr sz="1600" b="1" spc="-13" dirty="0">
                <a:latin typeface="Verdana"/>
                <a:cs typeface="Verdana"/>
              </a:rPr>
              <a:t>interface</a:t>
            </a:r>
            <a:r>
              <a:rPr sz="1600" b="1" spc="-40" dirty="0">
                <a:latin typeface="Verdana"/>
                <a:cs typeface="Verdana"/>
              </a:rPr>
              <a:t> </a:t>
            </a:r>
            <a:r>
              <a:rPr sz="1600" b="1" dirty="0">
                <a:latin typeface="Verdana"/>
                <a:cs typeface="Verdana"/>
              </a:rPr>
              <a:t>should</a:t>
            </a:r>
            <a:r>
              <a:rPr sz="1600" b="1" spc="-33" dirty="0">
                <a:latin typeface="Verdana"/>
                <a:cs typeface="Verdana"/>
              </a:rPr>
              <a:t> </a:t>
            </a:r>
            <a:r>
              <a:rPr sz="1600" b="1" dirty="0">
                <a:latin typeface="Verdana"/>
                <a:cs typeface="Verdana"/>
              </a:rPr>
              <a:t>be</a:t>
            </a:r>
            <a:r>
              <a:rPr sz="1600" b="1" spc="-40" dirty="0">
                <a:latin typeface="Verdana"/>
                <a:cs typeface="Verdana"/>
              </a:rPr>
              <a:t> </a:t>
            </a:r>
            <a:r>
              <a:rPr sz="1600" b="1" spc="-13" dirty="0">
                <a:latin typeface="Verdana"/>
                <a:cs typeface="Verdana"/>
              </a:rPr>
              <a:t>implemented</a:t>
            </a:r>
            <a:r>
              <a:rPr sz="1600" b="1" spc="-33" dirty="0">
                <a:latin typeface="Verdana"/>
                <a:cs typeface="Verdana"/>
              </a:rPr>
              <a:t> </a:t>
            </a:r>
            <a:r>
              <a:rPr sz="1600" b="1" dirty="0">
                <a:latin typeface="Verdana"/>
                <a:cs typeface="Verdana"/>
              </a:rPr>
              <a:t>by</a:t>
            </a:r>
            <a:r>
              <a:rPr sz="1600" b="1" spc="-40" dirty="0">
                <a:latin typeface="Verdana"/>
                <a:cs typeface="Verdana"/>
              </a:rPr>
              <a:t> </a:t>
            </a:r>
            <a:r>
              <a:rPr sz="1600" b="1" dirty="0">
                <a:latin typeface="Verdana"/>
                <a:cs typeface="Verdana"/>
              </a:rPr>
              <a:t>any</a:t>
            </a:r>
            <a:r>
              <a:rPr sz="1600" b="1" spc="-33" dirty="0">
                <a:latin typeface="Verdana"/>
                <a:cs typeface="Verdana"/>
              </a:rPr>
              <a:t> </a:t>
            </a:r>
            <a:r>
              <a:rPr sz="1600" b="1" dirty="0">
                <a:latin typeface="Verdana"/>
                <a:cs typeface="Verdana"/>
              </a:rPr>
              <a:t>class</a:t>
            </a:r>
            <a:r>
              <a:rPr sz="1600" b="1" spc="-33" dirty="0">
                <a:latin typeface="Verdana"/>
                <a:cs typeface="Verdana"/>
              </a:rPr>
              <a:t> </a:t>
            </a:r>
            <a:r>
              <a:rPr sz="1600" b="1" dirty="0">
                <a:latin typeface="Verdana"/>
                <a:cs typeface="Verdana"/>
              </a:rPr>
              <a:t>whose</a:t>
            </a:r>
            <a:r>
              <a:rPr sz="1600" b="1" spc="-40" dirty="0">
                <a:latin typeface="Verdana"/>
                <a:cs typeface="Verdana"/>
              </a:rPr>
              <a:t> </a:t>
            </a:r>
            <a:r>
              <a:rPr sz="1600" b="1" dirty="0">
                <a:latin typeface="Verdana"/>
                <a:cs typeface="Verdana"/>
              </a:rPr>
              <a:t>instances</a:t>
            </a:r>
            <a:r>
              <a:rPr sz="1600" b="1" spc="-33" dirty="0">
                <a:latin typeface="Verdana"/>
                <a:cs typeface="Verdana"/>
              </a:rPr>
              <a:t> </a:t>
            </a:r>
            <a:r>
              <a:rPr sz="1600" b="1" dirty="0">
                <a:latin typeface="Verdana"/>
                <a:cs typeface="Verdana"/>
              </a:rPr>
              <a:t>are</a:t>
            </a:r>
            <a:r>
              <a:rPr sz="1600" b="1" spc="-40" dirty="0">
                <a:latin typeface="Verdana"/>
                <a:cs typeface="Verdana"/>
              </a:rPr>
              <a:t> </a:t>
            </a:r>
            <a:r>
              <a:rPr sz="1600" b="1" dirty="0">
                <a:latin typeface="Verdana"/>
                <a:cs typeface="Verdana"/>
              </a:rPr>
              <a:t>intended</a:t>
            </a:r>
            <a:r>
              <a:rPr sz="1600" b="1" spc="-33" dirty="0">
                <a:latin typeface="Verdana"/>
                <a:cs typeface="Verdana"/>
              </a:rPr>
              <a:t> </a:t>
            </a:r>
            <a:r>
              <a:rPr sz="1600" b="1" dirty="0">
                <a:latin typeface="Verdana"/>
                <a:cs typeface="Verdana"/>
              </a:rPr>
              <a:t>to</a:t>
            </a:r>
            <a:r>
              <a:rPr sz="1600" b="1" spc="-40" dirty="0">
                <a:latin typeface="Verdana"/>
                <a:cs typeface="Verdana"/>
              </a:rPr>
              <a:t> </a:t>
            </a:r>
            <a:r>
              <a:rPr sz="1600" b="1" spc="-33" dirty="0">
                <a:latin typeface="Verdana"/>
                <a:cs typeface="Verdana"/>
              </a:rPr>
              <a:t>be </a:t>
            </a:r>
            <a:r>
              <a:rPr sz="1600" b="1" dirty="0">
                <a:latin typeface="Verdana"/>
                <a:cs typeface="Verdana"/>
              </a:rPr>
              <a:t>executed</a:t>
            </a:r>
            <a:r>
              <a:rPr sz="1600" b="1" spc="-27" dirty="0">
                <a:latin typeface="Verdana"/>
                <a:cs typeface="Verdana"/>
              </a:rPr>
              <a:t> </a:t>
            </a:r>
            <a:r>
              <a:rPr sz="1600" b="1" dirty="0">
                <a:latin typeface="Verdana"/>
                <a:cs typeface="Verdana"/>
              </a:rPr>
              <a:t>by</a:t>
            </a:r>
            <a:r>
              <a:rPr sz="1600" b="1" spc="-27" dirty="0">
                <a:latin typeface="Verdana"/>
                <a:cs typeface="Verdana"/>
              </a:rPr>
              <a:t> </a:t>
            </a:r>
            <a:r>
              <a:rPr sz="1600" b="1" dirty="0">
                <a:latin typeface="Verdana"/>
                <a:cs typeface="Verdana"/>
              </a:rPr>
              <a:t>a</a:t>
            </a:r>
            <a:r>
              <a:rPr sz="1600" b="1" spc="-20" dirty="0">
                <a:latin typeface="Verdana"/>
                <a:cs typeface="Verdana"/>
              </a:rPr>
              <a:t> </a:t>
            </a:r>
            <a:r>
              <a:rPr sz="1600" b="1" spc="-13" dirty="0">
                <a:latin typeface="Verdana"/>
                <a:cs typeface="Verdana"/>
              </a:rPr>
              <a:t>thread.</a:t>
            </a:r>
            <a:endParaRPr sz="1600">
              <a:latin typeface="Verdana"/>
              <a:cs typeface="Verdana"/>
            </a:endParaRPr>
          </a:p>
          <a:p>
            <a:pPr>
              <a:spcBef>
                <a:spcPts val="433"/>
              </a:spcBef>
            </a:pPr>
            <a:endParaRPr sz="1600">
              <a:latin typeface="Verdana"/>
              <a:cs typeface="Verdana"/>
            </a:endParaRPr>
          </a:p>
          <a:p>
            <a:pPr marL="16933"/>
            <a:r>
              <a:rPr sz="1600" b="1" dirty="0">
                <a:latin typeface="Verdana"/>
                <a:cs typeface="Verdana"/>
              </a:rPr>
              <a:t>Runnable</a:t>
            </a:r>
            <a:r>
              <a:rPr sz="1600" b="1" spc="-47" dirty="0">
                <a:latin typeface="Verdana"/>
                <a:cs typeface="Verdana"/>
              </a:rPr>
              <a:t> </a:t>
            </a:r>
            <a:r>
              <a:rPr sz="1600" b="1" spc="-13" dirty="0">
                <a:latin typeface="Verdana"/>
                <a:cs typeface="Verdana"/>
              </a:rPr>
              <a:t>interface</a:t>
            </a:r>
            <a:r>
              <a:rPr sz="1600" b="1" spc="-40" dirty="0">
                <a:latin typeface="Verdana"/>
                <a:cs typeface="Verdana"/>
              </a:rPr>
              <a:t> </a:t>
            </a:r>
            <a:r>
              <a:rPr sz="1600" b="1" dirty="0">
                <a:latin typeface="Verdana"/>
                <a:cs typeface="Verdana"/>
              </a:rPr>
              <a:t>have</a:t>
            </a:r>
            <a:r>
              <a:rPr sz="1600" b="1" spc="-40" dirty="0">
                <a:latin typeface="Verdana"/>
                <a:cs typeface="Verdana"/>
              </a:rPr>
              <a:t> </a:t>
            </a:r>
            <a:r>
              <a:rPr sz="1600" b="1" dirty="0">
                <a:latin typeface="Verdana"/>
                <a:cs typeface="Verdana"/>
              </a:rPr>
              <a:t>only</a:t>
            </a:r>
            <a:r>
              <a:rPr sz="1600" b="1" spc="-40" dirty="0">
                <a:latin typeface="Verdana"/>
                <a:cs typeface="Verdana"/>
              </a:rPr>
              <a:t> </a:t>
            </a:r>
            <a:r>
              <a:rPr sz="1600" b="1" dirty="0">
                <a:latin typeface="Verdana"/>
                <a:cs typeface="Verdana"/>
              </a:rPr>
              <a:t>one</a:t>
            </a:r>
            <a:r>
              <a:rPr sz="1600" b="1" spc="-40" dirty="0">
                <a:latin typeface="Verdana"/>
                <a:cs typeface="Verdana"/>
              </a:rPr>
              <a:t> </a:t>
            </a:r>
            <a:r>
              <a:rPr sz="1600" b="1" dirty="0">
                <a:latin typeface="Verdana"/>
                <a:cs typeface="Verdana"/>
              </a:rPr>
              <a:t>method</a:t>
            </a:r>
            <a:r>
              <a:rPr sz="1600" b="1" spc="-47" dirty="0">
                <a:latin typeface="Verdana"/>
                <a:cs typeface="Verdana"/>
              </a:rPr>
              <a:t> </a:t>
            </a:r>
            <a:r>
              <a:rPr sz="1600" b="1" dirty="0">
                <a:latin typeface="Verdana"/>
                <a:cs typeface="Verdana"/>
              </a:rPr>
              <a:t>named</a:t>
            </a:r>
            <a:r>
              <a:rPr sz="1600" b="1" spc="-40" dirty="0">
                <a:latin typeface="Verdana"/>
                <a:cs typeface="Verdana"/>
              </a:rPr>
              <a:t> </a:t>
            </a:r>
            <a:r>
              <a:rPr sz="1600" b="1" spc="-13" dirty="0">
                <a:latin typeface="Verdana"/>
                <a:cs typeface="Verdana"/>
              </a:rPr>
              <a:t>run().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4665" y="3646772"/>
            <a:ext cx="6527800" cy="26332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  <a:tabLst>
                <a:tab pos="524074" algn="l"/>
              </a:tabLst>
            </a:pPr>
            <a:r>
              <a:rPr sz="1600" spc="-33" dirty="0">
                <a:latin typeface="Verdana"/>
                <a:cs typeface="Verdana"/>
              </a:rPr>
              <a:t>1.</a:t>
            </a:r>
            <a:r>
              <a:rPr sz="1600" dirty="0">
                <a:latin typeface="Verdana"/>
                <a:cs typeface="Verdana"/>
              </a:rPr>
              <a:t>	</a:t>
            </a:r>
            <a:r>
              <a:rPr sz="1600" b="1" dirty="0">
                <a:latin typeface="Verdana"/>
                <a:cs typeface="Verdana"/>
              </a:rPr>
              <a:t>public</a:t>
            </a:r>
            <a:r>
              <a:rPr sz="1600" b="1" spc="-40" dirty="0">
                <a:latin typeface="Verdana"/>
                <a:cs typeface="Verdana"/>
              </a:rPr>
              <a:t> </a:t>
            </a:r>
            <a:r>
              <a:rPr sz="1600" b="1" dirty="0">
                <a:latin typeface="Verdana"/>
                <a:cs typeface="Verdana"/>
              </a:rPr>
              <a:t>void</a:t>
            </a:r>
            <a:r>
              <a:rPr sz="1600" b="1" spc="-40" dirty="0">
                <a:latin typeface="Verdana"/>
                <a:cs typeface="Verdana"/>
              </a:rPr>
              <a:t> </a:t>
            </a:r>
            <a:r>
              <a:rPr sz="1600" b="1" dirty="0">
                <a:latin typeface="Verdana"/>
                <a:cs typeface="Verdana"/>
              </a:rPr>
              <a:t>run():</a:t>
            </a:r>
            <a:r>
              <a:rPr sz="1600" b="1" spc="-27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is</a:t>
            </a:r>
            <a:r>
              <a:rPr sz="1600" spc="-4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used</a:t>
            </a:r>
            <a:r>
              <a:rPr sz="1600" spc="-4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to</a:t>
            </a:r>
            <a:r>
              <a:rPr sz="1600" spc="-4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perform</a:t>
            </a:r>
            <a:r>
              <a:rPr sz="1600" spc="-4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action</a:t>
            </a:r>
            <a:r>
              <a:rPr sz="1600" spc="-33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for</a:t>
            </a:r>
            <a:r>
              <a:rPr sz="1600" spc="-4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a</a:t>
            </a:r>
            <a:r>
              <a:rPr sz="1600" spc="-40" dirty="0">
                <a:latin typeface="Verdana"/>
                <a:cs typeface="Verdana"/>
              </a:rPr>
              <a:t> </a:t>
            </a:r>
            <a:r>
              <a:rPr sz="1600" spc="-13" dirty="0">
                <a:latin typeface="Verdana"/>
                <a:cs typeface="Verdana"/>
              </a:rPr>
              <a:t>thread.</a:t>
            </a:r>
            <a:endParaRPr sz="16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2967" y="730819"/>
            <a:ext cx="3379834" cy="732400"/>
          </a:xfrm>
          <a:prstGeom prst="rect">
            <a:avLst/>
          </a:prstGeom>
        </p:spPr>
        <p:txBody>
          <a:bodyPr vert="horz" wrap="square" lIns="0" tIns="359557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2400" b="1" dirty="0">
                <a:solidFill>
                  <a:srgbClr val="610B4B"/>
                </a:solidFill>
                <a:latin typeface="Arial"/>
                <a:cs typeface="Arial"/>
              </a:rPr>
              <a:t>Starting</a:t>
            </a:r>
            <a:r>
              <a:rPr sz="2400" b="1" spc="-33" dirty="0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610B4B"/>
                </a:solidFill>
                <a:latin typeface="Arial"/>
                <a:cs typeface="Arial"/>
              </a:rPr>
              <a:t>a</a:t>
            </a:r>
            <a:r>
              <a:rPr sz="2400" b="1" spc="-27" dirty="0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2400" b="1" spc="-13" dirty="0">
                <a:solidFill>
                  <a:srgbClr val="610B4B"/>
                </a:solidFill>
                <a:latin typeface="Arial"/>
                <a:cs typeface="Arial"/>
              </a:rPr>
              <a:t>thread: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12967" y="1728395"/>
            <a:ext cx="8962812" cy="226854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733" b="1" dirty="0">
                <a:latin typeface="Verdana"/>
                <a:cs typeface="Verdana"/>
              </a:rPr>
              <a:t>start()</a:t>
            </a:r>
            <a:r>
              <a:rPr sz="1733" b="1" spc="-47" dirty="0">
                <a:latin typeface="Verdana"/>
                <a:cs typeface="Verdana"/>
              </a:rPr>
              <a:t> </a:t>
            </a:r>
            <a:r>
              <a:rPr sz="1733" b="1" dirty="0">
                <a:latin typeface="Verdana"/>
                <a:cs typeface="Verdana"/>
              </a:rPr>
              <a:t>method</a:t>
            </a:r>
            <a:r>
              <a:rPr sz="1733" b="1" spc="-20" dirty="0">
                <a:latin typeface="Verdana"/>
                <a:cs typeface="Verdana"/>
              </a:rPr>
              <a:t> </a:t>
            </a:r>
            <a:r>
              <a:rPr sz="1733" dirty="0">
                <a:latin typeface="Verdana"/>
                <a:cs typeface="Verdana"/>
              </a:rPr>
              <a:t>of</a:t>
            </a:r>
            <a:r>
              <a:rPr sz="1733" spc="-40" dirty="0">
                <a:latin typeface="Verdana"/>
                <a:cs typeface="Verdana"/>
              </a:rPr>
              <a:t> </a:t>
            </a:r>
            <a:r>
              <a:rPr sz="1733" dirty="0">
                <a:latin typeface="Verdana"/>
                <a:cs typeface="Verdana"/>
              </a:rPr>
              <a:t>Thread</a:t>
            </a:r>
            <a:r>
              <a:rPr sz="1733" spc="-47" dirty="0">
                <a:latin typeface="Verdana"/>
                <a:cs typeface="Verdana"/>
              </a:rPr>
              <a:t> </a:t>
            </a:r>
            <a:r>
              <a:rPr sz="1733" dirty="0">
                <a:latin typeface="Verdana"/>
                <a:cs typeface="Verdana"/>
              </a:rPr>
              <a:t>class</a:t>
            </a:r>
            <a:r>
              <a:rPr sz="1733" spc="-47" dirty="0">
                <a:latin typeface="Verdana"/>
                <a:cs typeface="Verdana"/>
              </a:rPr>
              <a:t> </a:t>
            </a:r>
            <a:r>
              <a:rPr sz="1733" dirty="0">
                <a:latin typeface="Verdana"/>
                <a:cs typeface="Verdana"/>
              </a:rPr>
              <a:t>is</a:t>
            </a:r>
            <a:r>
              <a:rPr sz="1733" spc="-47" dirty="0">
                <a:latin typeface="Verdana"/>
                <a:cs typeface="Verdana"/>
              </a:rPr>
              <a:t> </a:t>
            </a:r>
            <a:r>
              <a:rPr sz="1733" dirty="0">
                <a:latin typeface="Verdana"/>
                <a:cs typeface="Verdana"/>
              </a:rPr>
              <a:t>used</a:t>
            </a:r>
            <a:r>
              <a:rPr sz="1733" spc="-40" dirty="0">
                <a:latin typeface="Verdana"/>
                <a:cs typeface="Verdana"/>
              </a:rPr>
              <a:t> </a:t>
            </a:r>
            <a:r>
              <a:rPr sz="1733" dirty="0">
                <a:latin typeface="Verdana"/>
                <a:cs typeface="Verdana"/>
              </a:rPr>
              <a:t>to</a:t>
            </a:r>
            <a:r>
              <a:rPr sz="1733" spc="-47" dirty="0">
                <a:latin typeface="Verdana"/>
                <a:cs typeface="Verdana"/>
              </a:rPr>
              <a:t> </a:t>
            </a:r>
            <a:r>
              <a:rPr sz="1733" dirty="0">
                <a:latin typeface="Verdana"/>
                <a:cs typeface="Verdana"/>
              </a:rPr>
              <a:t>start</a:t>
            </a:r>
            <a:r>
              <a:rPr sz="1733" spc="-47" dirty="0">
                <a:latin typeface="Verdana"/>
                <a:cs typeface="Verdana"/>
              </a:rPr>
              <a:t> </a:t>
            </a:r>
            <a:r>
              <a:rPr sz="1733" dirty="0">
                <a:latin typeface="Verdana"/>
                <a:cs typeface="Verdana"/>
              </a:rPr>
              <a:t>a</a:t>
            </a:r>
            <a:r>
              <a:rPr sz="1733" spc="-40" dirty="0">
                <a:latin typeface="Verdana"/>
                <a:cs typeface="Verdana"/>
              </a:rPr>
              <a:t> </a:t>
            </a:r>
            <a:r>
              <a:rPr sz="1733" dirty="0">
                <a:latin typeface="Verdana"/>
                <a:cs typeface="Verdana"/>
              </a:rPr>
              <a:t>newly</a:t>
            </a:r>
            <a:r>
              <a:rPr sz="1733" spc="-47" dirty="0">
                <a:latin typeface="Verdana"/>
                <a:cs typeface="Verdana"/>
              </a:rPr>
              <a:t> </a:t>
            </a:r>
            <a:r>
              <a:rPr sz="1733" dirty="0">
                <a:latin typeface="Verdana"/>
                <a:cs typeface="Verdana"/>
              </a:rPr>
              <a:t>created</a:t>
            </a:r>
            <a:r>
              <a:rPr sz="1733" spc="-47" dirty="0">
                <a:latin typeface="Verdana"/>
                <a:cs typeface="Verdana"/>
              </a:rPr>
              <a:t> </a:t>
            </a:r>
            <a:r>
              <a:rPr sz="1733" spc="-13" dirty="0">
                <a:latin typeface="Verdana"/>
                <a:cs typeface="Verdana"/>
              </a:rPr>
              <a:t>thread.</a:t>
            </a:r>
            <a:endParaRPr sz="1733">
              <a:latin typeface="Verdana"/>
              <a:cs typeface="Verdana"/>
            </a:endParaRPr>
          </a:p>
          <a:p>
            <a:pPr>
              <a:spcBef>
                <a:spcPts val="313"/>
              </a:spcBef>
            </a:pPr>
            <a:endParaRPr sz="1733">
              <a:latin typeface="Verdana"/>
              <a:cs typeface="Verdana"/>
            </a:endParaRPr>
          </a:p>
          <a:p>
            <a:pPr marL="16933"/>
            <a:r>
              <a:rPr sz="1733" dirty="0">
                <a:latin typeface="Verdana"/>
                <a:cs typeface="Verdana"/>
              </a:rPr>
              <a:t>It</a:t>
            </a:r>
            <a:r>
              <a:rPr sz="1733" spc="-73" dirty="0">
                <a:latin typeface="Verdana"/>
                <a:cs typeface="Verdana"/>
              </a:rPr>
              <a:t> </a:t>
            </a:r>
            <a:r>
              <a:rPr sz="1733" dirty="0">
                <a:latin typeface="Verdana"/>
                <a:cs typeface="Verdana"/>
              </a:rPr>
              <a:t>performs</a:t>
            </a:r>
            <a:r>
              <a:rPr sz="1733" spc="-73" dirty="0">
                <a:latin typeface="Verdana"/>
                <a:cs typeface="Verdana"/>
              </a:rPr>
              <a:t> </a:t>
            </a:r>
            <a:r>
              <a:rPr sz="1733" dirty="0">
                <a:latin typeface="Verdana"/>
                <a:cs typeface="Verdana"/>
              </a:rPr>
              <a:t>following</a:t>
            </a:r>
            <a:r>
              <a:rPr sz="1733" spc="-73" dirty="0">
                <a:latin typeface="Verdana"/>
                <a:cs typeface="Verdana"/>
              </a:rPr>
              <a:t> </a:t>
            </a:r>
            <a:r>
              <a:rPr sz="1733" spc="-13" dirty="0">
                <a:latin typeface="Verdana"/>
                <a:cs typeface="Verdana"/>
              </a:rPr>
              <a:t>tasks:</a:t>
            </a:r>
            <a:endParaRPr sz="1733">
              <a:latin typeface="Verdana"/>
              <a:cs typeface="Verdana"/>
            </a:endParaRPr>
          </a:p>
          <a:p>
            <a:pPr>
              <a:spcBef>
                <a:spcPts val="313"/>
              </a:spcBef>
            </a:pPr>
            <a:endParaRPr sz="1733">
              <a:latin typeface="Verdana"/>
              <a:cs typeface="Verdana"/>
            </a:endParaRPr>
          </a:p>
          <a:p>
            <a:pPr marL="625671" indent="-436869">
              <a:buFont typeface="Arial MT"/>
              <a:buChar char="●"/>
              <a:tabLst>
                <a:tab pos="625671" algn="l"/>
              </a:tabLst>
            </a:pPr>
            <a:r>
              <a:rPr sz="1733" dirty="0">
                <a:latin typeface="Verdana"/>
                <a:cs typeface="Verdana"/>
              </a:rPr>
              <a:t>A</a:t>
            </a:r>
            <a:r>
              <a:rPr sz="1733" spc="-47" dirty="0">
                <a:latin typeface="Verdana"/>
                <a:cs typeface="Verdana"/>
              </a:rPr>
              <a:t> </a:t>
            </a:r>
            <a:r>
              <a:rPr sz="1733" dirty="0">
                <a:latin typeface="Verdana"/>
                <a:cs typeface="Verdana"/>
              </a:rPr>
              <a:t>new</a:t>
            </a:r>
            <a:r>
              <a:rPr sz="1733" spc="-47" dirty="0">
                <a:latin typeface="Verdana"/>
                <a:cs typeface="Verdana"/>
              </a:rPr>
              <a:t> </a:t>
            </a:r>
            <a:r>
              <a:rPr sz="1733" dirty="0">
                <a:latin typeface="Verdana"/>
                <a:cs typeface="Verdana"/>
              </a:rPr>
              <a:t>thread</a:t>
            </a:r>
            <a:r>
              <a:rPr sz="1733" spc="-47" dirty="0">
                <a:latin typeface="Verdana"/>
                <a:cs typeface="Verdana"/>
              </a:rPr>
              <a:t> </a:t>
            </a:r>
            <a:r>
              <a:rPr sz="1733" dirty="0">
                <a:latin typeface="Verdana"/>
                <a:cs typeface="Verdana"/>
              </a:rPr>
              <a:t>starts(with</a:t>
            </a:r>
            <a:r>
              <a:rPr sz="1733" spc="-47" dirty="0">
                <a:latin typeface="Verdana"/>
                <a:cs typeface="Verdana"/>
              </a:rPr>
              <a:t> </a:t>
            </a:r>
            <a:r>
              <a:rPr sz="1733" dirty="0">
                <a:latin typeface="Verdana"/>
                <a:cs typeface="Verdana"/>
              </a:rPr>
              <a:t>new</a:t>
            </a:r>
            <a:r>
              <a:rPr sz="1733" spc="-47" dirty="0">
                <a:latin typeface="Verdana"/>
                <a:cs typeface="Verdana"/>
              </a:rPr>
              <a:t> </a:t>
            </a:r>
            <a:r>
              <a:rPr sz="1733" spc="-13" dirty="0">
                <a:latin typeface="Verdana"/>
                <a:cs typeface="Verdana"/>
              </a:rPr>
              <a:t>callstack).</a:t>
            </a:r>
            <a:endParaRPr sz="1733">
              <a:latin typeface="Verdana"/>
              <a:cs typeface="Verdana"/>
            </a:endParaRPr>
          </a:p>
          <a:p>
            <a:pPr marL="625671" indent="-436869">
              <a:spcBef>
                <a:spcPts val="1220"/>
              </a:spcBef>
              <a:buFont typeface="Arial MT"/>
              <a:buChar char="●"/>
              <a:tabLst>
                <a:tab pos="625671" algn="l"/>
              </a:tabLst>
            </a:pPr>
            <a:r>
              <a:rPr sz="1733" dirty="0">
                <a:latin typeface="Verdana"/>
                <a:cs typeface="Verdana"/>
              </a:rPr>
              <a:t>The</a:t>
            </a:r>
            <a:r>
              <a:rPr sz="1733" spc="-60" dirty="0">
                <a:latin typeface="Verdana"/>
                <a:cs typeface="Verdana"/>
              </a:rPr>
              <a:t> </a:t>
            </a:r>
            <a:r>
              <a:rPr sz="1733" dirty="0">
                <a:latin typeface="Verdana"/>
                <a:cs typeface="Verdana"/>
              </a:rPr>
              <a:t>thread</a:t>
            </a:r>
            <a:r>
              <a:rPr sz="1733" spc="-53" dirty="0">
                <a:latin typeface="Verdana"/>
                <a:cs typeface="Verdana"/>
              </a:rPr>
              <a:t> </a:t>
            </a:r>
            <a:r>
              <a:rPr sz="1733" dirty="0">
                <a:latin typeface="Verdana"/>
                <a:cs typeface="Verdana"/>
              </a:rPr>
              <a:t>moves</a:t>
            </a:r>
            <a:r>
              <a:rPr sz="1733" spc="-53" dirty="0">
                <a:latin typeface="Verdana"/>
                <a:cs typeface="Verdana"/>
              </a:rPr>
              <a:t> </a:t>
            </a:r>
            <a:r>
              <a:rPr sz="1733" dirty="0">
                <a:latin typeface="Verdana"/>
                <a:cs typeface="Verdana"/>
              </a:rPr>
              <a:t>from</a:t>
            </a:r>
            <a:r>
              <a:rPr sz="1733" spc="-60" dirty="0">
                <a:latin typeface="Verdana"/>
                <a:cs typeface="Verdana"/>
              </a:rPr>
              <a:t> </a:t>
            </a:r>
            <a:r>
              <a:rPr sz="1733" dirty="0">
                <a:latin typeface="Verdana"/>
                <a:cs typeface="Verdana"/>
              </a:rPr>
              <a:t>New</a:t>
            </a:r>
            <a:r>
              <a:rPr sz="1733" spc="-53" dirty="0">
                <a:latin typeface="Verdana"/>
                <a:cs typeface="Verdana"/>
              </a:rPr>
              <a:t> </a:t>
            </a:r>
            <a:r>
              <a:rPr sz="1733" dirty="0">
                <a:latin typeface="Verdana"/>
                <a:cs typeface="Verdana"/>
              </a:rPr>
              <a:t>state</a:t>
            </a:r>
            <a:r>
              <a:rPr sz="1733" spc="-53" dirty="0">
                <a:latin typeface="Verdana"/>
                <a:cs typeface="Verdana"/>
              </a:rPr>
              <a:t> </a:t>
            </a:r>
            <a:r>
              <a:rPr sz="1733" dirty="0">
                <a:latin typeface="Verdana"/>
                <a:cs typeface="Verdana"/>
              </a:rPr>
              <a:t>to</a:t>
            </a:r>
            <a:r>
              <a:rPr sz="1733" spc="-53" dirty="0">
                <a:latin typeface="Verdana"/>
                <a:cs typeface="Verdana"/>
              </a:rPr>
              <a:t> </a:t>
            </a:r>
            <a:r>
              <a:rPr sz="1733" dirty="0">
                <a:latin typeface="Verdana"/>
                <a:cs typeface="Verdana"/>
              </a:rPr>
              <a:t>the</a:t>
            </a:r>
            <a:r>
              <a:rPr sz="1733" spc="-60" dirty="0">
                <a:latin typeface="Verdana"/>
                <a:cs typeface="Verdana"/>
              </a:rPr>
              <a:t> </a:t>
            </a:r>
            <a:r>
              <a:rPr sz="1733" dirty="0">
                <a:latin typeface="Verdana"/>
                <a:cs typeface="Verdana"/>
              </a:rPr>
              <a:t>Runnable</a:t>
            </a:r>
            <a:r>
              <a:rPr sz="1733" spc="-53" dirty="0">
                <a:latin typeface="Verdana"/>
                <a:cs typeface="Verdana"/>
              </a:rPr>
              <a:t> </a:t>
            </a:r>
            <a:r>
              <a:rPr sz="1733" spc="-13" dirty="0">
                <a:latin typeface="Verdana"/>
                <a:cs typeface="Verdana"/>
              </a:rPr>
              <a:t>state.</a:t>
            </a:r>
            <a:endParaRPr sz="1733">
              <a:latin typeface="Verdana"/>
              <a:cs typeface="Verdana"/>
            </a:endParaRPr>
          </a:p>
          <a:p>
            <a:pPr marL="625671" indent="-436869">
              <a:spcBef>
                <a:spcPts val="1220"/>
              </a:spcBef>
              <a:buFont typeface="Arial MT"/>
              <a:buChar char="●"/>
              <a:tabLst>
                <a:tab pos="625671" algn="l"/>
              </a:tabLst>
            </a:pPr>
            <a:r>
              <a:rPr sz="1733" dirty="0">
                <a:latin typeface="Verdana"/>
                <a:cs typeface="Verdana"/>
              </a:rPr>
              <a:t>When</a:t>
            </a:r>
            <a:r>
              <a:rPr sz="1733" spc="-53" dirty="0">
                <a:latin typeface="Verdana"/>
                <a:cs typeface="Verdana"/>
              </a:rPr>
              <a:t> </a:t>
            </a:r>
            <a:r>
              <a:rPr sz="1733" dirty="0">
                <a:latin typeface="Verdana"/>
                <a:cs typeface="Verdana"/>
              </a:rPr>
              <a:t>the</a:t>
            </a:r>
            <a:r>
              <a:rPr sz="1733" spc="-53" dirty="0">
                <a:latin typeface="Verdana"/>
                <a:cs typeface="Verdana"/>
              </a:rPr>
              <a:t> </a:t>
            </a:r>
            <a:r>
              <a:rPr sz="1733" dirty="0">
                <a:latin typeface="Verdana"/>
                <a:cs typeface="Verdana"/>
              </a:rPr>
              <a:t>thread</a:t>
            </a:r>
            <a:r>
              <a:rPr sz="1733" spc="-53" dirty="0">
                <a:latin typeface="Verdana"/>
                <a:cs typeface="Verdana"/>
              </a:rPr>
              <a:t> </a:t>
            </a:r>
            <a:r>
              <a:rPr sz="1733" dirty="0">
                <a:latin typeface="Verdana"/>
                <a:cs typeface="Verdana"/>
              </a:rPr>
              <a:t>gets</a:t>
            </a:r>
            <a:r>
              <a:rPr sz="1733" spc="-53" dirty="0">
                <a:latin typeface="Verdana"/>
                <a:cs typeface="Verdana"/>
              </a:rPr>
              <a:t> </a:t>
            </a:r>
            <a:r>
              <a:rPr sz="1733" dirty="0">
                <a:latin typeface="Verdana"/>
                <a:cs typeface="Verdana"/>
              </a:rPr>
              <a:t>a</a:t>
            </a:r>
            <a:r>
              <a:rPr sz="1733" spc="-53" dirty="0">
                <a:latin typeface="Verdana"/>
                <a:cs typeface="Verdana"/>
              </a:rPr>
              <a:t> </a:t>
            </a:r>
            <a:r>
              <a:rPr sz="1733" dirty="0">
                <a:latin typeface="Verdana"/>
                <a:cs typeface="Verdana"/>
              </a:rPr>
              <a:t>chance</a:t>
            </a:r>
            <a:r>
              <a:rPr sz="1733" spc="-53" dirty="0">
                <a:latin typeface="Verdana"/>
                <a:cs typeface="Verdana"/>
              </a:rPr>
              <a:t> </a:t>
            </a:r>
            <a:r>
              <a:rPr sz="1733" dirty="0">
                <a:latin typeface="Verdana"/>
                <a:cs typeface="Verdana"/>
              </a:rPr>
              <a:t>to</a:t>
            </a:r>
            <a:r>
              <a:rPr sz="1733" spc="-53" dirty="0">
                <a:latin typeface="Verdana"/>
                <a:cs typeface="Verdana"/>
              </a:rPr>
              <a:t> </a:t>
            </a:r>
            <a:r>
              <a:rPr sz="1733" dirty="0">
                <a:latin typeface="Verdana"/>
                <a:cs typeface="Verdana"/>
              </a:rPr>
              <a:t>execute,</a:t>
            </a:r>
            <a:r>
              <a:rPr sz="1733" spc="-53" dirty="0">
                <a:latin typeface="Verdana"/>
                <a:cs typeface="Verdana"/>
              </a:rPr>
              <a:t> </a:t>
            </a:r>
            <a:r>
              <a:rPr sz="1733" dirty="0">
                <a:latin typeface="Verdana"/>
                <a:cs typeface="Verdana"/>
              </a:rPr>
              <a:t>its</a:t>
            </a:r>
            <a:r>
              <a:rPr sz="1733" spc="-53" dirty="0">
                <a:latin typeface="Verdana"/>
                <a:cs typeface="Verdana"/>
              </a:rPr>
              <a:t> </a:t>
            </a:r>
            <a:r>
              <a:rPr sz="1733" dirty="0">
                <a:latin typeface="Verdana"/>
                <a:cs typeface="Verdana"/>
              </a:rPr>
              <a:t>target</a:t>
            </a:r>
            <a:r>
              <a:rPr sz="1733" spc="-53" dirty="0">
                <a:latin typeface="Verdana"/>
                <a:cs typeface="Verdana"/>
              </a:rPr>
              <a:t> </a:t>
            </a:r>
            <a:r>
              <a:rPr sz="1733" dirty="0">
                <a:latin typeface="Verdana"/>
                <a:cs typeface="Verdana"/>
              </a:rPr>
              <a:t>run()</a:t>
            </a:r>
            <a:r>
              <a:rPr sz="1733" spc="-53" dirty="0">
                <a:latin typeface="Verdana"/>
                <a:cs typeface="Verdana"/>
              </a:rPr>
              <a:t> </a:t>
            </a:r>
            <a:r>
              <a:rPr sz="1733" dirty="0">
                <a:latin typeface="Verdana"/>
                <a:cs typeface="Verdana"/>
              </a:rPr>
              <a:t>method</a:t>
            </a:r>
            <a:r>
              <a:rPr sz="1733" spc="-53" dirty="0">
                <a:latin typeface="Verdana"/>
                <a:cs typeface="Verdana"/>
              </a:rPr>
              <a:t> </a:t>
            </a:r>
            <a:r>
              <a:rPr sz="1733" dirty="0">
                <a:latin typeface="Verdana"/>
                <a:cs typeface="Verdana"/>
              </a:rPr>
              <a:t>will</a:t>
            </a:r>
            <a:r>
              <a:rPr sz="1733" spc="-53" dirty="0">
                <a:latin typeface="Verdana"/>
                <a:cs typeface="Verdana"/>
              </a:rPr>
              <a:t> </a:t>
            </a:r>
            <a:r>
              <a:rPr sz="1733" spc="-33" dirty="0">
                <a:latin typeface="Verdana"/>
                <a:cs typeface="Verdana"/>
              </a:rPr>
              <a:t>run</a:t>
            </a:r>
            <a:endParaRPr sz="1733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2883" y="791048"/>
            <a:ext cx="6421109" cy="692667"/>
          </a:xfrm>
          <a:prstGeom prst="rect">
            <a:avLst/>
          </a:prstGeom>
        </p:spPr>
        <p:txBody>
          <a:bodyPr vert="horz" wrap="square" lIns="0" tIns="360911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2133" b="1" dirty="0">
                <a:solidFill>
                  <a:srgbClr val="610B4B"/>
                </a:solidFill>
                <a:latin typeface="Arial"/>
                <a:cs typeface="Arial"/>
              </a:rPr>
              <a:t>Thread</a:t>
            </a:r>
            <a:r>
              <a:rPr sz="2133" b="1" spc="-40" dirty="0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2133" b="1" dirty="0">
                <a:solidFill>
                  <a:srgbClr val="610B4B"/>
                </a:solidFill>
                <a:latin typeface="Arial"/>
                <a:cs typeface="Arial"/>
              </a:rPr>
              <a:t>Example</a:t>
            </a:r>
            <a:r>
              <a:rPr sz="2133" b="1" spc="-40" dirty="0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2133" b="1" dirty="0">
                <a:solidFill>
                  <a:srgbClr val="610B4B"/>
                </a:solidFill>
                <a:latin typeface="Arial"/>
                <a:cs typeface="Arial"/>
              </a:rPr>
              <a:t>by</a:t>
            </a:r>
            <a:r>
              <a:rPr sz="2133" b="1" spc="-40" dirty="0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2133" b="1" dirty="0">
                <a:solidFill>
                  <a:srgbClr val="610B4B"/>
                </a:solidFill>
                <a:latin typeface="Arial"/>
                <a:cs typeface="Arial"/>
              </a:rPr>
              <a:t>extending</a:t>
            </a:r>
            <a:r>
              <a:rPr sz="2133" b="1" spc="-40" dirty="0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2133" b="1" dirty="0">
                <a:solidFill>
                  <a:srgbClr val="610B4B"/>
                </a:solidFill>
                <a:latin typeface="Arial"/>
                <a:cs typeface="Arial"/>
              </a:rPr>
              <a:t>Thread</a:t>
            </a:r>
            <a:r>
              <a:rPr sz="2133" b="1" spc="-40" dirty="0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2133" b="1" spc="-13" dirty="0">
                <a:solidFill>
                  <a:srgbClr val="610B4B"/>
                </a:solidFill>
                <a:latin typeface="Arial"/>
                <a:cs typeface="Arial"/>
              </a:rPr>
              <a:t>class</a:t>
            </a:r>
            <a:endParaRPr sz="2133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12968" y="1781227"/>
            <a:ext cx="4083473" cy="393939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333" b="1" dirty="0">
                <a:solidFill>
                  <a:srgbClr val="006699"/>
                </a:solidFill>
                <a:latin typeface="Verdana"/>
                <a:cs typeface="Verdana"/>
              </a:rPr>
              <a:t>class</a:t>
            </a:r>
            <a:r>
              <a:rPr sz="1333" b="1" spc="-4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Multi</a:t>
            </a:r>
            <a:r>
              <a:rPr sz="1333" b="1" spc="-33" dirty="0">
                <a:latin typeface="Verdana"/>
                <a:cs typeface="Verdana"/>
              </a:rPr>
              <a:t> </a:t>
            </a:r>
            <a:r>
              <a:rPr sz="1333" b="1" dirty="0">
                <a:solidFill>
                  <a:srgbClr val="006699"/>
                </a:solidFill>
                <a:latin typeface="Verdana"/>
                <a:cs typeface="Verdana"/>
              </a:rPr>
              <a:t>extends</a:t>
            </a:r>
            <a:r>
              <a:rPr sz="1333" b="1" spc="-33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333" b="1" spc="-13" dirty="0">
                <a:latin typeface="Verdana"/>
                <a:cs typeface="Verdana"/>
              </a:rPr>
              <a:t>Thread</a:t>
            </a:r>
            <a:endParaRPr sz="1333">
              <a:latin typeface="Verdana"/>
              <a:cs typeface="Verdana"/>
            </a:endParaRPr>
          </a:p>
          <a:p>
            <a:pPr marL="16933">
              <a:spcBef>
                <a:spcPts val="1300"/>
              </a:spcBef>
            </a:pPr>
            <a:r>
              <a:rPr sz="1333" b="1" spc="-67" dirty="0">
                <a:latin typeface="Verdana"/>
                <a:cs typeface="Verdana"/>
              </a:rPr>
              <a:t>{</a:t>
            </a:r>
            <a:endParaRPr sz="1333">
              <a:latin typeface="Verdana"/>
              <a:cs typeface="Verdana"/>
            </a:endParaRPr>
          </a:p>
          <a:p>
            <a:pPr marL="16933">
              <a:spcBef>
                <a:spcPts val="1300"/>
              </a:spcBef>
            </a:pPr>
            <a:r>
              <a:rPr sz="1333" b="1" dirty="0">
                <a:solidFill>
                  <a:srgbClr val="006699"/>
                </a:solidFill>
                <a:latin typeface="Verdana"/>
                <a:cs typeface="Verdana"/>
              </a:rPr>
              <a:t>public</a:t>
            </a:r>
            <a:r>
              <a:rPr sz="1333" b="1" spc="-33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333" b="1" dirty="0">
                <a:solidFill>
                  <a:srgbClr val="006699"/>
                </a:solidFill>
                <a:latin typeface="Verdana"/>
                <a:cs typeface="Verdana"/>
              </a:rPr>
              <a:t>void</a:t>
            </a:r>
            <a:r>
              <a:rPr sz="1333" b="1" spc="-27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333" b="1" spc="-13" dirty="0">
                <a:latin typeface="Verdana"/>
                <a:cs typeface="Verdana"/>
              </a:rPr>
              <a:t>run()</a:t>
            </a:r>
            <a:endParaRPr sz="1333">
              <a:latin typeface="Verdana"/>
              <a:cs typeface="Verdana"/>
            </a:endParaRPr>
          </a:p>
          <a:p>
            <a:pPr marL="16933">
              <a:spcBef>
                <a:spcPts val="1300"/>
              </a:spcBef>
            </a:pPr>
            <a:r>
              <a:rPr sz="1333" b="1" spc="-67" dirty="0">
                <a:latin typeface="Verdana"/>
                <a:cs typeface="Verdana"/>
              </a:rPr>
              <a:t>{</a:t>
            </a:r>
            <a:endParaRPr sz="1333">
              <a:latin typeface="Verdana"/>
              <a:cs typeface="Verdana"/>
            </a:endParaRPr>
          </a:p>
          <a:p>
            <a:pPr marL="16933">
              <a:spcBef>
                <a:spcPts val="1300"/>
              </a:spcBef>
            </a:pPr>
            <a:r>
              <a:rPr sz="1333" b="1" spc="-13" dirty="0">
                <a:latin typeface="Verdana"/>
                <a:cs typeface="Verdana"/>
              </a:rPr>
              <a:t>System.out.println(</a:t>
            </a:r>
            <a:r>
              <a:rPr sz="1333" b="1" spc="-13" dirty="0">
                <a:solidFill>
                  <a:srgbClr val="0000FF"/>
                </a:solidFill>
                <a:latin typeface="Verdana"/>
                <a:cs typeface="Verdana"/>
              </a:rPr>
              <a:t>"thread</a:t>
            </a:r>
            <a:r>
              <a:rPr sz="1333" b="1" spc="87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333" b="1" dirty="0">
                <a:solidFill>
                  <a:srgbClr val="0000FF"/>
                </a:solidFill>
                <a:latin typeface="Verdana"/>
                <a:cs typeface="Verdana"/>
              </a:rPr>
              <a:t>is</a:t>
            </a:r>
            <a:r>
              <a:rPr sz="1333" b="1" spc="87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333" b="1" spc="-13" dirty="0">
                <a:solidFill>
                  <a:srgbClr val="0000FF"/>
                </a:solidFill>
                <a:latin typeface="Verdana"/>
                <a:cs typeface="Verdana"/>
              </a:rPr>
              <a:t>running..."</a:t>
            </a:r>
            <a:r>
              <a:rPr sz="1333" b="1" spc="-13" dirty="0">
                <a:latin typeface="Verdana"/>
                <a:cs typeface="Verdana"/>
              </a:rPr>
              <a:t>);</a:t>
            </a:r>
            <a:endParaRPr sz="1333">
              <a:latin typeface="Verdana"/>
              <a:cs typeface="Verdana"/>
            </a:endParaRPr>
          </a:p>
          <a:p>
            <a:pPr marL="16933">
              <a:spcBef>
                <a:spcPts val="1300"/>
              </a:spcBef>
            </a:pPr>
            <a:r>
              <a:rPr sz="1333" b="1" spc="-67" dirty="0">
                <a:latin typeface="Verdana"/>
                <a:cs typeface="Verdana"/>
              </a:rPr>
              <a:t>}</a:t>
            </a:r>
            <a:endParaRPr sz="1333">
              <a:latin typeface="Verdana"/>
              <a:cs typeface="Verdana"/>
            </a:endParaRPr>
          </a:p>
          <a:p>
            <a:pPr marL="16933">
              <a:spcBef>
                <a:spcPts val="1300"/>
              </a:spcBef>
            </a:pPr>
            <a:r>
              <a:rPr sz="1333" b="1" dirty="0">
                <a:solidFill>
                  <a:srgbClr val="006699"/>
                </a:solidFill>
                <a:latin typeface="Verdana"/>
                <a:cs typeface="Verdana"/>
              </a:rPr>
              <a:t>public</a:t>
            </a:r>
            <a:r>
              <a:rPr sz="1333" b="1" spc="-4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333" b="1" dirty="0">
                <a:solidFill>
                  <a:srgbClr val="006699"/>
                </a:solidFill>
                <a:latin typeface="Verdana"/>
                <a:cs typeface="Verdana"/>
              </a:rPr>
              <a:t>static</a:t>
            </a:r>
            <a:r>
              <a:rPr sz="1333" b="1" spc="-4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333" b="1" dirty="0">
                <a:solidFill>
                  <a:srgbClr val="006699"/>
                </a:solidFill>
                <a:latin typeface="Verdana"/>
                <a:cs typeface="Verdana"/>
              </a:rPr>
              <a:t>void</a:t>
            </a:r>
            <a:r>
              <a:rPr sz="1333" b="1" spc="-47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main(String</a:t>
            </a:r>
            <a:r>
              <a:rPr sz="1333" b="1" spc="-40" dirty="0">
                <a:latin typeface="Verdana"/>
                <a:cs typeface="Verdana"/>
              </a:rPr>
              <a:t> </a:t>
            </a:r>
            <a:r>
              <a:rPr sz="1333" b="1" spc="-13" dirty="0">
                <a:latin typeface="Verdana"/>
                <a:cs typeface="Verdana"/>
              </a:rPr>
              <a:t>args[])</a:t>
            </a:r>
            <a:endParaRPr sz="1333">
              <a:latin typeface="Verdana"/>
              <a:cs typeface="Verdana"/>
            </a:endParaRPr>
          </a:p>
          <a:p>
            <a:pPr marL="16933">
              <a:spcBef>
                <a:spcPts val="1300"/>
              </a:spcBef>
            </a:pPr>
            <a:r>
              <a:rPr sz="1333" b="1" spc="-67" dirty="0">
                <a:latin typeface="Verdana"/>
                <a:cs typeface="Verdana"/>
              </a:rPr>
              <a:t>{</a:t>
            </a:r>
            <a:endParaRPr sz="1333">
              <a:latin typeface="Verdana"/>
              <a:cs typeface="Verdana"/>
            </a:endParaRPr>
          </a:p>
          <a:p>
            <a:pPr marL="16933" marR="1997237">
              <a:lnSpc>
                <a:spcPct val="181300"/>
              </a:lnSpc>
            </a:pPr>
            <a:r>
              <a:rPr sz="1333" b="1" dirty="0">
                <a:latin typeface="Verdana"/>
                <a:cs typeface="Verdana"/>
              </a:rPr>
              <a:t>Multi</a:t>
            </a:r>
            <a:r>
              <a:rPr sz="1333" b="1" spc="-33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t1=</a:t>
            </a:r>
            <a:r>
              <a:rPr sz="1333" b="1" dirty="0">
                <a:solidFill>
                  <a:srgbClr val="006699"/>
                </a:solidFill>
                <a:latin typeface="Verdana"/>
                <a:cs typeface="Verdana"/>
              </a:rPr>
              <a:t>new</a:t>
            </a:r>
            <a:r>
              <a:rPr sz="1333" b="1" spc="-33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333" b="1" spc="-13" dirty="0">
                <a:latin typeface="Verdana"/>
                <a:cs typeface="Verdana"/>
              </a:rPr>
              <a:t>Multi(); t1.start();</a:t>
            </a:r>
            <a:endParaRPr sz="1333">
              <a:latin typeface="Verdana"/>
              <a:cs typeface="Verdana"/>
            </a:endParaRPr>
          </a:p>
          <a:p>
            <a:pPr marL="74505">
              <a:spcBef>
                <a:spcPts val="1300"/>
              </a:spcBef>
            </a:pPr>
            <a:r>
              <a:rPr sz="1333" b="1" spc="-67" dirty="0">
                <a:latin typeface="Verdana"/>
                <a:cs typeface="Verdana"/>
              </a:rPr>
              <a:t>}</a:t>
            </a:r>
            <a:endParaRPr sz="1333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2967" y="5913808"/>
            <a:ext cx="154940" cy="22221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333" b="1" spc="-67" dirty="0">
                <a:latin typeface="Verdana"/>
                <a:cs typeface="Verdana"/>
              </a:rPr>
              <a:t>}</a:t>
            </a:r>
            <a:endParaRPr sz="1333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780166" y="5829141"/>
            <a:ext cx="950807" cy="32487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000" b="1" spc="-13" dirty="0">
                <a:latin typeface="Arial"/>
                <a:cs typeface="Arial"/>
              </a:rPr>
              <a:t>Output: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908009" y="5829141"/>
            <a:ext cx="2246207" cy="32487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000" b="1" dirty="0">
                <a:latin typeface="Arial"/>
                <a:cs typeface="Arial"/>
              </a:rPr>
              <a:t>thread</a:t>
            </a:r>
            <a:r>
              <a:rPr sz="2000" b="1" spc="-6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is</a:t>
            </a:r>
            <a:r>
              <a:rPr sz="2000" b="1" spc="-60" dirty="0">
                <a:latin typeface="Arial"/>
                <a:cs typeface="Arial"/>
              </a:rPr>
              <a:t> </a:t>
            </a:r>
            <a:r>
              <a:rPr sz="2000" b="1" spc="-13" dirty="0">
                <a:latin typeface="Arial"/>
                <a:cs typeface="Arial"/>
              </a:rPr>
              <a:t>running..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2967" y="817764"/>
            <a:ext cx="7872081" cy="455776"/>
          </a:xfrm>
          <a:prstGeom prst="rect">
            <a:avLst/>
          </a:prstGeom>
        </p:spPr>
        <p:txBody>
          <a:bodyPr vert="horz" wrap="square" lIns="0" tIns="126311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2133" b="1" dirty="0">
                <a:solidFill>
                  <a:srgbClr val="610B4B"/>
                </a:solidFill>
                <a:latin typeface="Arial"/>
                <a:cs typeface="Arial"/>
              </a:rPr>
              <a:t>Thread</a:t>
            </a:r>
            <a:r>
              <a:rPr sz="2133" b="1" spc="-47" dirty="0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2133" b="1" dirty="0">
                <a:solidFill>
                  <a:srgbClr val="610B4B"/>
                </a:solidFill>
                <a:latin typeface="Arial"/>
                <a:cs typeface="Arial"/>
              </a:rPr>
              <a:t>Example</a:t>
            </a:r>
            <a:r>
              <a:rPr sz="2133" b="1" spc="-40" dirty="0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2133" b="1" dirty="0">
                <a:solidFill>
                  <a:srgbClr val="610B4B"/>
                </a:solidFill>
                <a:latin typeface="Arial"/>
                <a:cs typeface="Arial"/>
              </a:rPr>
              <a:t>by</a:t>
            </a:r>
            <a:r>
              <a:rPr sz="2133" b="1" spc="-47" dirty="0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2133" b="1" spc="-13" dirty="0">
                <a:solidFill>
                  <a:srgbClr val="610B4B"/>
                </a:solidFill>
                <a:latin typeface="Arial"/>
                <a:cs typeface="Arial"/>
              </a:rPr>
              <a:t>implementing</a:t>
            </a:r>
            <a:r>
              <a:rPr sz="2133" b="1" spc="-40" dirty="0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2133" b="1" dirty="0">
                <a:solidFill>
                  <a:srgbClr val="610B4B"/>
                </a:solidFill>
                <a:latin typeface="Arial"/>
                <a:cs typeface="Arial"/>
              </a:rPr>
              <a:t>Runnable</a:t>
            </a:r>
            <a:r>
              <a:rPr sz="2133" b="1" spc="-40" dirty="0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2133" b="1" spc="-13" dirty="0">
                <a:solidFill>
                  <a:srgbClr val="610B4B"/>
                </a:solidFill>
                <a:latin typeface="Arial"/>
                <a:cs typeface="Arial"/>
              </a:rPr>
              <a:t>interface</a:t>
            </a:r>
            <a:endParaRPr sz="2133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12968" y="1519026"/>
            <a:ext cx="4083473" cy="431064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333" b="1" dirty="0">
                <a:solidFill>
                  <a:srgbClr val="006699"/>
                </a:solidFill>
                <a:latin typeface="Verdana"/>
                <a:cs typeface="Verdana"/>
              </a:rPr>
              <a:t>class</a:t>
            </a:r>
            <a:r>
              <a:rPr sz="1333" b="1" spc="-4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Multi</a:t>
            </a:r>
            <a:r>
              <a:rPr sz="1333" b="1" spc="393" dirty="0">
                <a:latin typeface="Verdana"/>
                <a:cs typeface="Verdana"/>
              </a:rPr>
              <a:t> </a:t>
            </a:r>
            <a:r>
              <a:rPr sz="1333" b="1" dirty="0">
                <a:solidFill>
                  <a:srgbClr val="006699"/>
                </a:solidFill>
                <a:latin typeface="Verdana"/>
                <a:cs typeface="Verdana"/>
              </a:rPr>
              <a:t>implements</a:t>
            </a:r>
            <a:r>
              <a:rPr sz="1333" b="1" spc="-33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333" b="1" spc="-13" dirty="0">
                <a:latin typeface="Verdana"/>
                <a:cs typeface="Verdana"/>
              </a:rPr>
              <a:t>Runnable</a:t>
            </a:r>
            <a:endParaRPr sz="1333">
              <a:latin typeface="Verdana"/>
              <a:cs typeface="Verdana"/>
            </a:endParaRPr>
          </a:p>
          <a:p>
            <a:pPr marL="16933">
              <a:spcBef>
                <a:spcPts val="1300"/>
              </a:spcBef>
            </a:pPr>
            <a:r>
              <a:rPr sz="1333" b="1" spc="-67" dirty="0">
                <a:latin typeface="Verdana"/>
                <a:cs typeface="Verdana"/>
              </a:rPr>
              <a:t>{</a:t>
            </a:r>
            <a:endParaRPr sz="1333">
              <a:latin typeface="Verdana"/>
              <a:cs typeface="Verdana"/>
            </a:endParaRPr>
          </a:p>
          <a:p>
            <a:pPr marL="16933">
              <a:spcBef>
                <a:spcPts val="1300"/>
              </a:spcBef>
            </a:pPr>
            <a:r>
              <a:rPr sz="1333" b="1" dirty="0">
                <a:solidFill>
                  <a:srgbClr val="006699"/>
                </a:solidFill>
                <a:latin typeface="Verdana"/>
                <a:cs typeface="Verdana"/>
              </a:rPr>
              <a:t>public</a:t>
            </a:r>
            <a:r>
              <a:rPr sz="1333" b="1" spc="-33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333" b="1" dirty="0">
                <a:solidFill>
                  <a:srgbClr val="006699"/>
                </a:solidFill>
                <a:latin typeface="Verdana"/>
                <a:cs typeface="Verdana"/>
              </a:rPr>
              <a:t>void</a:t>
            </a:r>
            <a:r>
              <a:rPr sz="1333" b="1" spc="-27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333" b="1" spc="-13" dirty="0">
                <a:latin typeface="Verdana"/>
                <a:cs typeface="Verdana"/>
              </a:rPr>
              <a:t>run()</a:t>
            </a:r>
            <a:endParaRPr sz="1333">
              <a:latin typeface="Verdana"/>
              <a:cs typeface="Verdana"/>
            </a:endParaRPr>
          </a:p>
          <a:p>
            <a:pPr marL="16933">
              <a:spcBef>
                <a:spcPts val="1300"/>
              </a:spcBef>
            </a:pPr>
            <a:r>
              <a:rPr sz="1333" b="1" spc="-67" dirty="0">
                <a:latin typeface="Verdana"/>
                <a:cs typeface="Verdana"/>
              </a:rPr>
              <a:t>{</a:t>
            </a:r>
            <a:endParaRPr sz="1333">
              <a:latin typeface="Verdana"/>
              <a:cs typeface="Verdana"/>
            </a:endParaRPr>
          </a:p>
          <a:p>
            <a:pPr marL="16933">
              <a:spcBef>
                <a:spcPts val="1300"/>
              </a:spcBef>
            </a:pPr>
            <a:r>
              <a:rPr sz="1333" b="1" spc="-13" dirty="0">
                <a:latin typeface="Verdana"/>
                <a:cs typeface="Verdana"/>
              </a:rPr>
              <a:t>System.out.println(</a:t>
            </a:r>
            <a:r>
              <a:rPr sz="1333" b="1" spc="-13" dirty="0">
                <a:solidFill>
                  <a:srgbClr val="0000FF"/>
                </a:solidFill>
                <a:latin typeface="Verdana"/>
                <a:cs typeface="Verdana"/>
              </a:rPr>
              <a:t>"thread</a:t>
            </a:r>
            <a:r>
              <a:rPr sz="1333" b="1" spc="87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333" b="1" dirty="0">
                <a:solidFill>
                  <a:srgbClr val="0000FF"/>
                </a:solidFill>
                <a:latin typeface="Verdana"/>
                <a:cs typeface="Verdana"/>
              </a:rPr>
              <a:t>is</a:t>
            </a:r>
            <a:r>
              <a:rPr sz="1333" b="1" spc="87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333" b="1" spc="-13" dirty="0">
                <a:solidFill>
                  <a:srgbClr val="0000FF"/>
                </a:solidFill>
                <a:latin typeface="Verdana"/>
                <a:cs typeface="Verdana"/>
              </a:rPr>
              <a:t>running..."</a:t>
            </a:r>
            <a:r>
              <a:rPr sz="1333" b="1" spc="-13" dirty="0">
                <a:latin typeface="Verdana"/>
                <a:cs typeface="Verdana"/>
              </a:rPr>
              <a:t>);</a:t>
            </a:r>
            <a:endParaRPr sz="1333">
              <a:latin typeface="Verdana"/>
              <a:cs typeface="Verdana"/>
            </a:endParaRPr>
          </a:p>
          <a:p>
            <a:pPr marL="16933">
              <a:spcBef>
                <a:spcPts val="1300"/>
              </a:spcBef>
            </a:pPr>
            <a:r>
              <a:rPr sz="1333" b="1" spc="-67" dirty="0">
                <a:latin typeface="Verdana"/>
                <a:cs typeface="Verdana"/>
              </a:rPr>
              <a:t>}</a:t>
            </a:r>
            <a:endParaRPr sz="1333">
              <a:latin typeface="Verdana"/>
              <a:cs typeface="Verdana"/>
            </a:endParaRPr>
          </a:p>
          <a:p>
            <a:pPr marL="132077">
              <a:spcBef>
                <a:spcPts val="1300"/>
              </a:spcBef>
            </a:pPr>
            <a:r>
              <a:rPr sz="1333" b="1" dirty="0">
                <a:solidFill>
                  <a:srgbClr val="006699"/>
                </a:solidFill>
                <a:latin typeface="Verdana"/>
                <a:cs typeface="Verdana"/>
              </a:rPr>
              <a:t>public</a:t>
            </a:r>
            <a:r>
              <a:rPr sz="1333" b="1" spc="-4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333" b="1" dirty="0">
                <a:solidFill>
                  <a:srgbClr val="006699"/>
                </a:solidFill>
                <a:latin typeface="Verdana"/>
                <a:cs typeface="Verdana"/>
              </a:rPr>
              <a:t>static</a:t>
            </a:r>
            <a:r>
              <a:rPr sz="1333" b="1" spc="-4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333" b="1" dirty="0">
                <a:solidFill>
                  <a:srgbClr val="006699"/>
                </a:solidFill>
                <a:latin typeface="Verdana"/>
                <a:cs typeface="Verdana"/>
              </a:rPr>
              <a:t>void</a:t>
            </a:r>
            <a:r>
              <a:rPr sz="1333" b="1" spc="-47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main(String</a:t>
            </a:r>
            <a:r>
              <a:rPr sz="1333" b="1" spc="-40" dirty="0">
                <a:latin typeface="Verdana"/>
                <a:cs typeface="Verdana"/>
              </a:rPr>
              <a:t> </a:t>
            </a:r>
            <a:r>
              <a:rPr sz="1333" b="1" spc="-13" dirty="0">
                <a:latin typeface="Verdana"/>
                <a:cs typeface="Verdana"/>
              </a:rPr>
              <a:t>args[])</a:t>
            </a:r>
            <a:endParaRPr sz="1333">
              <a:latin typeface="Verdana"/>
              <a:cs typeface="Verdana"/>
            </a:endParaRPr>
          </a:p>
          <a:p>
            <a:pPr marL="16933">
              <a:spcBef>
                <a:spcPts val="1300"/>
              </a:spcBef>
            </a:pPr>
            <a:r>
              <a:rPr sz="1333" b="1" spc="-67" dirty="0">
                <a:latin typeface="Verdana"/>
                <a:cs typeface="Verdana"/>
              </a:rPr>
              <a:t>{</a:t>
            </a:r>
            <a:endParaRPr sz="1333">
              <a:latin typeface="Verdana"/>
              <a:cs typeface="Verdana"/>
            </a:endParaRPr>
          </a:p>
          <a:p>
            <a:pPr marL="16933" marR="1259809">
              <a:lnSpc>
                <a:spcPct val="181300"/>
              </a:lnSpc>
            </a:pPr>
            <a:r>
              <a:rPr sz="1333" b="1" dirty="0">
                <a:latin typeface="Verdana"/>
                <a:cs typeface="Verdana"/>
              </a:rPr>
              <a:t>Multi</a:t>
            </a:r>
            <a:r>
              <a:rPr sz="1333" b="1" spc="-53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m1=</a:t>
            </a:r>
            <a:r>
              <a:rPr sz="1333" b="1" dirty="0">
                <a:solidFill>
                  <a:srgbClr val="006699"/>
                </a:solidFill>
                <a:latin typeface="Verdana"/>
                <a:cs typeface="Verdana"/>
              </a:rPr>
              <a:t>new</a:t>
            </a:r>
            <a:r>
              <a:rPr sz="1333" b="1" spc="-53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333" b="1" spc="-13" dirty="0">
                <a:latin typeface="Verdana"/>
                <a:cs typeface="Verdana"/>
              </a:rPr>
              <a:t>Multi(); </a:t>
            </a:r>
            <a:r>
              <a:rPr sz="1333" b="1" dirty="0">
                <a:latin typeface="Verdana"/>
                <a:cs typeface="Verdana"/>
              </a:rPr>
              <a:t>Thread</a:t>
            </a:r>
            <a:r>
              <a:rPr sz="1333" b="1" spc="-47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t1</a:t>
            </a:r>
            <a:r>
              <a:rPr sz="1333" b="1" spc="-40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=</a:t>
            </a:r>
            <a:r>
              <a:rPr sz="1333" b="1" dirty="0">
                <a:solidFill>
                  <a:srgbClr val="006699"/>
                </a:solidFill>
                <a:latin typeface="Verdana"/>
                <a:cs typeface="Verdana"/>
              </a:rPr>
              <a:t>new</a:t>
            </a:r>
            <a:r>
              <a:rPr sz="1333" b="1" spc="-4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333" b="1" spc="-13" dirty="0">
                <a:latin typeface="Verdana"/>
                <a:cs typeface="Verdana"/>
              </a:rPr>
              <a:t>Thread(m1); t1.start();</a:t>
            </a:r>
            <a:endParaRPr sz="1333">
              <a:latin typeface="Verdana"/>
              <a:cs typeface="Verdana"/>
            </a:endParaRPr>
          </a:p>
          <a:p>
            <a:pPr marL="74505">
              <a:spcBef>
                <a:spcPts val="1300"/>
              </a:spcBef>
            </a:pPr>
            <a:r>
              <a:rPr sz="1333" b="1" spc="-67" dirty="0">
                <a:latin typeface="Verdana"/>
                <a:cs typeface="Verdana"/>
              </a:rPr>
              <a:t>}</a:t>
            </a:r>
            <a:endParaRPr sz="1333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2967" y="6019908"/>
            <a:ext cx="154940" cy="22221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333" b="1" spc="-67" dirty="0">
                <a:latin typeface="Verdana"/>
                <a:cs typeface="Verdana"/>
              </a:rPr>
              <a:t>}</a:t>
            </a:r>
            <a:endParaRPr sz="1333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780166" y="5935241"/>
            <a:ext cx="3373967" cy="32487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000" b="1" dirty="0">
                <a:latin typeface="Arial"/>
                <a:cs typeface="Arial"/>
              </a:rPr>
              <a:t>Output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:</a:t>
            </a:r>
            <a:r>
              <a:rPr sz="2000" b="1" spc="-33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thread</a:t>
            </a:r>
            <a:r>
              <a:rPr sz="2000" b="1" spc="-33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is</a:t>
            </a:r>
            <a:r>
              <a:rPr sz="2000" b="1" spc="-33" dirty="0">
                <a:latin typeface="Arial"/>
                <a:cs typeface="Arial"/>
              </a:rPr>
              <a:t> </a:t>
            </a:r>
            <a:r>
              <a:rPr sz="2000" b="1" spc="-13" dirty="0">
                <a:latin typeface="Arial"/>
                <a:cs typeface="Arial"/>
              </a:rPr>
              <a:t>running...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3236" y="721958"/>
            <a:ext cx="4824020" cy="866453"/>
          </a:xfrm>
          <a:prstGeom prst="rect">
            <a:avLst/>
          </a:prstGeom>
        </p:spPr>
        <p:txBody>
          <a:bodyPr vert="horz" wrap="square" lIns="0" tIns="18751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dirty="0"/>
              <a:t>Sleep</a:t>
            </a:r>
            <a:r>
              <a:rPr spc="-73" dirty="0"/>
              <a:t> </a:t>
            </a:r>
            <a:r>
              <a:rPr dirty="0"/>
              <a:t>method</a:t>
            </a:r>
            <a:r>
              <a:rPr spc="-67" dirty="0"/>
              <a:t> </a:t>
            </a:r>
            <a:r>
              <a:rPr dirty="0"/>
              <a:t>in</a:t>
            </a:r>
            <a:r>
              <a:rPr spc="-73" dirty="0"/>
              <a:t> </a:t>
            </a:r>
            <a:r>
              <a:rPr spc="-27" dirty="0"/>
              <a:t>java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12967" y="1899761"/>
            <a:ext cx="8972127" cy="22221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333" b="1" dirty="0">
                <a:latin typeface="Verdana"/>
                <a:cs typeface="Verdana"/>
              </a:rPr>
              <a:t>The</a:t>
            </a:r>
            <a:r>
              <a:rPr sz="1333" b="1" spc="-40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sleep()</a:t>
            </a:r>
            <a:r>
              <a:rPr sz="1333" b="1" spc="-33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method</a:t>
            </a:r>
            <a:r>
              <a:rPr sz="1333" b="1" spc="-33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of</a:t>
            </a:r>
            <a:r>
              <a:rPr sz="1333" b="1" spc="-40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Thread</a:t>
            </a:r>
            <a:r>
              <a:rPr sz="1333" b="1" spc="-33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class</a:t>
            </a:r>
            <a:r>
              <a:rPr sz="1333" b="1" spc="-33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is</a:t>
            </a:r>
            <a:r>
              <a:rPr sz="1333" b="1" spc="-33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used</a:t>
            </a:r>
            <a:r>
              <a:rPr sz="1333" b="1" spc="-40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to</a:t>
            </a:r>
            <a:r>
              <a:rPr sz="1333" b="1" spc="-33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sleep</a:t>
            </a:r>
            <a:r>
              <a:rPr sz="1333" b="1" spc="-33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a</a:t>
            </a:r>
            <a:r>
              <a:rPr sz="1333" b="1" spc="-40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thread</a:t>
            </a:r>
            <a:r>
              <a:rPr sz="1333" b="1" spc="-33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for</a:t>
            </a:r>
            <a:r>
              <a:rPr sz="1333" b="1" spc="-33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the</a:t>
            </a:r>
            <a:r>
              <a:rPr sz="1333" b="1" spc="-33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specified</a:t>
            </a:r>
            <a:r>
              <a:rPr sz="1333" b="1" spc="-40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amount</a:t>
            </a:r>
            <a:r>
              <a:rPr sz="1333" b="1" spc="-33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of</a:t>
            </a:r>
            <a:r>
              <a:rPr sz="1333" b="1" spc="-33" dirty="0">
                <a:latin typeface="Verdana"/>
                <a:cs typeface="Verdana"/>
              </a:rPr>
              <a:t> </a:t>
            </a:r>
            <a:r>
              <a:rPr sz="1333" b="1" spc="-13" dirty="0">
                <a:latin typeface="Verdana"/>
                <a:cs typeface="Verdana"/>
              </a:rPr>
              <a:t>time.</a:t>
            </a:r>
            <a:endParaRPr sz="1333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2967" y="2433330"/>
            <a:ext cx="4170680" cy="3453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133" b="1" dirty="0">
                <a:solidFill>
                  <a:srgbClr val="610B4B"/>
                </a:solidFill>
                <a:latin typeface="Arial"/>
                <a:cs typeface="Arial"/>
              </a:rPr>
              <a:t>Syntax</a:t>
            </a:r>
            <a:r>
              <a:rPr sz="2133" b="1" spc="-47" dirty="0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2133" b="1" dirty="0">
                <a:solidFill>
                  <a:srgbClr val="610B4B"/>
                </a:solidFill>
                <a:latin typeface="Arial"/>
                <a:cs typeface="Arial"/>
              </a:rPr>
              <a:t>of</a:t>
            </a:r>
            <a:r>
              <a:rPr sz="2133" b="1" spc="-40" dirty="0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2133" b="1" dirty="0">
                <a:solidFill>
                  <a:srgbClr val="610B4B"/>
                </a:solidFill>
                <a:latin typeface="Arial"/>
                <a:cs typeface="Arial"/>
              </a:rPr>
              <a:t>sleep()</a:t>
            </a:r>
            <a:r>
              <a:rPr sz="2133" b="1" spc="-47" dirty="0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2133" b="1" dirty="0">
                <a:solidFill>
                  <a:srgbClr val="610B4B"/>
                </a:solidFill>
                <a:latin typeface="Arial"/>
                <a:cs typeface="Arial"/>
              </a:rPr>
              <a:t>method</a:t>
            </a:r>
            <a:r>
              <a:rPr sz="2133" b="1" spc="-40" dirty="0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2133" b="1" dirty="0">
                <a:solidFill>
                  <a:srgbClr val="610B4B"/>
                </a:solidFill>
                <a:latin typeface="Arial"/>
                <a:cs typeface="Arial"/>
              </a:rPr>
              <a:t>in</a:t>
            </a:r>
            <a:r>
              <a:rPr sz="2133" b="1" spc="-47" dirty="0">
                <a:solidFill>
                  <a:srgbClr val="610B4B"/>
                </a:solidFill>
                <a:latin typeface="Arial"/>
                <a:cs typeface="Arial"/>
              </a:rPr>
              <a:t> </a:t>
            </a:r>
            <a:r>
              <a:rPr sz="2133" b="1" spc="-27" dirty="0">
                <a:solidFill>
                  <a:srgbClr val="610B4B"/>
                </a:solidFill>
                <a:latin typeface="Arial"/>
                <a:cs typeface="Arial"/>
              </a:rPr>
              <a:t>java</a:t>
            </a:r>
            <a:endParaRPr sz="2133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12967" y="3025827"/>
            <a:ext cx="8366760" cy="100429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333" b="1" dirty="0">
                <a:latin typeface="Verdana"/>
                <a:cs typeface="Verdana"/>
              </a:rPr>
              <a:t>The</a:t>
            </a:r>
            <a:r>
              <a:rPr sz="1333" b="1" spc="-47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Thread</a:t>
            </a:r>
            <a:r>
              <a:rPr sz="1333" b="1" spc="-47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class</a:t>
            </a:r>
            <a:r>
              <a:rPr sz="1333" b="1" spc="-40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provides</a:t>
            </a:r>
            <a:r>
              <a:rPr sz="1333" b="1" spc="-47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two</a:t>
            </a:r>
            <a:r>
              <a:rPr sz="1333" b="1" spc="-40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methods</a:t>
            </a:r>
            <a:r>
              <a:rPr sz="1333" b="1" spc="-47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for</a:t>
            </a:r>
            <a:r>
              <a:rPr sz="1333" b="1" spc="-47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sleeping</a:t>
            </a:r>
            <a:r>
              <a:rPr sz="1333" b="1" spc="-40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a</a:t>
            </a:r>
            <a:r>
              <a:rPr sz="1333" b="1" spc="-47" dirty="0">
                <a:latin typeface="Verdana"/>
                <a:cs typeface="Verdana"/>
              </a:rPr>
              <a:t> </a:t>
            </a:r>
            <a:r>
              <a:rPr sz="1333" b="1" spc="-13" dirty="0">
                <a:latin typeface="Verdana"/>
                <a:cs typeface="Verdana"/>
              </a:rPr>
              <a:t>thread:</a:t>
            </a:r>
            <a:endParaRPr sz="1333">
              <a:latin typeface="Verdana"/>
              <a:cs typeface="Verdana"/>
            </a:endParaRPr>
          </a:p>
          <a:p>
            <a:pPr>
              <a:spcBef>
                <a:spcPts val="373"/>
              </a:spcBef>
            </a:pPr>
            <a:endParaRPr sz="1333">
              <a:latin typeface="Verdana"/>
              <a:cs typeface="Verdana"/>
            </a:endParaRPr>
          </a:p>
          <a:p>
            <a:pPr marL="625671" indent="-406390">
              <a:spcBef>
                <a:spcPts val="7"/>
              </a:spcBef>
              <a:buFont typeface="Arial"/>
              <a:buChar char="●"/>
              <a:tabLst>
                <a:tab pos="625671" algn="l"/>
              </a:tabLst>
            </a:pPr>
            <a:r>
              <a:rPr sz="1333" b="1" dirty="0">
                <a:latin typeface="Verdana"/>
                <a:cs typeface="Verdana"/>
              </a:rPr>
              <a:t>public</a:t>
            </a:r>
            <a:r>
              <a:rPr sz="1333" b="1" spc="-13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static</a:t>
            </a:r>
            <a:r>
              <a:rPr sz="1333" b="1" spc="-13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void</a:t>
            </a:r>
            <a:r>
              <a:rPr sz="1333" b="1" spc="-7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sleep(long</a:t>
            </a:r>
            <a:r>
              <a:rPr sz="1333" b="1" spc="-13" dirty="0">
                <a:latin typeface="Verdana"/>
                <a:cs typeface="Verdana"/>
              </a:rPr>
              <a:t> miliseconds)throws</a:t>
            </a:r>
            <a:r>
              <a:rPr sz="1333" b="1" spc="-7" dirty="0">
                <a:latin typeface="Verdana"/>
                <a:cs typeface="Verdana"/>
              </a:rPr>
              <a:t> </a:t>
            </a:r>
            <a:r>
              <a:rPr sz="1333" b="1" spc="-13" dirty="0">
                <a:latin typeface="Verdana"/>
                <a:cs typeface="Verdana"/>
              </a:rPr>
              <a:t>InterruptedException</a:t>
            </a:r>
            <a:endParaRPr sz="1333">
              <a:latin typeface="Verdana"/>
              <a:cs typeface="Verdana"/>
            </a:endParaRPr>
          </a:p>
          <a:p>
            <a:pPr marL="625671" indent="-406390">
              <a:spcBef>
                <a:spcPts val="900"/>
              </a:spcBef>
              <a:buFont typeface="Arial"/>
              <a:buChar char="●"/>
              <a:tabLst>
                <a:tab pos="625671" algn="l"/>
              </a:tabLst>
            </a:pPr>
            <a:r>
              <a:rPr sz="1333" b="1" dirty="0">
                <a:latin typeface="Verdana"/>
                <a:cs typeface="Verdana"/>
              </a:rPr>
              <a:t>public</a:t>
            </a:r>
            <a:r>
              <a:rPr sz="1333" b="1" spc="-53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static</a:t>
            </a:r>
            <a:r>
              <a:rPr sz="1333" b="1" spc="-53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void</a:t>
            </a:r>
            <a:r>
              <a:rPr sz="1333" b="1" spc="-47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sleep(long</a:t>
            </a:r>
            <a:r>
              <a:rPr sz="1333" b="1" spc="-53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miliseconds,</a:t>
            </a:r>
            <a:r>
              <a:rPr sz="1333" b="1" spc="-47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int</a:t>
            </a:r>
            <a:r>
              <a:rPr sz="1333" b="1" spc="-53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nanos)throws</a:t>
            </a:r>
            <a:r>
              <a:rPr sz="1333" b="1" spc="-47" dirty="0">
                <a:latin typeface="Verdana"/>
                <a:cs typeface="Verdana"/>
              </a:rPr>
              <a:t> </a:t>
            </a:r>
            <a:r>
              <a:rPr sz="1333" b="1" spc="-13" dirty="0">
                <a:latin typeface="Verdana"/>
                <a:cs typeface="Verdana"/>
              </a:rPr>
              <a:t>InterruptedException</a:t>
            </a:r>
            <a:endParaRPr sz="1333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12968" y="577726"/>
            <a:ext cx="3849793" cy="560734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333" b="1" dirty="0">
                <a:solidFill>
                  <a:srgbClr val="006699"/>
                </a:solidFill>
                <a:latin typeface="Verdana"/>
                <a:cs typeface="Verdana"/>
              </a:rPr>
              <a:t>class</a:t>
            </a:r>
            <a:r>
              <a:rPr sz="1333" b="1" spc="-67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TestSleepMethod1</a:t>
            </a:r>
            <a:r>
              <a:rPr sz="1333" b="1" spc="-40" dirty="0">
                <a:latin typeface="Verdana"/>
                <a:cs typeface="Verdana"/>
              </a:rPr>
              <a:t> </a:t>
            </a:r>
            <a:r>
              <a:rPr sz="1333" b="1" dirty="0">
                <a:solidFill>
                  <a:srgbClr val="006699"/>
                </a:solidFill>
                <a:latin typeface="Verdana"/>
                <a:cs typeface="Verdana"/>
              </a:rPr>
              <a:t>extends</a:t>
            </a:r>
            <a:r>
              <a:rPr sz="1333" b="1" spc="-6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333" b="1" spc="-13" dirty="0">
                <a:latin typeface="Verdana"/>
                <a:cs typeface="Verdana"/>
              </a:rPr>
              <a:t>Thread</a:t>
            </a:r>
            <a:endParaRPr sz="1333">
              <a:latin typeface="Verdana"/>
              <a:cs typeface="Verdana"/>
            </a:endParaRPr>
          </a:p>
          <a:p>
            <a:pPr marL="16933">
              <a:spcBef>
                <a:spcPts val="1200"/>
              </a:spcBef>
            </a:pPr>
            <a:r>
              <a:rPr sz="1333" b="1" spc="-67" dirty="0">
                <a:latin typeface="Verdana"/>
                <a:cs typeface="Verdana"/>
              </a:rPr>
              <a:t>{</a:t>
            </a:r>
            <a:endParaRPr sz="1333">
              <a:latin typeface="Verdana"/>
              <a:cs typeface="Verdana"/>
            </a:endParaRPr>
          </a:p>
          <a:p>
            <a:pPr marL="74505">
              <a:spcBef>
                <a:spcPts val="1200"/>
              </a:spcBef>
            </a:pPr>
            <a:r>
              <a:rPr sz="1333" b="1" dirty="0">
                <a:solidFill>
                  <a:srgbClr val="006699"/>
                </a:solidFill>
                <a:latin typeface="Verdana"/>
                <a:cs typeface="Verdana"/>
              </a:rPr>
              <a:t>public</a:t>
            </a:r>
            <a:r>
              <a:rPr sz="1333" b="1" spc="-33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333" b="1" dirty="0">
                <a:solidFill>
                  <a:srgbClr val="006699"/>
                </a:solidFill>
                <a:latin typeface="Verdana"/>
                <a:cs typeface="Verdana"/>
              </a:rPr>
              <a:t>void</a:t>
            </a:r>
            <a:r>
              <a:rPr sz="1333" b="1" spc="-27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333" b="1" spc="-13" dirty="0">
                <a:latin typeface="Verdana"/>
                <a:cs typeface="Verdana"/>
              </a:rPr>
              <a:t>run()</a:t>
            </a:r>
            <a:endParaRPr sz="1333">
              <a:latin typeface="Verdana"/>
              <a:cs typeface="Verdana"/>
            </a:endParaRPr>
          </a:p>
          <a:p>
            <a:pPr marL="16933">
              <a:spcBef>
                <a:spcPts val="1200"/>
              </a:spcBef>
            </a:pPr>
            <a:r>
              <a:rPr sz="1333" b="1" spc="-67" dirty="0">
                <a:latin typeface="Verdana"/>
                <a:cs typeface="Verdana"/>
              </a:rPr>
              <a:t>{</a:t>
            </a:r>
            <a:endParaRPr sz="1333">
              <a:latin typeface="Verdana"/>
              <a:cs typeface="Verdana"/>
            </a:endParaRPr>
          </a:p>
          <a:p>
            <a:pPr marL="132077">
              <a:spcBef>
                <a:spcPts val="1200"/>
              </a:spcBef>
            </a:pPr>
            <a:r>
              <a:rPr sz="1333" b="1" dirty="0">
                <a:solidFill>
                  <a:srgbClr val="006699"/>
                </a:solidFill>
                <a:latin typeface="Verdana"/>
                <a:cs typeface="Verdana"/>
              </a:rPr>
              <a:t>for</a:t>
            </a:r>
            <a:r>
              <a:rPr sz="1333" b="1" dirty="0">
                <a:latin typeface="Verdana"/>
                <a:cs typeface="Verdana"/>
              </a:rPr>
              <a:t>(</a:t>
            </a:r>
            <a:r>
              <a:rPr sz="1333" b="1" dirty="0">
                <a:solidFill>
                  <a:srgbClr val="006699"/>
                </a:solidFill>
                <a:latin typeface="Verdana"/>
                <a:cs typeface="Verdana"/>
              </a:rPr>
              <a:t>int</a:t>
            </a:r>
            <a:r>
              <a:rPr sz="1333" b="1" spc="-67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333" b="1" spc="-13" dirty="0">
                <a:latin typeface="Verdana"/>
                <a:cs typeface="Verdana"/>
              </a:rPr>
              <a:t>i=</a:t>
            </a:r>
            <a:r>
              <a:rPr sz="1333" b="1" spc="-13" dirty="0">
                <a:solidFill>
                  <a:srgbClr val="C00000"/>
                </a:solidFill>
                <a:latin typeface="Verdana"/>
                <a:cs typeface="Verdana"/>
              </a:rPr>
              <a:t>1</a:t>
            </a:r>
            <a:r>
              <a:rPr sz="1333" b="1" spc="-13" dirty="0">
                <a:latin typeface="Verdana"/>
                <a:cs typeface="Verdana"/>
              </a:rPr>
              <a:t>;i&lt;</a:t>
            </a:r>
            <a:r>
              <a:rPr sz="1333" b="1" spc="-13" dirty="0">
                <a:solidFill>
                  <a:srgbClr val="C00000"/>
                </a:solidFill>
                <a:latin typeface="Verdana"/>
                <a:cs typeface="Verdana"/>
              </a:rPr>
              <a:t>5</a:t>
            </a:r>
            <a:r>
              <a:rPr sz="1333" b="1" spc="-13" dirty="0">
                <a:latin typeface="Verdana"/>
                <a:cs typeface="Verdana"/>
              </a:rPr>
              <a:t>;i++)</a:t>
            </a:r>
            <a:endParaRPr sz="1333">
              <a:latin typeface="Verdana"/>
              <a:cs typeface="Verdana"/>
            </a:endParaRPr>
          </a:p>
          <a:p>
            <a:pPr marL="189649">
              <a:spcBef>
                <a:spcPts val="1200"/>
              </a:spcBef>
            </a:pPr>
            <a:r>
              <a:rPr sz="1333" b="1" spc="-67" dirty="0">
                <a:latin typeface="Verdana"/>
                <a:cs typeface="Verdana"/>
              </a:rPr>
              <a:t>{</a:t>
            </a:r>
            <a:endParaRPr sz="1333">
              <a:latin typeface="Verdana"/>
              <a:cs typeface="Verdana"/>
            </a:endParaRPr>
          </a:p>
          <a:p>
            <a:pPr marL="248067">
              <a:spcBef>
                <a:spcPts val="1200"/>
              </a:spcBef>
            </a:pPr>
            <a:r>
              <a:rPr sz="1333" b="1" spc="-27" dirty="0">
                <a:solidFill>
                  <a:srgbClr val="006699"/>
                </a:solidFill>
                <a:latin typeface="Verdana"/>
                <a:cs typeface="Verdana"/>
              </a:rPr>
              <a:t>try</a:t>
            </a:r>
            <a:r>
              <a:rPr sz="1333" b="1" spc="-27" dirty="0">
                <a:latin typeface="Verdana"/>
                <a:cs typeface="Verdana"/>
              </a:rPr>
              <a:t>{</a:t>
            </a:r>
            <a:endParaRPr sz="1333">
              <a:latin typeface="Verdana"/>
              <a:cs typeface="Verdana"/>
            </a:endParaRPr>
          </a:p>
          <a:p>
            <a:pPr marL="535927">
              <a:spcBef>
                <a:spcPts val="1200"/>
              </a:spcBef>
            </a:pPr>
            <a:r>
              <a:rPr sz="1333" b="1" spc="-13" dirty="0">
                <a:latin typeface="Verdana"/>
                <a:cs typeface="Verdana"/>
              </a:rPr>
              <a:t>Thread.sleep(</a:t>
            </a:r>
            <a:r>
              <a:rPr sz="1333" b="1" spc="-13" dirty="0">
                <a:solidFill>
                  <a:srgbClr val="C00000"/>
                </a:solidFill>
                <a:latin typeface="Verdana"/>
                <a:cs typeface="Verdana"/>
              </a:rPr>
              <a:t>500</a:t>
            </a:r>
            <a:r>
              <a:rPr sz="1333" b="1" spc="-13" dirty="0">
                <a:latin typeface="Verdana"/>
                <a:cs typeface="Verdana"/>
              </a:rPr>
              <a:t>);</a:t>
            </a:r>
            <a:endParaRPr sz="1333">
              <a:latin typeface="Verdana"/>
              <a:cs typeface="Verdana"/>
            </a:endParaRPr>
          </a:p>
          <a:p>
            <a:pPr marL="535927">
              <a:spcBef>
                <a:spcPts val="1200"/>
              </a:spcBef>
            </a:pPr>
            <a:r>
              <a:rPr sz="1333" b="1" spc="-67" dirty="0">
                <a:latin typeface="Verdana"/>
                <a:cs typeface="Verdana"/>
              </a:rPr>
              <a:t>}</a:t>
            </a:r>
            <a:endParaRPr sz="1333">
              <a:latin typeface="Verdana"/>
              <a:cs typeface="Verdana"/>
            </a:endParaRPr>
          </a:p>
          <a:p>
            <a:pPr marL="305639">
              <a:spcBef>
                <a:spcPts val="1200"/>
              </a:spcBef>
            </a:pPr>
            <a:r>
              <a:rPr sz="1333" b="1" spc="-13" dirty="0">
                <a:solidFill>
                  <a:srgbClr val="006699"/>
                </a:solidFill>
                <a:latin typeface="Verdana"/>
                <a:cs typeface="Verdana"/>
              </a:rPr>
              <a:t>catch</a:t>
            </a:r>
            <a:r>
              <a:rPr sz="1333" b="1" spc="-13" dirty="0">
                <a:latin typeface="Verdana"/>
                <a:cs typeface="Verdana"/>
              </a:rPr>
              <a:t>(InterruptedException</a:t>
            </a:r>
            <a:r>
              <a:rPr sz="1333" b="1" spc="167" dirty="0">
                <a:latin typeface="Verdana"/>
                <a:cs typeface="Verdana"/>
              </a:rPr>
              <a:t> </a:t>
            </a:r>
            <a:r>
              <a:rPr sz="1333" b="1" spc="-33" dirty="0">
                <a:latin typeface="Verdana"/>
                <a:cs typeface="Verdana"/>
              </a:rPr>
              <a:t>e)</a:t>
            </a:r>
            <a:endParaRPr sz="1333">
              <a:latin typeface="Verdana"/>
              <a:cs typeface="Verdana"/>
            </a:endParaRPr>
          </a:p>
          <a:p>
            <a:pPr marL="651917">
              <a:spcBef>
                <a:spcPts val="1200"/>
              </a:spcBef>
            </a:pPr>
            <a:r>
              <a:rPr sz="1333" b="1" spc="-67" dirty="0">
                <a:latin typeface="Verdana"/>
                <a:cs typeface="Verdana"/>
              </a:rPr>
              <a:t>{</a:t>
            </a:r>
            <a:endParaRPr sz="1333">
              <a:latin typeface="Verdana"/>
              <a:cs typeface="Verdana"/>
            </a:endParaRPr>
          </a:p>
          <a:p>
            <a:pPr marL="824633">
              <a:spcBef>
                <a:spcPts val="1200"/>
              </a:spcBef>
            </a:pPr>
            <a:r>
              <a:rPr sz="1333" b="1" spc="-13" dirty="0">
                <a:latin typeface="Verdana"/>
                <a:cs typeface="Verdana"/>
              </a:rPr>
              <a:t>System.out.println(e);</a:t>
            </a:r>
            <a:endParaRPr sz="1333">
              <a:latin typeface="Verdana"/>
              <a:cs typeface="Verdana"/>
            </a:endParaRPr>
          </a:p>
          <a:p>
            <a:pPr marL="709489">
              <a:spcBef>
                <a:spcPts val="1200"/>
              </a:spcBef>
            </a:pPr>
            <a:r>
              <a:rPr sz="1333" b="1" spc="-67" dirty="0">
                <a:latin typeface="Verdana"/>
                <a:cs typeface="Verdana"/>
              </a:rPr>
              <a:t>}</a:t>
            </a:r>
            <a:endParaRPr sz="1333">
              <a:latin typeface="Verdana"/>
              <a:cs typeface="Verdana"/>
            </a:endParaRPr>
          </a:p>
          <a:p>
            <a:pPr marL="247220">
              <a:spcBef>
                <a:spcPts val="1200"/>
              </a:spcBef>
            </a:pPr>
            <a:r>
              <a:rPr sz="1333" b="1" spc="-13" dirty="0">
                <a:latin typeface="Verdana"/>
                <a:cs typeface="Verdana"/>
              </a:rPr>
              <a:t>System.out.println(i);</a:t>
            </a:r>
            <a:endParaRPr sz="1333">
              <a:latin typeface="Verdana"/>
              <a:cs typeface="Verdana"/>
            </a:endParaRPr>
          </a:p>
          <a:p>
            <a:pPr marL="132077">
              <a:spcBef>
                <a:spcPts val="1200"/>
              </a:spcBef>
            </a:pPr>
            <a:r>
              <a:rPr sz="1333" b="1" spc="-67" dirty="0">
                <a:latin typeface="Verdana"/>
                <a:cs typeface="Verdana"/>
              </a:rPr>
              <a:t>}</a:t>
            </a:r>
            <a:endParaRPr sz="1333">
              <a:latin typeface="Verdana"/>
              <a:cs typeface="Verdana"/>
            </a:endParaRPr>
          </a:p>
          <a:p>
            <a:pPr marL="74505">
              <a:spcBef>
                <a:spcPts val="1200"/>
              </a:spcBef>
            </a:pPr>
            <a:r>
              <a:rPr sz="1333" b="1" spc="-67" dirty="0">
                <a:latin typeface="Verdana"/>
                <a:cs typeface="Verdana"/>
              </a:rPr>
              <a:t>}</a:t>
            </a:r>
            <a:endParaRPr sz="1333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12968" y="1882827"/>
            <a:ext cx="4764193" cy="273508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333" b="1" dirty="0">
                <a:solidFill>
                  <a:srgbClr val="006699"/>
                </a:solidFill>
                <a:latin typeface="Verdana"/>
                <a:cs typeface="Verdana"/>
              </a:rPr>
              <a:t>public</a:t>
            </a:r>
            <a:r>
              <a:rPr sz="1333" b="1" spc="-4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333" b="1" dirty="0">
                <a:solidFill>
                  <a:srgbClr val="006699"/>
                </a:solidFill>
                <a:latin typeface="Verdana"/>
                <a:cs typeface="Verdana"/>
              </a:rPr>
              <a:t>static</a:t>
            </a:r>
            <a:r>
              <a:rPr sz="1333" b="1" spc="-4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333" b="1" dirty="0">
                <a:solidFill>
                  <a:srgbClr val="006699"/>
                </a:solidFill>
                <a:latin typeface="Verdana"/>
                <a:cs typeface="Verdana"/>
              </a:rPr>
              <a:t>void</a:t>
            </a:r>
            <a:r>
              <a:rPr sz="1333" b="1" spc="-47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main(String</a:t>
            </a:r>
            <a:r>
              <a:rPr sz="1333" b="1" spc="-40" dirty="0">
                <a:latin typeface="Verdana"/>
                <a:cs typeface="Verdana"/>
              </a:rPr>
              <a:t> </a:t>
            </a:r>
            <a:r>
              <a:rPr sz="1333" b="1" spc="-13" dirty="0">
                <a:latin typeface="Verdana"/>
                <a:cs typeface="Verdana"/>
              </a:rPr>
              <a:t>args[])</a:t>
            </a:r>
            <a:endParaRPr sz="1333">
              <a:latin typeface="Verdana"/>
              <a:cs typeface="Verdana"/>
            </a:endParaRPr>
          </a:p>
          <a:p>
            <a:pPr marL="132077">
              <a:spcBef>
                <a:spcPts val="1200"/>
              </a:spcBef>
            </a:pPr>
            <a:r>
              <a:rPr sz="1333" b="1" spc="-67" dirty="0">
                <a:latin typeface="Verdana"/>
                <a:cs typeface="Verdana"/>
              </a:rPr>
              <a:t>{</a:t>
            </a:r>
            <a:endParaRPr sz="1333">
              <a:latin typeface="Verdana"/>
              <a:cs typeface="Verdana"/>
            </a:endParaRPr>
          </a:p>
          <a:p>
            <a:pPr marL="132077" marR="6773" algn="just">
              <a:lnSpc>
                <a:spcPct val="175000"/>
              </a:lnSpc>
            </a:pPr>
            <a:r>
              <a:rPr sz="1333" b="1" dirty="0">
                <a:latin typeface="Verdana"/>
                <a:cs typeface="Verdana"/>
              </a:rPr>
              <a:t>TestSleepMethod1</a:t>
            </a:r>
            <a:r>
              <a:rPr sz="1333" b="1" spc="-67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t1=</a:t>
            </a:r>
            <a:r>
              <a:rPr sz="1333" b="1" dirty="0">
                <a:solidFill>
                  <a:srgbClr val="006699"/>
                </a:solidFill>
                <a:latin typeface="Verdana"/>
                <a:cs typeface="Verdana"/>
              </a:rPr>
              <a:t>new</a:t>
            </a:r>
            <a:r>
              <a:rPr sz="1333" b="1" spc="-6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333" b="1" spc="-13" dirty="0">
                <a:latin typeface="Verdana"/>
                <a:cs typeface="Verdana"/>
              </a:rPr>
              <a:t>TestSleepMethod1(); </a:t>
            </a:r>
            <a:r>
              <a:rPr sz="1333" b="1" dirty="0">
                <a:latin typeface="Verdana"/>
                <a:cs typeface="Verdana"/>
              </a:rPr>
              <a:t>TestSleepMethod1</a:t>
            </a:r>
            <a:r>
              <a:rPr sz="1333" b="1" spc="-67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t2=</a:t>
            </a:r>
            <a:r>
              <a:rPr sz="1333" b="1" dirty="0">
                <a:solidFill>
                  <a:srgbClr val="006699"/>
                </a:solidFill>
                <a:latin typeface="Verdana"/>
                <a:cs typeface="Verdana"/>
              </a:rPr>
              <a:t>new</a:t>
            </a:r>
            <a:r>
              <a:rPr sz="1333" b="1" spc="-6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333" b="1" spc="-13" dirty="0">
                <a:latin typeface="Verdana"/>
                <a:cs typeface="Verdana"/>
              </a:rPr>
              <a:t>TestSleepMethod1(); t1.start();</a:t>
            </a:r>
            <a:endParaRPr sz="1333">
              <a:latin typeface="Verdana"/>
              <a:cs typeface="Verdana"/>
            </a:endParaRPr>
          </a:p>
          <a:p>
            <a:pPr marL="132077">
              <a:spcBef>
                <a:spcPts val="1200"/>
              </a:spcBef>
            </a:pPr>
            <a:r>
              <a:rPr sz="1333" b="1" spc="-13" dirty="0">
                <a:latin typeface="Verdana"/>
                <a:cs typeface="Verdana"/>
              </a:rPr>
              <a:t>t2.start();</a:t>
            </a:r>
            <a:endParaRPr sz="1333">
              <a:latin typeface="Verdana"/>
              <a:cs typeface="Verdana"/>
            </a:endParaRPr>
          </a:p>
          <a:p>
            <a:pPr marL="74505">
              <a:spcBef>
                <a:spcPts val="1200"/>
              </a:spcBef>
            </a:pPr>
            <a:r>
              <a:rPr sz="1333" b="1" spc="-67" dirty="0">
                <a:latin typeface="Verdana"/>
                <a:cs typeface="Verdana"/>
              </a:rPr>
              <a:t>}</a:t>
            </a:r>
            <a:endParaRPr sz="1333">
              <a:latin typeface="Verdana"/>
              <a:cs typeface="Verdana"/>
            </a:endParaRPr>
          </a:p>
          <a:p>
            <a:pPr marL="16933">
              <a:spcBef>
                <a:spcPts val="1200"/>
              </a:spcBef>
            </a:pPr>
            <a:r>
              <a:rPr sz="1333" b="1" spc="-67" dirty="0">
                <a:latin typeface="Verdana"/>
                <a:cs typeface="Verdana"/>
              </a:rPr>
              <a:t>}</a:t>
            </a:r>
            <a:endParaRPr sz="1333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17600" y="1005025"/>
            <a:ext cx="14020800" cy="731031"/>
          </a:xfrm>
          <a:prstGeom prst="rect">
            <a:avLst/>
          </a:prstGeom>
        </p:spPr>
        <p:txBody>
          <a:bodyPr vert="horz" wrap="square" lIns="0" tIns="114361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4000" spc="-13" dirty="0">
                <a:solidFill>
                  <a:srgbClr val="2A3890"/>
                </a:solidFill>
                <a:latin typeface="Roboto"/>
                <a:cs typeface="Roboto"/>
              </a:rPr>
              <a:t>Output</a:t>
            </a:r>
            <a:r>
              <a:rPr sz="4000" spc="-213" dirty="0">
                <a:solidFill>
                  <a:srgbClr val="2A3890"/>
                </a:solidFill>
                <a:latin typeface="Roboto"/>
                <a:cs typeface="Roboto"/>
              </a:rPr>
              <a:t> </a:t>
            </a:r>
            <a:r>
              <a:rPr sz="4000" spc="-67" dirty="0">
                <a:solidFill>
                  <a:srgbClr val="2A3890"/>
                </a:solidFill>
                <a:latin typeface="Roboto"/>
                <a:cs typeface="Roboto"/>
              </a:rPr>
              <a:t>:</a:t>
            </a:r>
            <a:endParaRPr sz="4000">
              <a:latin typeface="Roboto"/>
              <a:cs typeface="Robo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41304" y="1730427"/>
            <a:ext cx="128693" cy="74787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333" b="1" spc="-67" dirty="0">
                <a:latin typeface="Arial"/>
                <a:cs typeface="Arial"/>
              </a:rPr>
              <a:t>1</a:t>
            </a:r>
            <a:endParaRPr sz="1333">
              <a:latin typeface="Arial"/>
              <a:cs typeface="Arial"/>
            </a:endParaRPr>
          </a:p>
          <a:p>
            <a:pPr>
              <a:spcBef>
                <a:spcPts val="867"/>
              </a:spcBef>
            </a:pPr>
            <a:endParaRPr sz="1333">
              <a:latin typeface="Arial"/>
              <a:cs typeface="Arial"/>
            </a:endParaRPr>
          </a:p>
          <a:p>
            <a:pPr marL="16933"/>
            <a:r>
              <a:rPr sz="1333" b="1" spc="-67" dirty="0">
                <a:latin typeface="Arial"/>
                <a:cs typeface="Arial"/>
              </a:rPr>
              <a:t>1</a:t>
            </a:r>
            <a:endParaRPr sz="1333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41304" y="2746428"/>
            <a:ext cx="128693" cy="22221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333" b="1" spc="-67" dirty="0">
                <a:latin typeface="Arial"/>
                <a:cs typeface="Arial"/>
              </a:rPr>
              <a:t>2</a:t>
            </a:r>
            <a:endParaRPr sz="1333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41304" y="3254428"/>
            <a:ext cx="128693" cy="22221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333" b="1" spc="-67" dirty="0">
                <a:latin typeface="Arial"/>
                <a:cs typeface="Arial"/>
              </a:rPr>
              <a:t>2</a:t>
            </a:r>
            <a:endParaRPr sz="1333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36055" y="3762427"/>
            <a:ext cx="133773" cy="179918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22013">
              <a:spcBef>
                <a:spcPts val="133"/>
              </a:spcBef>
            </a:pPr>
            <a:r>
              <a:rPr sz="1333" b="1" spc="-67" dirty="0">
                <a:latin typeface="Arial"/>
                <a:cs typeface="Arial"/>
              </a:rPr>
              <a:t>3</a:t>
            </a:r>
            <a:endParaRPr sz="1333">
              <a:latin typeface="Arial"/>
              <a:cs typeface="Arial"/>
            </a:endParaRPr>
          </a:p>
          <a:p>
            <a:pPr>
              <a:spcBef>
                <a:spcPts val="867"/>
              </a:spcBef>
            </a:pPr>
            <a:endParaRPr sz="1333">
              <a:latin typeface="Arial"/>
              <a:cs typeface="Arial"/>
            </a:endParaRPr>
          </a:p>
          <a:p>
            <a:pPr marL="22013"/>
            <a:r>
              <a:rPr sz="1333" b="1" spc="-67" dirty="0">
                <a:latin typeface="Arial"/>
                <a:cs typeface="Arial"/>
              </a:rPr>
              <a:t>3</a:t>
            </a:r>
            <a:endParaRPr sz="1333">
              <a:latin typeface="Arial"/>
              <a:cs typeface="Arial"/>
            </a:endParaRPr>
          </a:p>
          <a:p>
            <a:pPr>
              <a:spcBef>
                <a:spcPts val="867"/>
              </a:spcBef>
            </a:pPr>
            <a:endParaRPr sz="1333">
              <a:latin typeface="Arial"/>
              <a:cs typeface="Arial"/>
            </a:endParaRPr>
          </a:p>
          <a:p>
            <a:pPr marL="22013"/>
            <a:r>
              <a:rPr sz="1333" b="1" spc="-67" dirty="0">
                <a:latin typeface="Arial"/>
                <a:cs typeface="Arial"/>
              </a:rPr>
              <a:t>4</a:t>
            </a:r>
            <a:endParaRPr sz="1333">
              <a:latin typeface="Arial"/>
              <a:cs typeface="Arial"/>
            </a:endParaRPr>
          </a:p>
          <a:p>
            <a:pPr>
              <a:spcBef>
                <a:spcPts val="867"/>
              </a:spcBef>
            </a:pPr>
            <a:endParaRPr sz="1333">
              <a:latin typeface="Arial"/>
              <a:cs typeface="Arial"/>
            </a:endParaRPr>
          </a:p>
          <a:p>
            <a:pPr marL="16933"/>
            <a:r>
              <a:rPr sz="1333" b="1" spc="-67" dirty="0">
                <a:latin typeface="Arial"/>
                <a:cs typeface="Arial"/>
              </a:rPr>
              <a:t>4</a:t>
            </a:r>
            <a:endParaRPr sz="1333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927628" y="2474394"/>
            <a:ext cx="5234939" cy="42733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423323" marR="6773" indent="-407236">
              <a:spcBef>
                <a:spcPts val="133"/>
              </a:spcBef>
              <a:buFont typeface="Arial"/>
              <a:buChar char="●"/>
              <a:tabLst>
                <a:tab pos="423323" algn="l"/>
              </a:tabLst>
            </a:pPr>
            <a:r>
              <a:rPr sz="1333" b="1" dirty="0">
                <a:latin typeface="Verdana"/>
                <a:cs typeface="Verdana"/>
              </a:rPr>
              <a:t>As</a:t>
            </a:r>
            <a:r>
              <a:rPr sz="1333" b="1" spc="-13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you</a:t>
            </a:r>
            <a:r>
              <a:rPr sz="1333" b="1" spc="-13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know</a:t>
            </a:r>
            <a:r>
              <a:rPr sz="1333" b="1" spc="-13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well</a:t>
            </a:r>
            <a:r>
              <a:rPr sz="1333" b="1" spc="-13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that</a:t>
            </a:r>
            <a:r>
              <a:rPr sz="1333" b="1" spc="-13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at</a:t>
            </a:r>
            <a:r>
              <a:rPr sz="1333" b="1" spc="-13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a</a:t>
            </a:r>
            <a:r>
              <a:rPr sz="1333" b="1" spc="-13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time</a:t>
            </a:r>
            <a:r>
              <a:rPr sz="1333" b="1" spc="-13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only</a:t>
            </a:r>
            <a:r>
              <a:rPr sz="1333" b="1" spc="-13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one</a:t>
            </a:r>
            <a:r>
              <a:rPr sz="1333" b="1" spc="-13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thread</a:t>
            </a:r>
            <a:r>
              <a:rPr sz="1333" b="1" spc="-13" dirty="0">
                <a:latin typeface="Verdana"/>
                <a:cs typeface="Verdana"/>
              </a:rPr>
              <a:t> </a:t>
            </a:r>
            <a:r>
              <a:rPr sz="1333" b="1" spc="-33" dirty="0">
                <a:latin typeface="Verdana"/>
                <a:cs typeface="Verdana"/>
              </a:rPr>
              <a:t>is </a:t>
            </a:r>
            <a:r>
              <a:rPr sz="1333" b="1" spc="-13" dirty="0">
                <a:latin typeface="Verdana"/>
                <a:cs typeface="Verdana"/>
              </a:rPr>
              <a:t>executed.</a:t>
            </a:r>
            <a:endParaRPr sz="1333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927629" y="3083994"/>
            <a:ext cx="5238327" cy="63246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419090" marR="6773" indent="-403003" algn="just">
              <a:spcBef>
                <a:spcPts val="133"/>
              </a:spcBef>
              <a:buFont typeface="Arial"/>
              <a:buChar char="●"/>
              <a:tabLst>
                <a:tab pos="423323" algn="l"/>
              </a:tabLst>
            </a:pPr>
            <a:r>
              <a:rPr sz="1333" b="1" dirty="0">
                <a:latin typeface="Verdana"/>
                <a:cs typeface="Verdana"/>
              </a:rPr>
              <a:t>If</a:t>
            </a:r>
            <a:r>
              <a:rPr sz="1333" b="1" spc="305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you</a:t>
            </a:r>
            <a:r>
              <a:rPr sz="1333" b="1" spc="305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sleep</a:t>
            </a:r>
            <a:r>
              <a:rPr sz="1333" b="1" spc="313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a</a:t>
            </a:r>
            <a:r>
              <a:rPr sz="1333" b="1" spc="305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thread</a:t>
            </a:r>
            <a:r>
              <a:rPr sz="1333" b="1" spc="305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for</a:t>
            </a:r>
            <a:r>
              <a:rPr sz="1333" b="1" spc="313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the</a:t>
            </a:r>
            <a:r>
              <a:rPr sz="1333" b="1" spc="305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specified</a:t>
            </a:r>
            <a:r>
              <a:rPr sz="1333" b="1" spc="305" dirty="0">
                <a:latin typeface="Verdana"/>
                <a:cs typeface="Verdana"/>
              </a:rPr>
              <a:t> </a:t>
            </a:r>
            <a:r>
              <a:rPr sz="1333" b="1" spc="-13" dirty="0">
                <a:latin typeface="Verdana"/>
                <a:cs typeface="Verdana"/>
              </a:rPr>
              <a:t>time,the 	</a:t>
            </a:r>
            <a:r>
              <a:rPr sz="1333" b="1" dirty="0">
                <a:latin typeface="Verdana"/>
                <a:cs typeface="Verdana"/>
              </a:rPr>
              <a:t>thread</a:t>
            </a:r>
            <a:r>
              <a:rPr sz="1333" b="1" spc="160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scheduler</a:t>
            </a:r>
            <a:r>
              <a:rPr sz="1333" b="1" spc="152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picks</a:t>
            </a:r>
            <a:r>
              <a:rPr sz="1333" b="1" spc="152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up</a:t>
            </a:r>
            <a:r>
              <a:rPr sz="1333" b="1" spc="160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another</a:t>
            </a:r>
            <a:r>
              <a:rPr sz="1333" b="1" spc="160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thread</a:t>
            </a:r>
            <a:r>
              <a:rPr sz="1333" b="1" spc="167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and</a:t>
            </a:r>
            <a:r>
              <a:rPr sz="1333" b="1" spc="160" dirty="0">
                <a:latin typeface="Verdana"/>
                <a:cs typeface="Verdana"/>
              </a:rPr>
              <a:t> </a:t>
            </a:r>
            <a:r>
              <a:rPr sz="1333" b="1" spc="-33" dirty="0">
                <a:latin typeface="Verdana"/>
                <a:cs typeface="Verdana"/>
              </a:rPr>
              <a:t>so 	on.</a:t>
            </a:r>
            <a:endParaRPr sz="1333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4837" y="903539"/>
            <a:ext cx="8243594" cy="866453"/>
          </a:xfrm>
          <a:prstGeom prst="rect">
            <a:avLst/>
          </a:prstGeom>
        </p:spPr>
        <p:txBody>
          <a:bodyPr vert="horz" wrap="square" lIns="0" tIns="18751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dirty="0"/>
              <a:t>Naming</a:t>
            </a:r>
            <a:r>
              <a:rPr spc="-173" dirty="0"/>
              <a:t> </a:t>
            </a:r>
            <a:r>
              <a:rPr dirty="0"/>
              <a:t>Thread</a:t>
            </a:r>
            <a:r>
              <a:rPr spc="-127" dirty="0"/>
              <a:t> </a:t>
            </a:r>
            <a:r>
              <a:rPr dirty="0"/>
              <a:t>and</a:t>
            </a:r>
            <a:r>
              <a:rPr spc="-127" dirty="0"/>
              <a:t> </a:t>
            </a:r>
            <a:r>
              <a:rPr dirty="0"/>
              <a:t>Current</a:t>
            </a:r>
            <a:r>
              <a:rPr spc="-173" dirty="0"/>
              <a:t> </a:t>
            </a:r>
            <a:r>
              <a:rPr spc="-13" dirty="0"/>
              <a:t>Thread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12967" y="2029131"/>
            <a:ext cx="2372360" cy="40688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533" b="1" dirty="0">
                <a:solidFill>
                  <a:srgbClr val="610B37"/>
                </a:solidFill>
                <a:latin typeface="Arial"/>
                <a:cs typeface="Arial"/>
              </a:rPr>
              <a:t>Naming</a:t>
            </a:r>
            <a:r>
              <a:rPr sz="2533" b="1" spc="-133" dirty="0">
                <a:solidFill>
                  <a:srgbClr val="610B37"/>
                </a:solidFill>
                <a:latin typeface="Arial"/>
                <a:cs typeface="Arial"/>
              </a:rPr>
              <a:t> </a:t>
            </a:r>
            <a:r>
              <a:rPr sz="2533" b="1" spc="-13" dirty="0">
                <a:solidFill>
                  <a:srgbClr val="610B37"/>
                </a:solidFill>
                <a:latin typeface="Arial"/>
                <a:cs typeface="Arial"/>
              </a:rPr>
              <a:t>Thread</a:t>
            </a:r>
            <a:endParaRPr sz="2533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5528" y="2682927"/>
            <a:ext cx="10513907" cy="942223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423323" marR="6773" indent="-407236">
              <a:lnSpc>
                <a:spcPct val="112500"/>
              </a:lnSpc>
              <a:spcBef>
                <a:spcPts val="133"/>
              </a:spcBef>
              <a:buFont typeface="Arial"/>
              <a:buChar char="●"/>
              <a:tabLst>
                <a:tab pos="423323" algn="l"/>
              </a:tabLst>
            </a:pPr>
            <a:r>
              <a:rPr sz="1333" b="1" dirty="0">
                <a:latin typeface="Verdana"/>
                <a:cs typeface="Verdana"/>
              </a:rPr>
              <a:t>The</a:t>
            </a:r>
            <a:r>
              <a:rPr sz="1333" b="1" spc="-40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Thread</a:t>
            </a:r>
            <a:r>
              <a:rPr sz="1333" b="1" spc="-33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class</a:t>
            </a:r>
            <a:r>
              <a:rPr sz="1333" b="1" spc="-33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provides</a:t>
            </a:r>
            <a:r>
              <a:rPr sz="1333" b="1" spc="-33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methods</a:t>
            </a:r>
            <a:r>
              <a:rPr sz="1333" b="1" spc="-33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to</a:t>
            </a:r>
            <a:r>
              <a:rPr sz="1333" b="1" spc="-33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change</a:t>
            </a:r>
            <a:r>
              <a:rPr sz="1333" b="1" spc="-33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and</a:t>
            </a:r>
            <a:r>
              <a:rPr sz="1333" b="1" spc="-33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get</a:t>
            </a:r>
            <a:r>
              <a:rPr sz="1333" b="1" spc="-40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the</a:t>
            </a:r>
            <a:r>
              <a:rPr sz="1333" b="1" spc="-33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name</a:t>
            </a:r>
            <a:r>
              <a:rPr sz="1333" b="1" spc="-33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of</a:t>
            </a:r>
            <a:r>
              <a:rPr sz="1333" b="1" spc="-33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a</a:t>
            </a:r>
            <a:r>
              <a:rPr sz="1333" b="1" spc="-33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thread.</a:t>
            </a:r>
            <a:r>
              <a:rPr sz="1333" b="1" spc="-33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By</a:t>
            </a:r>
            <a:r>
              <a:rPr sz="1333" b="1" spc="-33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default,</a:t>
            </a:r>
            <a:r>
              <a:rPr sz="1333" b="1" spc="-33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each</a:t>
            </a:r>
            <a:r>
              <a:rPr sz="1333" b="1" spc="-33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thread</a:t>
            </a:r>
            <a:r>
              <a:rPr sz="1333" b="1" spc="-40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has</a:t>
            </a:r>
            <a:r>
              <a:rPr sz="1333" b="1" spc="-33" dirty="0">
                <a:latin typeface="Verdana"/>
                <a:cs typeface="Verdana"/>
              </a:rPr>
              <a:t> </a:t>
            </a:r>
            <a:r>
              <a:rPr sz="1333" b="1" spc="-67" dirty="0">
                <a:latin typeface="Verdana"/>
                <a:cs typeface="Verdana"/>
              </a:rPr>
              <a:t>a </a:t>
            </a:r>
            <a:r>
              <a:rPr sz="1333" b="1" dirty="0">
                <a:latin typeface="Verdana"/>
                <a:cs typeface="Verdana"/>
              </a:rPr>
              <a:t>name</a:t>
            </a:r>
            <a:r>
              <a:rPr sz="1333" b="1" spc="-20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i.e. </a:t>
            </a:r>
            <a:r>
              <a:rPr sz="1333" b="1" spc="-13" dirty="0">
                <a:latin typeface="Verdana"/>
                <a:cs typeface="Verdana"/>
              </a:rPr>
              <a:t>thread-</a:t>
            </a:r>
            <a:r>
              <a:rPr sz="1333" b="1" dirty="0">
                <a:latin typeface="Verdana"/>
                <a:cs typeface="Verdana"/>
              </a:rPr>
              <a:t>0, </a:t>
            </a:r>
            <a:r>
              <a:rPr sz="1333" b="1" spc="-13" dirty="0">
                <a:latin typeface="Verdana"/>
                <a:cs typeface="Verdana"/>
              </a:rPr>
              <a:t>thread-</a:t>
            </a:r>
            <a:r>
              <a:rPr sz="1333" b="1" dirty="0">
                <a:latin typeface="Verdana"/>
                <a:cs typeface="Verdana"/>
              </a:rPr>
              <a:t>1</a:t>
            </a:r>
            <a:r>
              <a:rPr sz="1333" b="1" spc="-7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and so </a:t>
            </a:r>
            <a:r>
              <a:rPr sz="1333" b="1" spc="-33" dirty="0">
                <a:latin typeface="Verdana"/>
                <a:cs typeface="Verdana"/>
              </a:rPr>
              <a:t>on.</a:t>
            </a:r>
            <a:endParaRPr sz="1333">
              <a:latin typeface="Verdana"/>
              <a:cs typeface="Verdana"/>
            </a:endParaRPr>
          </a:p>
          <a:p>
            <a:pPr marL="423323" indent="-406390">
              <a:spcBef>
                <a:spcPts val="200"/>
              </a:spcBef>
              <a:buFont typeface="Arial"/>
              <a:buChar char="●"/>
              <a:tabLst>
                <a:tab pos="423323" algn="l"/>
              </a:tabLst>
            </a:pPr>
            <a:r>
              <a:rPr sz="1333" b="1" dirty="0">
                <a:latin typeface="Verdana"/>
                <a:cs typeface="Verdana"/>
              </a:rPr>
              <a:t>By</a:t>
            </a:r>
            <a:r>
              <a:rPr sz="1333" b="1" spc="-33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we</a:t>
            </a:r>
            <a:r>
              <a:rPr sz="1333" b="1" spc="-27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can</a:t>
            </a:r>
            <a:r>
              <a:rPr sz="1333" b="1" spc="-27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change</a:t>
            </a:r>
            <a:r>
              <a:rPr sz="1333" b="1" spc="-27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the</a:t>
            </a:r>
            <a:r>
              <a:rPr sz="1333" b="1" spc="-27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name</a:t>
            </a:r>
            <a:r>
              <a:rPr sz="1333" b="1" spc="-27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of</a:t>
            </a:r>
            <a:r>
              <a:rPr sz="1333" b="1" spc="-27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the</a:t>
            </a:r>
            <a:r>
              <a:rPr sz="1333" b="1" spc="-27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thread</a:t>
            </a:r>
            <a:r>
              <a:rPr sz="1333" b="1" spc="-27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by</a:t>
            </a:r>
            <a:r>
              <a:rPr sz="1333" b="1" spc="-33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using</a:t>
            </a:r>
            <a:r>
              <a:rPr sz="1333" b="1" spc="-27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setName()</a:t>
            </a:r>
            <a:r>
              <a:rPr sz="1333" b="1" spc="-27" dirty="0">
                <a:latin typeface="Verdana"/>
                <a:cs typeface="Verdana"/>
              </a:rPr>
              <a:t> </a:t>
            </a:r>
            <a:r>
              <a:rPr sz="1333" b="1" spc="-13" dirty="0">
                <a:latin typeface="Verdana"/>
                <a:cs typeface="Verdana"/>
              </a:rPr>
              <a:t>method.</a:t>
            </a:r>
            <a:endParaRPr sz="1333">
              <a:latin typeface="Verdana"/>
              <a:cs typeface="Verdana"/>
            </a:endParaRPr>
          </a:p>
          <a:p>
            <a:pPr marL="423323" indent="-406390">
              <a:spcBef>
                <a:spcPts val="200"/>
              </a:spcBef>
              <a:buFont typeface="Arial"/>
              <a:buChar char="●"/>
              <a:tabLst>
                <a:tab pos="423323" algn="l"/>
              </a:tabLst>
            </a:pPr>
            <a:r>
              <a:rPr sz="1333" b="1" dirty="0">
                <a:latin typeface="Verdana"/>
                <a:cs typeface="Verdana"/>
              </a:rPr>
              <a:t>The</a:t>
            </a:r>
            <a:r>
              <a:rPr sz="1333" b="1" spc="-40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syntax</a:t>
            </a:r>
            <a:r>
              <a:rPr sz="1333" b="1" spc="-40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of</a:t>
            </a:r>
            <a:r>
              <a:rPr sz="1333" b="1" spc="-40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setName()</a:t>
            </a:r>
            <a:r>
              <a:rPr sz="1333" b="1" spc="-40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and</a:t>
            </a:r>
            <a:r>
              <a:rPr sz="1333" b="1" spc="-40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getName()</a:t>
            </a:r>
            <a:r>
              <a:rPr sz="1333" b="1" spc="-40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methods</a:t>
            </a:r>
            <a:r>
              <a:rPr sz="1333" b="1" spc="-40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are</a:t>
            </a:r>
            <a:r>
              <a:rPr sz="1333" b="1" spc="-40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given</a:t>
            </a:r>
            <a:r>
              <a:rPr sz="1333" b="1" spc="-40" dirty="0">
                <a:latin typeface="Verdana"/>
                <a:cs typeface="Verdana"/>
              </a:rPr>
              <a:t> </a:t>
            </a:r>
            <a:r>
              <a:rPr sz="1333" b="1" spc="-13" dirty="0">
                <a:latin typeface="Verdana"/>
                <a:cs typeface="Verdana"/>
              </a:rPr>
              <a:t>below:</a:t>
            </a:r>
            <a:endParaRPr sz="1333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48581" y="4143428"/>
            <a:ext cx="7796107" cy="658171"/>
          </a:xfrm>
          <a:prstGeom prst="rect">
            <a:avLst/>
          </a:prstGeom>
        </p:spPr>
        <p:txBody>
          <a:bodyPr vert="horz" wrap="square" lIns="0" tIns="131233" rIns="0" bIns="0" rtlCol="0">
            <a:spAutoFit/>
          </a:bodyPr>
          <a:lstStyle/>
          <a:p>
            <a:pPr marL="490208" indent="-473275">
              <a:spcBef>
                <a:spcPts val="1033"/>
              </a:spcBef>
              <a:buFont typeface="Verdana"/>
              <a:buAutoNum type="arabicPeriod"/>
              <a:tabLst>
                <a:tab pos="490208" algn="l"/>
                <a:tab pos="3961454" algn="l"/>
              </a:tabLst>
            </a:pPr>
            <a:r>
              <a:rPr sz="1333" b="1" dirty="0">
                <a:latin typeface="Verdana"/>
                <a:cs typeface="Verdana"/>
              </a:rPr>
              <a:t>public</a:t>
            </a:r>
            <a:r>
              <a:rPr sz="1333" b="1" spc="-40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String</a:t>
            </a:r>
            <a:r>
              <a:rPr sz="1333" b="1" spc="-40" dirty="0">
                <a:latin typeface="Verdana"/>
                <a:cs typeface="Verdana"/>
              </a:rPr>
              <a:t> </a:t>
            </a:r>
            <a:r>
              <a:rPr sz="1333" b="1" spc="-13" dirty="0">
                <a:latin typeface="Verdana"/>
                <a:cs typeface="Verdana"/>
              </a:rPr>
              <a:t>getName():</a:t>
            </a:r>
            <a:r>
              <a:rPr sz="1333" b="1" dirty="0">
                <a:latin typeface="Verdana"/>
                <a:cs typeface="Verdana"/>
              </a:rPr>
              <a:t>	is</a:t>
            </a:r>
            <a:r>
              <a:rPr sz="1333" b="1" spc="-27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used</a:t>
            </a:r>
            <a:r>
              <a:rPr sz="1333" b="1" spc="-20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to</a:t>
            </a:r>
            <a:r>
              <a:rPr sz="1333" b="1" spc="-20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return</a:t>
            </a:r>
            <a:r>
              <a:rPr sz="1333" b="1" spc="-20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the</a:t>
            </a:r>
            <a:r>
              <a:rPr sz="1333" b="1" spc="-20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name</a:t>
            </a:r>
            <a:r>
              <a:rPr sz="1333" b="1" spc="-20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of</a:t>
            </a:r>
            <a:r>
              <a:rPr sz="1333" b="1" spc="-20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a</a:t>
            </a:r>
            <a:r>
              <a:rPr sz="1333" b="1" spc="-20" dirty="0">
                <a:latin typeface="Verdana"/>
                <a:cs typeface="Verdana"/>
              </a:rPr>
              <a:t> </a:t>
            </a:r>
            <a:r>
              <a:rPr sz="1333" b="1" spc="-13" dirty="0">
                <a:latin typeface="Verdana"/>
                <a:cs typeface="Verdana"/>
              </a:rPr>
              <a:t>thread.</a:t>
            </a:r>
            <a:endParaRPr sz="1333">
              <a:latin typeface="Verdana"/>
              <a:cs typeface="Verdana"/>
            </a:endParaRPr>
          </a:p>
          <a:p>
            <a:pPr marL="490208" indent="-473275">
              <a:spcBef>
                <a:spcPts val="900"/>
              </a:spcBef>
              <a:buFont typeface="Verdana"/>
              <a:buAutoNum type="arabicPeriod"/>
              <a:tabLst>
                <a:tab pos="490208" algn="l"/>
                <a:tab pos="4004633" algn="l"/>
              </a:tabLst>
            </a:pPr>
            <a:r>
              <a:rPr sz="1333" b="1" dirty="0">
                <a:latin typeface="Verdana"/>
                <a:cs typeface="Verdana"/>
              </a:rPr>
              <a:t>public</a:t>
            </a:r>
            <a:r>
              <a:rPr sz="1333" b="1" spc="-53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void</a:t>
            </a:r>
            <a:r>
              <a:rPr sz="1333" b="1" spc="-53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setName(String</a:t>
            </a:r>
            <a:r>
              <a:rPr sz="1333" b="1" spc="-53" dirty="0">
                <a:latin typeface="Verdana"/>
                <a:cs typeface="Verdana"/>
              </a:rPr>
              <a:t> </a:t>
            </a:r>
            <a:r>
              <a:rPr sz="1333" b="1" spc="-13" dirty="0">
                <a:latin typeface="Verdana"/>
                <a:cs typeface="Verdana"/>
              </a:rPr>
              <a:t>name):</a:t>
            </a:r>
            <a:r>
              <a:rPr sz="1333" b="1" dirty="0">
                <a:latin typeface="Verdana"/>
                <a:cs typeface="Verdana"/>
              </a:rPr>
              <a:t>	is</a:t>
            </a:r>
            <a:r>
              <a:rPr sz="1333" b="1" spc="-27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used</a:t>
            </a:r>
            <a:r>
              <a:rPr sz="1333" b="1" spc="-20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to</a:t>
            </a:r>
            <a:r>
              <a:rPr sz="1333" b="1" spc="-20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change</a:t>
            </a:r>
            <a:r>
              <a:rPr sz="1333" b="1" spc="-20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the</a:t>
            </a:r>
            <a:r>
              <a:rPr sz="1333" b="1" spc="-20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name</a:t>
            </a:r>
            <a:r>
              <a:rPr sz="1333" b="1" spc="-20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of</a:t>
            </a:r>
            <a:r>
              <a:rPr sz="1333" b="1" spc="-20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a</a:t>
            </a:r>
            <a:r>
              <a:rPr sz="1333" b="1" spc="-20" dirty="0">
                <a:latin typeface="Verdana"/>
                <a:cs typeface="Verdana"/>
              </a:rPr>
              <a:t> </a:t>
            </a:r>
            <a:r>
              <a:rPr sz="1333" b="1" spc="-13" dirty="0">
                <a:latin typeface="Verdana"/>
                <a:cs typeface="Verdana"/>
              </a:rPr>
              <a:t>thread.</a:t>
            </a:r>
            <a:endParaRPr sz="1333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12967" y="360625"/>
            <a:ext cx="6373707" cy="579509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333" b="1" dirty="0">
                <a:solidFill>
                  <a:srgbClr val="006699"/>
                </a:solidFill>
                <a:latin typeface="Verdana"/>
                <a:cs typeface="Verdana"/>
              </a:rPr>
              <a:t>class</a:t>
            </a:r>
            <a:r>
              <a:rPr sz="1333" b="1" spc="-67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TestMultiNaming1</a:t>
            </a:r>
            <a:r>
              <a:rPr sz="1333" b="1" spc="-40" dirty="0">
                <a:latin typeface="Verdana"/>
                <a:cs typeface="Verdana"/>
              </a:rPr>
              <a:t> </a:t>
            </a:r>
            <a:r>
              <a:rPr sz="1333" b="1" dirty="0">
                <a:solidFill>
                  <a:srgbClr val="006699"/>
                </a:solidFill>
                <a:latin typeface="Verdana"/>
                <a:cs typeface="Verdana"/>
              </a:rPr>
              <a:t>extends</a:t>
            </a:r>
            <a:r>
              <a:rPr sz="1333" b="1" spc="-6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333" b="1" spc="-13" dirty="0">
                <a:latin typeface="Verdana"/>
                <a:cs typeface="Verdana"/>
              </a:rPr>
              <a:t>Thread{</a:t>
            </a:r>
            <a:endParaRPr sz="1333">
              <a:latin typeface="Verdana"/>
              <a:cs typeface="Verdana"/>
            </a:endParaRPr>
          </a:p>
          <a:p>
            <a:pPr marL="132077">
              <a:spcBef>
                <a:spcPts val="1300"/>
              </a:spcBef>
            </a:pPr>
            <a:r>
              <a:rPr sz="1333" b="1" dirty="0">
                <a:solidFill>
                  <a:srgbClr val="006699"/>
                </a:solidFill>
                <a:latin typeface="Verdana"/>
                <a:cs typeface="Verdana"/>
              </a:rPr>
              <a:t>public</a:t>
            </a:r>
            <a:r>
              <a:rPr sz="1333" b="1" spc="-33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333" b="1" dirty="0">
                <a:solidFill>
                  <a:srgbClr val="006699"/>
                </a:solidFill>
                <a:latin typeface="Verdana"/>
                <a:cs typeface="Verdana"/>
              </a:rPr>
              <a:t>void</a:t>
            </a:r>
            <a:r>
              <a:rPr sz="1333" b="1" spc="-27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333" b="1" spc="-13" dirty="0">
                <a:latin typeface="Verdana"/>
                <a:cs typeface="Verdana"/>
              </a:rPr>
              <a:t>run()</a:t>
            </a:r>
            <a:endParaRPr sz="1333">
              <a:latin typeface="Verdana"/>
              <a:cs typeface="Verdana"/>
            </a:endParaRPr>
          </a:p>
          <a:p>
            <a:pPr marL="132077">
              <a:spcBef>
                <a:spcPts val="1300"/>
              </a:spcBef>
            </a:pPr>
            <a:r>
              <a:rPr sz="1333" b="1" spc="-67" dirty="0">
                <a:latin typeface="Verdana"/>
                <a:cs typeface="Verdana"/>
              </a:rPr>
              <a:t>{</a:t>
            </a:r>
            <a:endParaRPr sz="1333">
              <a:latin typeface="Verdana"/>
              <a:cs typeface="Verdana"/>
            </a:endParaRPr>
          </a:p>
          <a:p>
            <a:pPr marL="189649">
              <a:spcBef>
                <a:spcPts val="1300"/>
              </a:spcBef>
            </a:pPr>
            <a:r>
              <a:rPr sz="1333" b="1" spc="-13" dirty="0">
                <a:latin typeface="Verdana"/>
                <a:cs typeface="Verdana"/>
              </a:rPr>
              <a:t>System.out.println(</a:t>
            </a:r>
            <a:r>
              <a:rPr sz="1333" b="1" spc="-13" dirty="0">
                <a:solidFill>
                  <a:srgbClr val="0000FF"/>
                </a:solidFill>
                <a:latin typeface="Verdana"/>
                <a:cs typeface="Verdana"/>
              </a:rPr>
              <a:t>"running..."</a:t>
            </a:r>
            <a:r>
              <a:rPr sz="1333" b="1" spc="-13" dirty="0">
                <a:latin typeface="Verdana"/>
                <a:cs typeface="Verdana"/>
              </a:rPr>
              <a:t>);</a:t>
            </a:r>
            <a:endParaRPr sz="1333">
              <a:latin typeface="Verdana"/>
              <a:cs typeface="Verdana"/>
            </a:endParaRPr>
          </a:p>
          <a:p>
            <a:pPr marL="132077">
              <a:spcBef>
                <a:spcPts val="1300"/>
              </a:spcBef>
            </a:pPr>
            <a:r>
              <a:rPr sz="1333" b="1" spc="-67" dirty="0">
                <a:latin typeface="Verdana"/>
                <a:cs typeface="Verdana"/>
              </a:rPr>
              <a:t>}</a:t>
            </a:r>
            <a:endParaRPr sz="1333">
              <a:latin typeface="Verdana"/>
              <a:cs typeface="Verdana"/>
            </a:endParaRPr>
          </a:p>
          <a:p>
            <a:pPr marL="132077" marR="1445224" indent="-58419">
              <a:lnSpc>
                <a:spcPct val="181300"/>
              </a:lnSpc>
            </a:pPr>
            <a:r>
              <a:rPr sz="1333" b="1" dirty="0">
                <a:solidFill>
                  <a:srgbClr val="006699"/>
                </a:solidFill>
                <a:latin typeface="Verdana"/>
                <a:cs typeface="Verdana"/>
              </a:rPr>
              <a:t>public</a:t>
            </a:r>
            <a:r>
              <a:rPr sz="1333" b="1" spc="-4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333" b="1" dirty="0">
                <a:solidFill>
                  <a:srgbClr val="006699"/>
                </a:solidFill>
                <a:latin typeface="Verdana"/>
                <a:cs typeface="Verdana"/>
              </a:rPr>
              <a:t>static</a:t>
            </a:r>
            <a:r>
              <a:rPr sz="1333" b="1" spc="-4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333" b="1" dirty="0">
                <a:solidFill>
                  <a:srgbClr val="006699"/>
                </a:solidFill>
                <a:latin typeface="Verdana"/>
                <a:cs typeface="Verdana"/>
              </a:rPr>
              <a:t>void</a:t>
            </a:r>
            <a:r>
              <a:rPr sz="1333" b="1" spc="-47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main(String</a:t>
            </a:r>
            <a:r>
              <a:rPr sz="1333" b="1" spc="-40" dirty="0">
                <a:latin typeface="Verdana"/>
                <a:cs typeface="Verdana"/>
              </a:rPr>
              <a:t> </a:t>
            </a:r>
            <a:r>
              <a:rPr sz="1333" b="1" spc="-13" dirty="0">
                <a:latin typeface="Verdana"/>
                <a:cs typeface="Verdana"/>
              </a:rPr>
              <a:t>args[]){ </a:t>
            </a:r>
            <a:r>
              <a:rPr sz="1333" b="1" dirty="0">
                <a:latin typeface="Verdana"/>
                <a:cs typeface="Verdana"/>
              </a:rPr>
              <a:t>TestMultiNaming1</a:t>
            </a:r>
            <a:r>
              <a:rPr sz="1333" b="1" spc="-67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t1=</a:t>
            </a:r>
            <a:r>
              <a:rPr sz="1333" b="1" dirty="0">
                <a:solidFill>
                  <a:srgbClr val="006699"/>
                </a:solidFill>
                <a:latin typeface="Verdana"/>
                <a:cs typeface="Verdana"/>
              </a:rPr>
              <a:t>new</a:t>
            </a:r>
            <a:r>
              <a:rPr sz="1333" b="1" spc="-6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333" b="1" spc="-13" dirty="0">
                <a:latin typeface="Verdana"/>
                <a:cs typeface="Verdana"/>
              </a:rPr>
              <a:t>TestMultiNaming1(); </a:t>
            </a:r>
            <a:r>
              <a:rPr sz="1333" b="1" dirty="0">
                <a:latin typeface="Verdana"/>
                <a:cs typeface="Verdana"/>
              </a:rPr>
              <a:t>TestMultiNaming1</a:t>
            </a:r>
            <a:r>
              <a:rPr sz="1333" b="1" spc="-67" dirty="0">
                <a:latin typeface="Verdana"/>
                <a:cs typeface="Verdana"/>
              </a:rPr>
              <a:t> </a:t>
            </a:r>
            <a:r>
              <a:rPr sz="1333" b="1" dirty="0">
                <a:latin typeface="Verdana"/>
                <a:cs typeface="Verdana"/>
              </a:rPr>
              <a:t>t2=</a:t>
            </a:r>
            <a:r>
              <a:rPr sz="1333" b="1" dirty="0">
                <a:solidFill>
                  <a:srgbClr val="006699"/>
                </a:solidFill>
                <a:latin typeface="Verdana"/>
                <a:cs typeface="Verdana"/>
              </a:rPr>
              <a:t>new</a:t>
            </a:r>
            <a:r>
              <a:rPr sz="1333" b="1" spc="-6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333" b="1" spc="-13" dirty="0">
                <a:latin typeface="Verdana"/>
                <a:cs typeface="Verdana"/>
              </a:rPr>
              <a:t>TestMultiNaming1(); System.out.println(</a:t>
            </a:r>
            <a:r>
              <a:rPr sz="1333" b="1" spc="-13" dirty="0">
                <a:solidFill>
                  <a:srgbClr val="0000FF"/>
                </a:solidFill>
                <a:latin typeface="Verdana"/>
                <a:cs typeface="Verdana"/>
              </a:rPr>
              <a:t>"Name</a:t>
            </a:r>
            <a:r>
              <a:rPr sz="1333" b="1" spc="47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333" b="1" dirty="0">
                <a:solidFill>
                  <a:srgbClr val="0000FF"/>
                </a:solidFill>
                <a:latin typeface="Verdana"/>
                <a:cs typeface="Verdana"/>
              </a:rPr>
              <a:t>of</a:t>
            </a:r>
            <a:r>
              <a:rPr sz="1333" b="1" spc="47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333" b="1" spc="-13" dirty="0">
                <a:solidFill>
                  <a:srgbClr val="0000FF"/>
                </a:solidFill>
                <a:latin typeface="Verdana"/>
                <a:cs typeface="Verdana"/>
              </a:rPr>
              <a:t>t1:"</a:t>
            </a:r>
            <a:r>
              <a:rPr sz="1333" b="1" spc="-13" dirty="0">
                <a:latin typeface="Verdana"/>
                <a:cs typeface="Verdana"/>
              </a:rPr>
              <a:t>+t1.getName()); System.out.println(</a:t>
            </a:r>
            <a:r>
              <a:rPr sz="1333" b="1" spc="-13" dirty="0">
                <a:solidFill>
                  <a:srgbClr val="0000FF"/>
                </a:solidFill>
                <a:latin typeface="Verdana"/>
                <a:cs typeface="Verdana"/>
              </a:rPr>
              <a:t>"Name</a:t>
            </a:r>
            <a:r>
              <a:rPr sz="1333" b="1" spc="47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333" b="1" dirty="0">
                <a:solidFill>
                  <a:srgbClr val="0000FF"/>
                </a:solidFill>
                <a:latin typeface="Verdana"/>
                <a:cs typeface="Verdana"/>
              </a:rPr>
              <a:t>of</a:t>
            </a:r>
            <a:r>
              <a:rPr sz="1333" b="1" spc="47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333" b="1" spc="-13" dirty="0">
                <a:solidFill>
                  <a:srgbClr val="0000FF"/>
                </a:solidFill>
                <a:latin typeface="Verdana"/>
                <a:cs typeface="Verdana"/>
              </a:rPr>
              <a:t>t2:"</a:t>
            </a:r>
            <a:r>
              <a:rPr sz="1333" b="1" spc="-13" dirty="0">
                <a:latin typeface="Verdana"/>
                <a:cs typeface="Verdana"/>
              </a:rPr>
              <a:t>+t2.getName()); t1.start();</a:t>
            </a:r>
            <a:endParaRPr sz="1333">
              <a:latin typeface="Verdana"/>
              <a:cs typeface="Verdana"/>
            </a:endParaRPr>
          </a:p>
          <a:p>
            <a:pPr marL="132077" marR="3333243">
              <a:lnSpc>
                <a:spcPct val="181300"/>
              </a:lnSpc>
            </a:pPr>
            <a:r>
              <a:rPr sz="1333" b="1" spc="-13" dirty="0">
                <a:latin typeface="Verdana"/>
                <a:cs typeface="Verdana"/>
              </a:rPr>
              <a:t>t2.start();</a:t>
            </a:r>
            <a:r>
              <a:rPr sz="1333" b="1" spc="667" dirty="0">
                <a:latin typeface="Verdana"/>
                <a:cs typeface="Verdana"/>
              </a:rPr>
              <a:t>  </a:t>
            </a:r>
            <a:r>
              <a:rPr sz="1333" b="1" spc="-13" dirty="0">
                <a:latin typeface="Verdana"/>
                <a:cs typeface="Verdana"/>
              </a:rPr>
              <a:t>t1.setName(</a:t>
            </a:r>
            <a:r>
              <a:rPr sz="1333" b="1" spc="-13" dirty="0">
                <a:solidFill>
                  <a:srgbClr val="0000FF"/>
                </a:solidFill>
                <a:latin typeface="Verdana"/>
                <a:cs typeface="Verdana"/>
              </a:rPr>
              <a:t>"Sonoo</a:t>
            </a:r>
            <a:r>
              <a:rPr sz="1333" b="1" spc="60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333" b="1" spc="-13" dirty="0">
                <a:solidFill>
                  <a:srgbClr val="0000FF"/>
                </a:solidFill>
                <a:latin typeface="Verdana"/>
                <a:cs typeface="Verdana"/>
              </a:rPr>
              <a:t>Jaiswal"</a:t>
            </a:r>
            <a:r>
              <a:rPr sz="1333" b="1" spc="-13" dirty="0">
                <a:latin typeface="Verdana"/>
                <a:cs typeface="Verdana"/>
              </a:rPr>
              <a:t>);</a:t>
            </a:r>
            <a:endParaRPr sz="1333">
              <a:latin typeface="Verdana"/>
              <a:cs typeface="Verdana"/>
            </a:endParaRPr>
          </a:p>
          <a:p>
            <a:pPr marL="132077">
              <a:spcBef>
                <a:spcPts val="1292"/>
              </a:spcBef>
            </a:pPr>
            <a:r>
              <a:rPr sz="1333" b="1" spc="-13" dirty="0">
                <a:latin typeface="Verdana"/>
                <a:cs typeface="Verdana"/>
              </a:rPr>
              <a:t>System.out.println(</a:t>
            </a:r>
            <a:r>
              <a:rPr sz="1333" b="1" spc="-13" dirty="0">
                <a:solidFill>
                  <a:srgbClr val="0000FF"/>
                </a:solidFill>
                <a:latin typeface="Verdana"/>
                <a:cs typeface="Verdana"/>
              </a:rPr>
              <a:t>"After</a:t>
            </a:r>
            <a:r>
              <a:rPr sz="1333" b="1" spc="13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333" b="1" dirty="0">
                <a:solidFill>
                  <a:srgbClr val="0000FF"/>
                </a:solidFill>
                <a:latin typeface="Verdana"/>
                <a:cs typeface="Verdana"/>
              </a:rPr>
              <a:t>changing</a:t>
            </a:r>
            <a:r>
              <a:rPr sz="1333" b="1" spc="20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333" b="1" dirty="0">
                <a:solidFill>
                  <a:srgbClr val="0000FF"/>
                </a:solidFill>
                <a:latin typeface="Verdana"/>
                <a:cs typeface="Verdana"/>
              </a:rPr>
              <a:t>name</a:t>
            </a:r>
            <a:r>
              <a:rPr sz="1333" b="1" spc="20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333" b="1" dirty="0">
                <a:solidFill>
                  <a:srgbClr val="0000FF"/>
                </a:solidFill>
                <a:latin typeface="Verdana"/>
                <a:cs typeface="Verdana"/>
              </a:rPr>
              <a:t>of</a:t>
            </a:r>
            <a:r>
              <a:rPr sz="1333" b="1" spc="13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333" b="1" spc="-13" dirty="0">
                <a:solidFill>
                  <a:srgbClr val="0000FF"/>
                </a:solidFill>
                <a:latin typeface="Verdana"/>
                <a:cs typeface="Verdana"/>
              </a:rPr>
              <a:t>t1:"</a:t>
            </a:r>
            <a:r>
              <a:rPr sz="1333" b="1" spc="-13" dirty="0">
                <a:latin typeface="Verdana"/>
                <a:cs typeface="Verdana"/>
              </a:rPr>
              <a:t>+t1.getName());</a:t>
            </a:r>
            <a:endParaRPr sz="1333">
              <a:latin typeface="Verdana"/>
              <a:cs typeface="Verdana"/>
            </a:endParaRPr>
          </a:p>
          <a:p>
            <a:pPr marL="74505">
              <a:spcBef>
                <a:spcPts val="1300"/>
              </a:spcBef>
            </a:pPr>
            <a:r>
              <a:rPr sz="1333" b="1" spc="-67" dirty="0">
                <a:latin typeface="Verdana"/>
                <a:cs typeface="Verdana"/>
              </a:rPr>
              <a:t>}</a:t>
            </a:r>
            <a:endParaRPr sz="1333">
              <a:latin typeface="Verdana"/>
              <a:cs typeface="Verdana"/>
            </a:endParaRPr>
          </a:p>
          <a:p>
            <a:pPr marL="16933">
              <a:spcBef>
                <a:spcPts val="1300"/>
              </a:spcBef>
            </a:pPr>
            <a:r>
              <a:rPr sz="1333" b="1" spc="-67" dirty="0">
                <a:latin typeface="Verdana"/>
                <a:cs typeface="Verdana"/>
              </a:rPr>
              <a:t>}</a:t>
            </a:r>
            <a:endParaRPr sz="1333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2967" y="1732352"/>
            <a:ext cx="1073573" cy="365976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sz="2267" b="1" spc="-13" dirty="0">
                <a:solidFill>
                  <a:srgbClr val="000000"/>
                </a:solidFill>
                <a:latin typeface="Arial"/>
                <a:cs typeface="Arial"/>
              </a:rPr>
              <a:t>Output:</a:t>
            </a:r>
            <a:endParaRPr sz="2267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35039" y="2403527"/>
            <a:ext cx="3492500" cy="270995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22859">
              <a:spcBef>
                <a:spcPts val="133"/>
              </a:spcBef>
            </a:pPr>
            <a:r>
              <a:rPr sz="1333" b="1" dirty="0">
                <a:latin typeface="Arial"/>
                <a:cs typeface="Arial"/>
              </a:rPr>
              <a:t>Name</a:t>
            </a:r>
            <a:r>
              <a:rPr sz="1333" b="1" spc="7" dirty="0">
                <a:latin typeface="Arial"/>
                <a:cs typeface="Arial"/>
              </a:rPr>
              <a:t> </a:t>
            </a:r>
            <a:r>
              <a:rPr sz="1333" b="1" dirty="0">
                <a:latin typeface="Arial"/>
                <a:cs typeface="Arial"/>
              </a:rPr>
              <a:t>of</a:t>
            </a:r>
            <a:r>
              <a:rPr sz="1333" b="1" spc="13" dirty="0">
                <a:latin typeface="Arial"/>
                <a:cs typeface="Arial"/>
              </a:rPr>
              <a:t> </a:t>
            </a:r>
            <a:r>
              <a:rPr sz="1333" b="1" spc="-13" dirty="0">
                <a:latin typeface="Arial"/>
                <a:cs typeface="Arial"/>
              </a:rPr>
              <a:t>t1:Thread-</a:t>
            </a:r>
            <a:r>
              <a:rPr sz="1333" b="1" spc="-67" dirty="0">
                <a:latin typeface="Arial"/>
                <a:cs typeface="Arial"/>
              </a:rPr>
              <a:t>0</a:t>
            </a:r>
            <a:endParaRPr sz="1333">
              <a:latin typeface="Arial"/>
              <a:cs typeface="Arial"/>
            </a:endParaRPr>
          </a:p>
          <a:p>
            <a:pPr marL="22859" marR="1821134">
              <a:lnSpc>
                <a:spcPct val="250000"/>
              </a:lnSpc>
            </a:pPr>
            <a:r>
              <a:rPr sz="1333" b="1" dirty="0">
                <a:latin typeface="Arial"/>
                <a:cs typeface="Arial"/>
              </a:rPr>
              <a:t>Name</a:t>
            </a:r>
            <a:r>
              <a:rPr sz="1333" b="1" spc="7" dirty="0">
                <a:latin typeface="Arial"/>
                <a:cs typeface="Arial"/>
              </a:rPr>
              <a:t> </a:t>
            </a:r>
            <a:r>
              <a:rPr sz="1333" b="1" dirty="0">
                <a:latin typeface="Arial"/>
                <a:cs typeface="Arial"/>
              </a:rPr>
              <a:t>of</a:t>
            </a:r>
            <a:r>
              <a:rPr sz="1333" b="1" spc="13" dirty="0">
                <a:latin typeface="Arial"/>
                <a:cs typeface="Arial"/>
              </a:rPr>
              <a:t> </a:t>
            </a:r>
            <a:r>
              <a:rPr sz="1333" b="1" spc="-13" dirty="0">
                <a:latin typeface="Arial"/>
                <a:cs typeface="Arial"/>
              </a:rPr>
              <a:t>t2:Thread-</a:t>
            </a:r>
            <a:r>
              <a:rPr sz="1333" b="1" spc="-67" dirty="0">
                <a:latin typeface="Arial"/>
                <a:cs typeface="Arial"/>
              </a:rPr>
              <a:t>1 </a:t>
            </a:r>
            <a:r>
              <a:rPr sz="1333" b="1" dirty="0">
                <a:latin typeface="Arial"/>
                <a:cs typeface="Arial"/>
              </a:rPr>
              <a:t>id</a:t>
            </a:r>
            <a:r>
              <a:rPr sz="1333" b="1" spc="-20" dirty="0">
                <a:latin typeface="Arial"/>
                <a:cs typeface="Arial"/>
              </a:rPr>
              <a:t> </a:t>
            </a:r>
            <a:r>
              <a:rPr sz="1333" b="1" dirty="0">
                <a:latin typeface="Arial"/>
                <a:cs typeface="Arial"/>
              </a:rPr>
              <a:t>of</a:t>
            </a:r>
            <a:r>
              <a:rPr sz="1333" b="1" spc="-13" dirty="0">
                <a:latin typeface="Arial"/>
                <a:cs typeface="Arial"/>
              </a:rPr>
              <a:t> </a:t>
            </a:r>
            <a:r>
              <a:rPr sz="1333" b="1" spc="-27" dirty="0">
                <a:latin typeface="Arial"/>
                <a:cs typeface="Arial"/>
              </a:rPr>
              <a:t>t1:8</a:t>
            </a:r>
            <a:endParaRPr sz="1333">
              <a:latin typeface="Arial"/>
              <a:cs typeface="Arial"/>
            </a:endParaRPr>
          </a:p>
          <a:p>
            <a:pPr>
              <a:spcBef>
                <a:spcPts val="867"/>
              </a:spcBef>
            </a:pPr>
            <a:endParaRPr sz="1333">
              <a:latin typeface="Arial"/>
              <a:cs typeface="Arial"/>
            </a:endParaRPr>
          </a:p>
          <a:p>
            <a:pPr marL="22859"/>
            <a:r>
              <a:rPr sz="1333" b="1" spc="-13" dirty="0">
                <a:latin typeface="Arial"/>
                <a:cs typeface="Arial"/>
              </a:rPr>
              <a:t>running...</a:t>
            </a:r>
            <a:endParaRPr sz="1333">
              <a:latin typeface="Arial"/>
              <a:cs typeface="Arial"/>
            </a:endParaRPr>
          </a:p>
          <a:p>
            <a:pPr marL="22859" marR="6773" indent="-6773">
              <a:lnSpc>
                <a:spcPct val="250000"/>
              </a:lnSpc>
            </a:pPr>
            <a:r>
              <a:rPr sz="1333" b="1" dirty="0">
                <a:latin typeface="Arial"/>
                <a:cs typeface="Arial"/>
              </a:rPr>
              <a:t>After</a:t>
            </a:r>
            <a:r>
              <a:rPr sz="1333" b="1" spc="-40" dirty="0">
                <a:latin typeface="Arial"/>
                <a:cs typeface="Arial"/>
              </a:rPr>
              <a:t> </a:t>
            </a:r>
            <a:r>
              <a:rPr sz="1333" b="1" dirty="0">
                <a:latin typeface="Arial"/>
                <a:cs typeface="Arial"/>
              </a:rPr>
              <a:t>changeling</a:t>
            </a:r>
            <a:r>
              <a:rPr sz="1333" b="1" spc="-33" dirty="0">
                <a:latin typeface="Arial"/>
                <a:cs typeface="Arial"/>
              </a:rPr>
              <a:t> </a:t>
            </a:r>
            <a:r>
              <a:rPr sz="1333" b="1" dirty="0">
                <a:latin typeface="Arial"/>
                <a:cs typeface="Arial"/>
              </a:rPr>
              <a:t>name</a:t>
            </a:r>
            <a:r>
              <a:rPr sz="1333" b="1" spc="-40" dirty="0">
                <a:latin typeface="Arial"/>
                <a:cs typeface="Arial"/>
              </a:rPr>
              <a:t> </a:t>
            </a:r>
            <a:r>
              <a:rPr sz="1333" b="1" dirty="0">
                <a:latin typeface="Arial"/>
                <a:cs typeface="Arial"/>
              </a:rPr>
              <a:t>of</a:t>
            </a:r>
            <a:r>
              <a:rPr sz="1333" b="1" spc="-33" dirty="0">
                <a:latin typeface="Arial"/>
                <a:cs typeface="Arial"/>
              </a:rPr>
              <a:t> </a:t>
            </a:r>
            <a:r>
              <a:rPr sz="1333" b="1" spc="-13" dirty="0">
                <a:latin typeface="Arial"/>
                <a:cs typeface="Arial"/>
              </a:rPr>
              <a:t>t1:Sonoo</a:t>
            </a:r>
            <a:r>
              <a:rPr sz="1333" b="1" spc="-40" dirty="0">
                <a:latin typeface="Arial"/>
                <a:cs typeface="Arial"/>
              </a:rPr>
              <a:t> </a:t>
            </a:r>
            <a:r>
              <a:rPr sz="1333" b="1" spc="-13" dirty="0">
                <a:latin typeface="Arial"/>
                <a:cs typeface="Arial"/>
              </a:rPr>
              <a:t>Jaiswal running...</a:t>
            </a:r>
            <a:endParaRPr sz="1333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5528" y="641575"/>
            <a:ext cx="9503127" cy="866453"/>
          </a:xfrm>
          <a:prstGeom prst="rect">
            <a:avLst/>
          </a:prstGeom>
        </p:spPr>
        <p:txBody>
          <a:bodyPr vert="horz" wrap="square" lIns="0" tIns="18751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dirty="0"/>
              <a:t>Priority</a:t>
            </a:r>
            <a:r>
              <a:rPr spc="-93" dirty="0"/>
              <a:t> </a:t>
            </a:r>
            <a:r>
              <a:rPr dirty="0"/>
              <a:t>of</a:t>
            </a:r>
            <a:r>
              <a:rPr spc="-87" dirty="0"/>
              <a:t> </a:t>
            </a:r>
            <a:r>
              <a:rPr dirty="0"/>
              <a:t>a</a:t>
            </a:r>
            <a:r>
              <a:rPr spc="-140" dirty="0"/>
              <a:t> </a:t>
            </a:r>
            <a:r>
              <a:rPr dirty="0"/>
              <a:t>Thread</a:t>
            </a:r>
            <a:r>
              <a:rPr spc="-87" dirty="0"/>
              <a:t> </a:t>
            </a:r>
            <a:r>
              <a:rPr dirty="0"/>
              <a:t>(Thread</a:t>
            </a:r>
            <a:r>
              <a:rPr spc="-93" dirty="0"/>
              <a:t> </a:t>
            </a:r>
            <a:r>
              <a:rPr spc="-13" dirty="0"/>
              <a:t>Priority):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15529" y="1628827"/>
            <a:ext cx="10394527" cy="1247948"/>
          </a:xfrm>
          <a:prstGeom prst="rect">
            <a:avLst/>
          </a:prstGeom>
        </p:spPr>
        <p:txBody>
          <a:bodyPr vert="horz" wrap="square" lIns="0" tIns="118533" rIns="0" bIns="0" rtlCol="0">
            <a:spAutoFit/>
          </a:bodyPr>
          <a:lstStyle/>
          <a:p>
            <a:pPr marL="423323" indent="-406390">
              <a:spcBef>
                <a:spcPts val="933"/>
              </a:spcBef>
              <a:buFont typeface="Arial MT"/>
              <a:buChar char="●"/>
              <a:tabLst>
                <a:tab pos="423323" algn="l"/>
              </a:tabLst>
            </a:pPr>
            <a:r>
              <a:rPr sz="1333" dirty="0">
                <a:latin typeface="Verdana"/>
                <a:cs typeface="Verdana"/>
              </a:rPr>
              <a:t>Each</a:t>
            </a:r>
            <a:r>
              <a:rPr sz="1333" spc="-47" dirty="0">
                <a:latin typeface="Verdana"/>
                <a:cs typeface="Verdana"/>
              </a:rPr>
              <a:t> </a:t>
            </a:r>
            <a:r>
              <a:rPr sz="1333" dirty="0">
                <a:latin typeface="Verdana"/>
                <a:cs typeface="Verdana"/>
              </a:rPr>
              <a:t>thread</a:t>
            </a:r>
            <a:r>
              <a:rPr sz="1333" spc="-47" dirty="0">
                <a:latin typeface="Verdana"/>
                <a:cs typeface="Verdana"/>
              </a:rPr>
              <a:t> </a:t>
            </a:r>
            <a:r>
              <a:rPr sz="1333" dirty="0">
                <a:latin typeface="Verdana"/>
                <a:cs typeface="Verdana"/>
              </a:rPr>
              <a:t>have</a:t>
            </a:r>
            <a:r>
              <a:rPr sz="1333" spc="-40" dirty="0">
                <a:latin typeface="Verdana"/>
                <a:cs typeface="Verdana"/>
              </a:rPr>
              <a:t> </a:t>
            </a:r>
            <a:r>
              <a:rPr sz="1333" dirty="0">
                <a:latin typeface="Verdana"/>
                <a:cs typeface="Verdana"/>
              </a:rPr>
              <a:t>a</a:t>
            </a:r>
            <a:r>
              <a:rPr sz="1333" spc="-47" dirty="0">
                <a:latin typeface="Verdana"/>
                <a:cs typeface="Verdana"/>
              </a:rPr>
              <a:t> </a:t>
            </a:r>
            <a:r>
              <a:rPr sz="1333" spc="-13" dirty="0">
                <a:latin typeface="Verdana"/>
                <a:cs typeface="Verdana"/>
              </a:rPr>
              <a:t>priority.</a:t>
            </a:r>
            <a:endParaRPr sz="1333">
              <a:latin typeface="Verdana"/>
              <a:cs typeface="Verdana"/>
            </a:endParaRPr>
          </a:p>
          <a:p>
            <a:pPr marL="423323" indent="-406390">
              <a:spcBef>
                <a:spcPts val="800"/>
              </a:spcBef>
              <a:buFont typeface="Arial MT"/>
              <a:buChar char="●"/>
              <a:tabLst>
                <a:tab pos="423323" algn="l"/>
              </a:tabLst>
            </a:pPr>
            <a:r>
              <a:rPr sz="1333" spc="-13" dirty="0">
                <a:latin typeface="Verdana"/>
                <a:cs typeface="Verdana"/>
              </a:rPr>
              <a:t>Priorities</a:t>
            </a:r>
            <a:r>
              <a:rPr sz="1333" spc="-47" dirty="0">
                <a:latin typeface="Verdana"/>
                <a:cs typeface="Verdana"/>
              </a:rPr>
              <a:t> </a:t>
            </a:r>
            <a:r>
              <a:rPr sz="1333" dirty="0">
                <a:latin typeface="Verdana"/>
                <a:cs typeface="Verdana"/>
              </a:rPr>
              <a:t>are</a:t>
            </a:r>
            <a:r>
              <a:rPr sz="1333" spc="-40" dirty="0">
                <a:latin typeface="Verdana"/>
                <a:cs typeface="Verdana"/>
              </a:rPr>
              <a:t> </a:t>
            </a:r>
            <a:r>
              <a:rPr sz="1333" dirty="0">
                <a:latin typeface="Verdana"/>
                <a:cs typeface="Verdana"/>
              </a:rPr>
              <a:t>represented</a:t>
            </a:r>
            <a:r>
              <a:rPr sz="1333" spc="-47" dirty="0">
                <a:latin typeface="Verdana"/>
                <a:cs typeface="Verdana"/>
              </a:rPr>
              <a:t> </a:t>
            </a:r>
            <a:r>
              <a:rPr sz="1333" dirty="0">
                <a:latin typeface="Verdana"/>
                <a:cs typeface="Verdana"/>
              </a:rPr>
              <a:t>by</a:t>
            </a:r>
            <a:r>
              <a:rPr sz="1333" spc="-40" dirty="0">
                <a:latin typeface="Verdana"/>
                <a:cs typeface="Verdana"/>
              </a:rPr>
              <a:t> </a:t>
            </a:r>
            <a:r>
              <a:rPr sz="1333" dirty="0">
                <a:latin typeface="Verdana"/>
                <a:cs typeface="Verdana"/>
              </a:rPr>
              <a:t>a</a:t>
            </a:r>
            <a:r>
              <a:rPr sz="1333" spc="-40" dirty="0">
                <a:latin typeface="Verdana"/>
                <a:cs typeface="Verdana"/>
              </a:rPr>
              <a:t> </a:t>
            </a:r>
            <a:r>
              <a:rPr sz="1333" dirty="0">
                <a:latin typeface="Verdana"/>
                <a:cs typeface="Verdana"/>
              </a:rPr>
              <a:t>number</a:t>
            </a:r>
            <a:r>
              <a:rPr sz="1333" spc="-47" dirty="0">
                <a:latin typeface="Verdana"/>
                <a:cs typeface="Verdana"/>
              </a:rPr>
              <a:t> </a:t>
            </a:r>
            <a:r>
              <a:rPr sz="1333" dirty="0">
                <a:latin typeface="Verdana"/>
                <a:cs typeface="Verdana"/>
              </a:rPr>
              <a:t>between</a:t>
            </a:r>
            <a:r>
              <a:rPr sz="1333" spc="-40" dirty="0">
                <a:latin typeface="Verdana"/>
                <a:cs typeface="Verdana"/>
              </a:rPr>
              <a:t> </a:t>
            </a:r>
            <a:r>
              <a:rPr sz="1333" dirty="0">
                <a:latin typeface="Verdana"/>
                <a:cs typeface="Verdana"/>
              </a:rPr>
              <a:t>1</a:t>
            </a:r>
            <a:r>
              <a:rPr sz="1333" spc="-47" dirty="0">
                <a:latin typeface="Verdana"/>
                <a:cs typeface="Verdana"/>
              </a:rPr>
              <a:t> </a:t>
            </a:r>
            <a:r>
              <a:rPr sz="1333" dirty="0">
                <a:latin typeface="Verdana"/>
                <a:cs typeface="Verdana"/>
              </a:rPr>
              <a:t>and</a:t>
            </a:r>
            <a:r>
              <a:rPr sz="1333" spc="-40" dirty="0">
                <a:latin typeface="Verdana"/>
                <a:cs typeface="Verdana"/>
              </a:rPr>
              <a:t> </a:t>
            </a:r>
            <a:r>
              <a:rPr sz="1333" spc="-33" dirty="0">
                <a:latin typeface="Verdana"/>
                <a:cs typeface="Verdana"/>
              </a:rPr>
              <a:t>10.</a:t>
            </a:r>
            <a:endParaRPr sz="1333">
              <a:latin typeface="Verdana"/>
              <a:cs typeface="Verdana"/>
            </a:endParaRPr>
          </a:p>
          <a:p>
            <a:pPr marL="423323" indent="-406390">
              <a:spcBef>
                <a:spcPts val="800"/>
              </a:spcBef>
              <a:buFont typeface="Arial MT"/>
              <a:buChar char="●"/>
              <a:tabLst>
                <a:tab pos="423323" algn="l"/>
              </a:tabLst>
            </a:pPr>
            <a:r>
              <a:rPr sz="1333" dirty="0">
                <a:latin typeface="Verdana"/>
                <a:cs typeface="Verdana"/>
              </a:rPr>
              <a:t>In</a:t>
            </a:r>
            <a:r>
              <a:rPr sz="1333" spc="-53" dirty="0">
                <a:latin typeface="Verdana"/>
                <a:cs typeface="Verdana"/>
              </a:rPr>
              <a:t> </a:t>
            </a:r>
            <a:r>
              <a:rPr sz="1333" dirty="0">
                <a:latin typeface="Verdana"/>
                <a:cs typeface="Verdana"/>
              </a:rPr>
              <a:t>most</a:t>
            </a:r>
            <a:r>
              <a:rPr sz="1333" spc="-53" dirty="0">
                <a:latin typeface="Verdana"/>
                <a:cs typeface="Verdana"/>
              </a:rPr>
              <a:t> </a:t>
            </a:r>
            <a:r>
              <a:rPr sz="1333" dirty="0">
                <a:latin typeface="Verdana"/>
                <a:cs typeface="Verdana"/>
              </a:rPr>
              <a:t>cases,</a:t>
            </a:r>
            <a:r>
              <a:rPr sz="1333" spc="-47" dirty="0">
                <a:latin typeface="Verdana"/>
                <a:cs typeface="Verdana"/>
              </a:rPr>
              <a:t> </a:t>
            </a:r>
            <a:r>
              <a:rPr sz="1333" dirty="0">
                <a:latin typeface="Verdana"/>
                <a:cs typeface="Verdana"/>
              </a:rPr>
              <a:t>thread</a:t>
            </a:r>
            <a:r>
              <a:rPr sz="1333" spc="-53" dirty="0">
                <a:latin typeface="Verdana"/>
                <a:cs typeface="Verdana"/>
              </a:rPr>
              <a:t> </a:t>
            </a:r>
            <a:r>
              <a:rPr sz="1333" spc="-13" dirty="0">
                <a:latin typeface="Verdana"/>
                <a:cs typeface="Verdana"/>
              </a:rPr>
              <a:t>schedular</a:t>
            </a:r>
            <a:r>
              <a:rPr sz="1333" spc="-47" dirty="0">
                <a:latin typeface="Verdana"/>
                <a:cs typeface="Verdana"/>
              </a:rPr>
              <a:t> </a:t>
            </a:r>
            <a:r>
              <a:rPr sz="1333" spc="-13" dirty="0">
                <a:latin typeface="Verdana"/>
                <a:cs typeface="Verdana"/>
              </a:rPr>
              <a:t>schedules</a:t>
            </a:r>
            <a:r>
              <a:rPr sz="1333" spc="-53" dirty="0">
                <a:latin typeface="Verdana"/>
                <a:cs typeface="Verdana"/>
              </a:rPr>
              <a:t> </a:t>
            </a:r>
            <a:r>
              <a:rPr sz="1333" dirty="0">
                <a:latin typeface="Verdana"/>
                <a:cs typeface="Verdana"/>
              </a:rPr>
              <a:t>the</a:t>
            </a:r>
            <a:r>
              <a:rPr sz="1333" spc="-47" dirty="0">
                <a:latin typeface="Verdana"/>
                <a:cs typeface="Verdana"/>
              </a:rPr>
              <a:t> </a:t>
            </a:r>
            <a:r>
              <a:rPr sz="1333" dirty="0">
                <a:latin typeface="Verdana"/>
                <a:cs typeface="Verdana"/>
              </a:rPr>
              <a:t>threads</a:t>
            </a:r>
            <a:r>
              <a:rPr sz="1333" spc="-53" dirty="0">
                <a:latin typeface="Verdana"/>
                <a:cs typeface="Verdana"/>
              </a:rPr>
              <a:t> </a:t>
            </a:r>
            <a:r>
              <a:rPr sz="1333" dirty="0">
                <a:latin typeface="Verdana"/>
                <a:cs typeface="Verdana"/>
              </a:rPr>
              <a:t>according</a:t>
            </a:r>
            <a:r>
              <a:rPr sz="1333" spc="-47" dirty="0">
                <a:latin typeface="Verdana"/>
                <a:cs typeface="Verdana"/>
              </a:rPr>
              <a:t> </a:t>
            </a:r>
            <a:r>
              <a:rPr sz="1333" dirty="0">
                <a:latin typeface="Verdana"/>
                <a:cs typeface="Verdana"/>
              </a:rPr>
              <a:t>to</a:t>
            </a:r>
            <a:r>
              <a:rPr sz="1333" spc="-53" dirty="0">
                <a:latin typeface="Verdana"/>
                <a:cs typeface="Verdana"/>
              </a:rPr>
              <a:t> </a:t>
            </a:r>
            <a:r>
              <a:rPr sz="1333" dirty="0">
                <a:latin typeface="Verdana"/>
                <a:cs typeface="Verdana"/>
              </a:rPr>
              <a:t>their</a:t>
            </a:r>
            <a:r>
              <a:rPr sz="1333" spc="-53" dirty="0">
                <a:latin typeface="Verdana"/>
                <a:cs typeface="Verdana"/>
              </a:rPr>
              <a:t> </a:t>
            </a:r>
            <a:r>
              <a:rPr sz="1333" dirty="0">
                <a:latin typeface="Verdana"/>
                <a:cs typeface="Verdana"/>
              </a:rPr>
              <a:t>priority</a:t>
            </a:r>
            <a:r>
              <a:rPr sz="1333" spc="-47" dirty="0">
                <a:latin typeface="Verdana"/>
                <a:cs typeface="Verdana"/>
              </a:rPr>
              <a:t> </a:t>
            </a:r>
            <a:r>
              <a:rPr sz="1333" dirty="0">
                <a:latin typeface="Verdana"/>
                <a:cs typeface="Verdana"/>
              </a:rPr>
              <a:t>(known</a:t>
            </a:r>
            <a:r>
              <a:rPr sz="1333" spc="-53" dirty="0">
                <a:latin typeface="Verdana"/>
                <a:cs typeface="Verdana"/>
              </a:rPr>
              <a:t> </a:t>
            </a:r>
            <a:r>
              <a:rPr sz="1333" dirty="0">
                <a:latin typeface="Verdana"/>
                <a:cs typeface="Verdana"/>
              </a:rPr>
              <a:t>as</a:t>
            </a:r>
            <a:r>
              <a:rPr sz="1333" spc="-47" dirty="0">
                <a:latin typeface="Verdana"/>
                <a:cs typeface="Verdana"/>
              </a:rPr>
              <a:t> </a:t>
            </a:r>
            <a:r>
              <a:rPr sz="1333" spc="-13" dirty="0">
                <a:latin typeface="Verdana"/>
                <a:cs typeface="Verdana"/>
              </a:rPr>
              <a:t>preemptive</a:t>
            </a:r>
            <a:r>
              <a:rPr sz="1333" spc="-53" dirty="0">
                <a:latin typeface="Verdana"/>
                <a:cs typeface="Verdana"/>
              </a:rPr>
              <a:t> </a:t>
            </a:r>
            <a:r>
              <a:rPr sz="1333" spc="-13" dirty="0">
                <a:latin typeface="Verdana"/>
                <a:cs typeface="Verdana"/>
              </a:rPr>
              <a:t>scheduling).</a:t>
            </a:r>
            <a:endParaRPr sz="1333">
              <a:latin typeface="Verdana"/>
              <a:cs typeface="Verdana"/>
            </a:endParaRPr>
          </a:p>
          <a:p>
            <a:pPr marL="423323" indent="-406390">
              <a:spcBef>
                <a:spcPts val="800"/>
              </a:spcBef>
              <a:buFont typeface="Arial MT"/>
              <a:buChar char="●"/>
              <a:tabLst>
                <a:tab pos="423323" algn="l"/>
              </a:tabLst>
            </a:pPr>
            <a:r>
              <a:rPr sz="1333" dirty="0">
                <a:latin typeface="Verdana"/>
                <a:cs typeface="Verdana"/>
              </a:rPr>
              <a:t>But</a:t>
            </a:r>
            <a:r>
              <a:rPr sz="1333" spc="-47" dirty="0">
                <a:latin typeface="Verdana"/>
                <a:cs typeface="Verdana"/>
              </a:rPr>
              <a:t> </a:t>
            </a:r>
            <a:r>
              <a:rPr sz="1333" dirty="0">
                <a:latin typeface="Verdana"/>
                <a:cs typeface="Verdana"/>
              </a:rPr>
              <a:t>it</a:t>
            </a:r>
            <a:r>
              <a:rPr sz="1333" spc="-40" dirty="0">
                <a:latin typeface="Verdana"/>
                <a:cs typeface="Verdana"/>
              </a:rPr>
              <a:t> </a:t>
            </a:r>
            <a:r>
              <a:rPr sz="1333" dirty="0">
                <a:latin typeface="Verdana"/>
                <a:cs typeface="Verdana"/>
              </a:rPr>
              <a:t>is</a:t>
            </a:r>
            <a:r>
              <a:rPr sz="1333" spc="-47" dirty="0">
                <a:latin typeface="Verdana"/>
                <a:cs typeface="Verdana"/>
              </a:rPr>
              <a:t> </a:t>
            </a:r>
            <a:r>
              <a:rPr sz="1333" dirty="0">
                <a:latin typeface="Verdana"/>
                <a:cs typeface="Verdana"/>
              </a:rPr>
              <a:t>not</a:t>
            </a:r>
            <a:r>
              <a:rPr sz="1333" spc="-40" dirty="0">
                <a:latin typeface="Verdana"/>
                <a:cs typeface="Verdana"/>
              </a:rPr>
              <a:t> </a:t>
            </a:r>
            <a:r>
              <a:rPr sz="1333" dirty="0">
                <a:latin typeface="Verdana"/>
                <a:cs typeface="Verdana"/>
              </a:rPr>
              <a:t>guaranteed</a:t>
            </a:r>
            <a:r>
              <a:rPr sz="1333" spc="-47" dirty="0">
                <a:latin typeface="Verdana"/>
                <a:cs typeface="Verdana"/>
              </a:rPr>
              <a:t> </a:t>
            </a:r>
            <a:r>
              <a:rPr sz="1333" dirty="0">
                <a:latin typeface="Verdana"/>
                <a:cs typeface="Verdana"/>
              </a:rPr>
              <a:t>because</a:t>
            </a:r>
            <a:r>
              <a:rPr sz="1333" spc="-40" dirty="0">
                <a:latin typeface="Verdana"/>
                <a:cs typeface="Verdana"/>
              </a:rPr>
              <a:t> </a:t>
            </a:r>
            <a:r>
              <a:rPr sz="1333" dirty="0">
                <a:latin typeface="Verdana"/>
                <a:cs typeface="Verdana"/>
              </a:rPr>
              <a:t>it</a:t>
            </a:r>
            <a:r>
              <a:rPr sz="1333" spc="-47" dirty="0">
                <a:latin typeface="Verdana"/>
                <a:cs typeface="Verdana"/>
              </a:rPr>
              <a:t> </a:t>
            </a:r>
            <a:r>
              <a:rPr sz="1333" dirty="0">
                <a:latin typeface="Verdana"/>
                <a:cs typeface="Verdana"/>
              </a:rPr>
              <a:t>depends</a:t>
            </a:r>
            <a:r>
              <a:rPr sz="1333" spc="-40" dirty="0">
                <a:latin typeface="Verdana"/>
                <a:cs typeface="Verdana"/>
              </a:rPr>
              <a:t> </a:t>
            </a:r>
            <a:r>
              <a:rPr sz="1333" dirty="0">
                <a:latin typeface="Verdana"/>
                <a:cs typeface="Verdana"/>
              </a:rPr>
              <a:t>on</a:t>
            </a:r>
            <a:r>
              <a:rPr sz="1333" spc="-47" dirty="0">
                <a:latin typeface="Verdana"/>
                <a:cs typeface="Verdana"/>
              </a:rPr>
              <a:t> </a:t>
            </a:r>
            <a:r>
              <a:rPr sz="1333" dirty="0">
                <a:latin typeface="Verdana"/>
                <a:cs typeface="Verdana"/>
              </a:rPr>
              <a:t>JVM</a:t>
            </a:r>
            <a:r>
              <a:rPr sz="1333" spc="-40" dirty="0">
                <a:latin typeface="Verdana"/>
                <a:cs typeface="Verdana"/>
              </a:rPr>
              <a:t> </a:t>
            </a:r>
            <a:r>
              <a:rPr sz="1333" spc="-13" dirty="0">
                <a:latin typeface="Verdana"/>
                <a:cs typeface="Verdana"/>
              </a:rPr>
              <a:t>specification</a:t>
            </a:r>
            <a:r>
              <a:rPr sz="1333" spc="-47" dirty="0">
                <a:latin typeface="Verdana"/>
                <a:cs typeface="Verdana"/>
              </a:rPr>
              <a:t> </a:t>
            </a:r>
            <a:r>
              <a:rPr sz="1333" dirty="0">
                <a:latin typeface="Verdana"/>
                <a:cs typeface="Verdana"/>
              </a:rPr>
              <a:t>that</a:t>
            </a:r>
            <a:r>
              <a:rPr sz="1333" spc="-40" dirty="0">
                <a:latin typeface="Verdana"/>
                <a:cs typeface="Verdana"/>
              </a:rPr>
              <a:t> </a:t>
            </a:r>
            <a:r>
              <a:rPr sz="1333" dirty="0">
                <a:latin typeface="Verdana"/>
                <a:cs typeface="Verdana"/>
              </a:rPr>
              <a:t>which</a:t>
            </a:r>
            <a:r>
              <a:rPr sz="1333" spc="-47" dirty="0">
                <a:latin typeface="Verdana"/>
                <a:cs typeface="Verdana"/>
              </a:rPr>
              <a:t> </a:t>
            </a:r>
            <a:r>
              <a:rPr sz="1333" dirty="0">
                <a:latin typeface="Verdana"/>
                <a:cs typeface="Verdana"/>
              </a:rPr>
              <a:t>scheduling</a:t>
            </a:r>
            <a:r>
              <a:rPr sz="1333" spc="-40" dirty="0">
                <a:latin typeface="Verdana"/>
                <a:cs typeface="Verdana"/>
              </a:rPr>
              <a:t> </a:t>
            </a:r>
            <a:r>
              <a:rPr sz="1333" dirty="0">
                <a:latin typeface="Verdana"/>
                <a:cs typeface="Verdana"/>
              </a:rPr>
              <a:t>it</a:t>
            </a:r>
            <a:r>
              <a:rPr sz="1333" spc="-47" dirty="0">
                <a:latin typeface="Verdana"/>
                <a:cs typeface="Verdana"/>
              </a:rPr>
              <a:t> </a:t>
            </a:r>
            <a:r>
              <a:rPr sz="1333" spc="-13" dirty="0">
                <a:latin typeface="Verdana"/>
                <a:cs typeface="Verdana"/>
              </a:rPr>
              <a:t>chooses.</a:t>
            </a:r>
            <a:endParaRPr sz="1333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2967" y="3244096"/>
            <a:ext cx="5175672" cy="40688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533" dirty="0">
                <a:solidFill>
                  <a:srgbClr val="610B37"/>
                </a:solidFill>
                <a:latin typeface="Arial MT"/>
                <a:cs typeface="Arial MT"/>
              </a:rPr>
              <a:t>3</a:t>
            </a:r>
            <a:r>
              <a:rPr sz="2533" spc="-87" dirty="0">
                <a:solidFill>
                  <a:srgbClr val="610B37"/>
                </a:solidFill>
                <a:latin typeface="Arial MT"/>
                <a:cs typeface="Arial MT"/>
              </a:rPr>
              <a:t> </a:t>
            </a:r>
            <a:r>
              <a:rPr sz="2533" dirty="0">
                <a:solidFill>
                  <a:srgbClr val="610B37"/>
                </a:solidFill>
                <a:latin typeface="Arial MT"/>
                <a:cs typeface="Arial MT"/>
              </a:rPr>
              <a:t>constants</a:t>
            </a:r>
            <a:r>
              <a:rPr sz="2533" spc="-87" dirty="0">
                <a:solidFill>
                  <a:srgbClr val="610B37"/>
                </a:solidFill>
                <a:latin typeface="Arial MT"/>
                <a:cs typeface="Arial MT"/>
              </a:rPr>
              <a:t> </a:t>
            </a:r>
            <a:r>
              <a:rPr sz="2533" dirty="0">
                <a:solidFill>
                  <a:srgbClr val="610B37"/>
                </a:solidFill>
                <a:latin typeface="Arial MT"/>
                <a:cs typeface="Arial MT"/>
              </a:rPr>
              <a:t>defined</a:t>
            </a:r>
            <a:r>
              <a:rPr sz="2533" spc="-87" dirty="0">
                <a:solidFill>
                  <a:srgbClr val="610B37"/>
                </a:solidFill>
                <a:latin typeface="Arial MT"/>
                <a:cs typeface="Arial MT"/>
              </a:rPr>
              <a:t> </a:t>
            </a:r>
            <a:r>
              <a:rPr sz="2533" dirty="0">
                <a:solidFill>
                  <a:srgbClr val="610B37"/>
                </a:solidFill>
                <a:latin typeface="Arial MT"/>
                <a:cs typeface="Arial MT"/>
              </a:rPr>
              <a:t>in</a:t>
            </a:r>
            <a:r>
              <a:rPr sz="2533" spc="-127" dirty="0">
                <a:solidFill>
                  <a:srgbClr val="610B37"/>
                </a:solidFill>
                <a:latin typeface="Arial MT"/>
                <a:cs typeface="Arial MT"/>
              </a:rPr>
              <a:t> </a:t>
            </a:r>
            <a:r>
              <a:rPr sz="2533" dirty="0">
                <a:solidFill>
                  <a:srgbClr val="610B37"/>
                </a:solidFill>
                <a:latin typeface="Arial MT"/>
                <a:cs typeface="Arial MT"/>
              </a:rPr>
              <a:t>Thread</a:t>
            </a:r>
            <a:r>
              <a:rPr sz="2533" spc="-87" dirty="0">
                <a:solidFill>
                  <a:srgbClr val="610B37"/>
                </a:solidFill>
                <a:latin typeface="Arial MT"/>
                <a:cs typeface="Arial MT"/>
              </a:rPr>
              <a:t> </a:t>
            </a:r>
            <a:r>
              <a:rPr sz="2533" spc="-13" dirty="0">
                <a:solidFill>
                  <a:srgbClr val="610B37"/>
                </a:solidFill>
                <a:latin typeface="Arial MT"/>
                <a:cs typeface="Arial MT"/>
              </a:rPr>
              <a:t>class:</a:t>
            </a:r>
            <a:endParaRPr sz="2533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48582" y="3864027"/>
            <a:ext cx="6584527" cy="2055670"/>
          </a:xfrm>
          <a:prstGeom prst="rect">
            <a:avLst/>
          </a:prstGeom>
        </p:spPr>
        <p:txBody>
          <a:bodyPr vert="horz" wrap="square" lIns="0" tIns="131233" rIns="0" bIns="0" rtlCol="0">
            <a:spAutoFit/>
          </a:bodyPr>
          <a:lstStyle/>
          <a:p>
            <a:pPr marL="490208" indent="-473275">
              <a:spcBef>
                <a:spcPts val="1033"/>
              </a:spcBef>
              <a:buAutoNum type="arabicPeriod"/>
              <a:tabLst>
                <a:tab pos="490208" algn="l"/>
              </a:tabLst>
            </a:pPr>
            <a:r>
              <a:rPr sz="1333" dirty="0">
                <a:latin typeface="Verdana"/>
                <a:cs typeface="Verdana"/>
              </a:rPr>
              <a:t>public</a:t>
            </a:r>
            <a:r>
              <a:rPr sz="1333" spc="-60" dirty="0">
                <a:latin typeface="Verdana"/>
                <a:cs typeface="Verdana"/>
              </a:rPr>
              <a:t> </a:t>
            </a:r>
            <a:r>
              <a:rPr sz="1333" dirty="0">
                <a:latin typeface="Verdana"/>
                <a:cs typeface="Verdana"/>
              </a:rPr>
              <a:t>static</a:t>
            </a:r>
            <a:r>
              <a:rPr sz="1333" spc="-60" dirty="0">
                <a:latin typeface="Verdana"/>
                <a:cs typeface="Verdana"/>
              </a:rPr>
              <a:t> </a:t>
            </a:r>
            <a:r>
              <a:rPr sz="1333" dirty="0">
                <a:latin typeface="Verdana"/>
                <a:cs typeface="Verdana"/>
              </a:rPr>
              <a:t>int</a:t>
            </a:r>
            <a:r>
              <a:rPr sz="1333" spc="-60" dirty="0">
                <a:latin typeface="Verdana"/>
                <a:cs typeface="Verdana"/>
              </a:rPr>
              <a:t> </a:t>
            </a:r>
            <a:r>
              <a:rPr sz="1333" spc="-13" dirty="0">
                <a:latin typeface="Verdana"/>
                <a:cs typeface="Verdana"/>
              </a:rPr>
              <a:t>MIN_PRIORITY</a:t>
            </a:r>
            <a:endParaRPr sz="1333">
              <a:latin typeface="Verdana"/>
              <a:cs typeface="Verdana"/>
            </a:endParaRPr>
          </a:p>
          <a:p>
            <a:pPr marL="490208" indent="-473275">
              <a:spcBef>
                <a:spcPts val="900"/>
              </a:spcBef>
              <a:buAutoNum type="arabicPeriod"/>
              <a:tabLst>
                <a:tab pos="490208" algn="l"/>
              </a:tabLst>
            </a:pPr>
            <a:r>
              <a:rPr sz="1333" dirty="0">
                <a:latin typeface="Verdana"/>
                <a:cs typeface="Verdana"/>
              </a:rPr>
              <a:t>public</a:t>
            </a:r>
            <a:r>
              <a:rPr sz="1333" spc="-60" dirty="0">
                <a:latin typeface="Verdana"/>
                <a:cs typeface="Verdana"/>
              </a:rPr>
              <a:t> </a:t>
            </a:r>
            <a:r>
              <a:rPr sz="1333" dirty="0">
                <a:latin typeface="Verdana"/>
                <a:cs typeface="Verdana"/>
              </a:rPr>
              <a:t>static</a:t>
            </a:r>
            <a:r>
              <a:rPr sz="1333" spc="-60" dirty="0">
                <a:latin typeface="Verdana"/>
                <a:cs typeface="Verdana"/>
              </a:rPr>
              <a:t> </a:t>
            </a:r>
            <a:r>
              <a:rPr sz="1333" dirty="0">
                <a:latin typeface="Verdana"/>
                <a:cs typeface="Verdana"/>
              </a:rPr>
              <a:t>int</a:t>
            </a:r>
            <a:r>
              <a:rPr sz="1333" spc="-60" dirty="0">
                <a:latin typeface="Verdana"/>
                <a:cs typeface="Verdana"/>
              </a:rPr>
              <a:t> </a:t>
            </a:r>
            <a:r>
              <a:rPr sz="1333" spc="-13" dirty="0">
                <a:latin typeface="Verdana"/>
                <a:cs typeface="Verdana"/>
              </a:rPr>
              <a:t>NORM_PRIORITY</a:t>
            </a:r>
            <a:endParaRPr sz="1333">
              <a:latin typeface="Verdana"/>
              <a:cs typeface="Verdana"/>
            </a:endParaRPr>
          </a:p>
          <a:p>
            <a:pPr marL="490208" indent="-473275">
              <a:spcBef>
                <a:spcPts val="900"/>
              </a:spcBef>
              <a:buAutoNum type="arabicPeriod"/>
              <a:tabLst>
                <a:tab pos="490208" algn="l"/>
              </a:tabLst>
            </a:pPr>
            <a:r>
              <a:rPr sz="1333" dirty="0">
                <a:latin typeface="Verdana"/>
                <a:cs typeface="Verdana"/>
              </a:rPr>
              <a:t>public</a:t>
            </a:r>
            <a:r>
              <a:rPr sz="1333" spc="-60" dirty="0">
                <a:latin typeface="Verdana"/>
                <a:cs typeface="Verdana"/>
              </a:rPr>
              <a:t> </a:t>
            </a:r>
            <a:r>
              <a:rPr sz="1333" dirty="0">
                <a:latin typeface="Verdana"/>
                <a:cs typeface="Verdana"/>
              </a:rPr>
              <a:t>static</a:t>
            </a:r>
            <a:r>
              <a:rPr sz="1333" spc="-60" dirty="0">
                <a:latin typeface="Verdana"/>
                <a:cs typeface="Verdana"/>
              </a:rPr>
              <a:t> </a:t>
            </a:r>
            <a:r>
              <a:rPr sz="1333" dirty="0">
                <a:latin typeface="Verdana"/>
                <a:cs typeface="Verdana"/>
              </a:rPr>
              <a:t>int</a:t>
            </a:r>
            <a:r>
              <a:rPr sz="1333" spc="-60" dirty="0">
                <a:latin typeface="Verdana"/>
                <a:cs typeface="Verdana"/>
              </a:rPr>
              <a:t> </a:t>
            </a:r>
            <a:r>
              <a:rPr sz="1333" spc="-13" dirty="0">
                <a:latin typeface="Verdana"/>
                <a:cs typeface="Verdana"/>
              </a:rPr>
              <a:t>MAX_PRIORITY</a:t>
            </a:r>
            <a:endParaRPr sz="1333">
              <a:latin typeface="Verdana"/>
              <a:cs typeface="Verdana"/>
            </a:endParaRPr>
          </a:p>
          <a:p>
            <a:pPr>
              <a:spcBef>
                <a:spcPts val="673"/>
              </a:spcBef>
            </a:pPr>
            <a:endParaRPr sz="1333">
              <a:latin typeface="Verdana"/>
              <a:cs typeface="Verdana"/>
            </a:endParaRPr>
          </a:p>
          <a:p>
            <a:pPr marL="490208">
              <a:spcBef>
                <a:spcPts val="7"/>
              </a:spcBef>
            </a:pPr>
            <a:r>
              <a:rPr sz="1333" dirty="0">
                <a:latin typeface="Verdana"/>
                <a:cs typeface="Verdana"/>
              </a:rPr>
              <a:t>Default</a:t>
            </a:r>
            <a:r>
              <a:rPr sz="1333" spc="-40" dirty="0">
                <a:latin typeface="Verdana"/>
                <a:cs typeface="Verdana"/>
              </a:rPr>
              <a:t> </a:t>
            </a:r>
            <a:r>
              <a:rPr sz="1333" dirty="0">
                <a:latin typeface="Verdana"/>
                <a:cs typeface="Verdana"/>
              </a:rPr>
              <a:t>priority</a:t>
            </a:r>
            <a:r>
              <a:rPr sz="1333" spc="-40" dirty="0">
                <a:latin typeface="Verdana"/>
                <a:cs typeface="Verdana"/>
              </a:rPr>
              <a:t> </a:t>
            </a:r>
            <a:r>
              <a:rPr sz="1333" dirty="0">
                <a:latin typeface="Verdana"/>
                <a:cs typeface="Verdana"/>
              </a:rPr>
              <a:t>of</a:t>
            </a:r>
            <a:r>
              <a:rPr sz="1333" spc="-40" dirty="0">
                <a:latin typeface="Verdana"/>
                <a:cs typeface="Verdana"/>
              </a:rPr>
              <a:t> </a:t>
            </a:r>
            <a:r>
              <a:rPr sz="1333" dirty="0">
                <a:latin typeface="Verdana"/>
                <a:cs typeface="Verdana"/>
              </a:rPr>
              <a:t>a</a:t>
            </a:r>
            <a:r>
              <a:rPr sz="1333" spc="-40" dirty="0">
                <a:latin typeface="Verdana"/>
                <a:cs typeface="Verdana"/>
              </a:rPr>
              <a:t> </a:t>
            </a:r>
            <a:r>
              <a:rPr sz="1333" dirty="0">
                <a:latin typeface="Verdana"/>
                <a:cs typeface="Verdana"/>
              </a:rPr>
              <a:t>thread</a:t>
            </a:r>
            <a:r>
              <a:rPr sz="1333" spc="-40" dirty="0">
                <a:latin typeface="Verdana"/>
                <a:cs typeface="Verdana"/>
              </a:rPr>
              <a:t> </a:t>
            </a:r>
            <a:r>
              <a:rPr sz="1333" dirty="0">
                <a:latin typeface="Verdana"/>
                <a:cs typeface="Verdana"/>
              </a:rPr>
              <a:t>is</a:t>
            </a:r>
            <a:r>
              <a:rPr sz="1333" spc="-40" dirty="0">
                <a:latin typeface="Verdana"/>
                <a:cs typeface="Verdana"/>
              </a:rPr>
              <a:t> </a:t>
            </a:r>
            <a:r>
              <a:rPr sz="1333" dirty="0">
                <a:latin typeface="Verdana"/>
                <a:cs typeface="Verdana"/>
              </a:rPr>
              <a:t>5</a:t>
            </a:r>
            <a:r>
              <a:rPr sz="1333" spc="-40" dirty="0">
                <a:latin typeface="Verdana"/>
                <a:cs typeface="Verdana"/>
              </a:rPr>
              <a:t> </a:t>
            </a:r>
            <a:r>
              <a:rPr sz="1333" spc="-13" dirty="0">
                <a:latin typeface="Verdana"/>
                <a:cs typeface="Verdana"/>
              </a:rPr>
              <a:t>(NORM_PRIORITY).</a:t>
            </a:r>
            <a:endParaRPr sz="1333">
              <a:latin typeface="Verdana"/>
              <a:cs typeface="Verdana"/>
            </a:endParaRPr>
          </a:p>
          <a:p>
            <a:pPr>
              <a:spcBef>
                <a:spcPts val="1273"/>
              </a:spcBef>
            </a:pPr>
            <a:endParaRPr sz="1333">
              <a:latin typeface="Verdana"/>
              <a:cs typeface="Verdana"/>
            </a:endParaRPr>
          </a:p>
          <a:p>
            <a:pPr marL="490208">
              <a:spcBef>
                <a:spcPts val="7"/>
              </a:spcBef>
            </a:pPr>
            <a:r>
              <a:rPr sz="1333" dirty="0">
                <a:latin typeface="Verdana"/>
                <a:cs typeface="Verdana"/>
              </a:rPr>
              <a:t>The</a:t>
            </a:r>
            <a:r>
              <a:rPr sz="1333" spc="-40" dirty="0">
                <a:latin typeface="Verdana"/>
                <a:cs typeface="Verdana"/>
              </a:rPr>
              <a:t> </a:t>
            </a:r>
            <a:r>
              <a:rPr sz="1333" dirty="0">
                <a:latin typeface="Verdana"/>
                <a:cs typeface="Verdana"/>
              </a:rPr>
              <a:t>value</a:t>
            </a:r>
            <a:r>
              <a:rPr sz="1333" spc="-33" dirty="0">
                <a:latin typeface="Verdana"/>
                <a:cs typeface="Verdana"/>
              </a:rPr>
              <a:t> </a:t>
            </a:r>
            <a:r>
              <a:rPr sz="1333" dirty="0">
                <a:latin typeface="Verdana"/>
                <a:cs typeface="Verdana"/>
              </a:rPr>
              <a:t>of</a:t>
            </a:r>
            <a:r>
              <a:rPr sz="1333" spc="-33" dirty="0">
                <a:latin typeface="Verdana"/>
                <a:cs typeface="Verdana"/>
              </a:rPr>
              <a:t> </a:t>
            </a:r>
            <a:r>
              <a:rPr sz="1333" spc="-13" dirty="0">
                <a:latin typeface="Verdana"/>
                <a:cs typeface="Verdana"/>
              </a:rPr>
              <a:t>MIN_PRIORITY</a:t>
            </a:r>
            <a:r>
              <a:rPr sz="1333" spc="-33" dirty="0">
                <a:latin typeface="Verdana"/>
                <a:cs typeface="Verdana"/>
              </a:rPr>
              <a:t> </a:t>
            </a:r>
            <a:r>
              <a:rPr sz="1333" dirty="0">
                <a:latin typeface="Verdana"/>
                <a:cs typeface="Verdana"/>
              </a:rPr>
              <a:t>is</a:t>
            </a:r>
            <a:r>
              <a:rPr sz="1333" spc="-33" dirty="0">
                <a:latin typeface="Verdana"/>
                <a:cs typeface="Verdana"/>
              </a:rPr>
              <a:t> </a:t>
            </a:r>
            <a:r>
              <a:rPr sz="1333" dirty="0">
                <a:latin typeface="Verdana"/>
                <a:cs typeface="Verdana"/>
              </a:rPr>
              <a:t>1</a:t>
            </a:r>
            <a:r>
              <a:rPr sz="1333" spc="-40" dirty="0">
                <a:latin typeface="Verdana"/>
                <a:cs typeface="Verdana"/>
              </a:rPr>
              <a:t> </a:t>
            </a:r>
            <a:r>
              <a:rPr sz="1333" dirty="0">
                <a:latin typeface="Verdana"/>
                <a:cs typeface="Verdana"/>
              </a:rPr>
              <a:t>and</a:t>
            </a:r>
            <a:r>
              <a:rPr sz="1333" spc="-33" dirty="0">
                <a:latin typeface="Verdana"/>
                <a:cs typeface="Verdana"/>
              </a:rPr>
              <a:t> </a:t>
            </a:r>
            <a:r>
              <a:rPr sz="1333" dirty="0">
                <a:latin typeface="Verdana"/>
                <a:cs typeface="Verdana"/>
              </a:rPr>
              <a:t>the</a:t>
            </a:r>
            <a:r>
              <a:rPr sz="1333" spc="-33" dirty="0">
                <a:latin typeface="Verdana"/>
                <a:cs typeface="Verdana"/>
              </a:rPr>
              <a:t> </a:t>
            </a:r>
            <a:r>
              <a:rPr sz="1333" dirty="0">
                <a:latin typeface="Verdana"/>
                <a:cs typeface="Verdana"/>
              </a:rPr>
              <a:t>value</a:t>
            </a:r>
            <a:r>
              <a:rPr sz="1333" spc="-33" dirty="0">
                <a:latin typeface="Verdana"/>
                <a:cs typeface="Verdana"/>
              </a:rPr>
              <a:t> </a:t>
            </a:r>
            <a:r>
              <a:rPr sz="1333" dirty="0">
                <a:latin typeface="Verdana"/>
                <a:cs typeface="Verdana"/>
              </a:rPr>
              <a:t>of</a:t>
            </a:r>
            <a:r>
              <a:rPr sz="1333" spc="-33" dirty="0">
                <a:latin typeface="Verdana"/>
                <a:cs typeface="Verdana"/>
              </a:rPr>
              <a:t> </a:t>
            </a:r>
            <a:r>
              <a:rPr sz="1333" spc="-13" dirty="0">
                <a:latin typeface="Verdana"/>
                <a:cs typeface="Verdana"/>
              </a:rPr>
              <a:t>MAX_PRIORITY</a:t>
            </a:r>
            <a:r>
              <a:rPr sz="1333" spc="-40" dirty="0">
                <a:latin typeface="Verdana"/>
                <a:cs typeface="Verdana"/>
              </a:rPr>
              <a:t> </a:t>
            </a:r>
            <a:r>
              <a:rPr sz="1333" dirty="0">
                <a:latin typeface="Verdana"/>
                <a:cs typeface="Verdana"/>
              </a:rPr>
              <a:t>is</a:t>
            </a:r>
            <a:r>
              <a:rPr sz="1333" spc="-33" dirty="0">
                <a:latin typeface="Verdana"/>
                <a:cs typeface="Verdana"/>
              </a:rPr>
              <a:t> 10.</a:t>
            </a:r>
            <a:endParaRPr sz="1333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7568" y="193108"/>
            <a:ext cx="7644553" cy="5795668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76198">
              <a:spcBef>
                <a:spcPts val="133"/>
              </a:spcBef>
            </a:pPr>
            <a:r>
              <a:rPr sz="1333" spc="-67" dirty="0">
                <a:latin typeface="Verdana"/>
                <a:cs typeface="Verdana"/>
              </a:rPr>
              <a:t>{</a:t>
            </a:r>
            <a:endParaRPr sz="1333">
              <a:latin typeface="Verdana"/>
              <a:cs typeface="Verdana"/>
            </a:endParaRPr>
          </a:p>
          <a:p>
            <a:pPr marL="76198">
              <a:spcBef>
                <a:spcPts val="1300"/>
              </a:spcBef>
            </a:pPr>
            <a:r>
              <a:rPr sz="1333" b="1" dirty="0">
                <a:solidFill>
                  <a:srgbClr val="006699"/>
                </a:solidFill>
                <a:latin typeface="Verdana"/>
                <a:cs typeface="Verdana"/>
              </a:rPr>
              <a:t>public</a:t>
            </a:r>
            <a:r>
              <a:rPr sz="1333" b="1" spc="-20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333" b="1" dirty="0">
                <a:solidFill>
                  <a:srgbClr val="006699"/>
                </a:solidFill>
                <a:latin typeface="Verdana"/>
                <a:cs typeface="Verdana"/>
              </a:rPr>
              <a:t>void</a:t>
            </a:r>
            <a:r>
              <a:rPr sz="1333" b="1" spc="-13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333" spc="-13" dirty="0">
                <a:latin typeface="Verdana"/>
                <a:cs typeface="Verdana"/>
              </a:rPr>
              <a:t>run()</a:t>
            </a:r>
            <a:endParaRPr sz="1333">
              <a:latin typeface="Verdana"/>
              <a:cs typeface="Verdana"/>
            </a:endParaRPr>
          </a:p>
          <a:p>
            <a:pPr marL="194728">
              <a:spcBef>
                <a:spcPts val="1300"/>
              </a:spcBef>
            </a:pPr>
            <a:r>
              <a:rPr sz="1333" spc="-67" dirty="0">
                <a:latin typeface="Verdana"/>
                <a:cs typeface="Verdana"/>
              </a:rPr>
              <a:t>{</a:t>
            </a:r>
            <a:endParaRPr sz="1333">
              <a:latin typeface="Verdana"/>
              <a:cs typeface="Verdana"/>
            </a:endParaRPr>
          </a:p>
          <a:p>
            <a:pPr marL="194728" marR="6773">
              <a:lnSpc>
                <a:spcPct val="181300"/>
              </a:lnSpc>
            </a:pPr>
            <a:r>
              <a:rPr sz="1333" spc="-13" dirty="0">
                <a:latin typeface="Verdana"/>
                <a:cs typeface="Verdana"/>
              </a:rPr>
              <a:t>System.out.println(</a:t>
            </a:r>
            <a:r>
              <a:rPr sz="1333" spc="-13" dirty="0">
                <a:solidFill>
                  <a:srgbClr val="0000FF"/>
                </a:solidFill>
                <a:latin typeface="Verdana"/>
                <a:cs typeface="Verdana"/>
              </a:rPr>
              <a:t>"running</a:t>
            </a:r>
            <a:r>
              <a:rPr sz="1333" spc="-27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333" dirty="0">
                <a:solidFill>
                  <a:srgbClr val="0000FF"/>
                </a:solidFill>
                <a:latin typeface="Verdana"/>
                <a:cs typeface="Verdana"/>
              </a:rPr>
              <a:t>thread</a:t>
            </a:r>
            <a:r>
              <a:rPr sz="1333" spc="-27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333" dirty="0">
                <a:solidFill>
                  <a:srgbClr val="0000FF"/>
                </a:solidFill>
                <a:latin typeface="Verdana"/>
                <a:cs typeface="Verdana"/>
              </a:rPr>
              <a:t>name</a:t>
            </a:r>
            <a:r>
              <a:rPr sz="1333" spc="-27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333" spc="-13" dirty="0">
                <a:solidFill>
                  <a:srgbClr val="0000FF"/>
                </a:solidFill>
                <a:latin typeface="Verdana"/>
                <a:cs typeface="Verdana"/>
              </a:rPr>
              <a:t>is:"</a:t>
            </a:r>
            <a:r>
              <a:rPr sz="1333" spc="-13" dirty="0">
                <a:latin typeface="Verdana"/>
                <a:cs typeface="Verdana"/>
              </a:rPr>
              <a:t>+Thread.currentThread().getName()); System.out.println(</a:t>
            </a:r>
            <a:r>
              <a:rPr sz="1333" spc="-13" dirty="0">
                <a:solidFill>
                  <a:srgbClr val="0000FF"/>
                </a:solidFill>
                <a:latin typeface="Verdana"/>
                <a:cs typeface="Verdana"/>
              </a:rPr>
              <a:t>"running</a:t>
            </a:r>
            <a:r>
              <a:rPr sz="1333" spc="-40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333" dirty="0">
                <a:solidFill>
                  <a:srgbClr val="0000FF"/>
                </a:solidFill>
                <a:latin typeface="Verdana"/>
                <a:cs typeface="Verdana"/>
              </a:rPr>
              <a:t>thread</a:t>
            </a:r>
            <a:r>
              <a:rPr sz="1333" spc="-40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333" dirty="0">
                <a:solidFill>
                  <a:srgbClr val="0000FF"/>
                </a:solidFill>
                <a:latin typeface="Verdana"/>
                <a:cs typeface="Verdana"/>
              </a:rPr>
              <a:t>priority</a:t>
            </a:r>
            <a:r>
              <a:rPr sz="1333" spc="-40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1333" spc="-13" dirty="0">
                <a:solidFill>
                  <a:srgbClr val="0000FF"/>
                </a:solidFill>
                <a:latin typeface="Verdana"/>
                <a:cs typeface="Verdana"/>
              </a:rPr>
              <a:t>is:"</a:t>
            </a:r>
            <a:r>
              <a:rPr sz="1333" spc="-13" dirty="0">
                <a:latin typeface="Verdana"/>
                <a:cs typeface="Verdana"/>
              </a:rPr>
              <a:t>+Thread.currentThread().getPriority());</a:t>
            </a:r>
            <a:endParaRPr sz="1333">
              <a:latin typeface="Verdana"/>
              <a:cs typeface="Verdana"/>
            </a:endParaRPr>
          </a:p>
          <a:p>
            <a:pPr marL="253994">
              <a:spcBef>
                <a:spcPts val="1300"/>
              </a:spcBef>
            </a:pPr>
            <a:r>
              <a:rPr sz="1333" spc="-67" dirty="0">
                <a:latin typeface="Verdana"/>
                <a:cs typeface="Verdana"/>
              </a:rPr>
              <a:t>}</a:t>
            </a:r>
            <a:endParaRPr sz="1333">
              <a:latin typeface="Verdana"/>
              <a:cs typeface="Verdana"/>
            </a:endParaRPr>
          </a:p>
          <a:p>
            <a:pPr marL="76198">
              <a:spcBef>
                <a:spcPts val="1300"/>
              </a:spcBef>
            </a:pPr>
            <a:r>
              <a:rPr sz="1333" b="1" dirty="0">
                <a:solidFill>
                  <a:srgbClr val="006699"/>
                </a:solidFill>
                <a:latin typeface="Verdana"/>
                <a:cs typeface="Verdana"/>
              </a:rPr>
              <a:t>public</a:t>
            </a:r>
            <a:r>
              <a:rPr sz="1333" b="1" spc="-33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333" b="1" dirty="0">
                <a:solidFill>
                  <a:srgbClr val="006699"/>
                </a:solidFill>
                <a:latin typeface="Verdana"/>
                <a:cs typeface="Verdana"/>
              </a:rPr>
              <a:t>static</a:t>
            </a:r>
            <a:r>
              <a:rPr sz="1333" b="1" spc="-27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333" b="1" dirty="0">
                <a:solidFill>
                  <a:srgbClr val="006699"/>
                </a:solidFill>
                <a:latin typeface="Verdana"/>
                <a:cs typeface="Verdana"/>
              </a:rPr>
              <a:t>void</a:t>
            </a:r>
            <a:r>
              <a:rPr sz="1333" b="1" spc="-33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333" dirty="0">
                <a:latin typeface="Verdana"/>
                <a:cs typeface="Verdana"/>
              </a:rPr>
              <a:t>main(String</a:t>
            </a:r>
            <a:r>
              <a:rPr sz="1333" spc="-47" dirty="0">
                <a:latin typeface="Verdana"/>
                <a:cs typeface="Verdana"/>
              </a:rPr>
              <a:t> </a:t>
            </a:r>
            <a:r>
              <a:rPr sz="1333" spc="-13" dirty="0">
                <a:latin typeface="Verdana"/>
                <a:cs typeface="Verdana"/>
              </a:rPr>
              <a:t>args[])</a:t>
            </a:r>
            <a:endParaRPr sz="1333">
              <a:latin typeface="Verdana"/>
              <a:cs typeface="Verdana"/>
            </a:endParaRPr>
          </a:p>
          <a:p>
            <a:pPr marL="16933">
              <a:spcBef>
                <a:spcPts val="1300"/>
              </a:spcBef>
            </a:pPr>
            <a:r>
              <a:rPr sz="1333" spc="-67" dirty="0">
                <a:latin typeface="Verdana"/>
                <a:cs typeface="Verdana"/>
              </a:rPr>
              <a:t>{</a:t>
            </a:r>
            <a:endParaRPr sz="1333">
              <a:latin typeface="Verdana"/>
              <a:cs typeface="Verdana"/>
            </a:endParaRPr>
          </a:p>
          <a:p>
            <a:pPr marL="135463" marR="3366263">
              <a:lnSpc>
                <a:spcPct val="181300"/>
              </a:lnSpc>
            </a:pPr>
            <a:r>
              <a:rPr sz="1333" spc="-13" dirty="0">
                <a:latin typeface="Verdana"/>
                <a:cs typeface="Verdana"/>
              </a:rPr>
              <a:t>TestMultiPriority1 </a:t>
            </a:r>
            <a:r>
              <a:rPr sz="1333" dirty="0">
                <a:latin typeface="Verdana"/>
                <a:cs typeface="Verdana"/>
              </a:rPr>
              <a:t>m1=</a:t>
            </a:r>
            <a:r>
              <a:rPr sz="1333" b="1" dirty="0">
                <a:solidFill>
                  <a:srgbClr val="006699"/>
                </a:solidFill>
                <a:latin typeface="Verdana"/>
                <a:cs typeface="Verdana"/>
              </a:rPr>
              <a:t>new</a:t>
            </a:r>
            <a:r>
              <a:rPr sz="1333" b="1" spc="7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333" spc="-13" dirty="0">
                <a:latin typeface="Verdana"/>
                <a:cs typeface="Verdana"/>
              </a:rPr>
              <a:t>TestMultiPriority1(); TestMultiPriority1 </a:t>
            </a:r>
            <a:r>
              <a:rPr sz="1333" dirty="0">
                <a:latin typeface="Verdana"/>
                <a:cs typeface="Verdana"/>
              </a:rPr>
              <a:t>m2=</a:t>
            </a:r>
            <a:r>
              <a:rPr sz="1333" b="1" dirty="0">
                <a:solidFill>
                  <a:srgbClr val="006699"/>
                </a:solidFill>
                <a:latin typeface="Verdana"/>
                <a:cs typeface="Verdana"/>
              </a:rPr>
              <a:t>new</a:t>
            </a:r>
            <a:r>
              <a:rPr sz="1333" b="1" spc="7" dirty="0">
                <a:solidFill>
                  <a:srgbClr val="006699"/>
                </a:solidFill>
                <a:latin typeface="Verdana"/>
                <a:cs typeface="Verdana"/>
              </a:rPr>
              <a:t> </a:t>
            </a:r>
            <a:r>
              <a:rPr sz="1333" spc="-13" dirty="0">
                <a:latin typeface="Verdana"/>
                <a:cs typeface="Verdana"/>
              </a:rPr>
              <a:t>TestMultiPriority1(); m1.setPriority(Thread.MIN_PRIORITY); m2.setPriority(Thread.MAX_PRIORITY); m1.start();</a:t>
            </a:r>
            <a:endParaRPr sz="1333">
              <a:latin typeface="Verdana"/>
              <a:cs typeface="Verdana"/>
            </a:endParaRPr>
          </a:p>
          <a:p>
            <a:pPr marL="135463">
              <a:spcBef>
                <a:spcPts val="1292"/>
              </a:spcBef>
            </a:pPr>
            <a:r>
              <a:rPr sz="1333" spc="-13" dirty="0">
                <a:latin typeface="Verdana"/>
                <a:cs typeface="Verdana"/>
              </a:rPr>
              <a:t>m2.start();</a:t>
            </a:r>
            <a:endParaRPr sz="1333">
              <a:latin typeface="Verdana"/>
              <a:cs typeface="Verdana"/>
            </a:endParaRPr>
          </a:p>
          <a:p>
            <a:pPr marL="76198">
              <a:spcBef>
                <a:spcPts val="1300"/>
              </a:spcBef>
            </a:pPr>
            <a:r>
              <a:rPr sz="1333" spc="-67" dirty="0">
                <a:latin typeface="Verdana"/>
                <a:cs typeface="Verdana"/>
              </a:rPr>
              <a:t>}</a:t>
            </a:r>
            <a:endParaRPr sz="1333">
              <a:latin typeface="Verdana"/>
              <a:cs typeface="Verdana"/>
            </a:endParaRPr>
          </a:p>
          <a:p>
            <a:pPr marL="16933">
              <a:spcBef>
                <a:spcPts val="1300"/>
              </a:spcBef>
            </a:pPr>
            <a:r>
              <a:rPr sz="1333" spc="-67" dirty="0">
                <a:latin typeface="Verdana"/>
                <a:cs typeface="Verdana"/>
              </a:rPr>
              <a:t>}</a:t>
            </a:r>
            <a:endParaRPr sz="1333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838093" y="668158"/>
            <a:ext cx="3130403" cy="468440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b="1" spc="-13" dirty="0">
                <a:solidFill>
                  <a:srgbClr val="000000"/>
                </a:solidFill>
                <a:latin typeface="Arial"/>
                <a:cs typeface="Arial"/>
              </a:rPr>
              <a:t>Output: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50685" y="1292239"/>
            <a:ext cx="3048847" cy="182682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600" dirty="0">
                <a:latin typeface="Arial MT"/>
                <a:cs typeface="Arial MT"/>
              </a:rPr>
              <a:t>running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thread</a:t>
            </a:r>
            <a:r>
              <a:rPr sz="1600" spc="-13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name</a:t>
            </a:r>
            <a:r>
              <a:rPr sz="1600" spc="-13" dirty="0">
                <a:latin typeface="Arial MT"/>
                <a:cs typeface="Arial MT"/>
              </a:rPr>
              <a:t> is:Thread-</a:t>
            </a:r>
            <a:r>
              <a:rPr sz="1600" spc="-67" dirty="0">
                <a:latin typeface="Arial MT"/>
                <a:cs typeface="Arial MT"/>
              </a:rPr>
              <a:t>0</a:t>
            </a:r>
            <a:endParaRPr sz="1600">
              <a:latin typeface="Arial MT"/>
              <a:cs typeface="Arial MT"/>
            </a:endParaRPr>
          </a:p>
          <a:p>
            <a:pPr marL="72812" marR="6773">
              <a:lnSpc>
                <a:spcPct val="224000"/>
              </a:lnSpc>
            </a:pPr>
            <a:r>
              <a:rPr sz="1600" dirty="0">
                <a:latin typeface="Arial MT"/>
                <a:cs typeface="Arial MT"/>
              </a:rPr>
              <a:t>running</a:t>
            </a:r>
            <a:r>
              <a:rPr sz="1600" spc="-33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thread</a:t>
            </a:r>
            <a:r>
              <a:rPr sz="1600" spc="-33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priority</a:t>
            </a:r>
            <a:r>
              <a:rPr sz="1600" spc="-27" dirty="0">
                <a:latin typeface="Arial MT"/>
                <a:cs typeface="Arial MT"/>
              </a:rPr>
              <a:t> </a:t>
            </a:r>
            <a:r>
              <a:rPr sz="1600" spc="-13" dirty="0">
                <a:latin typeface="Arial MT"/>
                <a:cs typeface="Arial MT"/>
              </a:rPr>
              <a:t>is:10 </a:t>
            </a:r>
            <a:r>
              <a:rPr sz="1600" dirty="0">
                <a:latin typeface="Arial MT"/>
                <a:cs typeface="Arial MT"/>
              </a:rPr>
              <a:t>running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thread</a:t>
            </a:r>
            <a:r>
              <a:rPr sz="1600" spc="-13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name</a:t>
            </a:r>
            <a:r>
              <a:rPr sz="1600" spc="-13" dirty="0">
                <a:latin typeface="Arial MT"/>
                <a:cs typeface="Arial MT"/>
              </a:rPr>
              <a:t> is:Thread-</a:t>
            </a:r>
            <a:r>
              <a:rPr sz="1600" spc="-67" dirty="0">
                <a:latin typeface="Arial MT"/>
                <a:cs typeface="Arial MT"/>
              </a:rPr>
              <a:t>1 </a:t>
            </a:r>
            <a:r>
              <a:rPr sz="1600" dirty="0">
                <a:latin typeface="Arial MT"/>
                <a:cs typeface="Arial MT"/>
              </a:rPr>
              <a:t>running</a:t>
            </a:r>
            <a:r>
              <a:rPr sz="1600" spc="-33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thread</a:t>
            </a:r>
            <a:r>
              <a:rPr sz="1600" spc="-33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priority</a:t>
            </a:r>
            <a:r>
              <a:rPr sz="1600" spc="-27" dirty="0">
                <a:latin typeface="Arial MT"/>
                <a:cs typeface="Arial MT"/>
              </a:rPr>
              <a:t> is:1</a:t>
            </a:r>
            <a:endParaRPr sz="1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1406</Words>
  <Application>Microsoft Office PowerPoint</Application>
  <PresentationFormat>Widescreen</PresentationFormat>
  <Paragraphs>195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Arial</vt:lpstr>
      <vt:lpstr>Arial MT</vt:lpstr>
      <vt:lpstr>Calibri</vt:lpstr>
      <vt:lpstr>Calibri Light</vt:lpstr>
      <vt:lpstr>Roboto</vt:lpstr>
      <vt:lpstr>Verdana</vt:lpstr>
      <vt:lpstr>Office Theme</vt:lpstr>
      <vt:lpstr>Threads </vt:lpstr>
      <vt:lpstr>What is Thread in java</vt:lpstr>
      <vt:lpstr>PowerPoint Presentation</vt:lpstr>
      <vt:lpstr>Java Thread class</vt:lpstr>
      <vt:lpstr>Life cycle of a Thread (Thread States)</vt:lpstr>
      <vt:lpstr>PowerPoint Presentation</vt:lpstr>
      <vt:lpstr>PowerPoint Presentation</vt:lpstr>
      <vt:lpstr>1) New</vt:lpstr>
      <vt:lpstr>4) Non-Runnable (Blocked)</vt:lpstr>
      <vt:lpstr>How to create thread</vt:lpstr>
      <vt:lpstr>Thread class</vt:lpstr>
      <vt:lpstr>Commonly used methods of Thread class</vt:lpstr>
      <vt:lpstr>Runnable interface:</vt:lpstr>
      <vt:lpstr>Starting a thread:</vt:lpstr>
      <vt:lpstr>Thread Example by extending Thread class</vt:lpstr>
      <vt:lpstr>Thread Example by implementing Runnable interface</vt:lpstr>
      <vt:lpstr>Sleep method in java</vt:lpstr>
      <vt:lpstr>PowerPoint Presentation</vt:lpstr>
      <vt:lpstr>PowerPoint Presentation</vt:lpstr>
      <vt:lpstr>Output :</vt:lpstr>
      <vt:lpstr>Naming Thread and Current Thread</vt:lpstr>
      <vt:lpstr>PowerPoint Presentation</vt:lpstr>
      <vt:lpstr>Output:</vt:lpstr>
      <vt:lpstr>Priority of a Thread (Thread Priority):</vt:lpstr>
      <vt:lpstr>PowerPoint Presentation</vt:lpstr>
      <vt:lpstr>Output: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Priyanka C</dc:creator>
  <cp:lastModifiedBy>Priyanka C</cp:lastModifiedBy>
  <cp:revision>1</cp:revision>
  <dcterms:created xsi:type="dcterms:W3CDTF">2026-03-31T05:40:06Z</dcterms:created>
  <dcterms:modified xsi:type="dcterms:W3CDTF">2026-03-31T05:40:17Z</dcterms:modified>
</cp:coreProperties>
</file>