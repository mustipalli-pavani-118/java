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319" r:id="rId27"/>
    <p:sldId id="281" r:id="rId28"/>
    <p:sldId id="282" r:id="rId29"/>
    <p:sldId id="283" r:id="rId30"/>
    <p:sldId id="284" r:id="rId31"/>
    <p:sldId id="285" r:id="rId32"/>
    <p:sldId id="286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5195" y="1894332"/>
            <a:ext cx="8321039" cy="78943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32618" y="1901045"/>
            <a:ext cx="7878762" cy="908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87141" y="3031883"/>
            <a:ext cx="3569716" cy="758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55A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55A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C55A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8612" y="311150"/>
            <a:ext cx="706755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C55A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070101"/>
            <a:ext cx="4977130" cy="30905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 u="sng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hyperlink" Target="http://www.cray.com/images/systems/X1-LCIO72.jpg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jpg"/><Relationship Id="rId4" Type="http://schemas.openxmlformats.org/officeDocument/2006/relationships/image" Target="../media/image17.png"/><Relationship Id="rId9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5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6.jp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5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5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Relationship Id="rId9" Type="http://schemas.openxmlformats.org/officeDocument/2006/relationships/image" Target="../media/image7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5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5.png"/><Relationship Id="rId4" Type="http://schemas.openxmlformats.org/officeDocument/2006/relationships/image" Target="../media/image8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8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image" Target="../media/image87.png"/><Relationship Id="rId4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5.pn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7" Type="http://schemas.openxmlformats.org/officeDocument/2006/relationships/image" Target="../media/image97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101.png"/><Relationship Id="rId7" Type="http://schemas.openxmlformats.org/officeDocument/2006/relationships/image" Target="../media/image105.png"/><Relationship Id="rId12" Type="http://schemas.openxmlformats.org/officeDocument/2006/relationships/image" Target="../media/image5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09.png"/><Relationship Id="rId5" Type="http://schemas.openxmlformats.org/officeDocument/2006/relationships/image" Target="../media/image103.png"/><Relationship Id="rId10" Type="http://schemas.openxmlformats.org/officeDocument/2006/relationships/image" Target="../media/image108.png"/><Relationship Id="rId4" Type="http://schemas.openxmlformats.org/officeDocument/2006/relationships/image" Target="../media/image102.png"/><Relationship Id="rId9" Type="http://schemas.openxmlformats.org/officeDocument/2006/relationships/image" Target="../media/image10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17.png"/><Relationship Id="rId4" Type="http://schemas.openxmlformats.org/officeDocument/2006/relationships/image" Target="../media/image11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1.png"/><Relationship Id="rId4" Type="http://schemas.openxmlformats.org/officeDocument/2006/relationships/image" Target="../media/image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30.png"/><Relationship Id="rId7" Type="http://schemas.openxmlformats.org/officeDocument/2006/relationships/image" Target="../media/image133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131.png"/><Relationship Id="rId4" Type="http://schemas.openxmlformats.org/officeDocument/2006/relationships/image" Target="../media/image5.png"/><Relationship Id="rId9" Type="http://schemas.openxmlformats.org/officeDocument/2006/relationships/image" Target="../media/image13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1.png"/><Relationship Id="rId5" Type="http://schemas.openxmlformats.org/officeDocument/2006/relationships/image" Target="../media/image5.png"/><Relationship Id="rId4" Type="http://schemas.openxmlformats.org/officeDocument/2006/relationships/image" Target="../media/image1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3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6.png"/><Relationship Id="rId4" Type="http://schemas.openxmlformats.org/officeDocument/2006/relationships/image" Target="../media/image15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xfrm>
            <a:off x="632619" y="1885950"/>
            <a:ext cx="7878762" cy="908050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90"/>
              </a:spcBef>
            </a:pPr>
            <a:r>
              <a:rPr spc="-114" dirty="0">
                <a:solidFill>
                  <a:srgbClr val="353B5F"/>
                </a:solidFill>
              </a:rPr>
              <a:t>OBJECT</a:t>
            </a:r>
            <a:r>
              <a:rPr spc="-95" dirty="0">
                <a:solidFill>
                  <a:srgbClr val="353B5F"/>
                </a:solidFill>
              </a:rPr>
              <a:t> </a:t>
            </a:r>
            <a:r>
              <a:rPr spc="-280" dirty="0">
                <a:solidFill>
                  <a:srgbClr val="353B5F"/>
                </a:solidFill>
              </a:rPr>
              <a:t>ORIENTED</a:t>
            </a:r>
            <a:r>
              <a:rPr spc="-10" dirty="0">
                <a:solidFill>
                  <a:srgbClr val="353B5F"/>
                </a:solidFill>
              </a:rPr>
              <a:t> </a:t>
            </a:r>
            <a:r>
              <a:rPr spc="-80" dirty="0">
                <a:solidFill>
                  <a:srgbClr val="353B5F"/>
                </a:solidFill>
              </a:rPr>
              <a:t>PROGRAMMING </a:t>
            </a:r>
            <a:r>
              <a:rPr spc="-440" dirty="0">
                <a:solidFill>
                  <a:srgbClr val="353B5F"/>
                </a:solidFill>
              </a:rPr>
              <a:t>WITH</a:t>
            </a:r>
            <a:r>
              <a:rPr spc="-25" dirty="0">
                <a:solidFill>
                  <a:srgbClr val="353B5F"/>
                </a:solidFill>
              </a:rPr>
              <a:t> </a:t>
            </a:r>
            <a:r>
              <a:rPr spc="45" dirty="0">
                <a:solidFill>
                  <a:srgbClr val="353B5F"/>
                </a:solidFill>
              </a:rPr>
              <a:t>JAVA</a:t>
            </a:r>
          </a:p>
          <a:p>
            <a:pPr algn="ctr">
              <a:lnSpc>
                <a:spcPct val="100000"/>
              </a:lnSpc>
              <a:spcBef>
                <a:spcPts val="500"/>
              </a:spcBef>
            </a:pPr>
            <a:r>
              <a:rPr sz="2000" spc="-55" dirty="0">
                <a:solidFill>
                  <a:srgbClr val="6F2F9F"/>
                </a:solidFill>
              </a:rPr>
              <a:t>Multithreaded</a:t>
            </a:r>
            <a:r>
              <a:rPr sz="2000" spc="-20" dirty="0">
                <a:solidFill>
                  <a:srgbClr val="6F2F9F"/>
                </a:solidFill>
              </a:rPr>
              <a:t> </a:t>
            </a:r>
            <a:r>
              <a:rPr sz="2000" spc="-60" dirty="0">
                <a:solidFill>
                  <a:srgbClr val="6F2F9F"/>
                </a:solidFill>
              </a:rPr>
              <a:t>Programming</a:t>
            </a:r>
            <a:r>
              <a:rPr sz="2000" spc="-30" dirty="0">
                <a:solidFill>
                  <a:srgbClr val="6F2F9F"/>
                </a:solidFill>
              </a:rPr>
              <a:t> </a:t>
            </a:r>
            <a:r>
              <a:rPr sz="2000" spc="-85" dirty="0">
                <a:solidFill>
                  <a:srgbClr val="6F2F9F"/>
                </a:solidFill>
              </a:rPr>
              <a:t>in</a:t>
            </a:r>
            <a:r>
              <a:rPr sz="2000" dirty="0">
                <a:solidFill>
                  <a:srgbClr val="6F2F9F"/>
                </a:solidFill>
              </a:rPr>
              <a:t> Java</a:t>
            </a:r>
            <a:endParaRPr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7800" y="1118628"/>
            <a:ext cx="7287895" cy="2362200"/>
            <a:chOff x="1447800" y="1118628"/>
            <a:chExt cx="7287895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00" y="1118628"/>
              <a:ext cx="2362187" cy="23621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3988" y="1953768"/>
              <a:ext cx="5021579" cy="8991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53306" y="2037842"/>
            <a:ext cx="451358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What</a:t>
            </a:r>
            <a:r>
              <a:rPr sz="3200" b="0" spc="-2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is</a:t>
            </a:r>
            <a:r>
              <a:rPr sz="3200" b="0" spc="-3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Yu Gothic"/>
                <a:cs typeface="Yu Gothic"/>
              </a:rPr>
              <a:t>Multithreading?</a:t>
            </a:r>
            <a:endParaRPr sz="32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02691"/>
            <a:ext cx="9153525" cy="899160"/>
            <a:chOff x="-4762" y="202691"/>
            <a:chExt cx="9153525" cy="89916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3379" y="202691"/>
              <a:ext cx="5184647" cy="8991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72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single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threaded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program</a:t>
            </a:r>
            <a:endParaRPr sz="32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720" y="1304544"/>
            <a:ext cx="4256531" cy="315010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71741" y="1590542"/>
            <a:ext cx="12553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1800" spc="-4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0000FF"/>
                </a:solidFill>
                <a:latin typeface="Courier New"/>
                <a:cs typeface="Courier New"/>
              </a:rPr>
              <a:t>ABC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6385" y="1864862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00FF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3585" y="2139182"/>
            <a:ext cx="275653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00FF"/>
                </a:solidFill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525252"/>
                </a:solidFill>
                <a:latin typeface="Courier New"/>
                <a:cs typeface="Courier New"/>
              </a:rPr>
              <a:t>public</a:t>
            </a:r>
            <a:r>
              <a:rPr sz="1800" spc="-50" dirty="0">
                <a:solidFill>
                  <a:srgbClr val="525252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525252"/>
                </a:solidFill>
                <a:latin typeface="Courier New"/>
                <a:cs typeface="Courier New"/>
              </a:rPr>
              <a:t>void</a:t>
            </a:r>
            <a:r>
              <a:rPr sz="1800" spc="-50" dirty="0">
                <a:solidFill>
                  <a:srgbClr val="525252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525252"/>
                </a:solidFill>
                <a:latin typeface="Courier New"/>
                <a:cs typeface="Courier New"/>
              </a:rPr>
              <a:t>main(..)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525252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50" dirty="0">
                <a:solidFill>
                  <a:srgbClr val="525252"/>
                </a:solidFill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800" spc="-50" dirty="0">
                <a:solidFill>
                  <a:srgbClr val="525252"/>
                </a:solidFill>
                <a:latin typeface="Courier New"/>
                <a:cs typeface="Courier New"/>
              </a:rPr>
              <a:t>…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solidFill>
                  <a:srgbClr val="525252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6385" y="3785103"/>
            <a:ext cx="1631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0000FF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709159" y="1414273"/>
            <a:ext cx="664845" cy="2614930"/>
            <a:chOff x="4709159" y="1414273"/>
            <a:chExt cx="664845" cy="2614930"/>
          </a:xfrm>
        </p:grpSpPr>
        <p:sp>
          <p:nvSpPr>
            <p:cNvPr id="13" name="object 13"/>
            <p:cNvSpPr/>
            <p:nvPr/>
          </p:nvSpPr>
          <p:spPr>
            <a:xfrm>
              <a:off x="5029961" y="1735073"/>
              <a:ext cx="0" cy="2198370"/>
            </a:xfrm>
            <a:custGeom>
              <a:avLst/>
              <a:gdLst/>
              <a:ahLst/>
              <a:cxnLst/>
              <a:rect l="l" t="t" r="r" b="b"/>
              <a:pathLst>
                <a:path h="2198370">
                  <a:moveTo>
                    <a:pt x="0" y="0"/>
                  </a:moveTo>
                  <a:lnTo>
                    <a:pt x="0" y="2198370"/>
                  </a:lnTo>
                </a:path>
              </a:pathLst>
            </a:custGeom>
            <a:ln w="38100">
              <a:solidFill>
                <a:srgbClr val="76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934718" y="3914386"/>
              <a:ext cx="190500" cy="114935"/>
            </a:xfrm>
            <a:custGeom>
              <a:avLst/>
              <a:gdLst/>
              <a:ahLst/>
              <a:cxnLst/>
              <a:rect l="l" t="t" r="r" b="b"/>
              <a:pathLst>
                <a:path w="190500" h="114935">
                  <a:moveTo>
                    <a:pt x="190500" y="12"/>
                  </a:moveTo>
                  <a:lnTo>
                    <a:pt x="0" y="0"/>
                  </a:lnTo>
                  <a:lnTo>
                    <a:pt x="95250" y="114312"/>
                  </a:lnTo>
                  <a:lnTo>
                    <a:pt x="190500" y="12"/>
                  </a:lnTo>
                  <a:close/>
                </a:path>
              </a:pathLst>
            </a:custGeom>
            <a:solidFill>
              <a:srgbClr val="76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09159" y="1414273"/>
              <a:ext cx="664845" cy="358140"/>
            </a:xfrm>
            <a:custGeom>
              <a:avLst/>
              <a:gdLst/>
              <a:ahLst/>
              <a:cxnLst/>
              <a:rect l="l" t="t" r="r" b="b"/>
              <a:pathLst>
                <a:path w="664845" h="358139">
                  <a:moveTo>
                    <a:pt x="604774" y="0"/>
                  </a:moveTo>
                  <a:lnTo>
                    <a:pt x="59690" y="0"/>
                  </a:lnTo>
                  <a:lnTo>
                    <a:pt x="36454" y="4690"/>
                  </a:lnTo>
                  <a:lnTo>
                    <a:pt x="17481" y="17481"/>
                  </a:lnTo>
                  <a:lnTo>
                    <a:pt x="4690" y="36454"/>
                  </a:lnTo>
                  <a:lnTo>
                    <a:pt x="0" y="59689"/>
                  </a:lnTo>
                  <a:lnTo>
                    <a:pt x="0" y="298449"/>
                  </a:lnTo>
                  <a:lnTo>
                    <a:pt x="4690" y="321685"/>
                  </a:lnTo>
                  <a:lnTo>
                    <a:pt x="17481" y="340658"/>
                  </a:lnTo>
                  <a:lnTo>
                    <a:pt x="36454" y="353449"/>
                  </a:lnTo>
                  <a:lnTo>
                    <a:pt x="59690" y="358139"/>
                  </a:lnTo>
                  <a:lnTo>
                    <a:pt x="604774" y="358139"/>
                  </a:lnTo>
                  <a:lnTo>
                    <a:pt x="628009" y="353449"/>
                  </a:lnTo>
                  <a:lnTo>
                    <a:pt x="646982" y="340658"/>
                  </a:lnTo>
                  <a:lnTo>
                    <a:pt x="659773" y="321685"/>
                  </a:lnTo>
                  <a:lnTo>
                    <a:pt x="664464" y="298449"/>
                  </a:lnTo>
                  <a:lnTo>
                    <a:pt x="664464" y="59689"/>
                  </a:lnTo>
                  <a:lnTo>
                    <a:pt x="659773" y="36454"/>
                  </a:lnTo>
                  <a:lnTo>
                    <a:pt x="646982" y="17481"/>
                  </a:lnTo>
                  <a:lnTo>
                    <a:pt x="628009" y="4690"/>
                  </a:lnTo>
                  <a:lnTo>
                    <a:pt x="604774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805441" y="1459137"/>
            <a:ext cx="47180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Times New Roman"/>
                <a:cs typeface="Times New Roman"/>
              </a:rPr>
              <a:t>begin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047488" y="2508505"/>
            <a:ext cx="620395" cy="358140"/>
          </a:xfrm>
          <a:custGeom>
            <a:avLst/>
            <a:gdLst/>
            <a:ahLst/>
            <a:cxnLst/>
            <a:rect l="l" t="t" r="r" b="b"/>
            <a:pathLst>
              <a:path w="620395" h="358139">
                <a:moveTo>
                  <a:pt x="560578" y="0"/>
                </a:moveTo>
                <a:lnTo>
                  <a:pt x="59690" y="0"/>
                </a:lnTo>
                <a:lnTo>
                  <a:pt x="36454" y="4690"/>
                </a:lnTo>
                <a:lnTo>
                  <a:pt x="17481" y="17481"/>
                </a:lnTo>
                <a:lnTo>
                  <a:pt x="4690" y="36454"/>
                </a:lnTo>
                <a:lnTo>
                  <a:pt x="0" y="59689"/>
                </a:lnTo>
                <a:lnTo>
                  <a:pt x="0" y="298449"/>
                </a:lnTo>
                <a:lnTo>
                  <a:pt x="4690" y="321685"/>
                </a:lnTo>
                <a:lnTo>
                  <a:pt x="17481" y="340658"/>
                </a:lnTo>
                <a:lnTo>
                  <a:pt x="36454" y="353449"/>
                </a:lnTo>
                <a:lnTo>
                  <a:pt x="59690" y="358139"/>
                </a:lnTo>
                <a:lnTo>
                  <a:pt x="560578" y="358139"/>
                </a:lnTo>
                <a:lnTo>
                  <a:pt x="583813" y="353449"/>
                </a:lnTo>
                <a:lnTo>
                  <a:pt x="602786" y="340658"/>
                </a:lnTo>
                <a:lnTo>
                  <a:pt x="615577" y="321685"/>
                </a:lnTo>
                <a:lnTo>
                  <a:pt x="620268" y="298449"/>
                </a:lnTo>
                <a:lnTo>
                  <a:pt x="620268" y="59689"/>
                </a:lnTo>
                <a:lnTo>
                  <a:pt x="615577" y="36454"/>
                </a:lnTo>
                <a:lnTo>
                  <a:pt x="602786" y="17481"/>
                </a:lnTo>
                <a:lnTo>
                  <a:pt x="583813" y="4690"/>
                </a:lnTo>
                <a:lnTo>
                  <a:pt x="560578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142831" y="2552893"/>
            <a:ext cx="43116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latin typeface="Times New Roman"/>
                <a:cs typeface="Times New Roman"/>
              </a:rPr>
              <a:t>body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803647" y="4027933"/>
            <a:ext cx="516890" cy="358140"/>
          </a:xfrm>
          <a:custGeom>
            <a:avLst/>
            <a:gdLst/>
            <a:ahLst/>
            <a:cxnLst/>
            <a:rect l="l" t="t" r="r" b="b"/>
            <a:pathLst>
              <a:path w="516889" h="358139">
                <a:moveTo>
                  <a:pt x="456945" y="0"/>
                </a:moveTo>
                <a:lnTo>
                  <a:pt x="59690" y="0"/>
                </a:lnTo>
                <a:lnTo>
                  <a:pt x="36454" y="4690"/>
                </a:lnTo>
                <a:lnTo>
                  <a:pt x="17481" y="17481"/>
                </a:lnTo>
                <a:lnTo>
                  <a:pt x="4690" y="36454"/>
                </a:lnTo>
                <a:lnTo>
                  <a:pt x="0" y="59690"/>
                </a:lnTo>
                <a:lnTo>
                  <a:pt x="0" y="298450"/>
                </a:lnTo>
                <a:lnTo>
                  <a:pt x="4690" y="321685"/>
                </a:lnTo>
                <a:lnTo>
                  <a:pt x="17481" y="340658"/>
                </a:lnTo>
                <a:lnTo>
                  <a:pt x="36454" y="353449"/>
                </a:lnTo>
                <a:lnTo>
                  <a:pt x="59690" y="358140"/>
                </a:lnTo>
                <a:lnTo>
                  <a:pt x="456945" y="358140"/>
                </a:lnTo>
                <a:lnTo>
                  <a:pt x="480181" y="353449"/>
                </a:lnTo>
                <a:lnTo>
                  <a:pt x="499154" y="340658"/>
                </a:lnTo>
                <a:lnTo>
                  <a:pt x="511945" y="321685"/>
                </a:lnTo>
                <a:lnTo>
                  <a:pt x="516636" y="298450"/>
                </a:lnTo>
                <a:lnTo>
                  <a:pt x="516636" y="59690"/>
                </a:lnTo>
                <a:lnTo>
                  <a:pt x="511945" y="36454"/>
                </a:lnTo>
                <a:lnTo>
                  <a:pt x="499154" y="17481"/>
                </a:lnTo>
                <a:lnTo>
                  <a:pt x="480181" y="4690"/>
                </a:lnTo>
                <a:lnTo>
                  <a:pt x="456945" y="0"/>
                </a:lnTo>
                <a:close/>
              </a:path>
            </a:pathLst>
          </a:custGeom>
          <a:solidFill>
            <a:srgbClr val="DEEBF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900099" y="4072144"/>
            <a:ext cx="32194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latin typeface="Times New Roman"/>
                <a:cs typeface="Times New Roman"/>
              </a:rPr>
              <a:t>end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326123" y="2241804"/>
            <a:ext cx="2818130" cy="721360"/>
            <a:chOff x="6326123" y="2241804"/>
            <a:chExt cx="2818130" cy="72136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26123" y="2686812"/>
              <a:ext cx="2817876" cy="27584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400799" y="2241804"/>
              <a:ext cx="2590800" cy="508000"/>
            </a:xfrm>
            <a:custGeom>
              <a:avLst/>
              <a:gdLst/>
              <a:ahLst/>
              <a:cxnLst/>
              <a:rect l="l" t="t" r="r" b="b"/>
              <a:pathLst>
                <a:path w="2590800" h="508000">
                  <a:moveTo>
                    <a:pt x="2590800" y="0"/>
                  </a:moveTo>
                  <a:lnTo>
                    <a:pt x="0" y="0"/>
                  </a:lnTo>
                  <a:lnTo>
                    <a:pt x="0" y="507492"/>
                  </a:lnTo>
                  <a:lnTo>
                    <a:pt x="2590800" y="507492"/>
                  </a:lnTo>
                  <a:lnTo>
                    <a:pt x="2590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400800" y="2241804"/>
            <a:ext cx="2590800" cy="508000"/>
          </a:xfrm>
          <a:prstGeom prst="rect">
            <a:avLst/>
          </a:prstGeom>
          <a:ln w="12700">
            <a:solidFill>
              <a:srgbClr val="A4A4A4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434340" marR="156845" indent="-271780">
              <a:lnSpc>
                <a:spcPct val="100000"/>
              </a:lnSpc>
              <a:spcBef>
                <a:spcPts val="320"/>
              </a:spcBef>
            </a:pP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Threads</a:t>
            </a:r>
            <a:r>
              <a:rPr sz="135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may</a:t>
            </a:r>
            <a:r>
              <a:rPr sz="13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switch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or</a:t>
            </a:r>
            <a:r>
              <a:rPr sz="135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0000CC"/>
                </a:solidFill>
                <a:latin typeface="Times New Roman"/>
                <a:cs typeface="Times New Roman"/>
              </a:rPr>
              <a:t>exchange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data/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results</a:t>
            </a:r>
            <a:r>
              <a:rPr sz="1350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0000CC"/>
                </a:solidFill>
                <a:latin typeface="Times New Roman"/>
                <a:cs typeface="Times New Roman"/>
              </a:rPr>
              <a:t>among</a:t>
            </a:r>
            <a:r>
              <a:rPr sz="1350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0000CC"/>
                </a:solidFill>
                <a:latin typeface="Times New Roman"/>
                <a:cs typeface="Times New Roman"/>
              </a:rPr>
              <a:t>them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762" y="201167"/>
            <a:ext cx="9153525" cy="902335"/>
            <a:chOff x="-4762" y="201167"/>
            <a:chExt cx="9153525" cy="902335"/>
          </a:xfrm>
        </p:grpSpPr>
        <p:sp>
          <p:nvSpPr>
            <p:cNvPr id="7" name="object 7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327" y="201167"/>
              <a:ext cx="5538215" cy="90220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78612" y="311150"/>
            <a:ext cx="5027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75" dirty="0"/>
              <a:t>A</a:t>
            </a:r>
            <a:r>
              <a:rPr sz="3200" spc="-90" dirty="0"/>
              <a:t> multithreaded</a:t>
            </a:r>
            <a:r>
              <a:rPr sz="3200" spc="-75" dirty="0"/>
              <a:t> </a:t>
            </a:r>
            <a:r>
              <a:rPr sz="3200" spc="-10" dirty="0"/>
              <a:t>program</a:t>
            </a:r>
            <a:endParaRPr sz="320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834453" y="1272349"/>
            <a:ext cx="1847850" cy="797560"/>
            <a:chOff x="2834453" y="1272349"/>
            <a:chExt cx="1847850" cy="797560"/>
          </a:xfrm>
        </p:grpSpPr>
        <p:sp>
          <p:nvSpPr>
            <p:cNvPr id="12" name="object 12"/>
            <p:cNvSpPr/>
            <p:nvPr/>
          </p:nvSpPr>
          <p:spPr>
            <a:xfrm>
              <a:off x="2839215" y="1277111"/>
              <a:ext cx="1838325" cy="788035"/>
            </a:xfrm>
            <a:custGeom>
              <a:avLst/>
              <a:gdLst/>
              <a:ahLst/>
              <a:cxnLst/>
              <a:rect l="l" t="t" r="r" b="b"/>
              <a:pathLst>
                <a:path w="1838325" h="788035">
                  <a:moveTo>
                    <a:pt x="1706613" y="0"/>
                  </a:moveTo>
                  <a:lnTo>
                    <a:pt x="131318" y="0"/>
                  </a:lnTo>
                  <a:lnTo>
                    <a:pt x="0" y="131318"/>
                  </a:lnTo>
                  <a:lnTo>
                    <a:pt x="0" y="787908"/>
                  </a:lnTo>
                  <a:lnTo>
                    <a:pt x="1837944" y="787908"/>
                  </a:lnTo>
                  <a:lnTo>
                    <a:pt x="1837944" y="131318"/>
                  </a:lnTo>
                  <a:lnTo>
                    <a:pt x="1706613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839215" y="1277111"/>
              <a:ext cx="1838325" cy="788035"/>
            </a:xfrm>
            <a:custGeom>
              <a:avLst/>
              <a:gdLst/>
              <a:ahLst/>
              <a:cxnLst/>
              <a:rect l="l" t="t" r="r" b="b"/>
              <a:pathLst>
                <a:path w="1838325" h="788035">
                  <a:moveTo>
                    <a:pt x="131318" y="0"/>
                  </a:moveTo>
                  <a:lnTo>
                    <a:pt x="1706613" y="0"/>
                  </a:lnTo>
                  <a:lnTo>
                    <a:pt x="1837944" y="131318"/>
                  </a:lnTo>
                  <a:lnTo>
                    <a:pt x="1837944" y="787908"/>
                  </a:lnTo>
                  <a:lnTo>
                    <a:pt x="0" y="787908"/>
                  </a:lnTo>
                  <a:lnTo>
                    <a:pt x="0" y="131318"/>
                  </a:lnTo>
                  <a:lnTo>
                    <a:pt x="131318" y="0"/>
                  </a:lnTo>
                  <a:close/>
                </a:path>
              </a:pathLst>
            </a:custGeom>
            <a:ln w="9525">
              <a:solidFill>
                <a:srgbClr val="B5B3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235283" y="1570450"/>
            <a:ext cx="10452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Times New Roman"/>
                <a:cs typeface="Times New Roman"/>
              </a:rPr>
              <a:t>Main</a:t>
            </a:r>
            <a:r>
              <a:rPr sz="1500" b="1" spc="-15" dirty="0">
                <a:latin typeface="Times New Roman"/>
                <a:cs typeface="Times New Roman"/>
              </a:rPr>
              <a:t> </a:t>
            </a:r>
            <a:r>
              <a:rPr sz="1500" b="1" spc="-10" dirty="0">
                <a:latin typeface="Times New Roman"/>
                <a:cs typeface="Times New Roman"/>
              </a:rPr>
              <a:t>thread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105979" y="3008185"/>
            <a:ext cx="708025" cy="671195"/>
            <a:chOff x="2105979" y="3008185"/>
            <a:chExt cx="708025" cy="671195"/>
          </a:xfrm>
        </p:grpSpPr>
        <p:sp>
          <p:nvSpPr>
            <p:cNvPr id="16" name="object 16"/>
            <p:cNvSpPr/>
            <p:nvPr/>
          </p:nvSpPr>
          <p:spPr>
            <a:xfrm>
              <a:off x="2110742" y="3012948"/>
              <a:ext cx="698500" cy="661670"/>
            </a:xfrm>
            <a:custGeom>
              <a:avLst/>
              <a:gdLst/>
              <a:ahLst/>
              <a:cxnLst/>
              <a:rect l="l" t="t" r="r" b="b"/>
              <a:pathLst>
                <a:path w="698500" h="661670">
                  <a:moveTo>
                    <a:pt x="587756" y="0"/>
                  </a:moveTo>
                  <a:lnTo>
                    <a:pt x="110236" y="0"/>
                  </a:lnTo>
                  <a:lnTo>
                    <a:pt x="0" y="110236"/>
                  </a:lnTo>
                  <a:lnTo>
                    <a:pt x="0" y="661416"/>
                  </a:lnTo>
                  <a:lnTo>
                    <a:pt x="697992" y="661416"/>
                  </a:lnTo>
                  <a:lnTo>
                    <a:pt x="697992" y="110236"/>
                  </a:lnTo>
                  <a:lnTo>
                    <a:pt x="587756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10742" y="3012948"/>
              <a:ext cx="698500" cy="661670"/>
            </a:xfrm>
            <a:custGeom>
              <a:avLst/>
              <a:gdLst/>
              <a:ahLst/>
              <a:cxnLst/>
              <a:rect l="l" t="t" r="r" b="b"/>
              <a:pathLst>
                <a:path w="698500" h="661670">
                  <a:moveTo>
                    <a:pt x="110236" y="0"/>
                  </a:moveTo>
                  <a:lnTo>
                    <a:pt x="587756" y="0"/>
                  </a:lnTo>
                  <a:lnTo>
                    <a:pt x="697992" y="110236"/>
                  </a:lnTo>
                  <a:lnTo>
                    <a:pt x="697992" y="661416"/>
                  </a:lnTo>
                  <a:lnTo>
                    <a:pt x="0" y="661416"/>
                  </a:lnTo>
                  <a:lnTo>
                    <a:pt x="0" y="110236"/>
                  </a:lnTo>
                  <a:lnTo>
                    <a:pt x="110236" y="0"/>
                  </a:lnTo>
                  <a:close/>
                </a:path>
              </a:pathLst>
            </a:custGeom>
            <a:ln w="9525">
              <a:solidFill>
                <a:srgbClr val="B5B3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2188820" y="3171076"/>
            <a:ext cx="5054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Thread </a:t>
            </a:r>
            <a:r>
              <a:rPr sz="1200" b="1" spc="-50" dirty="0">
                <a:latin typeface="Times New Roman"/>
                <a:cs typeface="Times New Roman"/>
              </a:rPr>
              <a:t>A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427288" y="3005137"/>
            <a:ext cx="668020" cy="674370"/>
            <a:chOff x="3427288" y="3005137"/>
            <a:chExt cx="668020" cy="674370"/>
          </a:xfrm>
        </p:grpSpPr>
        <p:sp>
          <p:nvSpPr>
            <p:cNvPr id="20" name="object 20"/>
            <p:cNvSpPr/>
            <p:nvPr/>
          </p:nvSpPr>
          <p:spPr>
            <a:xfrm>
              <a:off x="3432050" y="3009900"/>
              <a:ext cx="658495" cy="664845"/>
            </a:xfrm>
            <a:custGeom>
              <a:avLst/>
              <a:gdLst/>
              <a:ahLst/>
              <a:cxnLst/>
              <a:rect l="l" t="t" r="r" b="b"/>
              <a:pathLst>
                <a:path w="658495" h="664845">
                  <a:moveTo>
                    <a:pt x="548639" y="0"/>
                  </a:moveTo>
                  <a:lnTo>
                    <a:pt x="109727" y="0"/>
                  </a:lnTo>
                  <a:lnTo>
                    <a:pt x="0" y="109728"/>
                  </a:lnTo>
                  <a:lnTo>
                    <a:pt x="0" y="664464"/>
                  </a:lnTo>
                  <a:lnTo>
                    <a:pt x="658367" y="664464"/>
                  </a:lnTo>
                  <a:lnTo>
                    <a:pt x="658367" y="109728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432050" y="3009900"/>
              <a:ext cx="658495" cy="664845"/>
            </a:xfrm>
            <a:custGeom>
              <a:avLst/>
              <a:gdLst/>
              <a:ahLst/>
              <a:cxnLst/>
              <a:rect l="l" t="t" r="r" b="b"/>
              <a:pathLst>
                <a:path w="658495" h="664845">
                  <a:moveTo>
                    <a:pt x="109727" y="0"/>
                  </a:moveTo>
                  <a:lnTo>
                    <a:pt x="548639" y="0"/>
                  </a:lnTo>
                  <a:lnTo>
                    <a:pt x="658367" y="109728"/>
                  </a:lnTo>
                  <a:lnTo>
                    <a:pt x="658367" y="664464"/>
                  </a:lnTo>
                  <a:lnTo>
                    <a:pt x="0" y="664464"/>
                  </a:lnTo>
                  <a:lnTo>
                    <a:pt x="0" y="109728"/>
                  </a:lnTo>
                  <a:lnTo>
                    <a:pt x="109727" y="0"/>
                  </a:lnTo>
                  <a:close/>
                </a:path>
              </a:pathLst>
            </a:custGeom>
            <a:ln w="9525">
              <a:solidFill>
                <a:srgbClr val="B5B3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3490553" y="3169263"/>
            <a:ext cx="5054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710" marR="5080" indent="-20764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Thread </a:t>
            </a:r>
            <a:r>
              <a:rPr sz="1200" b="1" spc="-50" dirty="0">
                <a:latin typeface="Times New Roman"/>
                <a:cs typeface="Times New Roman"/>
              </a:rPr>
              <a:t>B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971100" y="3005137"/>
            <a:ext cx="723265" cy="733425"/>
            <a:chOff x="4971100" y="3005137"/>
            <a:chExt cx="723265" cy="733425"/>
          </a:xfrm>
        </p:grpSpPr>
        <p:sp>
          <p:nvSpPr>
            <p:cNvPr id="24" name="object 24"/>
            <p:cNvSpPr/>
            <p:nvPr/>
          </p:nvSpPr>
          <p:spPr>
            <a:xfrm>
              <a:off x="4975862" y="3009900"/>
              <a:ext cx="713740" cy="723900"/>
            </a:xfrm>
            <a:custGeom>
              <a:avLst/>
              <a:gdLst/>
              <a:ahLst/>
              <a:cxnLst/>
              <a:rect l="l" t="t" r="r" b="b"/>
              <a:pathLst>
                <a:path w="713739" h="723900">
                  <a:moveTo>
                    <a:pt x="594360" y="0"/>
                  </a:moveTo>
                  <a:lnTo>
                    <a:pt x="118872" y="0"/>
                  </a:lnTo>
                  <a:lnTo>
                    <a:pt x="0" y="118872"/>
                  </a:lnTo>
                  <a:lnTo>
                    <a:pt x="0" y="723900"/>
                  </a:lnTo>
                  <a:lnTo>
                    <a:pt x="713232" y="723900"/>
                  </a:lnTo>
                  <a:lnTo>
                    <a:pt x="713232" y="118872"/>
                  </a:lnTo>
                  <a:lnTo>
                    <a:pt x="59436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75862" y="3009900"/>
              <a:ext cx="713740" cy="723900"/>
            </a:xfrm>
            <a:custGeom>
              <a:avLst/>
              <a:gdLst/>
              <a:ahLst/>
              <a:cxnLst/>
              <a:rect l="l" t="t" r="r" b="b"/>
              <a:pathLst>
                <a:path w="713739" h="723900">
                  <a:moveTo>
                    <a:pt x="118872" y="0"/>
                  </a:moveTo>
                  <a:lnTo>
                    <a:pt x="594360" y="0"/>
                  </a:lnTo>
                  <a:lnTo>
                    <a:pt x="713232" y="118872"/>
                  </a:lnTo>
                  <a:lnTo>
                    <a:pt x="713232" y="723900"/>
                  </a:lnTo>
                  <a:lnTo>
                    <a:pt x="0" y="723900"/>
                  </a:lnTo>
                  <a:lnTo>
                    <a:pt x="0" y="118872"/>
                  </a:lnTo>
                  <a:lnTo>
                    <a:pt x="118872" y="0"/>
                  </a:lnTo>
                  <a:close/>
                </a:path>
              </a:pathLst>
            </a:custGeom>
            <a:ln w="9525">
              <a:solidFill>
                <a:srgbClr val="B5B3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061226" y="3201446"/>
            <a:ext cx="50545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6535" marR="5080" indent="-20447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Times New Roman"/>
                <a:cs typeface="Times New Roman"/>
              </a:rPr>
              <a:t>Thread </a:t>
            </a:r>
            <a:r>
              <a:rPr sz="1200" b="1" spc="-50" dirty="0">
                <a:latin typeface="Times New Roman"/>
                <a:cs typeface="Times New Roman"/>
              </a:rPr>
              <a:t>C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91743" y="2160777"/>
            <a:ext cx="720090" cy="713740"/>
            <a:chOff x="2491743" y="2160777"/>
            <a:chExt cx="720090" cy="713740"/>
          </a:xfrm>
        </p:grpSpPr>
        <p:sp>
          <p:nvSpPr>
            <p:cNvPr id="28" name="object 28"/>
            <p:cNvSpPr/>
            <p:nvPr/>
          </p:nvSpPr>
          <p:spPr>
            <a:xfrm>
              <a:off x="2536837" y="2167127"/>
              <a:ext cx="668655" cy="662940"/>
            </a:xfrm>
            <a:custGeom>
              <a:avLst/>
              <a:gdLst/>
              <a:ahLst/>
              <a:cxnLst/>
              <a:rect l="l" t="t" r="r" b="b"/>
              <a:pathLst>
                <a:path w="668655" h="662939">
                  <a:moveTo>
                    <a:pt x="668134" y="0"/>
                  </a:moveTo>
                  <a:lnTo>
                    <a:pt x="0" y="66243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91743" y="2793556"/>
              <a:ext cx="81280" cy="81280"/>
            </a:xfrm>
            <a:custGeom>
              <a:avLst/>
              <a:gdLst/>
              <a:ahLst/>
              <a:cxnLst/>
              <a:rect l="l" t="t" r="r" b="b"/>
              <a:pathLst>
                <a:path w="81280" h="81280">
                  <a:moveTo>
                    <a:pt x="27279" y="0"/>
                  </a:moveTo>
                  <a:lnTo>
                    <a:pt x="0" y="80708"/>
                  </a:lnTo>
                  <a:lnTo>
                    <a:pt x="80937" y="54114"/>
                  </a:lnTo>
                  <a:lnTo>
                    <a:pt x="272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3749043" y="2257044"/>
            <a:ext cx="76200" cy="623570"/>
            <a:chOff x="3749043" y="2257044"/>
            <a:chExt cx="76200" cy="623570"/>
          </a:xfrm>
        </p:grpSpPr>
        <p:sp>
          <p:nvSpPr>
            <p:cNvPr id="31" name="object 31"/>
            <p:cNvSpPr/>
            <p:nvPr/>
          </p:nvSpPr>
          <p:spPr>
            <a:xfrm>
              <a:off x="3787139" y="2257044"/>
              <a:ext cx="0" cy="560070"/>
            </a:xfrm>
            <a:custGeom>
              <a:avLst/>
              <a:gdLst/>
              <a:ahLst/>
              <a:cxnLst/>
              <a:rect l="l" t="t" r="r" b="b"/>
              <a:pathLst>
                <a:path h="560069">
                  <a:moveTo>
                    <a:pt x="0" y="0"/>
                  </a:moveTo>
                  <a:lnTo>
                    <a:pt x="0" y="55981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749043" y="2804161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3" name="object 33"/>
          <p:cNvGrpSpPr/>
          <p:nvPr/>
        </p:nvGrpSpPr>
        <p:grpSpPr>
          <a:xfrm>
            <a:off x="4109973" y="2147061"/>
            <a:ext cx="922655" cy="615950"/>
            <a:chOff x="4109973" y="2147061"/>
            <a:chExt cx="922655" cy="615950"/>
          </a:xfrm>
        </p:grpSpPr>
        <p:sp>
          <p:nvSpPr>
            <p:cNvPr id="34" name="object 34"/>
            <p:cNvSpPr/>
            <p:nvPr/>
          </p:nvSpPr>
          <p:spPr>
            <a:xfrm>
              <a:off x="4116323" y="2153411"/>
              <a:ext cx="863600" cy="574675"/>
            </a:xfrm>
            <a:custGeom>
              <a:avLst/>
              <a:gdLst/>
              <a:ahLst/>
              <a:cxnLst/>
              <a:rect l="l" t="t" r="r" b="b"/>
              <a:pathLst>
                <a:path w="863600" h="574675">
                  <a:moveTo>
                    <a:pt x="0" y="0"/>
                  </a:moveTo>
                  <a:lnTo>
                    <a:pt x="863066" y="57442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47698" y="2689073"/>
              <a:ext cx="85090" cy="74295"/>
            </a:xfrm>
            <a:custGeom>
              <a:avLst/>
              <a:gdLst/>
              <a:ahLst/>
              <a:cxnLst/>
              <a:rect l="l" t="t" r="r" b="b"/>
              <a:pathLst>
                <a:path w="85089" h="74294">
                  <a:moveTo>
                    <a:pt x="42227" y="0"/>
                  </a:moveTo>
                  <a:lnTo>
                    <a:pt x="0" y="63436"/>
                  </a:lnTo>
                  <a:lnTo>
                    <a:pt x="84543" y="73939"/>
                  </a:lnTo>
                  <a:lnTo>
                    <a:pt x="422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4771442" y="1354582"/>
            <a:ext cx="76200" cy="573405"/>
            <a:chOff x="4771442" y="1354582"/>
            <a:chExt cx="76200" cy="573405"/>
          </a:xfrm>
        </p:grpSpPr>
        <p:sp>
          <p:nvSpPr>
            <p:cNvPr id="37" name="object 37"/>
            <p:cNvSpPr/>
            <p:nvPr/>
          </p:nvSpPr>
          <p:spPr>
            <a:xfrm>
              <a:off x="4808220" y="1360932"/>
              <a:ext cx="1905" cy="503555"/>
            </a:xfrm>
            <a:custGeom>
              <a:avLst/>
              <a:gdLst/>
              <a:ahLst/>
              <a:cxnLst/>
              <a:rect l="l" t="t" r="r" b="b"/>
              <a:pathLst>
                <a:path w="1904" h="503555">
                  <a:moveTo>
                    <a:pt x="0" y="0"/>
                  </a:moveTo>
                  <a:lnTo>
                    <a:pt x="1358" y="50342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71442" y="1851559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203"/>
                  </a:lnTo>
                  <a:lnTo>
                    <a:pt x="38303" y="763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39"/>
          <p:cNvGrpSpPr/>
          <p:nvPr/>
        </p:nvGrpSpPr>
        <p:grpSpPr>
          <a:xfrm>
            <a:off x="5833669" y="3015742"/>
            <a:ext cx="76200" cy="573405"/>
            <a:chOff x="5833669" y="3015742"/>
            <a:chExt cx="76200" cy="573405"/>
          </a:xfrm>
        </p:grpSpPr>
        <p:sp>
          <p:nvSpPr>
            <p:cNvPr id="40" name="object 40"/>
            <p:cNvSpPr/>
            <p:nvPr/>
          </p:nvSpPr>
          <p:spPr>
            <a:xfrm>
              <a:off x="5870447" y="3022092"/>
              <a:ext cx="1905" cy="503555"/>
            </a:xfrm>
            <a:custGeom>
              <a:avLst/>
              <a:gdLst/>
              <a:ahLst/>
              <a:cxnLst/>
              <a:rect l="l" t="t" r="r" b="b"/>
              <a:pathLst>
                <a:path w="1904" h="503554">
                  <a:moveTo>
                    <a:pt x="0" y="0"/>
                  </a:moveTo>
                  <a:lnTo>
                    <a:pt x="1358" y="50342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833669" y="3512719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203"/>
                  </a:lnTo>
                  <a:lnTo>
                    <a:pt x="38303" y="763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4233469" y="3012694"/>
            <a:ext cx="76200" cy="573405"/>
            <a:chOff x="4233469" y="3012694"/>
            <a:chExt cx="76200" cy="573405"/>
          </a:xfrm>
        </p:grpSpPr>
        <p:sp>
          <p:nvSpPr>
            <p:cNvPr id="43" name="object 43"/>
            <p:cNvSpPr/>
            <p:nvPr/>
          </p:nvSpPr>
          <p:spPr>
            <a:xfrm>
              <a:off x="4270247" y="3019044"/>
              <a:ext cx="1905" cy="503555"/>
            </a:xfrm>
            <a:custGeom>
              <a:avLst/>
              <a:gdLst/>
              <a:ahLst/>
              <a:cxnLst/>
              <a:rect l="l" t="t" r="r" b="b"/>
              <a:pathLst>
                <a:path w="1904" h="503554">
                  <a:moveTo>
                    <a:pt x="0" y="0"/>
                  </a:moveTo>
                  <a:lnTo>
                    <a:pt x="1358" y="50342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33469" y="3509671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203"/>
                  </a:lnTo>
                  <a:lnTo>
                    <a:pt x="38303" y="763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1795070" y="3079750"/>
            <a:ext cx="76200" cy="573405"/>
            <a:chOff x="1795070" y="3079750"/>
            <a:chExt cx="76200" cy="573405"/>
          </a:xfrm>
        </p:grpSpPr>
        <p:sp>
          <p:nvSpPr>
            <p:cNvPr id="46" name="object 46"/>
            <p:cNvSpPr/>
            <p:nvPr/>
          </p:nvSpPr>
          <p:spPr>
            <a:xfrm>
              <a:off x="1831848" y="3086100"/>
              <a:ext cx="1905" cy="503555"/>
            </a:xfrm>
            <a:custGeom>
              <a:avLst/>
              <a:gdLst/>
              <a:ahLst/>
              <a:cxnLst/>
              <a:rect l="l" t="t" r="r" b="b"/>
              <a:pathLst>
                <a:path w="1905" h="503554">
                  <a:moveTo>
                    <a:pt x="0" y="0"/>
                  </a:moveTo>
                  <a:lnTo>
                    <a:pt x="1358" y="50342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795070" y="3576727"/>
              <a:ext cx="76200" cy="76835"/>
            </a:xfrm>
            <a:custGeom>
              <a:avLst/>
              <a:gdLst/>
              <a:ahLst/>
              <a:cxnLst/>
              <a:rect l="l" t="t" r="r" b="b"/>
              <a:pathLst>
                <a:path w="76200" h="76835">
                  <a:moveTo>
                    <a:pt x="76200" y="0"/>
                  </a:moveTo>
                  <a:lnTo>
                    <a:pt x="0" y="203"/>
                  </a:lnTo>
                  <a:lnTo>
                    <a:pt x="38303" y="76301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2848357" y="3331460"/>
            <a:ext cx="508000" cy="76200"/>
            <a:chOff x="2848357" y="3331460"/>
            <a:chExt cx="508000" cy="76200"/>
          </a:xfrm>
        </p:grpSpPr>
        <p:sp>
          <p:nvSpPr>
            <p:cNvPr id="49" name="object 49"/>
            <p:cNvSpPr/>
            <p:nvPr/>
          </p:nvSpPr>
          <p:spPr>
            <a:xfrm>
              <a:off x="2911856" y="3369564"/>
              <a:ext cx="381000" cy="0"/>
            </a:xfrm>
            <a:custGeom>
              <a:avLst/>
              <a:gdLst/>
              <a:ahLst/>
              <a:cxnLst/>
              <a:rect l="l" t="t" r="r" b="b"/>
              <a:pathLst>
                <a:path w="381000">
                  <a:moveTo>
                    <a:pt x="0" y="0"/>
                  </a:moveTo>
                  <a:lnTo>
                    <a:pt x="380631" y="0"/>
                  </a:lnTo>
                </a:path>
              </a:pathLst>
            </a:custGeom>
            <a:ln w="12700">
              <a:solidFill>
                <a:srgbClr val="B5B3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848356" y="3331463"/>
              <a:ext cx="508000" cy="76200"/>
            </a:xfrm>
            <a:custGeom>
              <a:avLst/>
              <a:gdLst/>
              <a:ahLst/>
              <a:cxnLst/>
              <a:rect l="l" t="t" r="r" b="b"/>
              <a:pathLst>
                <a:path w="5080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  <a:path w="508000" h="76200">
                  <a:moveTo>
                    <a:pt x="507619" y="38100"/>
                  </a:moveTo>
                  <a:lnTo>
                    <a:pt x="431419" y="0"/>
                  </a:lnTo>
                  <a:lnTo>
                    <a:pt x="431419" y="76200"/>
                  </a:lnTo>
                  <a:lnTo>
                    <a:pt x="507619" y="38100"/>
                  </a:lnTo>
                  <a:close/>
                </a:path>
              </a:pathLst>
            </a:custGeom>
            <a:solidFill>
              <a:srgbClr val="B5B3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01167"/>
            <a:ext cx="9153525" cy="902335"/>
            <a:chOff x="-4762" y="201167"/>
            <a:chExt cx="9153525" cy="902335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7"/>
              <a:ext cx="5538215" cy="90220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8612" y="311150"/>
            <a:ext cx="5027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75" dirty="0"/>
              <a:t>A</a:t>
            </a:r>
            <a:r>
              <a:rPr sz="3200" spc="-90" dirty="0"/>
              <a:t> multithreaded</a:t>
            </a:r>
            <a:r>
              <a:rPr sz="3200" spc="-75" dirty="0"/>
              <a:t> </a:t>
            </a:r>
            <a:r>
              <a:rPr sz="3200" spc="-10" dirty="0"/>
              <a:t>program</a:t>
            </a:r>
            <a:endParaRPr sz="3200"/>
          </a:p>
        </p:txBody>
      </p:sp>
      <p:grpSp>
        <p:nvGrpSpPr>
          <p:cNvPr id="6" name="object 6"/>
          <p:cNvGrpSpPr/>
          <p:nvPr/>
        </p:nvGrpSpPr>
        <p:grpSpPr>
          <a:xfrm>
            <a:off x="76200" y="318515"/>
            <a:ext cx="4808220" cy="3954779"/>
            <a:chOff x="76200" y="318515"/>
            <a:chExt cx="4808220" cy="39547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512892" y="1093730"/>
              <a:ext cx="1371600" cy="3180080"/>
            </a:xfrm>
            <a:custGeom>
              <a:avLst/>
              <a:gdLst/>
              <a:ahLst/>
              <a:cxnLst/>
              <a:rect l="l" t="t" r="r" b="b"/>
              <a:pathLst>
                <a:path w="1371600" h="3180079">
                  <a:moveTo>
                    <a:pt x="1371057" y="3179478"/>
                  </a:moveTo>
                  <a:lnTo>
                    <a:pt x="0" y="3179478"/>
                  </a:lnTo>
                  <a:lnTo>
                    <a:pt x="0" y="0"/>
                  </a:lnTo>
                  <a:lnTo>
                    <a:pt x="1371057" y="0"/>
                  </a:lnTo>
                  <a:lnTo>
                    <a:pt x="1371057" y="3179478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01331" y="1382774"/>
              <a:ext cx="865505" cy="362585"/>
            </a:xfrm>
            <a:custGeom>
              <a:avLst/>
              <a:gdLst/>
              <a:ahLst/>
              <a:cxnLst/>
              <a:rect l="l" t="t" r="r" b="b"/>
              <a:pathLst>
                <a:path w="865504" h="362585">
                  <a:moveTo>
                    <a:pt x="432663" y="362267"/>
                  </a:moveTo>
                  <a:lnTo>
                    <a:pt x="376896" y="360340"/>
                  </a:lnTo>
                  <a:lnTo>
                    <a:pt x="321131" y="354557"/>
                  </a:lnTo>
                  <a:lnTo>
                    <a:pt x="267288" y="348778"/>
                  </a:lnTo>
                  <a:lnTo>
                    <a:pt x="217292" y="337215"/>
                  </a:lnTo>
                  <a:lnTo>
                    <a:pt x="169218" y="323728"/>
                  </a:lnTo>
                  <a:lnTo>
                    <a:pt x="126916" y="308312"/>
                  </a:lnTo>
                  <a:lnTo>
                    <a:pt x="88455" y="290970"/>
                  </a:lnTo>
                  <a:lnTo>
                    <a:pt x="32690" y="250502"/>
                  </a:lnTo>
                  <a:lnTo>
                    <a:pt x="3847" y="204257"/>
                  </a:lnTo>
                  <a:lnTo>
                    <a:pt x="0" y="181131"/>
                  </a:lnTo>
                  <a:lnTo>
                    <a:pt x="3847" y="158010"/>
                  </a:lnTo>
                  <a:lnTo>
                    <a:pt x="32690" y="111761"/>
                  </a:lnTo>
                  <a:lnTo>
                    <a:pt x="88455" y="71297"/>
                  </a:lnTo>
                  <a:lnTo>
                    <a:pt x="126916" y="53954"/>
                  </a:lnTo>
                  <a:lnTo>
                    <a:pt x="169218" y="38539"/>
                  </a:lnTo>
                  <a:lnTo>
                    <a:pt x="217292" y="25048"/>
                  </a:lnTo>
                  <a:lnTo>
                    <a:pt x="267288" y="13488"/>
                  </a:lnTo>
                  <a:lnTo>
                    <a:pt x="321131" y="5780"/>
                  </a:lnTo>
                  <a:lnTo>
                    <a:pt x="376896" y="1926"/>
                  </a:lnTo>
                  <a:lnTo>
                    <a:pt x="432663" y="0"/>
                  </a:lnTo>
                  <a:lnTo>
                    <a:pt x="488427" y="1926"/>
                  </a:lnTo>
                  <a:lnTo>
                    <a:pt x="544192" y="5780"/>
                  </a:lnTo>
                  <a:lnTo>
                    <a:pt x="598034" y="13488"/>
                  </a:lnTo>
                  <a:lnTo>
                    <a:pt x="649954" y="25048"/>
                  </a:lnTo>
                  <a:lnTo>
                    <a:pt x="696104" y="38539"/>
                  </a:lnTo>
                  <a:lnTo>
                    <a:pt x="738409" y="53954"/>
                  </a:lnTo>
                  <a:lnTo>
                    <a:pt x="776868" y="71297"/>
                  </a:lnTo>
                  <a:lnTo>
                    <a:pt x="832635" y="111761"/>
                  </a:lnTo>
                  <a:lnTo>
                    <a:pt x="861477" y="158010"/>
                  </a:lnTo>
                  <a:lnTo>
                    <a:pt x="865325" y="181131"/>
                  </a:lnTo>
                  <a:lnTo>
                    <a:pt x="861477" y="204257"/>
                  </a:lnTo>
                  <a:lnTo>
                    <a:pt x="832635" y="250502"/>
                  </a:lnTo>
                  <a:lnTo>
                    <a:pt x="776868" y="290970"/>
                  </a:lnTo>
                  <a:lnTo>
                    <a:pt x="738409" y="308312"/>
                  </a:lnTo>
                  <a:lnTo>
                    <a:pt x="696104" y="323728"/>
                  </a:lnTo>
                  <a:lnTo>
                    <a:pt x="649954" y="337215"/>
                  </a:lnTo>
                  <a:lnTo>
                    <a:pt x="598034" y="348778"/>
                  </a:lnTo>
                  <a:lnTo>
                    <a:pt x="544192" y="354557"/>
                  </a:lnTo>
                  <a:lnTo>
                    <a:pt x="488427" y="360340"/>
                  </a:lnTo>
                  <a:lnTo>
                    <a:pt x="432663" y="36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01332" y="1382773"/>
              <a:ext cx="865505" cy="362585"/>
            </a:xfrm>
            <a:custGeom>
              <a:avLst/>
              <a:gdLst/>
              <a:ahLst/>
              <a:cxnLst/>
              <a:rect l="l" t="t" r="r" b="b"/>
              <a:pathLst>
                <a:path w="865504" h="362585">
                  <a:moveTo>
                    <a:pt x="0" y="181133"/>
                  </a:moveTo>
                  <a:lnTo>
                    <a:pt x="15383" y="134886"/>
                  </a:lnTo>
                  <a:lnTo>
                    <a:pt x="57688" y="90566"/>
                  </a:lnTo>
                  <a:lnTo>
                    <a:pt x="126914" y="53954"/>
                  </a:lnTo>
                  <a:lnTo>
                    <a:pt x="169218" y="38539"/>
                  </a:lnTo>
                  <a:lnTo>
                    <a:pt x="217292" y="25050"/>
                  </a:lnTo>
                  <a:lnTo>
                    <a:pt x="267288" y="13488"/>
                  </a:lnTo>
                  <a:lnTo>
                    <a:pt x="321131" y="5780"/>
                  </a:lnTo>
                  <a:lnTo>
                    <a:pt x="376896" y="1926"/>
                  </a:lnTo>
                  <a:lnTo>
                    <a:pt x="432661" y="0"/>
                  </a:lnTo>
                  <a:lnTo>
                    <a:pt x="488427" y="1926"/>
                  </a:lnTo>
                  <a:lnTo>
                    <a:pt x="544192" y="5780"/>
                  </a:lnTo>
                  <a:lnTo>
                    <a:pt x="598034" y="13488"/>
                  </a:lnTo>
                  <a:lnTo>
                    <a:pt x="649954" y="25050"/>
                  </a:lnTo>
                  <a:lnTo>
                    <a:pt x="696104" y="38539"/>
                  </a:lnTo>
                  <a:lnTo>
                    <a:pt x="738409" y="53954"/>
                  </a:lnTo>
                  <a:lnTo>
                    <a:pt x="776868" y="71297"/>
                  </a:lnTo>
                  <a:lnTo>
                    <a:pt x="832633" y="111763"/>
                  </a:lnTo>
                  <a:lnTo>
                    <a:pt x="861477" y="158010"/>
                  </a:lnTo>
                  <a:lnTo>
                    <a:pt x="865323" y="181133"/>
                  </a:lnTo>
                  <a:lnTo>
                    <a:pt x="861477" y="204257"/>
                  </a:lnTo>
                  <a:lnTo>
                    <a:pt x="832633" y="250504"/>
                  </a:lnTo>
                  <a:lnTo>
                    <a:pt x="776868" y="290970"/>
                  </a:lnTo>
                  <a:lnTo>
                    <a:pt x="738409" y="308312"/>
                  </a:lnTo>
                  <a:lnTo>
                    <a:pt x="696104" y="323728"/>
                  </a:lnTo>
                  <a:lnTo>
                    <a:pt x="649954" y="337217"/>
                  </a:lnTo>
                  <a:lnTo>
                    <a:pt x="598034" y="348778"/>
                  </a:lnTo>
                  <a:lnTo>
                    <a:pt x="544192" y="354559"/>
                  </a:lnTo>
                  <a:lnTo>
                    <a:pt x="488427" y="360340"/>
                  </a:lnTo>
                  <a:lnTo>
                    <a:pt x="432661" y="362267"/>
                  </a:lnTo>
                  <a:lnTo>
                    <a:pt x="376896" y="360340"/>
                  </a:lnTo>
                  <a:lnTo>
                    <a:pt x="321131" y="354559"/>
                  </a:lnTo>
                  <a:lnTo>
                    <a:pt x="267288" y="348778"/>
                  </a:lnTo>
                  <a:lnTo>
                    <a:pt x="217292" y="337217"/>
                  </a:lnTo>
                  <a:lnTo>
                    <a:pt x="169218" y="323728"/>
                  </a:lnTo>
                  <a:lnTo>
                    <a:pt x="126914" y="308312"/>
                  </a:lnTo>
                  <a:lnTo>
                    <a:pt x="88455" y="290970"/>
                  </a:lnTo>
                  <a:lnTo>
                    <a:pt x="32690" y="250504"/>
                  </a:lnTo>
                  <a:lnTo>
                    <a:pt x="3845" y="204257"/>
                  </a:lnTo>
                  <a:lnTo>
                    <a:pt x="0" y="181133"/>
                  </a:lnTo>
                  <a:close/>
                </a:path>
              </a:pathLst>
            </a:custGeom>
            <a:ln w="3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801331" y="3695120"/>
              <a:ext cx="865505" cy="362585"/>
            </a:xfrm>
            <a:custGeom>
              <a:avLst/>
              <a:gdLst/>
              <a:ahLst/>
              <a:cxnLst/>
              <a:rect l="l" t="t" r="r" b="b"/>
              <a:pathLst>
                <a:path w="865504" h="362585">
                  <a:moveTo>
                    <a:pt x="432663" y="362267"/>
                  </a:moveTo>
                  <a:lnTo>
                    <a:pt x="376896" y="360340"/>
                  </a:lnTo>
                  <a:lnTo>
                    <a:pt x="321131" y="354559"/>
                  </a:lnTo>
                  <a:lnTo>
                    <a:pt x="267288" y="348778"/>
                  </a:lnTo>
                  <a:lnTo>
                    <a:pt x="217292" y="337217"/>
                  </a:lnTo>
                  <a:lnTo>
                    <a:pt x="169218" y="323728"/>
                  </a:lnTo>
                  <a:lnTo>
                    <a:pt x="126916" y="308312"/>
                  </a:lnTo>
                  <a:lnTo>
                    <a:pt x="88455" y="290970"/>
                  </a:lnTo>
                  <a:lnTo>
                    <a:pt x="32690" y="250504"/>
                  </a:lnTo>
                  <a:lnTo>
                    <a:pt x="3847" y="204257"/>
                  </a:lnTo>
                  <a:lnTo>
                    <a:pt x="0" y="181133"/>
                  </a:lnTo>
                  <a:lnTo>
                    <a:pt x="3847" y="158010"/>
                  </a:lnTo>
                  <a:lnTo>
                    <a:pt x="32690" y="111763"/>
                  </a:lnTo>
                  <a:lnTo>
                    <a:pt x="88455" y="71297"/>
                  </a:lnTo>
                  <a:lnTo>
                    <a:pt x="126916" y="53954"/>
                  </a:lnTo>
                  <a:lnTo>
                    <a:pt x="169218" y="38539"/>
                  </a:lnTo>
                  <a:lnTo>
                    <a:pt x="217292" y="25050"/>
                  </a:lnTo>
                  <a:lnTo>
                    <a:pt x="267288" y="13488"/>
                  </a:lnTo>
                  <a:lnTo>
                    <a:pt x="321131" y="5780"/>
                  </a:lnTo>
                  <a:lnTo>
                    <a:pt x="376896" y="1926"/>
                  </a:lnTo>
                  <a:lnTo>
                    <a:pt x="432663" y="0"/>
                  </a:lnTo>
                  <a:lnTo>
                    <a:pt x="488427" y="1926"/>
                  </a:lnTo>
                  <a:lnTo>
                    <a:pt x="544192" y="5780"/>
                  </a:lnTo>
                  <a:lnTo>
                    <a:pt x="598034" y="13488"/>
                  </a:lnTo>
                  <a:lnTo>
                    <a:pt x="649954" y="25050"/>
                  </a:lnTo>
                  <a:lnTo>
                    <a:pt x="696104" y="38539"/>
                  </a:lnTo>
                  <a:lnTo>
                    <a:pt x="738409" y="53954"/>
                  </a:lnTo>
                  <a:lnTo>
                    <a:pt x="776868" y="71297"/>
                  </a:lnTo>
                  <a:lnTo>
                    <a:pt x="832635" y="111763"/>
                  </a:lnTo>
                  <a:lnTo>
                    <a:pt x="861477" y="158010"/>
                  </a:lnTo>
                  <a:lnTo>
                    <a:pt x="865325" y="181133"/>
                  </a:lnTo>
                  <a:lnTo>
                    <a:pt x="861477" y="204257"/>
                  </a:lnTo>
                  <a:lnTo>
                    <a:pt x="832635" y="250504"/>
                  </a:lnTo>
                  <a:lnTo>
                    <a:pt x="776868" y="290970"/>
                  </a:lnTo>
                  <a:lnTo>
                    <a:pt x="738409" y="308312"/>
                  </a:lnTo>
                  <a:lnTo>
                    <a:pt x="696104" y="323728"/>
                  </a:lnTo>
                  <a:lnTo>
                    <a:pt x="649954" y="337217"/>
                  </a:lnTo>
                  <a:lnTo>
                    <a:pt x="598034" y="348778"/>
                  </a:lnTo>
                  <a:lnTo>
                    <a:pt x="544192" y="354559"/>
                  </a:lnTo>
                  <a:lnTo>
                    <a:pt x="488427" y="360340"/>
                  </a:lnTo>
                  <a:lnTo>
                    <a:pt x="432663" y="36226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801332" y="3695120"/>
              <a:ext cx="865505" cy="362585"/>
            </a:xfrm>
            <a:custGeom>
              <a:avLst/>
              <a:gdLst/>
              <a:ahLst/>
              <a:cxnLst/>
              <a:rect l="l" t="t" r="r" b="b"/>
              <a:pathLst>
                <a:path w="865504" h="362585">
                  <a:moveTo>
                    <a:pt x="0" y="181133"/>
                  </a:moveTo>
                  <a:lnTo>
                    <a:pt x="15383" y="134886"/>
                  </a:lnTo>
                  <a:lnTo>
                    <a:pt x="57688" y="90566"/>
                  </a:lnTo>
                  <a:lnTo>
                    <a:pt x="126914" y="53954"/>
                  </a:lnTo>
                  <a:lnTo>
                    <a:pt x="169218" y="38539"/>
                  </a:lnTo>
                  <a:lnTo>
                    <a:pt x="217292" y="25050"/>
                  </a:lnTo>
                  <a:lnTo>
                    <a:pt x="267288" y="13488"/>
                  </a:lnTo>
                  <a:lnTo>
                    <a:pt x="321131" y="5780"/>
                  </a:lnTo>
                  <a:lnTo>
                    <a:pt x="376896" y="1926"/>
                  </a:lnTo>
                  <a:lnTo>
                    <a:pt x="432661" y="0"/>
                  </a:lnTo>
                  <a:lnTo>
                    <a:pt x="488427" y="1926"/>
                  </a:lnTo>
                  <a:lnTo>
                    <a:pt x="544192" y="5780"/>
                  </a:lnTo>
                  <a:lnTo>
                    <a:pt x="598034" y="13488"/>
                  </a:lnTo>
                  <a:lnTo>
                    <a:pt x="649954" y="25050"/>
                  </a:lnTo>
                  <a:lnTo>
                    <a:pt x="696104" y="38539"/>
                  </a:lnTo>
                  <a:lnTo>
                    <a:pt x="738409" y="53954"/>
                  </a:lnTo>
                  <a:lnTo>
                    <a:pt x="776868" y="71297"/>
                  </a:lnTo>
                  <a:lnTo>
                    <a:pt x="832633" y="111763"/>
                  </a:lnTo>
                  <a:lnTo>
                    <a:pt x="861477" y="158010"/>
                  </a:lnTo>
                  <a:lnTo>
                    <a:pt x="865323" y="181133"/>
                  </a:lnTo>
                  <a:lnTo>
                    <a:pt x="861477" y="204257"/>
                  </a:lnTo>
                  <a:lnTo>
                    <a:pt x="832633" y="250504"/>
                  </a:lnTo>
                  <a:lnTo>
                    <a:pt x="776868" y="290970"/>
                  </a:lnTo>
                  <a:lnTo>
                    <a:pt x="738409" y="308312"/>
                  </a:lnTo>
                  <a:lnTo>
                    <a:pt x="696104" y="323728"/>
                  </a:lnTo>
                  <a:lnTo>
                    <a:pt x="649954" y="337217"/>
                  </a:lnTo>
                  <a:lnTo>
                    <a:pt x="598034" y="348778"/>
                  </a:lnTo>
                  <a:lnTo>
                    <a:pt x="544192" y="354559"/>
                  </a:lnTo>
                  <a:lnTo>
                    <a:pt x="488427" y="360340"/>
                  </a:lnTo>
                  <a:lnTo>
                    <a:pt x="432661" y="362267"/>
                  </a:lnTo>
                  <a:lnTo>
                    <a:pt x="376896" y="360340"/>
                  </a:lnTo>
                  <a:lnTo>
                    <a:pt x="321131" y="354559"/>
                  </a:lnTo>
                  <a:lnTo>
                    <a:pt x="267288" y="348778"/>
                  </a:lnTo>
                  <a:lnTo>
                    <a:pt x="217292" y="337217"/>
                  </a:lnTo>
                  <a:lnTo>
                    <a:pt x="169218" y="323728"/>
                  </a:lnTo>
                  <a:lnTo>
                    <a:pt x="126914" y="308312"/>
                  </a:lnTo>
                  <a:lnTo>
                    <a:pt x="88455" y="290970"/>
                  </a:lnTo>
                  <a:lnTo>
                    <a:pt x="32690" y="250504"/>
                  </a:lnTo>
                  <a:lnTo>
                    <a:pt x="3845" y="204257"/>
                  </a:lnTo>
                  <a:lnTo>
                    <a:pt x="0" y="181133"/>
                  </a:lnTo>
                  <a:close/>
                </a:path>
              </a:pathLst>
            </a:custGeom>
            <a:ln w="3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801331" y="3153646"/>
              <a:ext cx="865505" cy="360680"/>
            </a:xfrm>
            <a:custGeom>
              <a:avLst/>
              <a:gdLst/>
              <a:ahLst/>
              <a:cxnLst/>
              <a:rect l="l" t="t" r="r" b="b"/>
              <a:pathLst>
                <a:path w="865504" h="360679">
                  <a:moveTo>
                    <a:pt x="488428" y="360340"/>
                  </a:moveTo>
                  <a:lnTo>
                    <a:pt x="432663" y="360340"/>
                  </a:lnTo>
                  <a:lnTo>
                    <a:pt x="376896" y="360340"/>
                  </a:lnTo>
                  <a:lnTo>
                    <a:pt x="321133" y="354557"/>
                  </a:lnTo>
                  <a:lnTo>
                    <a:pt x="267290" y="346852"/>
                  </a:lnTo>
                  <a:lnTo>
                    <a:pt x="217294" y="337215"/>
                  </a:lnTo>
                  <a:lnTo>
                    <a:pt x="169218" y="323728"/>
                  </a:lnTo>
                  <a:lnTo>
                    <a:pt x="126916" y="308312"/>
                  </a:lnTo>
                  <a:lnTo>
                    <a:pt x="88455" y="290970"/>
                  </a:lnTo>
                  <a:lnTo>
                    <a:pt x="32690" y="250502"/>
                  </a:lnTo>
                  <a:lnTo>
                    <a:pt x="3847" y="204257"/>
                  </a:lnTo>
                  <a:lnTo>
                    <a:pt x="0" y="181131"/>
                  </a:lnTo>
                  <a:lnTo>
                    <a:pt x="3847" y="156083"/>
                  </a:lnTo>
                  <a:lnTo>
                    <a:pt x="32690" y="111761"/>
                  </a:lnTo>
                  <a:lnTo>
                    <a:pt x="88455" y="71297"/>
                  </a:lnTo>
                  <a:lnTo>
                    <a:pt x="126916" y="52027"/>
                  </a:lnTo>
                  <a:lnTo>
                    <a:pt x="169218" y="36612"/>
                  </a:lnTo>
                  <a:lnTo>
                    <a:pt x="217294" y="23121"/>
                  </a:lnTo>
                  <a:lnTo>
                    <a:pt x="267290" y="13488"/>
                  </a:lnTo>
                  <a:lnTo>
                    <a:pt x="321133" y="5778"/>
                  </a:lnTo>
                  <a:lnTo>
                    <a:pt x="376896" y="1926"/>
                  </a:lnTo>
                  <a:lnTo>
                    <a:pt x="432663" y="0"/>
                  </a:lnTo>
                  <a:lnTo>
                    <a:pt x="488428" y="1926"/>
                  </a:lnTo>
                  <a:lnTo>
                    <a:pt x="544194" y="5778"/>
                  </a:lnTo>
                  <a:lnTo>
                    <a:pt x="598036" y="13488"/>
                  </a:lnTo>
                  <a:lnTo>
                    <a:pt x="649956" y="23121"/>
                  </a:lnTo>
                  <a:lnTo>
                    <a:pt x="696106" y="36612"/>
                  </a:lnTo>
                  <a:lnTo>
                    <a:pt x="738411" y="52027"/>
                  </a:lnTo>
                  <a:lnTo>
                    <a:pt x="776868" y="71297"/>
                  </a:lnTo>
                  <a:lnTo>
                    <a:pt x="832635" y="111761"/>
                  </a:lnTo>
                  <a:lnTo>
                    <a:pt x="861477" y="156083"/>
                  </a:lnTo>
                  <a:lnTo>
                    <a:pt x="865325" y="181131"/>
                  </a:lnTo>
                  <a:lnTo>
                    <a:pt x="861477" y="204257"/>
                  </a:lnTo>
                  <a:lnTo>
                    <a:pt x="832635" y="250502"/>
                  </a:lnTo>
                  <a:lnTo>
                    <a:pt x="776868" y="290970"/>
                  </a:lnTo>
                  <a:lnTo>
                    <a:pt x="738411" y="308312"/>
                  </a:lnTo>
                  <a:lnTo>
                    <a:pt x="696106" y="323728"/>
                  </a:lnTo>
                  <a:lnTo>
                    <a:pt x="649956" y="337215"/>
                  </a:lnTo>
                  <a:lnTo>
                    <a:pt x="598036" y="346852"/>
                  </a:lnTo>
                  <a:lnTo>
                    <a:pt x="544194" y="354557"/>
                  </a:lnTo>
                  <a:lnTo>
                    <a:pt x="488428" y="360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01332" y="3153646"/>
              <a:ext cx="865505" cy="360680"/>
            </a:xfrm>
            <a:custGeom>
              <a:avLst/>
              <a:gdLst/>
              <a:ahLst/>
              <a:cxnLst/>
              <a:rect l="l" t="t" r="r" b="b"/>
              <a:pathLst>
                <a:path w="865504" h="360679">
                  <a:moveTo>
                    <a:pt x="0" y="181133"/>
                  </a:moveTo>
                  <a:lnTo>
                    <a:pt x="15383" y="132959"/>
                  </a:lnTo>
                  <a:lnTo>
                    <a:pt x="57688" y="90566"/>
                  </a:lnTo>
                  <a:lnTo>
                    <a:pt x="126914" y="52027"/>
                  </a:lnTo>
                  <a:lnTo>
                    <a:pt x="169218" y="36612"/>
                  </a:lnTo>
                  <a:lnTo>
                    <a:pt x="217292" y="23123"/>
                  </a:lnTo>
                  <a:lnTo>
                    <a:pt x="267288" y="13488"/>
                  </a:lnTo>
                  <a:lnTo>
                    <a:pt x="321131" y="5780"/>
                  </a:lnTo>
                  <a:lnTo>
                    <a:pt x="376896" y="1926"/>
                  </a:lnTo>
                  <a:lnTo>
                    <a:pt x="432661" y="0"/>
                  </a:lnTo>
                  <a:lnTo>
                    <a:pt x="488427" y="1926"/>
                  </a:lnTo>
                  <a:lnTo>
                    <a:pt x="544192" y="5780"/>
                  </a:lnTo>
                  <a:lnTo>
                    <a:pt x="598034" y="13488"/>
                  </a:lnTo>
                  <a:lnTo>
                    <a:pt x="649954" y="23123"/>
                  </a:lnTo>
                  <a:lnTo>
                    <a:pt x="696104" y="36612"/>
                  </a:lnTo>
                  <a:lnTo>
                    <a:pt x="738409" y="52027"/>
                  </a:lnTo>
                  <a:lnTo>
                    <a:pt x="776868" y="71297"/>
                  </a:lnTo>
                  <a:lnTo>
                    <a:pt x="832633" y="111763"/>
                  </a:lnTo>
                  <a:lnTo>
                    <a:pt x="861477" y="156083"/>
                  </a:lnTo>
                  <a:lnTo>
                    <a:pt x="865323" y="181133"/>
                  </a:lnTo>
                  <a:lnTo>
                    <a:pt x="861477" y="204257"/>
                  </a:lnTo>
                  <a:lnTo>
                    <a:pt x="832633" y="250504"/>
                  </a:lnTo>
                  <a:lnTo>
                    <a:pt x="776868" y="290970"/>
                  </a:lnTo>
                  <a:lnTo>
                    <a:pt x="738409" y="308312"/>
                  </a:lnTo>
                  <a:lnTo>
                    <a:pt x="696104" y="323728"/>
                  </a:lnTo>
                  <a:lnTo>
                    <a:pt x="649954" y="337217"/>
                  </a:lnTo>
                  <a:lnTo>
                    <a:pt x="598034" y="346852"/>
                  </a:lnTo>
                  <a:lnTo>
                    <a:pt x="544192" y="354559"/>
                  </a:lnTo>
                  <a:lnTo>
                    <a:pt x="488427" y="360340"/>
                  </a:lnTo>
                  <a:lnTo>
                    <a:pt x="432661" y="360340"/>
                  </a:lnTo>
                  <a:lnTo>
                    <a:pt x="376896" y="360340"/>
                  </a:lnTo>
                  <a:lnTo>
                    <a:pt x="321131" y="354559"/>
                  </a:lnTo>
                  <a:lnTo>
                    <a:pt x="267288" y="346852"/>
                  </a:lnTo>
                  <a:lnTo>
                    <a:pt x="217292" y="337217"/>
                  </a:lnTo>
                  <a:lnTo>
                    <a:pt x="169218" y="323728"/>
                  </a:lnTo>
                  <a:lnTo>
                    <a:pt x="126914" y="308312"/>
                  </a:lnTo>
                  <a:lnTo>
                    <a:pt x="88455" y="290970"/>
                  </a:lnTo>
                  <a:lnTo>
                    <a:pt x="32690" y="250504"/>
                  </a:lnTo>
                  <a:lnTo>
                    <a:pt x="3845" y="204257"/>
                  </a:lnTo>
                  <a:lnTo>
                    <a:pt x="0" y="181133"/>
                  </a:lnTo>
                  <a:close/>
                </a:path>
              </a:pathLst>
            </a:custGeom>
            <a:ln w="3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01331" y="2575560"/>
              <a:ext cx="865505" cy="360680"/>
            </a:xfrm>
            <a:custGeom>
              <a:avLst/>
              <a:gdLst/>
              <a:ahLst/>
              <a:cxnLst/>
              <a:rect l="l" t="t" r="r" b="b"/>
              <a:pathLst>
                <a:path w="865504" h="360680">
                  <a:moveTo>
                    <a:pt x="488428" y="360338"/>
                  </a:moveTo>
                  <a:lnTo>
                    <a:pt x="432663" y="360338"/>
                  </a:lnTo>
                  <a:lnTo>
                    <a:pt x="376896" y="360338"/>
                  </a:lnTo>
                  <a:lnTo>
                    <a:pt x="321133" y="354557"/>
                  </a:lnTo>
                  <a:lnTo>
                    <a:pt x="267290" y="346852"/>
                  </a:lnTo>
                  <a:lnTo>
                    <a:pt x="217294" y="337215"/>
                  </a:lnTo>
                  <a:lnTo>
                    <a:pt x="169218" y="323726"/>
                  </a:lnTo>
                  <a:lnTo>
                    <a:pt x="126916" y="308310"/>
                  </a:lnTo>
                  <a:lnTo>
                    <a:pt x="88455" y="290968"/>
                  </a:lnTo>
                  <a:lnTo>
                    <a:pt x="32690" y="250502"/>
                  </a:lnTo>
                  <a:lnTo>
                    <a:pt x="3847" y="204255"/>
                  </a:lnTo>
                  <a:lnTo>
                    <a:pt x="0" y="181131"/>
                  </a:lnTo>
                  <a:lnTo>
                    <a:pt x="3847" y="156083"/>
                  </a:lnTo>
                  <a:lnTo>
                    <a:pt x="32690" y="111761"/>
                  </a:lnTo>
                  <a:lnTo>
                    <a:pt x="88455" y="71297"/>
                  </a:lnTo>
                  <a:lnTo>
                    <a:pt x="126916" y="52027"/>
                  </a:lnTo>
                  <a:lnTo>
                    <a:pt x="169218" y="36612"/>
                  </a:lnTo>
                  <a:lnTo>
                    <a:pt x="217294" y="23121"/>
                  </a:lnTo>
                  <a:lnTo>
                    <a:pt x="267290" y="13486"/>
                  </a:lnTo>
                  <a:lnTo>
                    <a:pt x="321133" y="5778"/>
                  </a:lnTo>
                  <a:lnTo>
                    <a:pt x="376896" y="1926"/>
                  </a:lnTo>
                  <a:lnTo>
                    <a:pt x="432663" y="0"/>
                  </a:lnTo>
                  <a:lnTo>
                    <a:pt x="488428" y="1926"/>
                  </a:lnTo>
                  <a:lnTo>
                    <a:pt x="544194" y="5778"/>
                  </a:lnTo>
                  <a:lnTo>
                    <a:pt x="598036" y="13486"/>
                  </a:lnTo>
                  <a:lnTo>
                    <a:pt x="649956" y="23121"/>
                  </a:lnTo>
                  <a:lnTo>
                    <a:pt x="696106" y="36612"/>
                  </a:lnTo>
                  <a:lnTo>
                    <a:pt x="738411" y="52027"/>
                  </a:lnTo>
                  <a:lnTo>
                    <a:pt x="776868" y="71297"/>
                  </a:lnTo>
                  <a:lnTo>
                    <a:pt x="832635" y="111761"/>
                  </a:lnTo>
                  <a:lnTo>
                    <a:pt x="861477" y="156083"/>
                  </a:lnTo>
                  <a:lnTo>
                    <a:pt x="865325" y="181131"/>
                  </a:lnTo>
                  <a:lnTo>
                    <a:pt x="861477" y="204255"/>
                  </a:lnTo>
                  <a:lnTo>
                    <a:pt x="832635" y="250502"/>
                  </a:lnTo>
                  <a:lnTo>
                    <a:pt x="776868" y="290968"/>
                  </a:lnTo>
                  <a:lnTo>
                    <a:pt x="738411" y="308310"/>
                  </a:lnTo>
                  <a:lnTo>
                    <a:pt x="696106" y="323726"/>
                  </a:lnTo>
                  <a:lnTo>
                    <a:pt x="649956" y="337215"/>
                  </a:lnTo>
                  <a:lnTo>
                    <a:pt x="598036" y="346852"/>
                  </a:lnTo>
                  <a:lnTo>
                    <a:pt x="544194" y="354557"/>
                  </a:lnTo>
                  <a:lnTo>
                    <a:pt x="488428" y="36033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01332" y="2575559"/>
              <a:ext cx="865505" cy="360680"/>
            </a:xfrm>
            <a:custGeom>
              <a:avLst/>
              <a:gdLst/>
              <a:ahLst/>
              <a:cxnLst/>
              <a:rect l="l" t="t" r="r" b="b"/>
              <a:pathLst>
                <a:path w="865504" h="360680">
                  <a:moveTo>
                    <a:pt x="0" y="181133"/>
                  </a:moveTo>
                  <a:lnTo>
                    <a:pt x="15383" y="132959"/>
                  </a:lnTo>
                  <a:lnTo>
                    <a:pt x="57688" y="90566"/>
                  </a:lnTo>
                  <a:lnTo>
                    <a:pt x="126914" y="52027"/>
                  </a:lnTo>
                  <a:lnTo>
                    <a:pt x="169218" y="36612"/>
                  </a:lnTo>
                  <a:lnTo>
                    <a:pt x="217292" y="23123"/>
                  </a:lnTo>
                  <a:lnTo>
                    <a:pt x="267288" y="13488"/>
                  </a:lnTo>
                  <a:lnTo>
                    <a:pt x="321131" y="5780"/>
                  </a:lnTo>
                  <a:lnTo>
                    <a:pt x="376896" y="1926"/>
                  </a:lnTo>
                  <a:lnTo>
                    <a:pt x="432661" y="0"/>
                  </a:lnTo>
                  <a:lnTo>
                    <a:pt x="488427" y="1926"/>
                  </a:lnTo>
                  <a:lnTo>
                    <a:pt x="544192" y="5780"/>
                  </a:lnTo>
                  <a:lnTo>
                    <a:pt x="598034" y="13488"/>
                  </a:lnTo>
                  <a:lnTo>
                    <a:pt x="649954" y="23123"/>
                  </a:lnTo>
                  <a:lnTo>
                    <a:pt x="696104" y="36612"/>
                  </a:lnTo>
                  <a:lnTo>
                    <a:pt x="738409" y="52027"/>
                  </a:lnTo>
                  <a:lnTo>
                    <a:pt x="776868" y="71297"/>
                  </a:lnTo>
                  <a:lnTo>
                    <a:pt x="832633" y="111763"/>
                  </a:lnTo>
                  <a:lnTo>
                    <a:pt x="861477" y="156083"/>
                  </a:lnTo>
                  <a:lnTo>
                    <a:pt x="865323" y="181133"/>
                  </a:lnTo>
                  <a:lnTo>
                    <a:pt x="861477" y="204257"/>
                  </a:lnTo>
                  <a:lnTo>
                    <a:pt x="832633" y="250504"/>
                  </a:lnTo>
                  <a:lnTo>
                    <a:pt x="776868" y="290970"/>
                  </a:lnTo>
                  <a:lnTo>
                    <a:pt x="738409" y="308312"/>
                  </a:lnTo>
                  <a:lnTo>
                    <a:pt x="696104" y="323728"/>
                  </a:lnTo>
                  <a:lnTo>
                    <a:pt x="649954" y="337217"/>
                  </a:lnTo>
                  <a:lnTo>
                    <a:pt x="598034" y="346852"/>
                  </a:lnTo>
                  <a:lnTo>
                    <a:pt x="544192" y="354559"/>
                  </a:lnTo>
                  <a:lnTo>
                    <a:pt x="488427" y="360340"/>
                  </a:lnTo>
                  <a:lnTo>
                    <a:pt x="432661" y="360340"/>
                  </a:lnTo>
                  <a:lnTo>
                    <a:pt x="376896" y="360340"/>
                  </a:lnTo>
                  <a:lnTo>
                    <a:pt x="321131" y="354559"/>
                  </a:lnTo>
                  <a:lnTo>
                    <a:pt x="267288" y="346852"/>
                  </a:lnTo>
                  <a:lnTo>
                    <a:pt x="217292" y="337217"/>
                  </a:lnTo>
                  <a:lnTo>
                    <a:pt x="169218" y="323728"/>
                  </a:lnTo>
                  <a:lnTo>
                    <a:pt x="126914" y="308312"/>
                  </a:lnTo>
                  <a:lnTo>
                    <a:pt x="88455" y="290970"/>
                  </a:lnTo>
                  <a:lnTo>
                    <a:pt x="32690" y="250504"/>
                  </a:lnTo>
                  <a:lnTo>
                    <a:pt x="3845" y="204257"/>
                  </a:lnTo>
                  <a:lnTo>
                    <a:pt x="0" y="181133"/>
                  </a:lnTo>
                  <a:close/>
                </a:path>
              </a:pathLst>
            </a:custGeom>
            <a:ln w="3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01330" y="1997472"/>
              <a:ext cx="865505" cy="360680"/>
            </a:xfrm>
            <a:custGeom>
              <a:avLst/>
              <a:gdLst/>
              <a:ahLst/>
              <a:cxnLst/>
              <a:rect l="l" t="t" r="r" b="b"/>
              <a:pathLst>
                <a:path w="865504" h="360680">
                  <a:moveTo>
                    <a:pt x="488428" y="360340"/>
                  </a:moveTo>
                  <a:lnTo>
                    <a:pt x="432663" y="360340"/>
                  </a:lnTo>
                  <a:lnTo>
                    <a:pt x="376896" y="360340"/>
                  </a:lnTo>
                  <a:lnTo>
                    <a:pt x="321133" y="354559"/>
                  </a:lnTo>
                  <a:lnTo>
                    <a:pt x="267290" y="346852"/>
                  </a:lnTo>
                  <a:lnTo>
                    <a:pt x="217294" y="337217"/>
                  </a:lnTo>
                  <a:lnTo>
                    <a:pt x="169218" y="323728"/>
                  </a:lnTo>
                  <a:lnTo>
                    <a:pt x="126916" y="308312"/>
                  </a:lnTo>
                  <a:lnTo>
                    <a:pt x="88455" y="290970"/>
                  </a:lnTo>
                  <a:lnTo>
                    <a:pt x="32690" y="250504"/>
                  </a:lnTo>
                  <a:lnTo>
                    <a:pt x="3847" y="204257"/>
                  </a:lnTo>
                  <a:lnTo>
                    <a:pt x="0" y="181133"/>
                  </a:lnTo>
                  <a:lnTo>
                    <a:pt x="3847" y="156083"/>
                  </a:lnTo>
                  <a:lnTo>
                    <a:pt x="32690" y="111763"/>
                  </a:lnTo>
                  <a:lnTo>
                    <a:pt x="88455" y="71297"/>
                  </a:lnTo>
                  <a:lnTo>
                    <a:pt x="126916" y="52027"/>
                  </a:lnTo>
                  <a:lnTo>
                    <a:pt x="169218" y="36612"/>
                  </a:lnTo>
                  <a:lnTo>
                    <a:pt x="217294" y="23123"/>
                  </a:lnTo>
                  <a:lnTo>
                    <a:pt x="267290" y="13488"/>
                  </a:lnTo>
                  <a:lnTo>
                    <a:pt x="321133" y="5780"/>
                  </a:lnTo>
                  <a:lnTo>
                    <a:pt x="376896" y="1926"/>
                  </a:lnTo>
                  <a:lnTo>
                    <a:pt x="432663" y="0"/>
                  </a:lnTo>
                  <a:lnTo>
                    <a:pt x="488428" y="1926"/>
                  </a:lnTo>
                  <a:lnTo>
                    <a:pt x="544194" y="5780"/>
                  </a:lnTo>
                  <a:lnTo>
                    <a:pt x="598036" y="13488"/>
                  </a:lnTo>
                  <a:lnTo>
                    <a:pt x="649956" y="23123"/>
                  </a:lnTo>
                  <a:lnTo>
                    <a:pt x="696106" y="36612"/>
                  </a:lnTo>
                  <a:lnTo>
                    <a:pt x="738411" y="52027"/>
                  </a:lnTo>
                  <a:lnTo>
                    <a:pt x="776868" y="71297"/>
                  </a:lnTo>
                  <a:lnTo>
                    <a:pt x="832635" y="111763"/>
                  </a:lnTo>
                  <a:lnTo>
                    <a:pt x="861477" y="156083"/>
                  </a:lnTo>
                  <a:lnTo>
                    <a:pt x="865325" y="181133"/>
                  </a:lnTo>
                  <a:lnTo>
                    <a:pt x="861477" y="204257"/>
                  </a:lnTo>
                  <a:lnTo>
                    <a:pt x="832635" y="250504"/>
                  </a:lnTo>
                  <a:lnTo>
                    <a:pt x="776868" y="290970"/>
                  </a:lnTo>
                  <a:lnTo>
                    <a:pt x="738411" y="308312"/>
                  </a:lnTo>
                  <a:lnTo>
                    <a:pt x="696106" y="323728"/>
                  </a:lnTo>
                  <a:lnTo>
                    <a:pt x="649956" y="337217"/>
                  </a:lnTo>
                  <a:lnTo>
                    <a:pt x="598036" y="346852"/>
                  </a:lnTo>
                  <a:lnTo>
                    <a:pt x="544194" y="354559"/>
                  </a:lnTo>
                  <a:lnTo>
                    <a:pt x="488428" y="36034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01331" y="1997472"/>
              <a:ext cx="865505" cy="360680"/>
            </a:xfrm>
            <a:custGeom>
              <a:avLst/>
              <a:gdLst/>
              <a:ahLst/>
              <a:cxnLst/>
              <a:rect l="l" t="t" r="r" b="b"/>
              <a:pathLst>
                <a:path w="865504" h="360680">
                  <a:moveTo>
                    <a:pt x="0" y="181133"/>
                  </a:moveTo>
                  <a:lnTo>
                    <a:pt x="15383" y="132959"/>
                  </a:lnTo>
                  <a:lnTo>
                    <a:pt x="57688" y="90566"/>
                  </a:lnTo>
                  <a:lnTo>
                    <a:pt x="126914" y="52027"/>
                  </a:lnTo>
                  <a:lnTo>
                    <a:pt x="169218" y="36612"/>
                  </a:lnTo>
                  <a:lnTo>
                    <a:pt x="217292" y="23123"/>
                  </a:lnTo>
                  <a:lnTo>
                    <a:pt x="267288" y="13488"/>
                  </a:lnTo>
                  <a:lnTo>
                    <a:pt x="321131" y="5780"/>
                  </a:lnTo>
                  <a:lnTo>
                    <a:pt x="376896" y="1926"/>
                  </a:lnTo>
                  <a:lnTo>
                    <a:pt x="432661" y="0"/>
                  </a:lnTo>
                  <a:lnTo>
                    <a:pt x="488427" y="1926"/>
                  </a:lnTo>
                  <a:lnTo>
                    <a:pt x="544192" y="5780"/>
                  </a:lnTo>
                  <a:lnTo>
                    <a:pt x="598034" y="13488"/>
                  </a:lnTo>
                  <a:lnTo>
                    <a:pt x="649954" y="23123"/>
                  </a:lnTo>
                  <a:lnTo>
                    <a:pt x="696104" y="36612"/>
                  </a:lnTo>
                  <a:lnTo>
                    <a:pt x="738409" y="52027"/>
                  </a:lnTo>
                  <a:lnTo>
                    <a:pt x="776868" y="71297"/>
                  </a:lnTo>
                  <a:lnTo>
                    <a:pt x="832633" y="111763"/>
                  </a:lnTo>
                  <a:lnTo>
                    <a:pt x="861477" y="156083"/>
                  </a:lnTo>
                  <a:lnTo>
                    <a:pt x="865323" y="181133"/>
                  </a:lnTo>
                  <a:lnTo>
                    <a:pt x="861477" y="204257"/>
                  </a:lnTo>
                  <a:lnTo>
                    <a:pt x="832633" y="250504"/>
                  </a:lnTo>
                  <a:lnTo>
                    <a:pt x="776868" y="290970"/>
                  </a:lnTo>
                  <a:lnTo>
                    <a:pt x="738409" y="308312"/>
                  </a:lnTo>
                  <a:lnTo>
                    <a:pt x="696104" y="323728"/>
                  </a:lnTo>
                  <a:lnTo>
                    <a:pt x="649954" y="337217"/>
                  </a:lnTo>
                  <a:lnTo>
                    <a:pt x="598034" y="346852"/>
                  </a:lnTo>
                  <a:lnTo>
                    <a:pt x="544192" y="354559"/>
                  </a:lnTo>
                  <a:lnTo>
                    <a:pt x="488427" y="360340"/>
                  </a:lnTo>
                  <a:lnTo>
                    <a:pt x="432661" y="360340"/>
                  </a:lnTo>
                  <a:lnTo>
                    <a:pt x="376896" y="360340"/>
                  </a:lnTo>
                  <a:lnTo>
                    <a:pt x="321131" y="354559"/>
                  </a:lnTo>
                  <a:lnTo>
                    <a:pt x="267288" y="346852"/>
                  </a:lnTo>
                  <a:lnTo>
                    <a:pt x="217292" y="337217"/>
                  </a:lnTo>
                  <a:lnTo>
                    <a:pt x="169218" y="323728"/>
                  </a:lnTo>
                  <a:lnTo>
                    <a:pt x="126914" y="308312"/>
                  </a:lnTo>
                  <a:lnTo>
                    <a:pt x="88455" y="290970"/>
                  </a:lnTo>
                  <a:lnTo>
                    <a:pt x="32690" y="250504"/>
                  </a:lnTo>
                  <a:lnTo>
                    <a:pt x="3845" y="204257"/>
                  </a:lnTo>
                  <a:lnTo>
                    <a:pt x="0" y="181133"/>
                  </a:lnTo>
                  <a:close/>
                </a:path>
              </a:pathLst>
            </a:custGeom>
            <a:ln w="385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59740" y="1098186"/>
            <a:ext cx="2070100" cy="3075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47345" algn="ctr">
              <a:lnSpc>
                <a:spcPct val="110000"/>
              </a:lnSpc>
              <a:spcBef>
                <a:spcPts val="95"/>
              </a:spcBef>
            </a:pP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public</a:t>
            </a:r>
            <a:r>
              <a:rPr sz="1400" b="1" spc="-3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class</a:t>
            </a:r>
            <a:r>
              <a:rPr sz="1400" b="1" spc="-2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X</a:t>
            </a:r>
            <a:r>
              <a:rPr sz="1400" b="1" spc="-3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spc="-50" dirty="0">
                <a:solidFill>
                  <a:srgbClr val="001F5F"/>
                </a:solidFill>
                <a:latin typeface="Courier New"/>
                <a:cs typeface="Courier New"/>
              </a:rPr>
              <a:t>{ </a:t>
            </a: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main</a:t>
            </a:r>
            <a:r>
              <a:rPr sz="1400" b="1" spc="-3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()</a:t>
            </a:r>
            <a:r>
              <a:rPr sz="1400" b="1" spc="-2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spc="-50" dirty="0">
                <a:solidFill>
                  <a:srgbClr val="001F5F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85090" algn="ctr">
              <a:lnSpc>
                <a:spcPct val="100000"/>
              </a:lnSpc>
              <a:spcBef>
                <a:spcPts val="170"/>
              </a:spcBef>
            </a:pP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.</a:t>
            </a:r>
            <a:r>
              <a:rPr sz="1400" b="1" spc="-1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read()</a:t>
            </a:r>
            <a:endParaRPr sz="1400">
              <a:latin typeface="Courier New"/>
              <a:cs typeface="Courier New"/>
            </a:endParaRPr>
          </a:p>
          <a:p>
            <a:pPr marL="955675" algn="ctr">
              <a:lnSpc>
                <a:spcPct val="100000"/>
              </a:lnSpc>
              <a:spcBef>
                <a:spcPts val="170"/>
              </a:spcBef>
            </a:pP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{</a:t>
            </a:r>
            <a:r>
              <a:rPr sz="1400" b="1" spc="-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...};</a:t>
            </a:r>
            <a:endParaRPr sz="1400">
              <a:latin typeface="Courier New"/>
              <a:cs typeface="Courier New"/>
            </a:endParaRPr>
          </a:p>
          <a:p>
            <a:pPr marL="132715" algn="ctr">
              <a:lnSpc>
                <a:spcPct val="100000"/>
              </a:lnSpc>
              <a:spcBef>
                <a:spcPts val="165"/>
              </a:spcBef>
            </a:pP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.</a:t>
            </a:r>
            <a:r>
              <a:rPr sz="1400" b="1" spc="-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sort()</a:t>
            </a:r>
            <a:endParaRPr sz="1400">
              <a:latin typeface="Courier New"/>
              <a:cs typeface="Courier New"/>
            </a:endParaRPr>
          </a:p>
          <a:p>
            <a:pPr marL="558165" algn="ctr">
              <a:lnSpc>
                <a:spcPct val="100000"/>
              </a:lnSpc>
              <a:spcBef>
                <a:spcPts val="170"/>
              </a:spcBef>
            </a:pP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{...};</a:t>
            </a:r>
            <a:endParaRPr sz="1400">
              <a:latin typeface="Courier New"/>
              <a:cs typeface="Courier New"/>
            </a:endParaRPr>
          </a:p>
          <a:p>
            <a:pPr marL="662940" algn="ctr">
              <a:lnSpc>
                <a:spcPct val="100000"/>
              </a:lnSpc>
              <a:spcBef>
                <a:spcPts val="165"/>
              </a:spcBef>
            </a:pP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.</a:t>
            </a:r>
            <a:r>
              <a:rPr sz="1400" b="1" spc="-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calculate()</a:t>
            </a:r>
            <a:endParaRPr sz="1400">
              <a:latin typeface="Courier New"/>
              <a:cs typeface="Courier New"/>
            </a:endParaRPr>
          </a:p>
          <a:p>
            <a:pPr marL="297180" algn="ctr">
              <a:lnSpc>
                <a:spcPct val="100000"/>
              </a:lnSpc>
              <a:spcBef>
                <a:spcPts val="170"/>
              </a:spcBef>
            </a:pP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{...};</a:t>
            </a:r>
            <a:endParaRPr sz="1400">
              <a:latin typeface="Courier New"/>
              <a:cs typeface="Courier New"/>
            </a:endParaRPr>
          </a:p>
          <a:p>
            <a:pPr marL="297180" algn="ctr">
              <a:lnSpc>
                <a:spcPct val="100000"/>
              </a:lnSpc>
              <a:spcBef>
                <a:spcPts val="165"/>
              </a:spcBef>
            </a:pP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.</a:t>
            </a:r>
            <a:r>
              <a:rPr sz="1400" b="1" spc="-20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search()</a:t>
            </a:r>
            <a:endParaRPr sz="1400">
              <a:latin typeface="Courier New"/>
              <a:cs typeface="Courier New"/>
            </a:endParaRPr>
          </a:p>
          <a:p>
            <a:pPr marR="429259" algn="r">
              <a:lnSpc>
                <a:spcPct val="100000"/>
              </a:lnSpc>
              <a:spcBef>
                <a:spcPts val="170"/>
              </a:spcBef>
            </a:pP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{...};</a:t>
            </a:r>
            <a:endParaRPr sz="1400">
              <a:latin typeface="Courier New"/>
              <a:cs typeface="Courier New"/>
            </a:endParaRPr>
          </a:p>
          <a:p>
            <a:pPr marR="429259" algn="r">
              <a:lnSpc>
                <a:spcPct val="100000"/>
              </a:lnSpc>
              <a:spcBef>
                <a:spcPts val="165"/>
              </a:spcBef>
            </a:pPr>
            <a:r>
              <a:rPr sz="1400" b="1" dirty="0">
                <a:solidFill>
                  <a:srgbClr val="001F5F"/>
                </a:solidFill>
                <a:latin typeface="Courier New"/>
                <a:cs typeface="Courier New"/>
              </a:rPr>
              <a:t>.</a:t>
            </a:r>
            <a:r>
              <a:rPr sz="1400" b="1" spc="-5" dirty="0">
                <a:solidFill>
                  <a:srgbClr val="001F5F"/>
                </a:solidFill>
                <a:latin typeface="Courier New"/>
                <a:cs typeface="Courier New"/>
              </a:rPr>
              <a:t> </a:t>
            </a: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print()</a:t>
            </a:r>
            <a:endParaRPr sz="1400">
              <a:latin typeface="Courier New"/>
              <a:cs typeface="Courier New"/>
            </a:endParaRPr>
          </a:p>
          <a:p>
            <a:pPr marL="1140460">
              <a:lnSpc>
                <a:spcPct val="100000"/>
              </a:lnSpc>
              <a:spcBef>
                <a:spcPts val="170"/>
              </a:spcBef>
            </a:pPr>
            <a:r>
              <a:rPr sz="1400" b="1" spc="-10" dirty="0">
                <a:solidFill>
                  <a:srgbClr val="001F5F"/>
                </a:solidFill>
                <a:latin typeface="Courier New"/>
                <a:cs typeface="Courier New"/>
              </a:rPr>
              <a:t>{...};</a:t>
            </a:r>
            <a:endParaRPr sz="14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1400" b="1" spc="-50" dirty="0">
                <a:solidFill>
                  <a:srgbClr val="001F5F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2890" y="1093730"/>
            <a:ext cx="1371600" cy="3180080"/>
          </a:xfrm>
          <a:prstGeom prst="rect">
            <a:avLst/>
          </a:prstGeom>
          <a:ln w="3847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Times New Roman"/>
              <a:cs typeface="Times New Roman"/>
            </a:endParaRPr>
          </a:p>
          <a:p>
            <a:pPr marL="69215" algn="ctr">
              <a:lnSpc>
                <a:spcPct val="100000"/>
              </a:lnSpc>
            </a:pPr>
            <a:r>
              <a:rPr sz="1000" spc="-10" dirty="0">
                <a:latin typeface="Arial MT"/>
                <a:cs typeface="Arial MT"/>
              </a:rPr>
              <a:t>read()</a:t>
            </a:r>
            <a:endParaRPr sz="1000">
              <a:latin typeface="Arial MT"/>
              <a:cs typeface="Arial MT"/>
            </a:endParaRPr>
          </a:p>
          <a:p>
            <a:pPr marL="422909" marR="345440" indent="1270" algn="ctr">
              <a:lnSpc>
                <a:spcPct val="379300"/>
              </a:lnSpc>
              <a:spcBef>
                <a:spcPts val="290"/>
              </a:spcBef>
            </a:pPr>
            <a:r>
              <a:rPr sz="1000" spc="-10" dirty="0">
                <a:latin typeface="Arial MT"/>
                <a:cs typeface="Arial MT"/>
              </a:rPr>
              <a:t>sort() calculate()</a:t>
            </a:r>
            <a:endParaRPr sz="1000">
              <a:latin typeface="Arial MT"/>
              <a:cs typeface="Arial MT"/>
            </a:endParaRPr>
          </a:p>
          <a:p>
            <a:pPr marL="484505" marR="407034" algn="ctr">
              <a:lnSpc>
                <a:spcPct val="355300"/>
              </a:lnSpc>
              <a:spcBef>
                <a:spcPts val="285"/>
              </a:spcBef>
            </a:pPr>
            <a:r>
              <a:rPr sz="1000" spc="-10" dirty="0">
                <a:latin typeface="Arial MT"/>
                <a:cs typeface="Arial MT"/>
              </a:rPr>
              <a:t>search() print()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193611" y="1280856"/>
            <a:ext cx="4667250" cy="2886075"/>
            <a:chOff x="4193611" y="1280856"/>
            <a:chExt cx="4667250" cy="2886075"/>
          </a:xfrm>
        </p:grpSpPr>
        <p:sp>
          <p:nvSpPr>
            <p:cNvPr id="22" name="object 22"/>
            <p:cNvSpPr/>
            <p:nvPr/>
          </p:nvSpPr>
          <p:spPr>
            <a:xfrm>
              <a:off x="4233993" y="1745041"/>
              <a:ext cx="0" cy="140970"/>
            </a:xfrm>
            <a:custGeom>
              <a:avLst/>
              <a:gdLst/>
              <a:ahLst/>
              <a:cxnLst/>
              <a:rect l="l" t="t" r="r" b="b"/>
              <a:pathLst>
                <a:path h="140969">
                  <a:moveTo>
                    <a:pt x="0" y="0"/>
                  </a:moveTo>
                  <a:lnTo>
                    <a:pt x="0" y="140667"/>
                  </a:lnTo>
                </a:path>
              </a:pathLst>
            </a:custGeom>
            <a:ln w="11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193611" y="1876073"/>
              <a:ext cx="81280" cy="121920"/>
            </a:xfrm>
            <a:custGeom>
              <a:avLst/>
              <a:gdLst/>
              <a:ahLst/>
              <a:cxnLst/>
              <a:rect l="l" t="t" r="r" b="b"/>
              <a:pathLst>
                <a:path w="81279" h="121919">
                  <a:moveTo>
                    <a:pt x="40381" y="121398"/>
                  </a:moveTo>
                  <a:lnTo>
                    <a:pt x="0" y="0"/>
                  </a:lnTo>
                  <a:lnTo>
                    <a:pt x="80763" y="0"/>
                  </a:lnTo>
                  <a:lnTo>
                    <a:pt x="40381" y="1213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233993" y="2357813"/>
              <a:ext cx="0" cy="127635"/>
            </a:xfrm>
            <a:custGeom>
              <a:avLst/>
              <a:gdLst/>
              <a:ahLst/>
              <a:cxnLst/>
              <a:rect l="l" t="t" r="r" b="b"/>
              <a:pathLst>
                <a:path h="127635">
                  <a:moveTo>
                    <a:pt x="0" y="0"/>
                  </a:moveTo>
                  <a:lnTo>
                    <a:pt x="0" y="127179"/>
                  </a:lnTo>
                </a:path>
              </a:pathLst>
            </a:custGeom>
            <a:ln w="38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01304" y="2477284"/>
              <a:ext cx="65405" cy="98425"/>
            </a:xfrm>
            <a:custGeom>
              <a:avLst/>
              <a:gdLst/>
              <a:ahLst/>
              <a:cxnLst/>
              <a:rect l="l" t="t" r="r" b="b"/>
              <a:pathLst>
                <a:path w="65404" h="98425">
                  <a:moveTo>
                    <a:pt x="32690" y="98274"/>
                  </a:moveTo>
                  <a:lnTo>
                    <a:pt x="0" y="0"/>
                  </a:lnTo>
                  <a:lnTo>
                    <a:pt x="65378" y="0"/>
                  </a:lnTo>
                  <a:lnTo>
                    <a:pt x="32690" y="982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33993" y="2935900"/>
              <a:ext cx="0" cy="127635"/>
            </a:xfrm>
            <a:custGeom>
              <a:avLst/>
              <a:gdLst/>
              <a:ahLst/>
              <a:cxnLst/>
              <a:rect l="l" t="t" r="r" b="b"/>
              <a:pathLst>
                <a:path h="127635">
                  <a:moveTo>
                    <a:pt x="0" y="0"/>
                  </a:moveTo>
                  <a:lnTo>
                    <a:pt x="0" y="127179"/>
                  </a:lnTo>
                </a:path>
              </a:pathLst>
            </a:custGeom>
            <a:ln w="38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01304" y="3055370"/>
              <a:ext cx="65405" cy="98425"/>
            </a:xfrm>
            <a:custGeom>
              <a:avLst/>
              <a:gdLst/>
              <a:ahLst/>
              <a:cxnLst/>
              <a:rect l="l" t="t" r="r" b="b"/>
              <a:pathLst>
                <a:path w="65404" h="98425">
                  <a:moveTo>
                    <a:pt x="32690" y="98274"/>
                  </a:moveTo>
                  <a:lnTo>
                    <a:pt x="0" y="0"/>
                  </a:lnTo>
                  <a:lnTo>
                    <a:pt x="65378" y="0"/>
                  </a:lnTo>
                  <a:lnTo>
                    <a:pt x="32690" y="982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33993" y="3513986"/>
              <a:ext cx="0" cy="90805"/>
            </a:xfrm>
            <a:custGeom>
              <a:avLst/>
              <a:gdLst/>
              <a:ahLst/>
              <a:cxnLst/>
              <a:rect l="l" t="t" r="r" b="b"/>
              <a:pathLst>
                <a:path h="90804">
                  <a:moveTo>
                    <a:pt x="0" y="0"/>
                  </a:moveTo>
                  <a:lnTo>
                    <a:pt x="0" y="90566"/>
                  </a:lnTo>
                </a:path>
              </a:pathLst>
            </a:custGeom>
            <a:ln w="38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01304" y="3596846"/>
              <a:ext cx="65405" cy="98425"/>
            </a:xfrm>
            <a:custGeom>
              <a:avLst/>
              <a:gdLst/>
              <a:ahLst/>
              <a:cxnLst/>
              <a:rect l="l" t="t" r="r" b="b"/>
              <a:pathLst>
                <a:path w="65404" h="98425">
                  <a:moveTo>
                    <a:pt x="32690" y="98272"/>
                  </a:moveTo>
                  <a:lnTo>
                    <a:pt x="0" y="0"/>
                  </a:lnTo>
                  <a:lnTo>
                    <a:pt x="65378" y="0"/>
                  </a:lnTo>
                  <a:lnTo>
                    <a:pt x="32690" y="9827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378643" y="1283078"/>
              <a:ext cx="3479800" cy="2881630"/>
            </a:xfrm>
            <a:custGeom>
              <a:avLst/>
              <a:gdLst/>
              <a:ahLst/>
              <a:cxnLst/>
              <a:rect l="l" t="t" r="r" b="b"/>
              <a:pathLst>
                <a:path w="3479800" h="2881629">
                  <a:moveTo>
                    <a:pt x="3479469" y="2881543"/>
                  </a:moveTo>
                  <a:lnTo>
                    <a:pt x="0" y="2881543"/>
                  </a:lnTo>
                  <a:lnTo>
                    <a:pt x="0" y="0"/>
                  </a:lnTo>
                  <a:lnTo>
                    <a:pt x="3479469" y="0"/>
                  </a:lnTo>
                  <a:lnTo>
                    <a:pt x="3479469" y="2881543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378643" y="1283078"/>
              <a:ext cx="3479800" cy="2881630"/>
            </a:xfrm>
            <a:custGeom>
              <a:avLst/>
              <a:gdLst/>
              <a:ahLst/>
              <a:cxnLst/>
              <a:rect l="l" t="t" r="r" b="b"/>
              <a:pathLst>
                <a:path w="3479800" h="2881629">
                  <a:moveTo>
                    <a:pt x="0" y="2881543"/>
                  </a:moveTo>
                  <a:lnTo>
                    <a:pt x="3479469" y="2881543"/>
                  </a:lnTo>
                  <a:lnTo>
                    <a:pt x="3479469" y="0"/>
                  </a:lnTo>
                  <a:lnTo>
                    <a:pt x="0" y="0"/>
                  </a:lnTo>
                  <a:lnTo>
                    <a:pt x="0" y="2881543"/>
                  </a:lnTo>
                  <a:close/>
                </a:path>
              </a:pathLst>
            </a:custGeom>
            <a:ln w="40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665542" y="1434740"/>
              <a:ext cx="908050" cy="380365"/>
            </a:xfrm>
            <a:custGeom>
              <a:avLst/>
              <a:gdLst/>
              <a:ahLst/>
              <a:cxnLst/>
              <a:rect l="l" t="t" r="r" b="b"/>
              <a:pathLst>
                <a:path w="908050" h="380364">
                  <a:moveTo>
                    <a:pt x="453843" y="380159"/>
                  </a:moveTo>
                  <a:lnTo>
                    <a:pt x="393331" y="378139"/>
                  </a:lnTo>
                  <a:lnTo>
                    <a:pt x="334837" y="372073"/>
                  </a:lnTo>
                  <a:lnTo>
                    <a:pt x="278359" y="366004"/>
                  </a:lnTo>
                  <a:lnTo>
                    <a:pt x="225913" y="353871"/>
                  </a:lnTo>
                  <a:lnTo>
                    <a:pt x="177503" y="339718"/>
                  </a:lnTo>
                  <a:lnTo>
                    <a:pt x="131112" y="323539"/>
                  </a:lnTo>
                  <a:lnTo>
                    <a:pt x="92787" y="305342"/>
                  </a:lnTo>
                  <a:lnTo>
                    <a:pt x="34290" y="262877"/>
                  </a:lnTo>
                  <a:lnTo>
                    <a:pt x="2017" y="214344"/>
                  </a:lnTo>
                  <a:lnTo>
                    <a:pt x="0" y="190078"/>
                  </a:lnTo>
                  <a:lnTo>
                    <a:pt x="2017" y="165815"/>
                  </a:lnTo>
                  <a:lnTo>
                    <a:pt x="34290" y="117283"/>
                  </a:lnTo>
                  <a:lnTo>
                    <a:pt x="92787" y="74817"/>
                  </a:lnTo>
                  <a:lnTo>
                    <a:pt x="131112" y="56619"/>
                  </a:lnTo>
                  <a:lnTo>
                    <a:pt x="177503" y="40442"/>
                  </a:lnTo>
                  <a:lnTo>
                    <a:pt x="225913" y="26287"/>
                  </a:lnTo>
                  <a:lnTo>
                    <a:pt x="278359" y="14154"/>
                  </a:lnTo>
                  <a:lnTo>
                    <a:pt x="334837" y="6066"/>
                  </a:lnTo>
                  <a:lnTo>
                    <a:pt x="393331" y="2022"/>
                  </a:lnTo>
                  <a:lnTo>
                    <a:pt x="453843" y="0"/>
                  </a:lnTo>
                  <a:lnTo>
                    <a:pt x="512341" y="2022"/>
                  </a:lnTo>
                  <a:lnTo>
                    <a:pt x="570834" y="6066"/>
                  </a:lnTo>
                  <a:lnTo>
                    <a:pt x="627315" y="14154"/>
                  </a:lnTo>
                  <a:lnTo>
                    <a:pt x="679757" y="26287"/>
                  </a:lnTo>
                  <a:lnTo>
                    <a:pt x="728169" y="40442"/>
                  </a:lnTo>
                  <a:lnTo>
                    <a:pt x="774560" y="56619"/>
                  </a:lnTo>
                  <a:lnTo>
                    <a:pt x="812884" y="74817"/>
                  </a:lnTo>
                  <a:lnTo>
                    <a:pt x="871380" y="117283"/>
                  </a:lnTo>
                  <a:lnTo>
                    <a:pt x="903653" y="165815"/>
                  </a:lnTo>
                  <a:lnTo>
                    <a:pt x="907687" y="190078"/>
                  </a:lnTo>
                  <a:lnTo>
                    <a:pt x="903653" y="214344"/>
                  </a:lnTo>
                  <a:lnTo>
                    <a:pt x="871380" y="262877"/>
                  </a:lnTo>
                  <a:lnTo>
                    <a:pt x="812884" y="305342"/>
                  </a:lnTo>
                  <a:lnTo>
                    <a:pt x="774560" y="323539"/>
                  </a:lnTo>
                  <a:lnTo>
                    <a:pt x="728169" y="339718"/>
                  </a:lnTo>
                  <a:lnTo>
                    <a:pt x="679757" y="353871"/>
                  </a:lnTo>
                  <a:lnTo>
                    <a:pt x="627315" y="366004"/>
                  </a:lnTo>
                  <a:lnTo>
                    <a:pt x="570834" y="372073"/>
                  </a:lnTo>
                  <a:lnTo>
                    <a:pt x="512341" y="378139"/>
                  </a:lnTo>
                  <a:lnTo>
                    <a:pt x="453843" y="380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65543" y="1434739"/>
              <a:ext cx="908050" cy="380365"/>
            </a:xfrm>
            <a:custGeom>
              <a:avLst/>
              <a:gdLst/>
              <a:ahLst/>
              <a:cxnLst/>
              <a:rect l="l" t="t" r="r" b="b"/>
              <a:pathLst>
                <a:path w="908050" h="380364">
                  <a:moveTo>
                    <a:pt x="0" y="190080"/>
                  </a:moveTo>
                  <a:lnTo>
                    <a:pt x="14119" y="141549"/>
                  </a:lnTo>
                  <a:lnTo>
                    <a:pt x="60512" y="95040"/>
                  </a:lnTo>
                  <a:lnTo>
                    <a:pt x="131110" y="56619"/>
                  </a:lnTo>
                  <a:lnTo>
                    <a:pt x="177503" y="40442"/>
                  </a:lnTo>
                  <a:lnTo>
                    <a:pt x="225913" y="26287"/>
                  </a:lnTo>
                  <a:lnTo>
                    <a:pt x="278357" y="14154"/>
                  </a:lnTo>
                  <a:lnTo>
                    <a:pt x="334835" y="6066"/>
                  </a:lnTo>
                  <a:lnTo>
                    <a:pt x="393331" y="2022"/>
                  </a:lnTo>
                  <a:lnTo>
                    <a:pt x="453843" y="0"/>
                  </a:lnTo>
                  <a:lnTo>
                    <a:pt x="512339" y="2022"/>
                  </a:lnTo>
                  <a:lnTo>
                    <a:pt x="570834" y="6066"/>
                  </a:lnTo>
                  <a:lnTo>
                    <a:pt x="627313" y="14154"/>
                  </a:lnTo>
                  <a:lnTo>
                    <a:pt x="679757" y="26287"/>
                  </a:lnTo>
                  <a:lnTo>
                    <a:pt x="728167" y="40442"/>
                  </a:lnTo>
                  <a:lnTo>
                    <a:pt x="774560" y="56619"/>
                  </a:lnTo>
                  <a:lnTo>
                    <a:pt x="812884" y="74819"/>
                  </a:lnTo>
                  <a:lnTo>
                    <a:pt x="871380" y="117283"/>
                  </a:lnTo>
                  <a:lnTo>
                    <a:pt x="903653" y="165815"/>
                  </a:lnTo>
                  <a:lnTo>
                    <a:pt x="907687" y="190080"/>
                  </a:lnTo>
                  <a:lnTo>
                    <a:pt x="903653" y="214346"/>
                  </a:lnTo>
                  <a:lnTo>
                    <a:pt x="871380" y="262877"/>
                  </a:lnTo>
                  <a:lnTo>
                    <a:pt x="812884" y="305342"/>
                  </a:lnTo>
                  <a:lnTo>
                    <a:pt x="774560" y="323541"/>
                  </a:lnTo>
                  <a:lnTo>
                    <a:pt x="728167" y="339718"/>
                  </a:lnTo>
                  <a:lnTo>
                    <a:pt x="679757" y="353873"/>
                  </a:lnTo>
                  <a:lnTo>
                    <a:pt x="627313" y="366006"/>
                  </a:lnTo>
                  <a:lnTo>
                    <a:pt x="570834" y="372073"/>
                  </a:lnTo>
                  <a:lnTo>
                    <a:pt x="512339" y="378139"/>
                  </a:lnTo>
                  <a:lnTo>
                    <a:pt x="453843" y="380161"/>
                  </a:lnTo>
                  <a:lnTo>
                    <a:pt x="393331" y="378139"/>
                  </a:lnTo>
                  <a:lnTo>
                    <a:pt x="334835" y="372073"/>
                  </a:lnTo>
                  <a:lnTo>
                    <a:pt x="278357" y="366006"/>
                  </a:lnTo>
                  <a:lnTo>
                    <a:pt x="225913" y="353873"/>
                  </a:lnTo>
                  <a:lnTo>
                    <a:pt x="177503" y="339718"/>
                  </a:lnTo>
                  <a:lnTo>
                    <a:pt x="131110" y="323541"/>
                  </a:lnTo>
                  <a:lnTo>
                    <a:pt x="92785" y="305342"/>
                  </a:lnTo>
                  <a:lnTo>
                    <a:pt x="34290" y="262877"/>
                  </a:lnTo>
                  <a:lnTo>
                    <a:pt x="2017" y="214346"/>
                  </a:lnTo>
                  <a:lnTo>
                    <a:pt x="0" y="190080"/>
                  </a:lnTo>
                  <a:close/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007846" y="882553"/>
            <a:ext cx="340360" cy="199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spc="-20" dirty="0">
                <a:latin typeface="Arial MT"/>
                <a:cs typeface="Arial MT"/>
              </a:rPr>
              <a:t>main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39870" y="1517079"/>
            <a:ext cx="37084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050" spc="-10" dirty="0">
                <a:latin typeface="Arial MT"/>
                <a:cs typeface="Arial MT"/>
              </a:rPr>
              <a:t>read()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663322" y="3632600"/>
            <a:ext cx="912494" cy="382905"/>
            <a:chOff x="6663322" y="3632600"/>
            <a:chExt cx="912494" cy="382905"/>
          </a:xfrm>
        </p:grpSpPr>
        <p:sp>
          <p:nvSpPr>
            <p:cNvPr id="37" name="object 37"/>
            <p:cNvSpPr/>
            <p:nvPr/>
          </p:nvSpPr>
          <p:spPr>
            <a:xfrm>
              <a:off x="6665545" y="3634823"/>
              <a:ext cx="908050" cy="378460"/>
            </a:xfrm>
            <a:custGeom>
              <a:avLst/>
              <a:gdLst/>
              <a:ahLst/>
              <a:cxnLst/>
              <a:rect l="l" t="t" r="r" b="b"/>
              <a:pathLst>
                <a:path w="908050" h="378460">
                  <a:moveTo>
                    <a:pt x="453843" y="378139"/>
                  </a:moveTo>
                  <a:lnTo>
                    <a:pt x="393331" y="376117"/>
                  </a:lnTo>
                  <a:lnTo>
                    <a:pt x="334835" y="372073"/>
                  </a:lnTo>
                  <a:lnTo>
                    <a:pt x="278357" y="363984"/>
                  </a:lnTo>
                  <a:lnTo>
                    <a:pt x="225913" y="353871"/>
                  </a:lnTo>
                  <a:lnTo>
                    <a:pt x="177503" y="339718"/>
                  </a:lnTo>
                  <a:lnTo>
                    <a:pt x="131110" y="323541"/>
                  </a:lnTo>
                  <a:lnTo>
                    <a:pt x="92785" y="303320"/>
                  </a:lnTo>
                  <a:lnTo>
                    <a:pt x="34290" y="260855"/>
                  </a:lnTo>
                  <a:lnTo>
                    <a:pt x="2015" y="214346"/>
                  </a:lnTo>
                  <a:lnTo>
                    <a:pt x="0" y="188058"/>
                  </a:lnTo>
                  <a:lnTo>
                    <a:pt x="2015" y="163793"/>
                  </a:lnTo>
                  <a:lnTo>
                    <a:pt x="34290" y="117283"/>
                  </a:lnTo>
                  <a:lnTo>
                    <a:pt x="92785" y="72796"/>
                  </a:lnTo>
                  <a:lnTo>
                    <a:pt x="131110" y="54595"/>
                  </a:lnTo>
                  <a:lnTo>
                    <a:pt x="177503" y="38420"/>
                  </a:lnTo>
                  <a:lnTo>
                    <a:pt x="225913" y="24265"/>
                  </a:lnTo>
                  <a:lnTo>
                    <a:pt x="278357" y="14154"/>
                  </a:lnTo>
                  <a:lnTo>
                    <a:pt x="334835" y="6066"/>
                  </a:lnTo>
                  <a:lnTo>
                    <a:pt x="393331" y="0"/>
                  </a:lnTo>
                  <a:lnTo>
                    <a:pt x="512339" y="0"/>
                  </a:lnTo>
                  <a:lnTo>
                    <a:pt x="570834" y="6066"/>
                  </a:lnTo>
                  <a:lnTo>
                    <a:pt x="627313" y="14154"/>
                  </a:lnTo>
                  <a:lnTo>
                    <a:pt x="679757" y="24265"/>
                  </a:lnTo>
                  <a:lnTo>
                    <a:pt x="728167" y="38420"/>
                  </a:lnTo>
                  <a:lnTo>
                    <a:pt x="774560" y="54595"/>
                  </a:lnTo>
                  <a:lnTo>
                    <a:pt x="812884" y="72796"/>
                  </a:lnTo>
                  <a:lnTo>
                    <a:pt x="845158" y="95040"/>
                  </a:lnTo>
                  <a:lnTo>
                    <a:pt x="891551" y="139527"/>
                  </a:lnTo>
                  <a:lnTo>
                    <a:pt x="907687" y="188058"/>
                  </a:lnTo>
                  <a:lnTo>
                    <a:pt x="903651" y="214346"/>
                  </a:lnTo>
                  <a:lnTo>
                    <a:pt x="871380" y="260855"/>
                  </a:lnTo>
                  <a:lnTo>
                    <a:pt x="812884" y="303320"/>
                  </a:lnTo>
                  <a:lnTo>
                    <a:pt x="774560" y="323541"/>
                  </a:lnTo>
                  <a:lnTo>
                    <a:pt x="728167" y="339718"/>
                  </a:lnTo>
                  <a:lnTo>
                    <a:pt x="679757" y="353871"/>
                  </a:lnTo>
                  <a:lnTo>
                    <a:pt x="627313" y="363984"/>
                  </a:lnTo>
                  <a:lnTo>
                    <a:pt x="570834" y="372073"/>
                  </a:lnTo>
                  <a:lnTo>
                    <a:pt x="512339" y="376117"/>
                  </a:lnTo>
                  <a:lnTo>
                    <a:pt x="453843" y="3781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665545" y="3634823"/>
              <a:ext cx="908050" cy="378460"/>
            </a:xfrm>
            <a:custGeom>
              <a:avLst/>
              <a:gdLst/>
              <a:ahLst/>
              <a:cxnLst/>
              <a:rect l="l" t="t" r="r" b="b"/>
              <a:pathLst>
                <a:path w="908050" h="378460">
                  <a:moveTo>
                    <a:pt x="0" y="188058"/>
                  </a:moveTo>
                  <a:lnTo>
                    <a:pt x="14119" y="139527"/>
                  </a:lnTo>
                  <a:lnTo>
                    <a:pt x="60512" y="95040"/>
                  </a:lnTo>
                  <a:lnTo>
                    <a:pt x="92785" y="72796"/>
                  </a:lnTo>
                  <a:lnTo>
                    <a:pt x="131110" y="54597"/>
                  </a:lnTo>
                  <a:lnTo>
                    <a:pt x="177503" y="38420"/>
                  </a:lnTo>
                  <a:lnTo>
                    <a:pt x="225913" y="24265"/>
                  </a:lnTo>
                  <a:lnTo>
                    <a:pt x="278357" y="14154"/>
                  </a:lnTo>
                  <a:lnTo>
                    <a:pt x="334835" y="6066"/>
                  </a:lnTo>
                  <a:lnTo>
                    <a:pt x="393331" y="0"/>
                  </a:lnTo>
                  <a:lnTo>
                    <a:pt x="453843" y="0"/>
                  </a:lnTo>
                  <a:lnTo>
                    <a:pt x="512339" y="0"/>
                  </a:lnTo>
                  <a:lnTo>
                    <a:pt x="570834" y="6066"/>
                  </a:lnTo>
                  <a:lnTo>
                    <a:pt x="627313" y="14154"/>
                  </a:lnTo>
                  <a:lnTo>
                    <a:pt x="679757" y="24265"/>
                  </a:lnTo>
                  <a:lnTo>
                    <a:pt x="728167" y="38420"/>
                  </a:lnTo>
                  <a:lnTo>
                    <a:pt x="774560" y="54597"/>
                  </a:lnTo>
                  <a:lnTo>
                    <a:pt x="812884" y="72796"/>
                  </a:lnTo>
                  <a:lnTo>
                    <a:pt x="845158" y="95040"/>
                  </a:lnTo>
                  <a:lnTo>
                    <a:pt x="891551" y="139527"/>
                  </a:lnTo>
                  <a:lnTo>
                    <a:pt x="907687" y="188058"/>
                  </a:lnTo>
                  <a:lnTo>
                    <a:pt x="903653" y="214346"/>
                  </a:lnTo>
                  <a:lnTo>
                    <a:pt x="871380" y="260855"/>
                  </a:lnTo>
                  <a:lnTo>
                    <a:pt x="812884" y="303320"/>
                  </a:lnTo>
                  <a:lnTo>
                    <a:pt x="774560" y="323541"/>
                  </a:lnTo>
                  <a:lnTo>
                    <a:pt x="728167" y="339718"/>
                  </a:lnTo>
                  <a:lnTo>
                    <a:pt x="679757" y="353873"/>
                  </a:lnTo>
                  <a:lnTo>
                    <a:pt x="627313" y="363984"/>
                  </a:lnTo>
                  <a:lnTo>
                    <a:pt x="570834" y="372073"/>
                  </a:lnTo>
                  <a:lnTo>
                    <a:pt x="512339" y="376117"/>
                  </a:lnTo>
                  <a:lnTo>
                    <a:pt x="453843" y="378139"/>
                  </a:lnTo>
                  <a:lnTo>
                    <a:pt x="393331" y="376117"/>
                  </a:lnTo>
                  <a:lnTo>
                    <a:pt x="334835" y="372073"/>
                  </a:lnTo>
                  <a:lnTo>
                    <a:pt x="278357" y="363984"/>
                  </a:lnTo>
                  <a:lnTo>
                    <a:pt x="225913" y="353873"/>
                  </a:lnTo>
                  <a:lnTo>
                    <a:pt x="177503" y="339718"/>
                  </a:lnTo>
                  <a:lnTo>
                    <a:pt x="131110" y="323541"/>
                  </a:lnTo>
                  <a:lnTo>
                    <a:pt x="92785" y="303320"/>
                  </a:lnTo>
                  <a:lnTo>
                    <a:pt x="34290" y="260855"/>
                  </a:lnTo>
                  <a:lnTo>
                    <a:pt x="2017" y="214346"/>
                  </a:lnTo>
                  <a:lnTo>
                    <a:pt x="0" y="188058"/>
                  </a:lnTo>
                  <a:close/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941887" y="3715141"/>
            <a:ext cx="36385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050" spc="-10" dirty="0">
                <a:latin typeface="Arial MT"/>
                <a:cs typeface="Arial MT"/>
              </a:rPr>
              <a:t>print()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7873573" y="2342477"/>
            <a:ext cx="912494" cy="384810"/>
            <a:chOff x="7873573" y="2342477"/>
            <a:chExt cx="912494" cy="384810"/>
          </a:xfrm>
        </p:grpSpPr>
        <p:sp>
          <p:nvSpPr>
            <p:cNvPr id="41" name="object 41"/>
            <p:cNvSpPr/>
            <p:nvPr/>
          </p:nvSpPr>
          <p:spPr>
            <a:xfrm>
              <a:off x="7875796" y="2344701"/>
              <a:ext cx="908050" cy="380365"/>
            </a:xfrm>
            <a:custGeom>
              <a:avLst/>
              <a:gdLst/>
              <a:ahLst/>
              <a:cxnLst/>
              <a:rect l="l" t="t" r="r" b="b"/>
              <a:pathLst>
                <a:path w="908050" h="380364">
                  <a:moveTo>
                    <a:pt x="453843" y="380159"/>
                  </a:moveTo>
                  <a:lnTo>
                    <a:pt x="393331" y="378137"/>
                  </a:lnTo>
                  <a:lnTo>
                    <a:pt x="334835" y="372070"/>
                  </a:lnTo>
                  <a:lnTo>
                    <a:pt x="278357" y="366004"/>
                  </a:lnTo>
                  <a:lnTo>
                    <a:pt x="225913" y="353871"/>
                  </a:lnTo>
                  <a:lnTo>
                    <a:pt x="177503" y="339716"/>
                  </a:lnTo>
                  <a:lnTo>
                    <a:pt x="131110" y="323539"/>
                  </a:lnTo>
                  <a:lnTo>
                    <a:pt x="92785" y="305342"/>
                  </a:lnTo>
                  <a:lnTo>
                    <a:pt x="34290" y="262875"/>
                  </a:lnTo>
                  <a:lnTo>
                    <a:pt x="2017" y="214344"/>
                  </a:lnTo>
                  <a:lnTo>
                    <a:pt x="0" y="190080"/>
                  </a:lnTo>
                  <a:lnTo>
                    <a:pt x="2017" y="165815"/>
                  </a:lnTo>
                  <a:lnTo>
                    <a:pt x="34290" y="117281"/>
                  </a:lnTo>
                  <a:lnTo>
                    <a:pt x="92785" y="74817"/>
                  </a:lnTo>
                  <a:lnTo>
                    <a:pt x="131110" y="56619"/>
                  </a:lnTo>
                  <a:lnTo>
                    <a:pt x="177503" y="40440"/>
                  </a:lnTo>
                  <a:lnTo>
                    <a:pt x="225913" y="26285"/>
                  </a:lnTo>
                  <a:lnTo>
                    <a:pt x="278357" y="14152"/>
                  </a:lnTo>
                  <a:lnTo>
                    <a:pt x="334835" y="6066"/>
                  </a:lnTo>
                  <a:lnTo>
                    <a:pt x="393331" y="2020"/>
                  </a:lnTo>
                  <a:lnTo>
                    <a:pt x="453843" y="0"/>
                  </a:lnTo>
                  <a:lnTo>
                    <a:pt x="512339" y="2020"/>
                  </a:lnTo>
                  <a:lnTo>
                    <a:pt x="570834" y="6066"/>
                  </a:lnTo>
                  <a:lnTo>
                    <a:pt x="627313" y="14152"/>
                  </a:lnTo>
                  <a:lnTo>
                    <a:pt x="679757" y="26285"/>
                  </a:lnTo>
                  <a:lnTo>
                    <a:pt x="728167" y="40440"/>
                  </a:lnTo>
                  <a:lnTo>
                    <a:pt x="774560" y="56619"/>
                  </a:lnTo>
                  <a:lnTo>
                    <a:pt x="812884" y="74817"/>
                  </a:lnTo>
                  <a:lnTo>
                    <a:pt x="871380" y="117281"/>
                  </a:lnTo>
                  <a:lnTo>
                    <a:pt x="903653" y="165815"/>
                  </a:lnTo>
                  <a:lnTo>
                    <a:pt x="907687" y="190080"/>
                  </a:lnTo>
                  <a:lnTo>
                    <a:pt x="903653" y="214344"/>
                  </a:lnTo>
                  <a:lnTo>
                    <a:pt x="871380" y="262875"/>
                  </a:lnTo>
                  <a:lnTo>
                    <a:pt x="812884" y="305342"/>
                  </a:lnTo>
                  <a:lnTo>
                    <a:pt x="774560" y="323539"/>
                  </a:lnTo>
                  <a:lnTo>
                    <a:pt x="728167" y="339716"/>
                  </a:lnTo>
                  <a:lnTo>
                    <a:pt x="679757" y="353871"/>
                  </a:lnTo>
                  <a:lnTo>
                    <a:pt x="627313" y="366004"/>
                  </a:lnTo>
                  <a:lnTo>
                    <a:pt x="570834" y="372070"/>
                  </a:lnTo>
                  <a:lnTo>
                    <a:pt x="512339" y="378137"/>
                  </a:lnTo>
                  <a:lnTo>
                    <a:pt x="453843" y="380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875796" y="2344700"/>
              <a:ext cx="908050" cy="380365"/>
            </a:xfrm>
            <a:custGeom>
              <a:avLst/>
              <a:gdLst/>
              <a:ahLst/>
              <a:cxnLst/>
              <a:rect l="l" t="t" r="r" b="b"/>
              <a:pathLst>
                <a:path w="908050" h="380364">
                  <a:moveTo>
                    <a:pt x="0" y="190080"/>
                  </a:moveTo>
                  <a:lnTo>
                    <a:pt x="14119" y="141549"/>
                  </a:lnTo>
                  <a:lnTo>
                    <a:pt x="60512" y="95040"/>
                  </a:lnTo>
                  <a:lnTo>
                    <a:pt x="131110" y="56619"/>
                  </a:lnTo>
                  <a:lnTo>
                    <a:pt x="177503" y="40442"/>
                  </a:lnTo>
                  <a:lnTo>
                    <a:pt x="225913" y="26287"/>
                  </a:lnTo>
                  <a:lnTo>
                    <a:pt x="278357" y="14154"/>
                  </a:lnTo>
                  <a:lnTo>
                    <a:pt x="334835" y="6066"/>
                  </a:lnTo>
                  <a:lnTo>
                    <a:pt x="393331" y="2022"/>
                  </a:lnTo>
                  <a:lnTo>
                    <a:pt x="453843" y="0"/>
                  </a:lnTo>
                  <a:lnTo>
                    <a:pt x="512339" y="2022"/>
                  </a:lnTo>
                  <a:lnTo>
                    <a:pt x="570834" y="6066"/>
                  </a:lnTo>
                  <a:lnTo>
                    <a:pt x="627313" y="14154"/>
                  </a:lnTo>
                  <a:lnTo>
                    <a:pt x="679757" y="26287"/>
                  </a:lnTo>
                  <a:lnTo>
                    <a:pt x="728167" y="40442"/>
                  </a:lnTo>
                  <a:lnTo>
                    <a:pt x="774560" y="56619"/>
                  </a:lnTo>
                  <a:lnTo>
                    <a:pt x="812884" y="74819"/>
                  </a:lnTo>
                  <a:lnTo>
                    <a:pt x="871380" y="117283"/>
                  </a:lnTo>
                  <a:lnTo>
                    <a:pt x="903653" y="165815"/>
                  </a:lnTo>
                  <a:lnTo>
                    <a:pt x="907687" y="190080"/>
                  </a:lnTo>
                  <a:lnTo>
                    <a:pt x="903653" y="214346"/>
                  </a:lnTo>
                  <a:lnTo>
                    <a:pt x="871380" y="262877"/>
                  </a:lnTo>
                  <a:lnTo>
                    <a:pt x="812884" y="305342"/>
                  </a:lnTo>
                  <a:lnTo>
                    <a:pt x="774560" y="323541"/>
                  </a:lnTo>
                  <a:lnTo>
                    <a:pt x="728167" y="339718"/>
                  </a:lnTo>
                  <a:lnTo>
                    <a:pt x="679757" y="353873"/>
                  </a:lnTo>
                  <a:lnTo>
                    <a:pt x="627313" y="366006"/>
                  </a:lnTo>
                  <a:lnTo>
                    <a:pt x="570834" y="372073"/>
                  </a:lnTo>
                  <a:lnTo>
                    <a:pt x="512339" y="378139"/>
                  </a:lnTo>
                  <a:lnTo>
                    <a:pt x="453843" y="380161"/>
                  </a:lnTo>
                  <a:lnTo>
                    <a:pt x="393331" y="378139"/>
                  </a:lnTo>
                  <a:lnTo>
                    <a:pt x="334835" y="372073"/>
                  </a:lnTo>
                  <a:lnTo>
                    <a:pt x="278357" y="366006"/>
                  </a:lnTo>
                  <a:lnTo>
                    <a:pt x="225913" y="353873"/>
                  </a:lnTo>
                  <a:lnTo>
                    <a:pt x="177503" y="339718"/>
                  </a:lnTo>
                  <a:lnTo>
                    <a:pt x="131110" y="323541"/>
                  </a:lnTo>
                  <a:lnTo>
                    <a:pt x="92785" y="305342"/>
                  </a:lnTo>
                  <a:lnTo>
                    <a:pt x="34290" y="262877"/>
                  </a:lnTo>
                  <a:lnTo>
                    <a:pt x="2017" y="214346"/>
                  </a:lnTo>
                  <a:lnTo>
                    <a:pt x="0" y="190080"/>
                  </a:lnTo>
                  <a:close/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8081542" y="2427041"/>
            <a:ext cx="50800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050" spc="-10" dirty="0">
                <a:latin typeface="Arial MT"/>
                <a:cs typeface="Arial MT"/>
              </a:rPr>
              <a:t>search()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663324" y="2342477"/>
            <a:ext cx="912494" cy="384810"/>
            <a:chOff x="6663324" y="2342477"/>
            <a:chExt cx="912494" cy="384810"/>
          </a:xfrm>
        </p:grpSpPr>
        <p:sp>
          <p:nvSpPr>
            <p:cNvPr id="45" name="object 45"/>
            <p:cNvSpPr/>
            <p:nvPr/>
          </p:nvSpPr>
          <p:spPr>
            <a:xfrm>
              <a:off x="6665545" y="2344701"/>
              <a:ext cx="908050" cy="380365"/>
            </a:xfrm>
            <a:custGeom>
              <a:avLst/>
              <a:gdLst/>
              <a:ahLst/>
              <a:cxnLst/>
              <a:rect l="l" t="t" r="r" b="b"/>
              <a:pathLst>
                <a:path w="908050" h="380364">
                  <a:moveTo>
                    <a:pt x="453845" y="380159"/>
                  </a:moveTo>
                  <a:lnTo>
                    <a:pt x="393331" y="378137"/>
                  </a:lnTo>
                  <a:lnTo>
                    <a:pt x="334837" y="372070"/>
                  </a:lnTo>
                  <a:lnTo>
                    <a:pt x="278359" y="366004"/>
                  </a:lnTo>
                  <a:lnTo>
                    <a:pt x="225915" y="353871"/>
                  </a:lnTo>
                  <a:lnTo>
                    <a:pt x="177503" y="339716"/>
                  </a:lnTo>
                  <a:lnTo>
                    <a:pt x="131112" y="323539"/>
                  </a:lnTo>
                  <a:lnTo>
                    <a:pt x="92787" y="305342"/>
                  </a:lnTo>
                  <a:lnTo>
                    <a:pt x="34290" y="262875"/>
                  </a:lnTo>
                  <a:lnTo>
                    <a:pt x="2017" y="214344"/>
                  </a:lnTo>
                  <a:lnTo>
                    <a:pt x="0" y="190078"/>
                  </a:lnTo>
                  <a:lnTo>
                    <a:pt x="2017" y="165815"/>
                  </a:lnTo>
                  <a:lnTo>
                    <a:pt x="34290" y="117281"/>
                  </a:lnTo>
                  <a:lnTo>
                    <a:pt x="92787" y="74817"/>
                  </a:lnTo>
                  <a:lnTo>
                    <a:pt x="131112" y="56619"/>
                  </a:lnTo>
                  <a:lnTo>
                    <a:pt x="177503" y="40440"/>
                  </a:lnTo>
                  <a:lnTo>
                    <a:pt x="225915" y="26285"/>
                  </a:lnTo>
                  <a:lnTo>
                    <a:pt x="278359" y="14152"/>
                  </a:lnTo>
                  <a:lnTo>
                    <a:pt x="334837" y="6066"/>
                  </a:lnTo>
                  <a:lnTo>
                    <a:pt x="393331" y="2020"/>
                  </a:lnTo>
                  <a:lnTo>
                    <a:pt x="453845" y="0"/>
                  </a:lnTo>
                  <a:lnTo>
                    <a:pt x="512341" y="2020"/>
                  </a:lnTo>
                  <a:lnTo>
                    <a:pt x="570836" y="6066"/>
                  </a:lnTo>
                  <a:lnTo>
                    <a:pt x="627315" y="14152"/>
                  </a:lnTo>
                  <a:lnTo>
                    <a:pt x="679757" y="26285"/>
                  </a:lnTo>
                  <a:lnTo>
                    <a:pt x="728169" y="40440"/>
                  </a:lnTo>
                  <a:lnTo>
                    <a:pt x="774560" y="56619"/>
                  </a:lnTo>
                  <a:lnTo>
                    <a:pt x="812884" y="74817"/>
                  </a:lnTo>
                  <a:lnTo>
                    <a:pt x="871380" y="117281"/>
                  </a:lnTo>
                  <a:lnTo>
                    <a:pt x="903653" y="165815"/>
                  </a:lnTo>
                  <a:lnTo>
                    <a:pt x="907687" y="190078"/>
                  </a:lnTo>
                  <a:lnTo>
                    <a:pt x="903653" y="214344"/>
                  </a:lnTo>
                  <a:lnTo>
                    <a:pt x="871380" y="262875"/>
                  </a:lnTo>
                  <a:lnTo>
                    <a:pt x="812884" y="305342"/>
                  </a:lnTo>
                  <a:lnTo>
                    <a:pt x="774560" y="323539"/>
                  </a:lnTo>
                  <a:lnTo>
                    <a:pt x="728169" y="339716"/>
                  </a:lnTo>
                  <a:lnTo>
                    <a:pt x="679757" y="353871"/>
                  </a:lnTo>
                  <a:lnTo>
                    <a:pt x="627315" y="366004"/>
                  </a:lnTo>
                  <a:lnTo>
                    <a:pt x="570836" y="372070"/>
                  </a:lnTo>
                  <a:lnTo>
                    <a:pt x="512341" y="378137"/>
                  </a:lnTo>
                  <a:lnTo>
                    <a:pt x="453845" y="38015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665546" y="2344700"/>
              <a:ext cx="908050" cy="380365"/>
            </a:xfrm>
            <a:custGeom>
              <a:avLst/>
              <a:gdLst/>
              <a:ahLst/>
              <a:cxnLst/>
              <a:rect l="l" t="t" r="r" b="b"/>
              <a:pathLst>
                <a:path w="908050" h="380364">
                  <a:moveTo>
                    <a:pt x="0" y="190080"/>
                  </a:moveTo>
                  <a:lnTo>
                    <a:pt x="14119" y="141549"/>
                  </a:lnTo>
                  <a:lnTo>
                    <a:pt x="60512" y="95040"/>
                  </a:lnTo>
                  <a:lnTo>
                    <a:pt x="131110" y="56619"/>
                  </a:lnTo>
                  <a:lnTo>
                    <a:pt x="177503" y="40442"/>
                  </a:lnTo>
                  <a:lnTo>
                    <a:pt x="225913" y="26287"/>
                  </a:lnTo>
                  <a:lnTo>
                    <a:pt x="278357" y="14154"/>
                  </a:lnTo>
                  <a:lnTo>
                    <a:pt x="334835" y="6066"/>
                  </a:lnTo>
                  <a:lnTo>
                    <a:pt x="393331" y="2022"/>
                  </a:lnTo>
                  <a:lnTo>
                    <a:pt x="453843" y="0"/>
                  </a:lnTo>
                  <a:lnTo>
                    <a:pt x="512339" y="2022"/>
                  </a:lnTo>
                  <a:lnTo>
                    <a:pt x="570834" y="6066"/>
                  </a:lnTo>
                  <a:lnTo>
                    <a:pt x="627313" y="14154"/>
                  </a:lnTo>
                  <a:lnTo>
                    <a:pt x="679757" y="26287"/>
                  </a:lnTo>
                  <a:lnTo>
                    <a:pt x="728167" y="40442"/>
                  </a:lnTo>
                  <a:lnTo>
                    <a:pt x="774560" y="56619"/>
                  </a:lnTo>
                  <a:lnTo>
                    <a:pt x="812884" y="74819"/>
                  </a:lnTo>
                  <a:lnTo>
                    <a:pt x="871380" y="117283"/>
                  </a:lnTo>
                  <a:lnTo>
                    <a:pt x="903653" y="165815"/>
                  </a:lnTo>
                  <a:lnTo>
                    <a:pt x="907687" y="190080"/>
                  </a:lnTo>
                  <a:lnTo>
                    <a:pt x="903653" y="214346"/>
                  </a:lnTo>
                  <a:lnTo>
                    <a:pt x="871380" y="262877"/>
                  </a:lnTo>
                  <a:lnTo>
                    <a:pt x="812884" y="305342"/>
                  </a:lnTo>
                  <a:lnTo>
                    <a:pt x="774560" y="323541"/>
                  </a:lnTo>
                  <a:lnTo>
                    <a:pt x="728167" y="339718"/>
                  </a:lnTo>
                  <a:lnTo>
                    <a:pt x="679757" y="353873"/>
                  </a:lnTo>
                  <a:lnTo>
                    <a:pt x="627313" y="366006"/>
                  </a:lnTo>
                  <a:lnTo>
                    <a:pt x="570834" y="372073"/>
                  </a:lnTo>
                  <a:lnTo>
                    <a:pt x="512339" y="378139"/>
                  </a:lnTo>
                  <a:lnTo>
                    <a:pt x="453843" y="380161"/>
                  </a:lnTo>
                  <a:lnTo>
                    <a:pt x="393331" y="378139"/>
                  </a:lnTo>
                  <a:lnTo>
                    <a:pt x="334835" y="372073"/>
                  </a:lnTo>
                  <a:lnTo>
                    <a:pt x="278357" y="366006"/>
                  </a:lnTo>
                  <a:lnTo>
                    <a:pt x="225913" y="353873"/>
                  </a:lnTo>
                  <a:lnTo>
                    <a:pt x="177503" y="339718"/>
                  </a:lnTo>
                  <a:lnTo>
                    <a:pt x="131110" y="323541"/>
                  </a:lnTo>
                  <a:lnTo>
                    <a:pt x="92785" y="305342"/>
                  </a:lnTo>
                  <a:lnTo>
                    <a:pt x="34290" y="262877"/>
                  </a:lnTo>
                  <a:lnTo>
                    <a:pt x="2017" y="214346"/>
                  </a:lnTo>
                  <a:lnTo>
                    <a:pt x="0" y="190080"/>
                  </a:lnTo>
                  <a:close/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6806744" y="2427041"/>
            <a:ext cx="636905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050" spc="-10" dirty="0">
                <a:latin typeface="Arial MT"/>
                <a:cs typeface="Arial MT"/>
              </a:rPr>
              <a:t>calculate()</a:t>
            </a:r>
            <a:endParaRPr sz="105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453074" y="2342477"/>
            <a:ext cx="912494" cy="384810"/>
            <a:chOff x="5453074" y="2342477"/>
            <a:chExt cx="912494" cy="384810"/>
          </a:xfrm>
        </p:grpSpPr>
        <p:sp>
          <p:nvSpPr>
            <p:cNvPr id="49" name="object 49"/>
            <p:cNvSpPr/>
            <p:nvPr/>
          </p:nvSpPr>
          <p:spPr>
            <a:xfrm>
              <a:off x="5455296" y="2344700"/>
              <a:ext cx="908050" cy="380365"/>
            </a:xfrm>
            <a:custGeom>
              <a:avLst/>
              <a:gdLst/>
              <a:ahLst/>
              <a:cxnLst/>
              <a:rect l="l" t="t" r="r" b="b"/>
              <a:pathLst>
                <a:path w="908050" h="380364">
                  <a:moveTo>
                    <a:pt x="453843" y="380161"/>
                  </a:moveTo>
                  <a:lnTo>
                    <a:pt x="393331" y="378139"/>
                  </a:lnTo>
                  <a:lnTo>
                    <a:pt x="334837" y="372073"/>
                  </a:lnTo>
                  <a:lnTo>
                    <a:pt x="278357" y="366006"/>
                  </a:lnTo>
                  <a:lnTo>
                    <a:pt x="225915" y="353873"/>
                  </a:lnTo>
                  <a:lnTo>
                    <a:pt x="177503" y="339718"/>
                  </a:lnTo>
                  <a:lnTo>
                    <a:pt x="131112" y="323541"/>
                  </a:lnTo>
                  <a:lnTo>
                    <a:pt x="92787" y="305342"/>
                  </a:lnTo>
                  <a:lnTo>
                    <a:pt x="34290" y="262877"/>
                  </a:lnTo>
                  <a:lnTo>
                    <a:pt x="2017" y="214346"/>
                  </a:lnTo>
                  <a:lnTo>
                    <a:pt x="0" y="190082"/>
                  </a:lnTo>
                  <a:lnTo>
                    <a:pt x="2017" y="165815"/>
                  </a:lnTo>
                  <a:lnTo>
                    <a:pt x="34290" y="117283"/>
                  </a:lnTo>
                  <a:lnTo>
                    <a:pt x="92787" y="74819"/>
                  </a:lnTo>
                  <a:lnTo>
                    <a:pt x="131112" y="56619"/>
                  </a:lnTo>
                  <a:lnTo>
                    <a:pt x="177503" y="40442"/>
                  </a:lnTo>
                  <a:lnTo>
                    <a:pt x="225915" y="26287"/>
                  </a:lnTo>
                  <a:lnTo>
                    <a:pt x="278357" y="14154"/>
                  </a:lnTo>
                  <a:lnTo>
                    <a:pt x="334837" y="6066"/>
                  </a:lnTo>
                  <a:lnTo>
                    <a:pt x="393331" y="2022"/>
                  </a:lnTo>
                  <a:lnTo>
                    <a:pt x="453843" y="0"/>
                  </a:lnTo>
                  <a:lnTo>
                    <a:pt x="512341" y="2022"/>
                  </a:lnTo>
                  <a:lnTo>
                    <a:pt x="570834" y="6066"/>
                  </a:lnTo>
                  <a:lnTo>
                    <a:pt x="627315" y="14154"/>
                  </a:lnTo>
                  <a:lnTo>
                    <a:pt x="679757" y="26287"/>
                  </a:lnTo>
                  <a:lnTo>
                    <a:pt x="728169" y="40442"/>
                  </a:lnTo>
                  <a:lnTo>
                    <a:pt x="774560" y="56619"/>
                  </a:lnTo>
                  <a:lnTo>
                    <a:pt x="812884" y="74819"/>
                  </a:lnTo>
                  <a:lnTo>
                    <a:pt x="871380" y="117283"/>
                  </a:lnTo>
                  <a:lnTo>
                    <a:pt x="903653" y="165815"/>
                  </a:lnTo>
                  <a:lnTo>
                    <a:pt x="907687" y="190082"/>
                  </a:lnTo>
                  <a:lnTo>
                    <a:pt x="903653" y="214346"/>
                  </a:lnTo>
                  <a:lnTo>
                    <a:pt x="871380" y="262877"/>
                  </a:lnTo>
                  <a:lnTo>
                    <a:pt x="812884" y="305342"/>
                  </a:lnTo>
                  <a:lnTo>
                    <a:pt x="774560" y="323541"/>
                  </a:lnTo>
                  <a:lnTo>
                    <a:pt x="728169" y="339718"/>
                  </a:lnTo>
                  <a:lnTo>
                    <a:pt x="679757" y="353873"/>
                  </a:lnTo>
                  <a:lnTo>
                    <a:pt x="627315" y="366006"/>
                  </a:lnTo>
                  <a:lnTo>
                    <a:pt x="570834" y="372073"/>
                  </a:lnTo>
                  <a:lnTo>
                    <a:pt x="512341" y="378139"/>
                  </a:lnTo>
                  <a:lnTo>
                    <a:pt x="453843" y="3801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55297" y="2344700"/>
              <a:ext cx="908050" cy="380365"/>
            </a:xfrm>
            <a:custGeom>
              <a:avLst/>
              <a:gdLst/>
              <a:ahLst/>
              <a:cxnLst/>
              <a:rect l="l" t="t" r="r" b="b"/>
              <a:pathLst>
                <a:path w="908050" h="380364">
                  <a:moveTo>
                    <a:pt x="0" y="190080"/>
                  </a:moveTo>
                  <a:lnTo>
                    <a:pt x="14119" y="141549"/>
                  </a:lnTo>
                  <a:lnTo>
                    <a:pt x="60512" y="95040"/>
                  </a:lnTo>
                  <a:lnTo>
                    <a:pt x="131110" y="56619"/>
                  </a:lnTo>
                  <a:lnTo>
                    <a:pt x="177503" y="40442"/>
                  </a:lnTo>
                  <a:lnTo>
                    <a:pt x="225913" y="26287"/>
                  </a:lnTo>
                  <a:lnTo>
                    <a:pt x="278357" y="14154"/>
                  </a:lnTo>
                  <a:lnTo>
                    <a:pt x="334835" y="6066"/>
                  </a:lnTo>
                  <a:lnTo>
                    <a:pt x="393331" y="2022"/>
                  </a:lnTo>
                  <a:lnTo>
                    <a:pt x="453843" y="0"/>
                  </a:lnTo>
                  <a:lnTo>
                    <a:pt x="512339" y="2022"/>
                  </a:lnTo>
                  <a:lnTo>
                    <a:pt x="570834" y="6066"/>
                  </a:lnTo>
                  <a:lnTo>
                    <a:pt x="627313" y="14154"/>
                  </a:lnTo>
                  <a:lnTo>
                    <a:pt x="679757" y="26287"/>
                  </a:lnTo>
                  <a:lnTo>
                    <a:pt x="728167" y="40442"/>
                  </a:lnTo>
                  <a:lnTo>
                    <a:pt x="774560" y="56619"/>
                  </a:lnTo>
                  <a:lnTo>
                    <a:pt x="812884" y="74819"/>
                  </a:lnTo>
                  <a:lnTo>
                    <a:pt x="871380" y="117283"/>
                  </a:lnTo>
                  <a:lnTo>
                    <a:pt x="903653" y="165815"/>
                  </a:lnTo>
                  <a:lnTo>
                    <a:pt x="907687" y="190080"/>
                  </a:lnTo>
                  <a:lnTo>
                    <a:pt x="903653" y="214346"/>
                  </a:lnTo>
                  <a:lnTo>
                    <a:pt x="871380" y="262877"/>
                  </a:lnTo>
                  <a:lnTo>
                    <a:pt x="812884" y="305342"/>
                  </a:lnTo>
                  <a:lnTo>
                    <a:pt x="774560" y="323541"/>
                  </a:lnTo>
                  <a:lnTo>
                    <a:pt x="728167" y="339718"/>
                  </a:lnTo>
                  <a:lnTo>
                    <a:pt x="679757" y="353873"/>
                  </a:lnTo>
                  <a:lnTo>
                    <a:pt x="627313" y="366006"/>
                  </a:lnTo>
                  <a:lnTo>
                    <a:pt x="570834" y="372073"/>
                  </a:lnTo>
                  <a:lnTo>
                    <a:pt x="512339" y="378139"/>
                  </a:lnTo>
                  <a:lnTo>
                    <a:pt x="453843" y="380161"/>
                  </a:lnTo>
                  <a:lnTo>
                    <a:pt x="393331" y="378139"/>
                  </a:lnTo>
                  <a:lnTo>
                    <a:pt x="334835" y="372073"/>
                  </a:lnTo>
                  <a:lnTo>
                    <a:pt x="278357" y="366006"/>
                  </a:lnTo>
                  <a:lnTo>
                    <a:pt x="225913" y="353873"/>
                  </a:lnTo>
                  <a:lnTo>
                    <a:pt x="177503" y="339718"/>
                  </a:lnTo>
                  <a:lnTo>
                    <a:pt x="131110" y="323541"/>
                  </a:lnTo>
                  <a:lnTo>
                    <a:pt x="92785" y="305342"/>
                  </a:lnTo>
                  <a:lnTo>
                    <a:pt x="34290" y="262877"/>
                  </a:lnTo>
                  <a:lnTo>
                    <a:pt x="2017" y="214346"/>
                  </a:lnTo>
                  <a:lnTo>
                    <a:pt x="0" y="190080"/>
                  </a:lnTo>
                  <a:close/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749794" y="2427041"/>
            <a:ext cx="327660" cy="1885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1050" spc="-10" dirty="0">
                <a:latin typeface="Arial MT"/>
                <a:cs typeface="Arial MT"/>
              </a:rPr>
              <a:t>sort()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923140" y="1062099"/>
            <a:ext cx="3562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Arial MT"/>
                <a:cs typeface="Arial MT"/>
              </a:rPr>
              <a:t>main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5874857" y="1812878"/>
            <a:ext cx="2489200" cy="1822450"/>
            <a:chOff x="5874857" y="1812878"/>
            <a:chExt cx="2489200" cy="1822450"/>
          </a:xfrm>
        </p:grpSpPr>
        <p:sp>
          <p:nvSpPr>
            <p:cNvPr id="54" name="object 54"/>
            <p:cNvSpPr/>
            <p:nvPr/>
          </p:nvSpPr>
          <p:spPr>
            <a:xfrm>
              <a:off x="5993860" y="1814900"/>
              <a:ext cx="1125855" cy="530225"/>
            </a:xfrm>
            <a:custGeom>
              <a:avLst/>
              <a:gdLst/>
              <a:ahLst/>
              <a:cxnLst/>
              <a:rect l="l" t="t" r="r" b="b"/>
              <a:pathLst>
                <a:path w="1125854" h="530225">
                  <a:moveTo>
                    <a:pt x="1125532" y="529799"/>
                  </a:moveTo>
                  <a:lnTo>
                    <a:pt x="1125532" y="0"/>
                  </a:lnTo>
                  <a:lnTo>
                    <a:pt x="0" y="491379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909143" y="2271901"/>
              <a:ext cx="107314" cy="73025"/>
            </a:xfrm>
            <a:custGeom>
              <a:avLst/>
              <a:gdLst/>
              <a:ahLst/>
              <a:cxnLst/>
              <a:rect l="l" t="t" r="r" b="b"/>
              <a:pathLst>
                <a:path w="107314" h="73025">
                  <a:moveTo>
                    <a:pt x="0" y="72796"/>
                  </a:moveTo>
                  <a:lnTo>
                    <a:pt x="78666" y="0"/>
                  </a:lnTo>
                  <a:lnTo>
                    <a:pt x="106905" y="62688"/>
                  </a:lnTo>
                  <a:lnTo>
                    <a:pt x="0" y="727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119394" y="1814900"/>
              <a:ext cx="1123950" cy="491490"/>
            </a:xfrm>
            <a:custGeom>
              <a:avLst/>
              <a:gdLst/>
              <a:ahLst/>
              <a:cxnLst/>
              <a:rect l="l" t="t" r="r" b="b"/>
              <a:pathLst>
                <a:path w="1123950" h="491489">
                  <a:moveTo>
                    <a:pt x="0" y="0"/>
                  </a:moveTo>
                  <a:lnTo>
                    <a:pt x="1123515" y="491379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220722" y="2271901"/>
              <a:ext cx="109220" cy="73025"/>
            </a:xfrm>
            <a:custGeom>
              <a:avLst/>
              <a:gdLst/>
              <a:ahLst/>
              <a:cxnLst/>
              <a:rect l="l" t="t" r="r" b="b"/>
              <a:pathLst>
                <a:path w="109220" h="73025">
                  <a:moveTo>
                    <a:pt x="108922" y="72798"/>
                  </a:moveTo>
                  <a:lnTo>
                    <a:pt x="0" y="62688"/>
                  </a:lnTo>
                  <a:lnTo>
                    <a:pt x="28239" y="0"/>
                  </a:lnTo>
                  <a:lnTo>
                    <a:pt x="108922" y="727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7119396" y="1814900"/>
              <a:ext cx="0" cy="434975"/>
            </a:xfrm>
            <a:custGeom>
              <a:avLst/>
              <a:gdLst/>
              <a:ahLst/>
              <a:cxnLst/>
              <a:rect l="l" t="t" r="r" b="b"/>
              <a:pathLst>
                <a:path h="434975">
                  <a:moveTo>
                    <a:pt x="0" y="0"/>
                  </a:moveTo>
                  <a:lnTo>
                    <a:pt x="0" y="434759"/>
                  </a:lnTo>
                </a:path>
              </a:pathLst>
            </a:custGeom>
            <a:ln w="40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85107" y="2241571"/>
              <a:ext cx="68580" cy="103505"/>
            </a:xfrm>
            <a:custGeom>
              <a:avLst/>
              <a:gdLst/>
              <a:ahLst/>
              <a:cxnLst/>
              <a:rect l="l" t="t" r="r" b="b"/>
              <a:pathLst>
                <a:path w="68579" h="103505">
                  <a:moveTo>
                    <a:pt x="34288" y="103128"/>
                  </a:moveTo>
                  <a:lnTo>
                    <a:pt x="0" y="0"/>
                  </a:lnTo>
                  <a:lnTo>
                    <a:pt x="68580" y="0"/>
                  </a:lnTo>
                  <a:lnTo>
                    <a:pt x="34288" y="103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5909147" y="2724861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10">
                  <a:moveTo>
                    <a:pt x="0" y="0"/>
                  </a:moveTo>
                  <a:lnTo>
                    <a:pt x="0" y="283099"/>
                  </a:lnTo>
                </a:path>
              </a:pathLst>
            </a:custGeom>
            <a:ln w="40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5874857" y="2999872"/>
              <a:ext cx="68580" cy="103505"/>
            </a:xfrm>
            <a:custGeom>
              <a:avLst/>
              <a:gdLst/>
              <a:ahLst/>
              <a:cxnLst/>
              <a:rect l="l" t="t" r="r" b="b"/>
              <a:pathLst>
                <a:path w="68579" h="103505">
                  <a:moveTo>
                    <a:pt x="34290" y="103128"/>
                  </a:moveTo>
                  <a:lnTo>
                    <a:pt x="0" y="0"/>
                  </a:lnTo>
                  <a:lnTo>
                    <a:pt x="68580" y="0"/>
                  </a:lnTo>
                  <a:lnTo>
                    <a:pt x="34290" y="103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119399" y="2724861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10">
                  <a:moveTo>
                    <a:pt x="0" y="0"/>
                  </a:moveTo>
                  <a:lnTo>
                    <a:pt x="0" y="283099"/>
                  </a:lnTo>
                </a:path>
              </a:pathLst>
            </a:custGeom>
            <a:ln w="40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085110" y="2999872"/>
              <a:ext cx="68580" cy="103505"/>
            </a:xfrm>
            <a:custGeom>
              <a:avLst/>
              <a:gdLst/>
              <a:ahLst/>
              <a:cxnLst/>
              <a:rect l="l" t="t" r="r" b="b"/>
              <a:pathLst>
                <a:path w="68579" h="103505">
                  <a:moveTo>
                    <a:pt x="34290" y="103128"/>
                  </a:moveTo>
                  <a:lnTo>
                    <a:pt x="0" y="0"/>
                  </a:lnTo>
                  <a:lnTo>
                    <a:pt x="68580" y="0"/>
                  </a:lnTo>
                  <a:lnTo>
                    <a:pt x="34290" y="103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8329651" y="2724861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10">
                  <a:moveTo>
                    <a:pt x="0" y="0"/>
                  </a:moveTo>
                  <a:lnTo>
                    <a:pt x="0" y="226479"/>
                  </a:lnTo>
                  <a:lnTo>
                    <a:pt x="0" y="283099"/>
                  </a:lnTo>
                </a:path>
              </a:pathLst>
            </a:custGeom>
            <a:ln w="403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295360" y="2999870"/>
              <a:ext cx="68580" cy="103505"/>
            </a:xfrm>
            <a:custGeom>
              <a:avLst/>
              <a:gdLst/>
              <a:ahLst/>
              <a:cxnLst/>
              <a:rect l="l" t="t" r="r" b="b"/>
              <a:pathLst>
                <a:path w="68579" h="103505">
                  <a:moveTo>
                    <a:pt x="34290" y="103128"/>
                  </a:moveTo>
                  <a:lnTo>
                    <a:pt x="0" y="0"/>
                  </a:lnTo>
                  <a:lnTo>
                    <a:pt x="68580" y="0"/>
                  </a:lnTo>
                  <a:lnTo>
                    <a:pt x="34290" y="1031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5909151" y="3103000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925289" y="3109067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4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5939409" y="3115133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4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5953530" y="3123222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5969667" y="3129288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5985805" y="3137377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6001942" y="3143443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6018079" y="3151532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6034217" y="3157598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6050354" y="3165687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6066492" y="3171753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6082629" y="3179841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6096750" y="3185908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6110870" y="3191974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124990" y="319804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6141128" y="320410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157265" y="321219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173403" y="3218262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6189540" y="322635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205678" y="323241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221815" y="3240505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237952" y="3246572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4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252073" y="3252638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266193" y="3258705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6280314" y="3266793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6296451" y="3272860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6312588" y="3280948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6328726" y="3287015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6344863" y="3295103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6361001" y="3301170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6377138" y="3309258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6391259" y="3315325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6405379" y="3321391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6419499" y="332745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6435637" y="3333524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451774" y="3341612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6467912" y="3347679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6484049" y="335576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500187" y="3361834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6516324" y="3369922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6532461" y="3375989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546582" y="3382055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6560702" y="3388121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6574823" y="3396210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590960" y="340227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607097" y="3410365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623235" y="341643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6639372" y="3424520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6655510" y="343058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6671647" y="3438675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6687785" y="344474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6703922" y="3452830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6718042" y="3458896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6732163" y="3464963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6746283" y="3471029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6762421" y="3477095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6778558" y="3485184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6794696" y="3491250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6810833" y="3499339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6826970" y="3505405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6843108" y="3513494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6859245" y="3519560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6873366" y="3525627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6887486" y="3531693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0" y="0"/>
                  </a:moveTo>
                  <a:lnTo>
                    <a:pt x="6051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6901606" y="3539782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6917744" y="3545848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6933881" y="3553937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6950019" y="3560003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6966156" y="3568092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5" name="object 135"/>
            <p:cNvSpPr/>
            <p:nvPr/>
          </p:nvSpPr>
          <p:spPr>
            <a:xfrm>
              <a:off x="6982294" y="3574158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6998431" y="3582247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7012551" y="3588313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7026672" y="3594379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0" y="0"/>
                  </a:moveTo>
                  <a:lnTo>
                    <a:pt x="8068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7040792" y="360044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056930" y="3606512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073067" y="361460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089204" y="362066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105342" y="362875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0" y="0"/>
                  </a:moveTo>
                  <a:lnTo>
                    <a:pt x="8068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119475" y="3103000"/>
              <a:ext cx="0" cy="525780"/>
            </a:xfrm>
            <a:custGeom>
              <a:avLst/>
              <a:gdLst/>
              <a:ahLst/>
              <a:cxnLst/>
              <a:rect l="l" t="t" r="r" b="b"/>
              <a:pathLst>
                <a:path h="525779">
                  <a:moveTo>
                    <a:pt x="0" y="0"/>
                  </a:moveTo>
                  <a:lnTo>
                    <a:pt x="0" y="525755"/>
                  </a:lnTo>
                </a:path>
              </a:pathLst>
            </a:custGeom>
            <a:ln w="4058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5" name="object 145"/>
            <p:cNvSpPr/>
            <p:nvPr/>
          </p:nvSpPr>
          <p:spPr>
            <a:xfrm>
              <a:off x="8321670" y="3103000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8307551" y="3109067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4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8293432" y="3115133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4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8277296" y="3123222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8261160" y="3129288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8245025" y="3137377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8228889" y="3143443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8212753" y="3151532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8196617" y="3157598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8180481" y="3165687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55"/>
            <p:cNvSpPr/>
            <p:nvPr/>
          </p:nvSpPr>
          <p:spPr>
            <a:xfrm>
              <a:off x="8164345" y="3171753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8148209" y="3179841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8134090" y="3185908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8119972" y="3191974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8105853" y="319804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089717" y="320410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8073581" y="321219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8057445" y="3218262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8041309" y="322635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8025173" y="323241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8009037" y="3240505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4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7994918" y="3246572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4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7980800" y="3252638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7966681" y="3258705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7950545" y="3266793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7934409" y="3272860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7918273" y="3280948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7902137" y="3287015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7886001" y="3295103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7869865" y="3301170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7853730" y="3309258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7839611" y="3315325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7825492" y="3321391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78"/>
            <p:cNvSpPr/>
            <p:nvPr/>
          </p:nvSpPr>
          <p:spPr>
            <a:xfrm>
              <a:off x="7811373" y="332745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79"/>
            <p:cNvSpPr/>
            <p:nvPr/>
          </p:nvSpPr>
          <p:spPr>
            <a:xfrm>
              <a:off x="7795237" y="3333524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779101" y="3341612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762966" y="3347679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2"/>
            <p:cNvSpPr/>
            <p:nvPr/>
          </p:nvSpPr>
          <p:spPr>
            <a:xfrm>
              <a:off x="7746830" y="335576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3"/>
            <p:cNvSpPr/>
            <p:nvPr/>
          </p:nvSpPr>
          <p:spPr>
            <a:xfrm>
              <a:off x="7730694" y="3361834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7714558" y="3369922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7700439" y="3375989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7686320" y="3382055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87"/>
            <p:cNvSpPr/>
            <p:nvPr/>
          </p:nvSpPr>
          <p:spPr>
            <a:xfrm>
              <a:off x="7672201" y="3388121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88"/>
            <p:cNvSpPr/>
            <p:nvPr/>
          </p:nvSpPr>
          <p:spPr>
            <a:xfrm>
              <a:off x="7656066" y="3396210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89"/>
            <p:cNvSpPr/>
            <p:nvPr/>
          </p:nvSpPr>
          <p:spPr>
            <a:xfrm>
              <a:off x="7639930" y="340227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623794" y="3410365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607658" y="341643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2"/>
            <p:cNvSpPr/>
            <p:nvPr/>
          </p:nvSpPr>
          <p:spPr>
            <a:xfrm>
              <a:off x="7591522" y="3424520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7575386" y="343058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194"/>
            <p:cNvSpPr/>
            <p:nvPr/>
          </p:nvSpPr>
          <p:spPr>
            <a:xfrm>
              <a:off x="7559250" y="3438675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7543114" y="344474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7526978" y="3452830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7512860" y="3458896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7498741" y="3464963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7484622" y="3471029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7468486" y="3477095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7452350" y="3485184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2"/>
            <p:cNvSpPr/>
            <p:nvPr/>
          </p:nvSpPr>
          <p:spPr>
            <a:xfrm>
              <a:off x="7436214" y="3491250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7420078" y="3499339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7403942" y="3505405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7387807" y="3513494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7373688" y="3519560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7359569" y="3525627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7345450" y="3531693"/>
              <a:ext cx="6350" cy="4445"/>
            </a:xfrm>
            <a:custGeom>
              <a:avLst/>
              <a:gdLst/>
              <a:ahLst/>
              <a:cxnLst/>
              <a:rect l="l" t="t" r="r" b="b"/>
              <a:pathLst>
                <a:path w="6350" h="4445">
                  <a:moveTo>
                    <a:pt x="6051" y="0"/>
                  </a:moveTo>
                  <a:lnTo>
                    <a:pt x="0" y="4044"/>
                  </a:lnTo>
                </a:path>
              </a:pathLst>
            </a:custGeom>
            <a:ln w="40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7329314" y="3539782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0"/>
            <p:cNvSpPr/>
            <p:nvPr/>
          </p:nvSpPr>
          <p:spPr>
            <a:xfrm>
              <a:off x="7313178" y="3545848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1"/>
            <p:cNvSpPr/>
            <p:nvPr/>
          </p:nvSpPr>
          <p:spPr>
            <a:xfrm>
              <a:off x="7297042" y="3553937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2"/>
            <p:cNvSpPr/>
            <p:nvPr/>
          </p:nvSpPr>
          <p:spPr>
            <a:xfrm>
              <a:off x="7280907" y="3560003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7264771" y="3568092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7248635" y="3574158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7232499" y="3582247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7218380" y="3588313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7204261" y="3594379"/>
              <a:ext cx="8255" cy="2540"/>
            </a:xfrm>
            <a:custGeom>
              <a:avLst/>
              <a:gdLst/>
              <a:ahLst/>
              <a:cxnLst/>
              <a:rect l="l" t="t" r="r" b="b"/>
              <a:pathLst>
                <a:path w="8254" h="2539">
                  <a:moveTo>
                    <a:pt x="8068" y="0"/>
                  </a:moveTo>
                  <a:lnTo>
                    <a:pt x="0" y="2022"/>
                  </a:lnTo>
                </a:path>
              </a:pathLst>
            </a:custGeom>
            <a:ln w="404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7190142" y="360044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7174006" y="3606512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7157871" y="3614601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7141735" y="3620667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7125599" y="3628756"/>
              <a:ext cx="8255" cy="4445"/>
            </a:xfrm>
            <a:custGeom>
              <a:avLst/>
              <a:gdLst/>
              <a:ahLst/>
              <a:cxnLst/>
              <a:rect l="l" t="t" r="r" b="b"/>
              <a:pathLst>
                <a:path w="8254" h="4445">
                  <a:moveTo>
                    <a:pt x="8068" y="0"/>
                  </a:moveTo>
                  <a:lnTo>
                    <a:pt x="0" y="4044"/>
                  </a:lnTo>
                </a:path>
              </a:pathLst>
            </a:custGeom>
            <a:ln w="404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0850" y="1412495"/>
            <a:ext cx="3858260" cy="445770"/>
            <a:chOff x="450850" y="1412495"/>
            <a:chExt cx="3858260" cy="445770"/>
          </a:xfrm>
        </p:grpSpPr>
        <p:sp>
          <p:nvSpPr>
            <p:cNvPr id="3" name="object 3"/>
            <p:cNvSpPr/>
            <p:nvPr/>
          </p:nvSpPr>
          <p:spPr>
            <a:xfrm>
              <a:off x="457200" y="1418845"/>
              <a:ext cx="3845560" cy="433070"/>
            </a:xfrm>
            <a:custGeom>
              <a:avLst/>
              <a:gdLst/>
              <a:ahLst/>
              <a:cxnLst/>
              <a:rect l="l" t="t" r="r" b="b"/>
              <a:pathLst>
                <a:path w="3845560" h="433069">
                  <a:moveTo>
                    <a:pt x="3772916" y="0"/>
                  </a:moveTo>
                  <a:lnTo>
                    <a:pt x="72136" y="0"/>
                  </a:lnTo>
                  <a:lnTo>
                    <a:pt x="44057" y="5668"/>
                  </a:lnTo>
                  <a:lnTo>
                    <a:pt x="21128" y="21128"/>
                  </a:lnTo>
                  <a:lnTo>
                    <a:pt x="5668" y="44057"/>
                  </a:lnTo>
                  <a:lnTo>
                    <a:pt x="0" y="72136"/>
                  </a:lnTo>
                  <a:lnTo>
                    <a:pt x="0" y="360680"/>
                  </a:lnTo>
                  <a:lnTo>
                    <a:pt x="5668" y="388758"/>
                  </a:lnTo>
                  <a:lnTo>
                    <a:pt x="21128" y="411687"/>
                  </a:lnTo>
                  <a:lnTo>
                    <a:pt x="44057" y="427147"/>
                  </a:lnTo>
                  <a:lnTo>
                    <a:pt x="72136" y="432816"/>
                  </a:lnTo>
                  <a:lnTo>
                    <a:pt x="3772916" y="432816"/>
                  </a:lnTo>
                  <a:lnTo>
                    <a:pt x="3800994" y="427147"/>
                  </a:lnTo>
                  <a:lnTo>
                    <a:pt x="3823923" y="411687"/>
                  </a:lnTo>
                  <a:lnTo>
                    <a:pt x="3839383" y="388758"/>
                  </a:lnTo>
                  <a:lnTo>
                    <a:pt x="3845052" y="360680"/>
                  </a:lnTo>
                  <a:lnTo>
                    <a:pt x="3845052" y="72136"/>
                  </a:lnTo>
                  <a:lnTo>
                    <a:pt x="3839383" y="44057"/>
                  </a:lnTo>
                  <a:lnTo>
                    <a:pt x="3823923" y="21128"/>
                  </a:lnTo>
                  <a:lnTo>
                    <a:pt x="3800994" y="5668"/>
                  </a:lnTo>
                  <a:lnTo>
                    <a:pt x="377291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57200" y="1418845"/>
              <a:ext cx="3845560" cy="433070"/>
            </a:xfrm>
            <a:custGeom>
              <a:avLst/>
              <a:gdLst/>
              <a:ahLst/>
              <a:cxnLst/>
              <a:rect l="l" t="t" r="r" b="b"/>
              <a:pathLst>
                <a:path w="3845560" h="433069">
                  <a:moveTo>
                    <a:pt x="0" y="72136"/>
                  </a:moveTo>
                  <a:lnTo>
                    <a:pt x="5668" y="44057"/>
                  </a:lnTo>
                  <a:lnTo>
                    <a:pt x="21128" y="21128"/>
                  </a:lnTo>
                  <a:lnTo>
                    <a:pt x="44057" y="5668"/>
                  </a:lnTo>
                  <a:lnTo>
                    <a:pt x="72136" y="0"/>
                  </a:lnTo>
                  <a:lnTo>
                    <a:pt x="3772916" y="0"/>
                  </a:lnTo>
                  <a:lnTo>
                    <a:pt x="3800994" y="5668"/>
                  </a:lnTo>
                  <a:lnTo>
                    <a:pt x="3823923" y="21128"/>
                  </a:lnTo>
                  <a:lnTo>
                    <a:pt x="3839383" y="44057"/>
                  </a:lnTo>
                  <a:lnTo>
                    <a:pt x="3845052" y="72136"/>
                  </a:lnTo>
                  <a:lnTo>
                    <a:pt x="3845052" y="360680"/>
                  </a:lnTo>
                  <a:lnTo>
                    <a:pt x="3839383" y="388758"/>
                  </a:lnTo>
                  <a:lnTo>
                    <a:pt x="3823923" y="411687"/>
                  </a:lnTo>
                  <a:lnTo>
                    <a:pt x="3800994" y="427147"/>
                  </a:lnTo>
                  <a:lnTo>
                    <a:pt x="3772916" y="432816"/>
                  </a:lnTo>
                  <a:lnTo>
                    <a:pt x="72136" y="432816"/>
                  </a:lnTo>
                  <a:lnTo>
                    <a:pt x="44057" y="427147"/>
                  </a:lnTo>
                  <a:lnTo>
                    <a:pt x="21128" y="411687"/>
                  </a:lnTo>
                  <a:lnTo>
                    <a:pt x="5668" y="388758"/>
                  </a:lnTo>
                  <a:lnTo>
                    <a:pt x="0" y="360680"/>
                  </a:lnTo>
                  <a:lnTo>
                    <a:pt x="0" y="72136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32782" y="1485728"/>
            <a:ext cx="20955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tasks</a:t>
            </a:r>
            <a:r>
              <a:rPr sz="15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5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0850" y="1807210"/>
            <a:ext cx="3858260" cy="2153920"/>
            <a:chOff x="450850" y="1807210"/>
            <a:chExt cx="3858260" cy="2153920"/>
          </a:xfrm>
        </p:grpSpPr>
        <p:sp>
          <p:nvSpPr>
            <p:cNvPr id="7" name="object 7"/>
            <p:cNvSpPr/>
            <p:nvPr/>
          </p:nvSpPr>
          <p:spPr>
            <a:xfrm>
              <a:off x="457200" y="1813560"/>
              <a:ext cx="3845560" cy="267970"/>
            </a:xfrm>
            <a:custGeom>
              <a:avLst/>
              <a:gdLst/>
              <a:ahLst/>
              <a:cxnLst/>
              <a:rect l="l" t="t" r="r" b="b"/>
              <a:pathLst>
                <a:path w="3845560" h="267969">
                  <a:moveTo>
                    <a:pt x="3845052" y="0"/>
                  </a:moveTo>
                  <a:lnTo>
                    <a:pt x="0" y="0"/>
                  </a:lnTo>
                  <a:lnTo>
                    <a:pt x="267652" y="267652"/>
                  </a:lnTo>
                  <a:lnTo>
                    <a:pt x="3577399" y="267652"/>
                  </a:lnTo>
                  <a:lnTo>
                    <a:pt x="384505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3687127"/>
              <a:ext cx="3845560" cy="267970"/>
            </a:xfrm>
            <a:custGeom>
              <a:avLst/>
              <a:gdLst/>
              <a:ahLst/>
              <a:cxnLst/>
              <a:rect l="l" t="t" r="r" b="b"/>
              <a:pathLst>
                <a:path w="3845560" h="267970">
                  <a:moveTo>
                    <a:pt x="3577399" y="0"/>
                  </a:moveTo>
                  <a:lnTo>
                    <a:pt x="267652" y="0"/>
                  </a:lnTo>
                  <a:lnTo>
                    <a:pt x="0" y="267652"/>
                  </a:lnTo>
                  <a:lnTo>
                    <a:pt x="3845052" y="267652"/>
                  </a:lnTo>
                  <a:lnTo>
                    <a:pt x="3577399" y="0"/>
                  </a:lnTo>
                  <a:close/>
                </a:path>
              </a:pathLst>
            </a:custGeom>
            <a:solidFill>
              <a:srgbClr val="CDCDC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1813560"/>
              <a:ext cx="267970" cy="2141220"/>
            </a:xfrm>
            <a:custGeom>
              <a:avLst/>
              <a:gdLst/>
              <a:ahLst/>
              <a:cxnLst/>
              <a:rect l="l" t="t" r="r" b="b"/>
              <a:pathLst>
                <a:path w="267970" h="2141220">
                  <a:moveTo>
                    <a:pt x="0" y="0"/>
                  </a:moveTo>
                  <a:lnTo>
                    <a:pt x="0" y="2141220"/>
                  </a:lnTo>
                  <a:lnTo>
                    <a:pt x="267652" y="1873567"/>
                  </a:lnTo>
                  <a:lnTo>
                    <a:pt x="267652" y="267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34599" y="1813560"/>
              <a:ext cx="267970" cy="2141220"/>
            </a:xfrm>
            <a:custGeom>
              <a:avLst/>
              <a:gdLst/>
              <a:ahLst/>
              <a:cxnLst/>
              <a:rect l="l" t="t" r="r" b="b"/>
              <a:pathLst>
                <a:path w="267970" h="2141220">
                  <a:moveTo>
                    <a:pt x="267652" y="0"/>
                  </a:moveTo>
                  <a:lnTo>
                    <a:pt x="0" y="267652"/>
                  </a:lnTo>
                  <a:lnTo>
                    <a:pt x="0" y="1873567"/>
                  </a:lnTo>
                  <a:lnTo>
                    <a:pt x="267652" y="2141220"/>
                  </a:lnTo>
                  <a:lnTo>
                    <a:pt x="267652" y="0"/>
                  </a:lnTo>
                  <a:close/>
                </a:path>
              </a:pathLst>
            </a:custGeom>
            <a:solidFill>
              <a:srgbClr val="999999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" y="1813560"/>
              <a:ext cx="3845560" cy="2141220"/>
            </a:xfrm>
            <a:custGeom>
              <a:avLst/>
              <a:gdLst/>
              <a:ahLst/>
              <a:cxnLst/>
              <a:rect l="l" t="t" r="r" b="b"/>
              <a:pathLst>
                <a:path w="3845560" h="2141220">
                  <a:moveTo>
                    <a:pt x="0" y="0"/>
                  </a:moveTo>
                  <a:lnTo>
                    <a:pt x="3845052" y="0"/>
                  </a:lnTo>
                  <a:lnTo>
                    <a:pt x="3845052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  <a:path w="3845560" h="2141220">
                  <a:moveTo>
                    <a:pt x="0" y="0"/>
                  </a:moveTo>
                  <a:lnTo>
                    <a:pt x="267652" y="267652"/>
                  </a:lnTo>
                </a:path>
                <a:path w="3845560" h="2141220">
                  <a:moveTo>
                    <a:pt x="0" y="2141220"/>
                  </a:moveTo>
                  <a:lnTo>
                    <a:pt x="267652" y="1873567"/>
                  </a:lnTo>
                </a:path>
                <a:path w="3845560" h="2141220">
                  <a:moveTo>
                    <a:pt x="3845052" y="0"/>
                  </a:moveTo>
                  <a:lnTo>
                    <a:pt x="3577399" y="267652"/>
                  </a:lnTo>
                </a:path>
                <a:path w="3845560" h="2141220">
                  <a:moveTo>
                    <a:pt x="3845052" y="2141220"/>
                  </a:moveTo>
                  <a:lnTo>
                    <a:pt x="3577399" y="1873567"/>
                  </a:lnTo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4852" y="2081212"/>
            <a:ext cx="3310254" cy="1605915"/>
          </a:xfrm>
          <a:prstGeom prst="rect">
            <a:avLst/>
          </a:prstGeom>
          <a:ln w="12700">
            <a:solidFill>
              <a:srgbClr val="CFD4EA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93040" indent="-113030">
              <a:lnSpc>
                <a:spcPct val="100000"/>
              </a:lnSpc>
              <a:spcBef>
                <a:spcPts val="380"/>
              </a:spcBef>
              <a:buChar char="•"/>
              <a:tabLst>
                <a:tab pos="193040" algn="l"/>
              </a:tabLst>
            </a:pPr>
            <a:r>
              <a:rPr sz="1500" dirty="0">
                <a:latin typeface="Calibri"/>
                <a:cs typeface="Calibri"/>
              </a:rPr>
              <a:t>Draw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5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display</a:t>
            </a:r>
            <a:r>
              <a:rPr sz="1500" spc="-6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images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screen</a:t>
            </a:r>
            <a:endParaRPr sz="1500">
              <a:latin typeface="Calibri"/>
              <a:cs typeface="Calibri"/>
            </a:endParaRPr>
          </a:p>
          <a:p>
            <a:pPr marL="193040" indent="-113030">
              <a:lnSpc>
                <a:spcPct val="100000"/>
              </a:lnSpc>
              <a:spcBef>
                <a:spcPts val="120"/>
              </a:spcBef>
              <a:buChar char="•"/>
              <a:tabLst>
                <a:tab pos="193040" algn="l"/>
              </a:tabLst>
            </a:pPr>
            <a:r>
              <a:rPr sz="1500" dirty="0">
                <a:latin typeface="Calibri"/>
                <a:cs typeface="Calibri"/>
              </a:rPr>
              <a:t>Check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keyboard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mouse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input</a:t>
            </a:r>
            <a:endParaRPr sz="1500">
              <a:latin typeface="Calibri"/>
              <a:cs typeface="Calibri"/>
            </a:endParaRPr>
          </a:p>
          <a:p>
            <a:pPr marL="193040" indent="-113030">
              <a:lnSpc>
                <a:spcPct val="100000"/>
              </a:lnSpc>
              <a:spcBef>
                <a:spcPts val="120"/>
              </a:spcBef>
              <a:buChar char="•"/>
              <a:tabLst>
                <a:tab pos="193040" algn="l"/>
              </a:tabLst>
            </a:pPr>
            <a:r>
              <a:rPr sz="1500" dirty="0">
                <a:latin typeface="Calibri"/>
                <a:cs typeface="Calibri"/>
              </a:rPr>
              <a:t>Send</a:t>
            </a:r>
            <a:r>
              <a:rPr sz="1500" spc="-2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receive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data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on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network</a:t>
            </a:r>
            <a:endParaRPr sz="1500">
              <a:latin typeface="Calibri"/>
              <a:cs typeface="Calibri"/>
            </a:endParaRPr>
          </a:p>
          <a:p>
            <a:pPr marL="193040" indent="-113030">
              <a:lnSpc>
                <a:spcPct val="100000"/>
              </a:lnSpc>
              <a:spcBef>
                <a:spcPts val="120"/>
              </a:spcBef>
              <a:buChar char="•"/>
              <a:tabLst>
                <a:tab pos="193040" algn="l"/>
              </a:tabLst>
            </a:pPr>
            <a:r>
              <a:rPr sz="1500" dirty="0">
                <a:latin typeface="Calibri"/>
                <a:cs typeface="Calibri"/>
              </a:rPr>
              <a:t>Read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and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write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files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to</a:t>
            </a:r>
            <a:r>
              <a:rPr sz="1500" spc="-45" dirty="0">
                <a:latin typeface="Calibri"/>
                <a:cs typeface="Calibri"/>
              </a:rPr>
              <a:t> </a:t>
            </a:r>
            <a:r>
              <a:rPr sz="1500" spc="-20" dirty="0">
                <a:latin typeface="Calibri"/>
                <a:cs typeface="Calibri"/>
              </a:rPr>
              <a:t>disk</a:t>
            </a:r>
            <a:endParaRPr sz="1500">
              <a:latin typeface="Calibri"/>
              <a:cs typeface="Calibri"/>
            </a:endParaRPr>
          </a:p>
          <a:p>
            <a:pPr marL="193040" marR="330200" indent="-113030">
              <a:lnSpc>
                <a:spcPts val="1639"/>
              </a:lnSpc>
              <a:spcBef>
                <a:spcPts val="320"/>
              </a:spcBef>
              <a:buChar char="•"/>
              <a:tabLst>
                <a:tab pos="194310" algn="l"/>
              </a:tabLst>
            </a:pPr>
            <a:r>
              <a:rPr sz="1500" spc="-10" dirty="0">
                <a:latin typeface="Calibri"/>
                <a:cs typeface="Calibri"/>
              </a:rPr>
              <a:t>Perform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dirty="0">
                <a:latin typeface="Calibri"/>
                <a:cs typeface="Calibri"/>
              </a:rPr>
              <a:t>useful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computation</a:t>
            </a:r>
            <a:r>
              <a:rPr sz="1500" spc="-4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(editor, 	</a:t>
            </a:r>
            <a:r>
              <a:rPr sz="1500" spc="-25" dirty="0">
                <a:latin typeface="Calibri"/>
                <a:cs typeface="Calibri"/>
              </a:rPr>
              <a:t>browser, </a:t>
            </a:r>
            <a:r>
              <a:rPr sz="1500" spc="-10" dirty="0">
                <a:latin typeface="Calibri"/>
                <a:cs typeface="Calibri"/>
              </a:rPr>
              <a:t>game)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835397" y="1375920"/>
            <a:ext cx="3858260" cy="444500"/>
            <a:chOff x="4835397" y="1375920"/>
            <a:chExt cx="3858260" cy="444500"/>
          </a:xfrm>
        </p:grpSpPr>
        <p:sp>
          <p:nvSpPr>
            <p:cNvPr id="14" name="object 14"/>
            <p:cNvSpPr/>
            <p:nvPr/>
          </p:nvSpPr>
          <p:spPr>
            <a:xfrm>
              <a:off x="4841747" y="1382270"/>
              <a:ext cx="3845560" cy="431800"/>
            </a:xfrm>
            <a:custGeom>
              <a:avLst/>
              <a:gdLst/>
              <a:ahLst/>
              <a:cxnLst/>
              <a:rect l="l" t="t" r="r" b="b"/>
              <a:pathLst>
                <a:path w="3845559" h="431800">
                  <a:moveTo>
                    <a:pt x="3773170" y="0"/>
                  </a:moveTo>
                  <a:lnTo>
                    <a:pt x="71882" y="0"/>
                  </a:lnTo>
                  <a:lnTo>
                    <a:pt x="43901" y="5648"/>
                  </a:lnTo>
                  <a:lnTo>
                    <a:pt x="21053" y="21053"/>
                  </a:lnTo>
                  <a:lnTo>
                    <a:pt x="5648" y="43901"/>
                  </a:lnTo>
                  <a:lnTo>
                    <a:pt x="0" y="71882"/>
                  </a:lnTo>
                  <a:lnTo>
                    <a:pt x="0" y="359410"/>
                  </a:lnTo>
                  <a:lnTo>
                    <a:pt x="5648" y="387390"/>
                  </a:lnTo>
                  <a:lnTo>
                    <a:pt x="21053" y="410238"/>
                  </a:lnTo>
                  <a:lnTo>
                    <a:pt x="43901" y="425643"/>
                  </a:lnTo>
                  <a:lnTo>
                    <a:pt x="71882" y="431292"/>
                  </a:lnTo>
                  <a:lnTo>
                    <a:pt x="3773170" y="431292"/>
                  </a:lnTo>
                  <a:lnTo>
                    <a:pt x="3801150" y="425643"/>
                  </a:lnTo>
                  <a:lnTo>
                    <a:pt x="3823998" y="410238"/>
                  </a:lnTo>
                  <a:lnTo>
                    <a:pt x="3839403" y="387390"/>
                  </a:lnTo>
                  <a:lnTo>
                    <a:pt x="3845052" y="359410"/>
                  </a:lnTo>
                  <a:lnTo>
                    <a:pt x="3845052" y="71882"/>
                  </a:lnTo>
                  <a:lnTo>
                    <a:pt x="3839403" y="43901"/>
                  </a:lnTo>
                  <a:lnTo>
                    <a:pt x="3823998" y="21053"/>
                  </a:lnTo>
                  <a:lnTo>
                    <a:pt x="3801150" y="5648"/>
                  </a:lnTo>
                  <a:lnTo>
                    <a:pt x="377317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841747" y="1382270"/>
              <a:ext cx="3845560" cy="431800"/>
            </a:xfrm>
            <a:custGeom>
              <a:avLst/>
              <a:gdLst/>
              <a:ahLst/>
              <a:cxnLst/>
              <a:rect l="l" t="t" r="r" b="b"/>
              <a:pathLst>
                <a:path w="3845559" h="431800">
                  <a:moveTo>
                    <a:pt x="0" y="71882"/>
                  </a:moveTo>
                  <a:lnTo>
                    <a:pt x="5648" y="43901"/>
                  </a:lnTo>
                  <a:lnTo>
                    <a:pt x="21053" y="21053"/>
                  </a:lnTo>
                  <a:lnTo>
                    <a:pt x="43901" y="5648"/>
                  </a:lnTo>
                  <a:lnTo>
                    <a:pt x="71882" y="0"/>
                  </a:lnTo>
                  <a:lnTo>
                    <a:pt x="3773170" y="0"/>
                  </a:lnTo>
                  <a:lnTo>
                    <a:pt x="3801150" y="5648"/>
                  </a:lnTo>
                  <a:lnTo>
                    <a:pt x="3823998" y="21053"/>
                  </a:lnTo>
                  <a:lnTo>
                    <a:pt x="3839403" y="43901"/>
                  </a:lnTo>
                  <a:lnTo>
                    <a:pt x="3845052" y="71882"/>
                  </a:lnTo>
                  <a:lnTo>
                    <a:pt x="3845052" y="359410"/>
                  </a:lnTo>
                  <a:lnTo>
                    <a:pt x="3839403" y="387390"/>
                  </a:lnTo>
                  <a:lnTo>
                    <a:pt x="3823998" y="410238"/>
                  </a:lnTo>
                  <a:lnTo>
                    <a:pt x="3801150" y="425643"/>
                  </a:lnTo>
                  <a:lnTo>
                    <a:pt x="3773170" y="431292"/>
                  </a:lnTo>
                  <a:lnTo>
                    <a:pt x="71882" y="431292"/>
                  </a:lnTo>
                  <a:lnTo>
                    <a:pt x="43901" y="425643"/>
                  </a:lnTo>
                  <a:lnTo>
                    <a:pt x="21053" y="410238"/>
                  </a:lnTo>
                  <a:lnTo>
                    <a:pt x="5648" y="387390"/>
                  </a:lnTo>
                  <a:lnTo>
                    <a:pt x="0" y="359410"/>
                  </a:lnTo>
                  <a:lnTo>
                    <a:pt x="0" y="71882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5061410" y="1448883"/>
            <a:ext cx="34061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How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does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15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sz="1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everything</a:t>
            </a:r>
            <a:r>
              <a:rPr sz="15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dirty="0">
                <a:solidFill>
                  <a:srgbClr val="FFFFFF"/>
                </a:solidFill>
                <a:latin typeface="Calibri"/>
                <a:cs typeface="Calibri"/>
              </a:rPr>
              <a:t>at</a:t>
            </a:r>
            <a:r>
              <a:rPr sz="15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Calibri"/>
                <a:cs typeface="Calibri"/>
              </a:rPr>
              <a:t>once?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835397" y="1807210"/>
            <a:ext cx="3858260" cy="2153920"/>
            <a:chOff x="4835397" y="1807210"/>
            <a:chExt cx="3858260" cy="2153920"/>
          </a:xfrm>
        </p:grpSpPr>
        <p:sp>
          <p:nvSpPr>
            <p:cNvPr id="18" name="object 18"/>
            <p:cNvSpPr/>
            <p:nvPr/>
          </p:nvSpPr>
          <p:spPr>
            <a:xfrm>
              <a:off x="4841747" y="1813560"/>
              <a:ext cx="3845560" cy="267970"/>
            </a:xfrm>
            <a:custGeom>
              <a:avLst/>
              <a:gdLst/>
              <a:ahLst/>
              <a:cxnLst/>
              <a:rect l="l" t="t" r="r" b="b"/>
              <a:pathLst>
                <a:path w="3845559" h="267969">
                  <a:moveTo>
                    <a:pt x="3845052" y="0"/>
                  </a:moveTo>
                  <a:lnTo>
                    <a:pt x="0" y="0"/>
                  </a:lnTo>
                  <a:lnTo>
                    <a:pt x="267652" y="267652"/>
                  </a:lnTo>
                  <a:lnTo>
                    <a:pt x="3577399" y="267652"/>
                  </a:lnTo>
                  <a:lnTo>
                    <a:pt x="3845052" y="0"/>
                  </a:lnTo>
                  <a:close/>
                </a:path>
              </a:pathLst>
            </a:custGeom>
            <a:solidFill>
              <a:srgbClr val="D7DDED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841746" y="3687127"/>
              <a:ext cx="3845560" cy="267970"/>
            </a:xfrm>
            <a:custGeom>
              <a:avLst/>
              <a:gdLst/>
              <a:ahLst/>
              <a:cxnLst/>
              <a:rect l="l" t="t" r="r" b="b"/>
              <a:pathLst>
                <a:path w="3845559" h="267970">
                  <a:moveTo>
                    <a:pt x="3577399" y="0"/>
                  </a:moveTo>
                  <a:lnTo>
                    <a:pt x="267652" y="0"/>
                  </a:lnTo>
                  <a:lnTo>
                    <a:pt x="0" y="267652"/>
                  </a:lnTo>
                  <a:lnTo>
                    <a:pt x="3845052" y="267652"/>
                  </a:lnTo>
                  <a:lnTo>
                    <a:pt x="3577399" y="0"/>
                  </a:lnTo>
                  <a:close/>
                </a:path>
              </a:pathLst>
            </a:custGeom>
            <a:solidFill>
              <a:srgbClr val="A6ABB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41746" y="1813560"/>
              <a:ext cx="267970" cy="2141220"/>
            </a:xfrm>
            <a:custGeom>
              <a:avLst/>
              <a:gdLst/>
              <a:ahLst/>
              <a:cxnLst/>
              <a:rect l="l" t="t" r="r" b="b"/>
              <a:pathLst>
                <a:path w="267970" h="2141220">
                  <a:moveTo>
                    <a:pt x="0" y="0"/>
                  </a:moveTo>
                  <a:lnTo>
                    <a:pt x="0" y="2141220"/>
                  </a:lnTo>
                  <a:lnTo>
                    <a:pt x="267652" y="1873567"/>
                  </a:lnTo>
                  <a:lnTo>
                    <a:pt x="267652" y="2676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1E6F1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19146" y="1813560"/>
              <a:ext cx="267970" cy="2141220"/>
            </a:xfrm>
            <a:custGeom>
              <a:avLst/>
              <a:gdLst/>
              <a:ahLst/>
              <a:cxnLst/>
              <a:rect l="l" t="t" r="r" b="b"/>
              <a:pathLst>
                <a:path w="267970" h="2141220">
                  <a:moveTo>
                    <a:pt x="267652" y="0"/>
                  </a:moveTo>
                  <a:lnTo>
                    <a:pt x="0" y="267652"/>
                  </a:lnTo>
                  <a:lnTo>
                    <a:pt x="0" y="1873567"/>
                  </a:lnTo>
                  <a:lnTo>
                    <a:pt x="267652" y="2141220"/>
                  </a:lnTo>
                  <a:lnTo>
                    <a:pt x="267652" y="0"/>
                  </a:lnTo>
                  <a:close/>
                </a:path>
              </a:pathLst>
            </a:custGeom>
            <a:solidFill>
              <a:srgbClr val="7B808B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841747" y="1813560"/>
              <a:ext cx="3845560" cy="2141220"/>
            </a:xfrm>
            <a:custGeom>
              <a:avLst/>
              <a:gdLst/>
              <a:ahLst/>
              <a:cxnLst/>
              <a:rect l="l" t="t" r="r" b="b"/>
              <a:pathLst>
                <a:path w="3845559" h="2141220">
                  <a:moveTo>
                    <a:pt x="0" y="0"/>
                  </a:moveTo>
                  <a:lnTo>
                    <a:pt x="3845052" y="0"/>
                  </a:lnTo>
                  <a:lnTo>
                    <a:pt x="3845052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  <a:path w="3845559" h="2141220">
                  <a:moveTo>
                    <a:pt x="0" y="0"/>
                  </a:moveTo>
                  <a:lnTo>
                    <a:pt x="267652" y="267652"/>
                  </a:lnTo>
                </a:path>
                <a:path w="3845559" h="2141220">
                  <a:moveTo>
                    <a:pt x="0" y="2141220"/>
                  </a:moveTo>
                  <a:lnTo>
                    <a:pt x="267652" y="1873567"/>
                  </a:lnTo>
                </a:path>
                <a:path w="3845559" h="2141220">
                  <a:moveTo>
                    <a:pt x="3845052" y="0"/>
                  </a:moveTo>
                  <a:lnTo>
                    <a:pt x="3577399" y="267652"/>
                  </a:lnTo>
                </a:path>
                <a:path w="3845559" h="2141220">
                  <a:moveTo>
                    <a:pt x="3845052" y="2141220"/>
                  </a:moveTo>
                  <a:lnTo>
                    <a:pt x="3577399" y="1873567"/>
                  </a:lnTo>
                </a:path>
              </a:pathLst>
            </a:custGeom>
            <a:ln w="12700">
              <a:solidFill>
                <a:srgbClr val="CFD4E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5109400" y="2081212"/>
            <a:ext cx="3310254" cy="1605915"/>
          </a:xfrm>
          <a:prstGeom prst="rect">
            <a:avLst/>
          </a:prstGeom>
          <a:solidFill>
            <a:srgbClr val="CFD4EA">
              <a:alpha val="90194"/>
            </a:srgbClr>
          </a:solidFill>
          <a:ln w="12700">
            <a:solidFill>
              <a:srgbClr val="CFD4EA"/>
            </a:solidFill>
          </a:ln>
        </p:spPr>
        <p:txBody>
          <a:bodyPr vert="horz" wrap="square" lIns="0" tIns="48260" rIns="0" bIns="0" rtlCol="0">
            <a:spAutoFit/>
          </a:bodyPr>
          <a:lstStyle/>
          <a:p>
            <a:pPr marL="192405" indent="-113030">
              <a:lnSpc>
                <a:spcPct val="100000"/>
              </a:lnSpc>
              <a:spcBef>
                <a:spcPts val="380"/>
              </a:spcBef>
              <a:buChar char="•"/>
              <a:tabLst>
                <a:tab pos="192405" algn="l"/>
              </a:tabLst>
            </a:pPr>
            <a:r>
              <a:rPr sz="1500" spc="-10" dirty="0">
                <a:latin typeface="Calibri"/>
                <a:cs typeface="Calibri"/>
              </a:rPr>
              <a:t>Multitasking</a:t>
            </a:r>
            <a:endParaRPr sz="1500">
              <a:latin typeface="Calibri"/>
              <a:cs typeface="Calibri"/>
            </a:endParaRPr>
          </a:p>
          <a:p>
            <a:pPr marL="192405" indent="-113030">
              <a:lnSpc>
                <a:spcPct val="100000"/>
              </a:lnSpc>
              <a:spcBef>
                <a:spcPts val="120"/>
              </a:spcBef>
              <a:buChar char="•"/>
              <a:tabLst>
                <a:tab pos="192405" algn="l"/>
              </a:tabLst>
            </a:pPr>
            <a:r>
              <a:rPr sz="1500" spc="-10" dirty="0">
                <a:latin typeface="Calibri"/>
                <a:cs typeface="Calibri"/>
              </a:rPr>
              <a:t>Multiprocessing</a:t>
            </a:r>
            <a:endParaRPr sz="15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-4762" y="201168"/>
            <a:ext cx="9153525" cy="902335"/>
            <a:chOff x="-4762" y="201168"/>
            <a:chExt cx="9153525" cy="902335"/>
          </a:xfrm>
        </p:grpSpPr>
        <p:sp>
          <p:nvSpPr>
            <p:cNvPr id="25" name="object 25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8"/>
              <a:ext cx="3003803" cy="902207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25" dirty="0"/>
              <a:t>The</a:t>
            </a:r>
            <a:r>
              <a:rPr sz="3200" dirty="0"/>
              <a:t> </a:t>
            </a:r>
            <a:r>
              <a:rPr sz="3200" spc="60" dirty="0"/>
              <a:t>concept</a:t>
            </a:r>
            <a:endParaRPr sz="3200"/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4555" y="1083806"/>
            <a:ext cx="5457825" cy="238887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335"/>
              </a:spcBef>
              <a:buFont typeface="Arial MT"/>
              <a:buChar char="•"/>
              <a:tabLst>
                <a:tab pos="184785" algn="l"/>
              </a:tabLst>
            </a:pPr>
            <a:r>
              <a:rPr sz="2200" spc="-10" dirty="0">
                <a:latin typeface="Times New Roman"/>
                <a:cs typeface="Times New Roman"/>
              </a:rPr>
              <a:t>Approach</a:t>
            </a:r>
            <a:endParaRPr sz="2200">
              <a:latin typeface="Times New Roman"/>
              <a:cs typeface="Times New Roman"/>
            </a:endParaRPr>
          </a:p>
          <a:p>
            <a:pPr marL="536575" lvl="1" indent="-184150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does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some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work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task</a:t>
            </a:r>
            <a:endParaRPr sz="1800">
              <a:latin typeface="Times New Roman"/>
              <a:cs typeface="Times New Roman"/>
            </a:endParaRPr>
          </a:p>
          <a:p>
            <a:pPr marL="536575" lvl="1" indent="-184150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then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quickly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switch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next</a:t>
            </a:r>
            <a:r>
              <a:rPr sz="1800" spc="-20" dirty="0">
                <a:latin typeface="Times New Roman"/>
                <a:cs typeface="Times New Roman"/>
              </a:rPr>
              <a:t> task</a:t>
            </a:r>
            <a:endParaRPr sz="1800">
              <a:latin typeface="Times New Roman"/>
              <a:cs typeface="Times New Roman"/>
            </a:endParaRPr>
          </a:p>
          <a:p>
            <a:pPr marL="536575" lvl="1" indent="-184150">
              <a:lnSpc>
                <a:spcPct val="100000"/>
              </a:lnSpc>
              <a:spcBef>
                <a:spcPts val="180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spc="-20" dirty="0">
                <a:latin typeface="Times New Roman"/>
                <a:cs typeface="Times New Roman"/>
              </a:rPr>
              <a:t>Tasks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managed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operating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system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(scheduler)</a:t>
            </a:r>
            <a:endParaRPr sz="18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790"/>
              </a:spcBef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buFont typeface="Arial MT"/>
              <a:buChar char="•"/>
              <a:tabLst>
                <a:tab pos="184785" algn="l"/>
              </a:tabLst>
            </a:pPr>
            <a:r>
              <a:rPr sz="2200" dirty="0">
                <a:latin typeface="Times New Roman"/>
                <a:cs typeface="Times New Roman"/>
              </a:rPr>
              <a:t>Computer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seems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work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concurrently</a:t>
            </a:r>
            <a:endParaRPr sz="22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spcBef>
                <a:spcPts val="540"/>
              </a:spcBef>
              <a:buFont typeface="Arial MT"/>
              <a:buChar char="•"/>
              <a:tabLst>
                <a:tab pos="184785" algn="l"/>
              </a:tabLst>
            </a:pP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improve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performance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reducing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waiting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01168"/>
            <a:ext cx="9153525" cy="902335"/>
            <a:chOff x="-4762" y="201168"/>
            <a:chExt cx="9153525" cy="902335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8"/>
              <a:ext cx="4009643" cy="90220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1523" y="201168"/>
              <a:ext cx="707123" cy="9022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82211" y="201168"/>
              <a:ext cx="2119883" cy="90220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5" dirty="0"/>
              <a:t>Multitasking</a:t>
            </a:r>
            <a:r>
              <a:rPr sz="3200" spc="35" dirty="0"/>
              <a:t> </a:t>
            </a:r>
            <a:r>
              <a:rPr sz="3200" spc="-145" dirty="0"/>
              <a:t>(time-</a:t>
            </a:r>
            <a:r>
              <a:rPr sz="3200" spc="-95" dirty="0"/>
              <a:t>sharing)</a:t>
            </a:r>
            <a:endParaRPr sz="3200"/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4040" y="1453768"/>
            <a:ext cx="156210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Single</a:t>
            </a:r>
            <a:r>
              <a:rPr sz="22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task</a:t>
            </a:r>
            <a:r>
              <a:rPr sz="2200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50" dirty="0">
                <a:solidFill>
                  <a:srgbClr val="0000FF"/>
                </a:solidFill>
                <a:latin typeface="Cambria Math"/>
                <a:cs typeface="Cambria Math"/>
              </a:rPr>
              <a:t>→</a:t>
            </a:r>
            <a:endParaRPr sz="220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39579" y="3310073"/>
            <a:ext cx="151828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71270" algn="l"/>
              </a:tabLst>
            </a:pPr>
            <a:r>
              <a:rPr sz="2200" spc="-35" dirty="0">
                <a:solidFill>
                  <a:srgbClr val="0000FF"/>
                </a:solidFill>
                <a:latin typeface="Times New Roman"/>
                <a:cs typeface="Times New Roman"/>
              </a:rPr>
              <a:t>Two</a:t>
            </a:r>
            <a:r>
              <a:rPr sz="22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solidFill>
                  <a:srgbClr val="0000FF"/>
                </a:solidFill>
                <a:latin typeface="Times New Roman"/>
                <a:cs typeface="Times New Roman"/>
              </a:rPr>
              <a:t>tasks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	</a:t>
            </a:r>
            <a:r>
              <a:rPr sz="2200" spc="-50" dirty="0">
                <a:solidFill>
                  <a:srgbClr val="0000FF"/>
                </a:solidFill>
                <a:latin typeface="Cambria Math"/>
                <a:cs typeface="Cambria Math"/>
              </a:rPr>
              <a:t>→</a:t>
            </a:r>
            <a:endParaRPr sz="2200">
              <a:latin typeface="Cambria Math"/>
              <a:cs typeface="Cambria Math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70331" y="217944"/>
            <a:ext cx="7169150" cy="2376805"/>
            <a:chOff x="370331" y="217944"/>
            <a:chExt cx="7169150" cy="23768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16480" y="903732"/>
              <a:ext cx="5196827" cy="16809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11717" y="898969"/>
              <a:ext cx="5206365" cy="1691005"/>
            </a:xfrm>
            <a:custGeom>
              <a:avLst/>
              <a:gdLst/>
              <a:ahLst/>
              <a:cxnLst/>
              <a:rect l="l" t="t" r="r" b="b"/>
              <a:pathLst>
                <a:path w="5206365" h="1691005">
                  <a:moveTo>
                    <a:pt x="0" y="0"/>
                  </a:moveTo>
                  <a:lnTo>
                    <a:pt x="5206365" y="0"/>
                  </a:lnTo>
                  <a:lnTo>
                    <a:pt x="5206365" y="1690497"/>
                  </a:lnTo>
                  <a:lnTo>
                    <a:pt x="0" y="1690497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331" y="217944"/>
              <a:ext cx="7168895" cy="78941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0" y="286511"/>
            <a:ext cx="9144000" cy="523240"/>
          </a:xfrm>
          <a:prstGeom prst="rect">
            <a:avLst/>
          </a:prstGeom>
          <a:ln w="9525">
            <a:solidFill>
              <a:srgbClr val="0077A1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91185">
              <a:lnSpc>
                <a:spcPct val="100000"/>
              </a:lnSpc>
              <a:spcBef>
                <a:spcPts val="300"/>
              </a:spcBef>
            </a:pPr>
            <a:r>
              <a:rPr spc="-125" dirty="0"/>
              <a:t>Multitasking</a:t>
            </a:r>
            <a:r>
              <a:rPr spc="-65" dirty="0"/>
              <a:t> </a:t>
            </a:r>
            <a:r>
              <a:rPr spc="110" dirty="0"/>
              <a:t>can</a:t>
            </a:r>
            <a:r>
              <a:rPr spc="-80" dirty="0"/>
              <a:t> </a:t>
            </a:r>
            <a:r>
              <a:rPr spc="-35" dirty="0"/>
              <a:t>improve</a:t>
            </a:r>
            <a:r>
              <a:rPr spc="-65" dirty="0"/>
              <a:t> </a:t>
            </a:r>
            <a:r>
              <a:rPr spc="-10" dirty="0"/>
              <a:t>performance</a:t>
            </a: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86000" y="2723388"/>
            <a:ext cx="5257799" cy="14996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6440" y="827387"/>
            <a:ext cx="4271010" cy="91884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Multiple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units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(multiprocessor).</a:t>
            </a:r>
            <a:endParaRPr sz="18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Computer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works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several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tasks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parallel.</a:t>
            </a:r>
            <a:endParaRPr sz="18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spcBef>
                <a:spcPts val="190"/>
              </a:spcBef>
              <a:buFont typeface="Arial MT"/>
              <a:buChar char="•"/>
              <a:tabLst>
                <a:tab pos="184785" algn="l"/>
              </a:tabLst>
            </a:pPr>
            <a:r>
              <a:rPr sz="1800" dirty="0">
                <a:latin typeface="Times New Roman"/>
                <a:cs typeface="Times New Roman"/>
              </a:rPr>
              <a:t>Performance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improved.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19800" y="1947672"/>
            <a:ext cx="1639823" cy="109575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350329" y="3279513"/>
            <a:ext cx="1474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6865" marR="5080" indent="-3048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536A"/>
                </a:solidFill>
                <a:latin typeface="Times New Roman"/>
                <a:cs typeface="Times New Roman"/>
              </a:rPr>
              <a:t>4096</a:t>
            </a:r>
            <a:r>
              <a:rPr sz="1800" b="1" spc="-10" dirty="0">
                <a:solidFill>
                  <a:srgbClr val="44536A"/>
                </a:solidFill>
                <a:latin typeface="Times New Roman"/>
                <a:cs typeface="Times New Roman"/>
              </a:rPr>
              <a:t> processor </a:t>
            </a:r>
            <a:r>
              <a:rPr sz="1800" b="1" dirty="0">
                <a:solidFill>
                  <a:srgbClr val="44536A"/>
                </a:solidFill>
                <a:latin typeface="Times New Roman"/>
                <a:cs typeface="Times New Roman"/>
              </a:rPr>
              <a:t>Cray</a:t>
            </a:r>
            <a:r>
              <a:rPr sz="1800" b="1" spc="-3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44536A"/>
                </a:solidFill>
                <a:latin typeface="Times New Roman"/>
                <a:cs typeface="Times New Roman"/>
              </a:rPr>
              <a:t>X1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32655" y="2563368"/>
            <a:ext cx="667963" cy="10225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868622" y="3761465"/>
            <a:ext cx="1419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2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44536A"/>
                </a:solidFill>
                <a:latin typeface="Times New Roman"/>
                <a:cs typeface="Times New Roman"/>
              </a:rPr>
              <a:t>32</a:t>
            </a:r>
            <a:r>
              <a:rPr sz="1800" b="1" spc="-10" dirty="0">
                <a:solidFill>
                  <a:srgbClr val="44536A"/>
                </a:solidFill>
                <a:latin typeface="Times New Roman"/>
                <a:cs typeface="Times New Roman"/>
              </a:rPr>
              <a:t> processor </a:t>
            </a:r>
            <a:r>
              <a:rPr sz="1800" b="1" dirty="0">
                <a:solidFill>
                  <a:srgbClr val="44536A"/>
                </a:solidFill>
                <a:latin typeface="Times New Roman"/>
                <a:cs typeface="Times New Roman"/>
              </a:rPr>
              <a:t>Pentium</a:t>
            </a:r>
            <a:r>
              <a:rPr sz="1800" b="1" spc="-8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800" b="1" spc="-20" dirty="0">
                <a:solidFill>
                  <a:srgbClr val="44536A"/>
                </a:solidFill>
                <a:latin typeface="Times New Roman"/>
                <a:cs typeface="Times New Roman"/>
              </a:rPr>
              <a:t>Xeon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7587" y="3206653"/>
            <a:ext cx="15779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1940" marR="5080" indent="-26987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44536A"/>
                </a:solidFill>
                <a:latin typeface="Times New Roman"/>
                <a:cs typeface="Times New Roman"/>
              </a:rPr>
              <a:t>Dual-</a:t>
            </a:r>
            <a:r>
              <a:rPr sz="1800" b="1" spc="-20" dirty="0">
                <a:solidFill>
                  <a:srgbClr val="44536A"/>
                </a:solidFill>
                <a:latin typeface="Times New Roman"/>
                <a:cs typeface="Times New Roman"/>
              </a:rPr>
              <a:t>core</a:t>
            </a:r>
            <a:r>
              <a:rPr sz="1800" b="1" spc="-7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44536A"/>
                </a:solidFill>
                <a:latin typeface="Times New Roman"/>
                <a:cs typeface="Times New Roman"/>
              </a:rPr>
              <a:t>AMD </a:t>
            </a:r>
            <a:r>
              <a:rPr sz="1800" b="1" dirty="0">
                <a:solidFill>
                  <a:srgbClr val="44536A"/>
                </a:solidFill>
                <a:latin typeface="Times New Roman"/>
                <a:cs typeface="Times New Roman"/>
              </a:rPr>
              <a:t>Athlon</a:t>
            </a:r>
            <a:r>
              <a:rPr sz="1800" b="1" spc="-4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800" b="1" spc="-25" dirty="0">
                <a:solidFill>
                  <a:srgbClr val="44536A"/>
                </a:solidFill>
                <a:latin typeface="Times New Roman"/>
                <a:cs typeface="Times New Roman"/>
              </a:rPr>
              <a:t>X2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45920" y="2084832"/>
            <a:ext cx="1629155" cy="95859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-4762" y="201167"/>
            <a:ext cx="9153525" cy="902335"/>
            <a:chOff x="-4762" y="201167"/>
            <a:chExt cx="9153525" cy="902335"/>
          </a:xfrm>
        </p:grpSpPr>
        <p:sp>
          <p:nvSpPr>
            <p:cNvPr id="10" name="object 10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327" y="201167"/>
              <a:ext cx="4821935" cy="90220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23815" y="201167"/>
              <a:ext cx="707135" cy="90220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94504" y="201167"/>
              <a:ext cx="2592323" cy="902207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90" dirty="0"/>
              <a:t>Multiprocessing</a:t>
            </a:r>
            <a:r>
              <a:rPr sz="3200" spc="-70" dirty="0"/>
              <a:t> </a:t>
            </a:r>
            <a:r>
              <a:rPr sz="3200" spc="-195" dirty="0"/>
              <a:t>(multi-</a:t>
            </a:r>
            <a:r>
              <a:rPr sz="3200" spc="-60" dirty="0"/>
              <a:t>threading)</a:t>
            </a:r>
            <a:endParaRPr sz="3200"/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2250" y="856235"/>
            <a:ext cx="8318500" cy="1625600"/>
            <a:chOff x="222250" y="856235"/>
            <a:chExt cx="8318500" cy="1625600"/>
          </a:xfrm>
        </p:grpSpPr>
        <p:sp>
          <p:nvSpPr>
            <p:cNvPr id="3" name="object 3"/>
            <p:cNvSpPr/>
            <p:nvPr/>
          </p:nvSpPr>
          <p:spPr>
            <a:xfrm>
              <a:off x="228600" y="1039374"/>
              <a:ext cx="8305800" cy="1435735"/>
            </a:xfrm>
            <a:custGeom>
              <a:avLst/>
              <a:gdLst/>
              <a:ahLst/>
              <a:cxnLst/>
              <a:rect l="l" t="t" r="r" b="b"/>
              <a:pathLst>
                <a:path w="8305800" h="1435735">
                  <a:moveTo>
                    <a:pt x="0" y="239267"/>
                  </a:moveTo>
                  <a:lnTo>
                    <a:pt x="4861" y="191047"/>
                  </a:lnTo>
                  <a:lnTo>
                    <a:pt x="18802" y="146134"/>
                  </a:lnTo>
                  <a:lnTo>
                    <a:pt x="40863" y="105491"/>
                  </a:lnTo>
                  <a:lnTo>
                    <a:pt x="70080" y="70080"/>
                  </a:lnTo>
                  <a:lnTo>
                    <a:pt x="105491" y="40863"/>
                  </a:lnTo>
                  <a:lnTo>
                    <a:pt x="146134" y="18802"/>
                  </a:lnTo>
                  <a:lnTo>
                    <a:pt x="191047" y="4861"/>
                  </a:lnTo>
                  <a:lnTo>
                    <a:pt x="239268" y="0"/>
                  </a:lnTo>
                  <a:lnTo>
                    <a:pt x="8066532" y="0"/>
                  </a:lnTo>
                  <a:lnTo>
                    <a:pt x="8114752" y="4861"/>
                  </a:lnTo>
                  <a:lnTo>
                    <a:pt x="8159665" y="18802"/>
                  </a:lnTo>
                  <a:lnTo>
                    <a:pt x="8200308" y="40863"/>
                  </a:lnTo>
                  <a:lnTo>
                    <a:pt x="8235719" y="70080"/>
                  </a:lnTo>
                  <a:lnTo>
                    <a:pt x="8264936" y="105491"/>
                  </a:lnTo>
                  <a:lnTo>
                    <a:pt x="8286997" y="146134"/>
                  </a:lnTo>
                  <a:lnTo>
                    <a:pt x="8300938" y="191047"/>
                  </a:lnTo>
                  <a:lnTo>
                    <a:pt x="8305800" y="239267"/>
                  </a:lnTo>
                  <a:lnTo>
                    <a:pt x="8305800" y="1196327"/>
                  </a:lnTo>
                  <a:lnTo>
                    <a:pt x="8300938" y="1244548"/>
                  </a:lnTo>
                  <a:lnTo>
                    <a:pt x="8286997" y="1289462"/>
                  </a:lnTo>
                  <a:lnTo>
                    <a:pt x="8264936" y="1330108"/>
                  </a:lnTo>
                  <a:lnTo>
                    <a:pt x="8235719" y="1365521"/>
                  </a:lnTo>
                  <a:lnTo>
                    <a:pt x="8200308" y="1394740"/>
                  </a:lnTo>
                  <a:lnTo>
                    <a:pt x="8159665" y="1416803"/>
                  </a:lnTo>
                  <a:lnTo>
                    <a:pt x="8114752" y="1430746"/>
                  </a:lnTo>
                  <a:lnTo>
                    <a:pt x="8066532" y="1435607"/>
                  </a:lnTo>
                  <a:lnTo>
                    <a:pt x="239268" y="1435607"/>
                  </a:lnTo>
                  <a:lnTo>
                    <a:pt x="191047" y="1430746"/>
                  </a:lnTo>
                  <a:lnTo>
                    <a:pt x="146134" y="1416803"/>
                  </a:lnTo>
                  <a:lnTo>
                    <a:pt x="105491" y="1394740"/>
                  </a:lnTo>
                  <a:lnTo>
                    <a:pt x="70080" y="1365521"/>
                  </a:lnTo>
                  <a:lnTo>
                    <a:pt x="40863" y="1330108"/>
                  </a:lnTo>
                  <a:lnTo>
                    <a:pt x="18802" y="1289462"/>
                  </a:lnTo>
                  <a:lnTo>
                    <a:pt x="4861" y="1244548"/>
                  </a:lnTo>
                  <a:lnTo>
                    <a:pt x="0" y="1196327"/>
                  </a:lnTo>
                  <a:lnTo>
                    <a:pt x="0" y="239267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644651" y="862585"/>
              <a:ext cx="5814060" cy="353695"/>
            </a:xfrm>
            <a:custGeom>
              <a:avLst/>
              <a:gdLst/>
              <a:ahLst/>
              <a:cxnLst/>
              <a:rect l="l" t="t" r="r" b="b"/>
              <a:pathLst>
                <a:path w="5814060" h="353694">
                  <a:moveTo>
                    <a:pt x="5755132" y="0"/>
                  </a:moveTo>
                  <a:lnTo>
                    <a:pt x="58927" y="0"/>
                  </a:lnTo>
                  <a:lnTo>
                    <a:pt x="35988" y="4630"/>
                  </a:lnTo>
                  <a:lnTo>
                    <a:pt x="17257" y="17257"/>
                  </a:lnTo>
                  <a:lnTo>
                    <a:pt x="4630" y="35988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0" y="317574"/>
                  </a:lnTo>
                  <a:lnTo>
                    <a:pt x="17257" y="336305"/>
                  </a:lnTo>
                  <a:lnTo>
                    <a:pt x="35988" y="348936"/>
                  </a:lnTo>
                  <a:lnTo>
                    <a:pt x="58927" y="353567"/>
                  </a:lnTo>
                  <a:lnTo>
                    <a:pt x="5755132" y="353567"/>
                  </a:lnTo>
                  <a:lnTo>
                    <a:pt x="5778071" y="348936"/>
                  </a:lnTo>
                  <a:lnTo>
                    <a:pt x="5796802" y="336305"/>
                  </a:lnTo>
                  <a:lnTo>
                    <a:pt x="5809429" y="317574"/>
                  </a:lnTo>
                  <a:lnTo>
                    <a:pt x="5814060" y="294639"/>
                  </a:lnTo>
                  <a:lnTo>
                    <a:pt x="5814060" y="58927"/>
                  </a:lnTo>
                  <a:lnTo>
                    <a:pt x="5809429" y="35988"/>
                  </a:lnTo>
                  <a:lnTo>
                    <a:pt x="5796802" y="17257"/>
                  </a:lnTo>
                  <a:lnTo>
                    <a:pt x="5778071" y="4630"/>
                  </a:lnTo>
                  <a:lnTo>
                    <a:pt x="575513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44651" y="862585"/>
              <a:ext cx="5814060" cy="353695"/>
            </a:xfrm>
            <a:custGeom>
              <a:avLst/>
              <a:gdLst/>
              <a:ahLst/>
              <a:cxnLst/>
              <a:rect l="l" t="t" r="r" b="b"/>
              <a:pathLst>
                <a:path w="5814060" h="353694">
                  <a:moveTo>
                    <a:pt x="0" y="58927"/>
                  </a:moveTo>
                  <a:lnTo>
                    <a:pt x="4630" y="35988"/>
                  </a:lnTo>
                  <a:lnTo>
                    <a:pt x="17257" y="17257"/>
                  </a:lnTo>
                  <a:lnTo>
                    <a:pt x="35988" y="4630"/>
                  </a:lnTo>
                  <a:lnTo>
                    <a:pt x="58927" y="0"/>
                  </a:lnTo>
                  <a:lnTo>
                    <a:pt x="5755132" y="0"/>
                  </a:lnTo>
                  <a:lnTo>
                    <a:pt x="5778071" y="4630"/>
                  </a:lnTo>
                  <a:lnTo>
                    <a:pt x="5796802" y="17257"/>
                  </a:lnTo>
                  <a:lnTo>
                    <a:pt x="5809429" y="35988"/>
                  </a:lnTo>
                  <a:lnTo>
                    <a:pt x="5814060" y="58927"/>
                  </a:lnTo>
                  <a:lnTo>
                    <a:pt x="5814060" y="294639"/>
                  </a:lnTo>
                  <a:lnTo>
                    <a:pt x="5809429" y="317574"/>
                  </a:lnTo>
                  <a:lnTo>
                    <a:pt x="5796802" y="336305"/>
                  </a:lnTo>
                  <a:lnTo>
                    <a:pt x="5778071" y="348936"/>
                  </a:lnTo>
                  <a:lnTo>
                    <a:pt x="5755132" y="353567"/>
                  </a:lnTo>
                  <a:lnTo>
                    <a:pt x="58927" y="353567"/>
                  </a:lnTo>
                  <a:lnTo>
                    <a:pt x="35988" y="348936"/>
                  </a:lnTo>
                  <a:lnTo>
                    <a:pt x="17257" y="336305"/>
                  </a:lnTo>
                  <a:lnTo>
                    <a:pt x="4630" y="317574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68240" y="916730"/>
            <a:ext cx="4340225" cy="139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0"/>
              </a:spcBef>
            </a:pPr>
            <a:endParaRPr sz="1200">
              <a:latin typeface="Calibri"/>
              <a:cs typeface="Calibri"/>
            </a:endParaRPr>
          </a:p>
          <a:p>
            <a:pPr marL="189230" indent="-114300">
              <a:lnSpc>
                <a:spcPct val="100000"/>
              </a:lnSpc>
              <a:spcBef>
                <a:spcPts val="5"/>
              </a:spcBef>
              <a:buChar char="•"/>
              <a:tabLst>
                <a:tab pos="189230" algn="l"/>
              </a:tabLst>
            </a:pPr>
            <a:r>
              <a:rPr sz="1200" dirty="0">
                <a:latin typeface="Calibri"/>
                <a:cs typeface="Calibri"/>
              </a:rPr>
              <a:t>Definition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executable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program </a:t>
            </a:r>
            <a:r>
              <a:rPr sz="1200" dirty="0">
                <a:latin typeface="Calibri"/>
                <a:cs typeface="Calibri"/>
              </a:rPr>
              <a:t>loaded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10" dirty="0">
                <a:latin typeface="Calibri"/>
                <a:cs typeface="Calibri"/>
              </a:rPr>
              <a:t> memory</a:t>
            </a:r>
            <a:endParaRPr sz="1200">
              <a:latin typeface="Calibri"/>
              <a:cs typeface="Calibri"/>
            </a:endParaRPr>
          </a:p>
          <a:p>
            <a:pPr marL="189230" indent="-114300">
              <a:lnSpc>
                <a:spcPct val="100000"/>
              </a:lnSpc>
              <a:spcBef>
                <a:spcPts val="95"/>
              </a:spcBef>
              <a:buChar char="•"/>
              <a:tabLst>
                <a:tab pos="189230" algn="l"/>
              </a:tabLst>
            </a:pPr>
            <a:r>
              <a:rPr sz="1200" dirty="0">
                <a:latin typeface="Calibri"/>
                <a:cs typeface="Calibri"/>
              </a:rPr>
              <a:t>Has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own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space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Variables</a:t>
            </a:r>
            <a:r>
              <a:rPr sz="12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2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2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structures</a:t>
            </a:r>
            <a:r>
              <a:rPr sz="12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(in</a:t>
            </a:r>
            <a:r>
              <a:rPr sz="12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memory)</a:t>
            </a:r>
            <a:endParaRPr sz="1200">
              <a:latin typeface="Calibri"/>
              <a:cs typeface="Calibri"/>
            </a:endParaRPr>
          </a:p>
          <a:p>
            <a:pPr marL="189230" indent="-114300">
              <a:lnSpc>
                <a:spcPct val="100000"/>
              </a:lnSpc>
              <a:spcBef>
                <a:spcPts val="95"/>
              </a:spcBef>
              <a:buChar char="•"/>
              <a:tabLst>
                <a:tab pos="189230" algn="l"/>
              </a:tabLst>
            </a:pPr>
            <a:r>
              <a:rPr sz="1200" dirty="0">
                <a:latin typeface="Calibri"/>
                <a:cs typeface="Calibri"/>
              </a:rPr>
              <a:t>Each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execute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different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189230" indent="-114300">
              <a:lnSpc>
                <a:spcPct val="100000"/>
              </a:lnSpc>
              <a:spcBef>
                <a:spcPts val="110"/>
              </a:spcBef>
              <a:buChar char="•"/>
              <a:tabLst>
                <a:tab pos="189230" algn="l"/>
              </a:tabLst>
            </a:pPr>
            <a:r>
              <a:rPr sz="1200" spc="-10" dirty="0">
                <a:latin typeface="Calibri"/>
                <a:cs typeface="Calibri"/>
              </a:rPr>
              <a:t>Communicate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operating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files,</a:t>
            </a:r>
            <a:r>
              <a:rPr sz="1200" spc="-10" dirty="0">
                <a:latin typeface="Calibri"/>
                <a:cs typeface="Calibri"/>
              </a:rPr>
              <a:t> network</a:t>
            </a:r>
            <a:endParaRPr sz="1200">
              <a:latin typeface="Calibri"/>
              <a:cs typeface="Calibri"/>
            </a:endParaRPr>
          </a:p>
          <a:p>
            <a:pPr marL="189230" indent="-114300">
              <a:lnSpc>
                <a:spcPct val="100000"/>
              </a:lnSpc>
              <a:spcBef>
                <a:spcPts val="95"/>
              </a:spcBef>
              <a:buChar char="•"/>
              <a:tabLst>
                <a:tab pos="189230" algn="l"/>
              </a:tabLst>
            </a:pPr>
            <a:r>
              <a:rPr sz="1200" dirty="0">
                <a:latin typeface="Calibri"/>
                <a:cs typeface="Calibri"/>
              </a:rPr>
              <a:t>May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contain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B33114"/>
                </a:solidFill>
                <a:latin typeface="Calibri"/>
                <a:cs typeface="Calibri"/>
              </a:rPr>
              <a:t>multiple</a:t>
            </a:r>
            <a:r>
              <a:rPr sz="1200" spc="-55" dirty="0">
                <a:solidFill>
                  <a:srgbClr val="B33114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B33114"/>
                </a:solidFill>
                <a:latin typeface="Calibri"/>
                <a:cs typeface="Calibri"/>
              </a:rPr>
              <a:t>threads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2250" y="2534159"/>
            <a:ext cx="8318500" cy="1852295"/>
            <a:chOff x="222250" y="2534159"/>
            <a:chExt cx="8318500" cy="1852295"/>
          </a:xfrm>
        </p:grpSpPr>
        <p:sp>
          <p:nvSpPr>
            <p:cNvPr id="8" name="object 8"/>
            <p:cNvSpPr/>
            <p:nvPr/>
          </p:nvSpPr>
          <p:spPr>
            <a:xfrm>
              <a:off x="228600" y="2717293"/>
              <a:ext cx="8305800" cy="1663064"/>
            </a:xfrm>
            <a:custGeom>
              <a:avLst/>
              <a:gdLst/>
              <a:ahLst/>
              <a:cxnLst/>
              <a:rect l="l" t="t" r="r" b="b"/>
              <a:pathLst>
                <a:path w="8305800" h="1663064">
                  <a:moveTo>
                    <a:pt x="0" y="277113"/>
                  </a:moveTo>
                  <a:lnTo>
                    <a:pt x="4464" y="227301"/>
                  </a:lnTo>
                  <a:lnTo>
                    <a:pt x="17336" y="180419"/>
                  </a:lnTo>
                  <a:lnTo>
                    <a:pt x="37833" y="137248"/>
                  </a:lnTo>
                  <a:lnTo>
                    <a:pt x="65173" y="98572"/>
                  </a:lnTo>
                  <a:lnTo>
                    <a:pt x="98572" y="65173"/>
                  </a:lnTo>
                  <a:lnTo>
                    <a:pt x="137248" y="37833"/>
                  </a:lnTo>
                  <a:lnTo>
                    <a:pt x="180419" y="17336"/>
                  </a:lnTo>
                  <a:lnTo>
                    <a:pt x="227301" y="4464"/>
                  </a:lnTo>
                  <a:lnTo>
                    <a:pt x="277114" y="0"/>
                  </a:lnTo>
                  <a:lnTo>
                    <a:pt x="8028685" y="0"/>
                  </a:lnTo>
                  <a:lnTo>
                    <a:pt x="8078498" y="4464"/>
                  </a:lnTo>
                  <a:lnTo>
                    <a:pt x="8125380" y="17336"/>
                  </a:lnTo>
                  <a:lnTo>
                    <a:pt x="8168551" y="37833"/>
                  </a:lnTo>
                  <a:lnTo>
                    <a:pt x="8207227" y="65173"/>
                  </a:lnTo>
                  <a:lnTo>
                    <a:pt x="8240626" y="98572"/>
                  </a:lnTo>
                  <a:lnTo>
                    <a:pt x="8267966" y="137248"/>
                  </a:lnTo>
                  <a:lnTo>
                    <a:pt x="8288463" y="180419"/>
                  </a:lnTo>
                  <a:lnTo>
                    <a:pt x="8301335" y="227301"/>
                  </a:lnTo>
                  <a:lnTo>
                    <a:pt x="8305800" y="277113"/>
                  </a:lnTo>
                  <a:lnTo>
                    <a:pt x="8305800" y="1385570"/>
                  </a:lnTo>
                  <a:lnTo>
                    <a:pt x="8301335" y="1435382"/>
                  </a:lnTo>
                  <a:lnTo>
                    <a:pt x="8288463" y="1482264"/>
                  </a:lnTo>
                  <a:lnTo>
                    <a:pt x="8267966" y="1525435"/>
                  </a:lnTo>
                  <a:lnTo>
                    <a:pt x="8240626" y="1564111"/>
                  </a:lnTo>
                  <a:lnTo>
                    <a:pt x="8207227" y="1597510"/>
                  </a:lnTo>
                  <a:lnTo>
                    <a:pt x="8168551" y="1624850"/>
                  </a:lnTo>
                  <a:lnTo>
                    <a:pt x="8125380" y="1645347"/>
                  </a:lnTo>
                  <a:lnTo>
                    <a:pt x="8078498" y="1658219"/>
                  </a:lnTo>
                  <a:lnTo>
                    <a:pt x="8028685" y="1662683"/>
                  </a:lnTo>
                  <a:lnTo>
                    <a:pt x="277114" y="1662683"/>
                  </a:lnTo>
                  <a:lnTo>
                    <a:pt x="227301" y="1658219"/>
                  </a:lnTo>
                  <a:lnTo>
                    <a:pt x="180419" y="1645347"/>
                  </a:lnTo>
                  <a:lnTo>
                    <a:pt x="137248" y="1624850"/>
                  </a:lnTo>
                  <a:lnTo>
                    <a:pt x="98572" y="1597510"/>
                  </a:lnTo>
                  <a:lnTo>
                    <a:pt x="65173" y="1564111"/>
                  </a:lnTo>
                  <a:lnTo>
                    <a:pt x="37833" y="1525435"/>
                  </a:lnTo>
                  <a:lnTo>
                    <a:pt x="17336" y="1482264"/>
                  </a:lnTo>
                  <a:lnTo>
                    <a:pt x="4464" y="1435382"/>
                  </a:lnTo>
                  <a:lnTo>
                    <a:pt x="0" y="1385570"/>
                  </a:lnTo>
                  <a:lnTo>
                    <a:pt x="0" y="277113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4651" y="2540509"/>
              <a:ext cx="5814060" cy="353695"/>
            </a:xfrm>
            <a:custGeom>
              <a:avLst/>
              <a:gdLst/>
              <a:ahLst/>
              <a:cxnLst/>
              <a:rect l="l" t="t" r="r" b="b"/>
              <a:pathLst>
                <a:path w="5814060" h="353694">
                  <a:moveTo>
                    <a:pt x="5755132" y="0"/>
                  </a:moveTo>
                  <a:lnTo>
                    <a:pt x="58927" y="0"/>
                  </a:lnTo>
                  <a:lnTo>
                    <a:pt x="35988" y="4630"/>
                  </a:lnTo>
                  <a:lnTo>
                    <a:pt x="17257" y="17257"/>
                  </a:lnTo>
                  <a:lnTo>
                    <a:pt x="4630" y="35988"/>
                  </a:lnTo>
                  <a:lnTo>
                    <a:pt x="0" y="58927"/>
                  </a:lnTo>
                  <a:lnTo>
                    <a:pt x="0" y="294639"/>
                  </a:lnTo>
                  <a:lnTo>
                    <a:pt x="4630" y="317574"/>
                  </a:lnTo>
                  <a:lnTo>
                    <a:pt x="17257" y="336305"/>
                  </a:lnTo>
                  <a:lnTo>
                    <a:pt x="35988" y="348936"/>
                  </a:lnTo>
                  <a:lnTo>
                    <a:pt x="58927" y="353567"/>
                  </a:lnTo>
                  <a:lnTo>
                    <a:pt x="5755132" y="353567"/>
                  </a:lnTo>
                  <a:lnTo>
                    <a:pt x="5778071" y="348936"/>
                  </a:lnTo>
                  <a:lnTo>
                    <a:pt x="5796802" y="336305"/>
                  </a:lnTo>
                  <a:lnTo>
                    <a:pt x="5809429" y="317574"/>
                  </a:lnTo>
                  <a:lnTo>
                    <a:pt x="5814060" y="294639"/>
                  </a:lnTo>
                  <a:lnTo>
                    <a:pt x="5814060" y="58927"/>
                  </a:lnTo>
                  <a:lnTo>
                    <a:pt x="5809429" y="35988"/>
                  </a:lnTo>
                  <a:lnTo>
                    <a:pt x="5796802" y="17257"/>
                  </a:lnTo>
                  <a:lnTo>
                    <a:pt x="5778071" y="4630"/>
                  </a:lnTo>
                  <a:lnTo>
                    <a:pt x="5755132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4651" y="2540509"/>
              <a:ext cx="5814060" cy="353695"/>
            </a:xfrm>
            <a:custGeom>
              <a:avLst/>
              <a:gdLst/>
              <a:ahLst/>
              <a:cxnLst/>
              <a:rect l="l" t="t" r="r" b="b"/>
              <a:pathLst>
                <a:path w="5814060" h="353694">
                  <a:moveTo>
                    <a:pt x="0" y="58927"/>
                  </a:moveTo>
                  <a:lnTo>
                    <a:pt x="4630" y="35988"/>
                  </a:lnTo>
                  <a:lnTo>
                    <a:pt x="17257" y="17257"/>
                  </a:lnTo>
                  <a:lnTo>
                    <a:pt x="35988" y="4630"/>
                  </a:lnTo>
                  <a:lnTo>
                    <a:pt x="58927" y="0"/>
                  </a:lnTo>
                  <a:lnTo>
                    <a:pt x="5755132" y="0"/>
                  </a:lnTo>
                  <a:lnTo>
                    <a:pt x="5778071" y="4630"/>
                  </a:lnTo>
                  <a:lnTo>
                    <a:pt x="5796802" y="17257"/>
                  </a:lnTo>
                  <a:lnTo>
                    <a:pt x="5809429" y="35988"/>
                  </a:lnTo>
                  <a:lnTo>
                    <a:pt x="5814060" y="58927"/>
                  </a:lnTo>
                  <a:lnTo>
                    <a:pt x="5814060" y="294639"/>
                  </a:lnTo>
                  <a:lnTo>
                    <a:pt x="5809429" y="317574"/>
                  </a:lnTo>
                  <a:lnTo>
                    <a:pt x="5796802" y="336305"/>
                  </a:lnTo>
                  <a:lnTo>
                    <a:pt x="5778071" y="348936"/>
                  </a:lnTo>
                  <a:lnTo>
                    <a:pt x="5755132" y="353567"/>
                  </a:lnTo>
                  <a:lnTo>
                    <a:pt x="58927" y="353567"/>
                  </a:lnTo>
                  <a:lnTo>
                    <a:pt x="35988" y="348936"/>
                  </a:lnTo>
                  <a:lnTo>
                    <a:pt x="17257" y="336305"/>
                  </a:lnTo>
                  <a:lnTo>
                    <a:pt x="4630" y="317574"/>
                  </a:lnTo>
                  <a:lnTo>
                    <a:pt x="0" y="294639"/>
                  </a:lnTo>
                  <a:lnTo>
                    <a:pt x="0" y="5892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68240" y="2595051"/>
            <a:ext cx="4643755" cy="160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FFFFFF"/>
                </a:solidFill>
                <a:latin typeface="Calibri"/>
                <a:cs typeface="Calibri"/>
              </a:rPr>
              <a:t>Thread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200">
              <a:latin typeface="Calibri"/>
              <a:cs typeface="Calibri"/>
            </a:endParaRPr>
          </a:p>
          <a:p>
            <a:pPr marL="200025" indent="-114300">
              <a:lnSpc>
                <a:spcPct val="100000"/>
              </a:lnSpc>
              <a:buChar char="•"/>
              <a:tabLst>
                <a:tab pos="200025" algn="l"/>
              </a:tabLst>
            </a:pPr>
            <a:r>
              <a:rPr sz="1200" dirty="0">
                <a:latin typeface="Calibri"/>
                <a:cs typeface="Calibri"/>
              </a:rPr>
              <a:t>Definition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–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sequentially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executed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stream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instructions</a:t>
            </a:r>
            <a:endParaRPr sz="1200">
              <a:latin typeface="Calibri"/>
              <a:cs typeface="Calibri"/>
            </a:endParaRPr>
          </a:p>
          <a:p>
            <a:pPr marL="200025" indent="-114300">
              <a:lnSpc>
                <a:spcPct val="100000"/>
              </a:lnSpc>
              <a:spcBef>
                <a:spcPts val="95"/>
              </a:spcBef>
              <a:buChar char="•"/>
              <a:tabLst>
                <a:tab pos="200025" algn="l"/>
              </a:tabLst>
            </a:pPr>
            <a:r>
              <a:rPr sz="1200" dirty="0">
                <a:latin typeface="Calibri"/>
                <a:cs typeface="Calibri"/>
              </a:rPr>
              <a:t>Shares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address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space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threads</a:t>
            </a:r>
            <a:endParaRPr sz="1200">
              <a:latin typeface="Calibri"/>
              <a:cs typeface="Calibri"/>
            </a:endParaRPr>
          </a:p>
          <a:p>
            <a:pPr marL="200025" indent="-114300">
              <a:lnSpc>
                <a:spcPct val="100000"/>
              </a:lnSpc>
              <a:spcBef>
                <a:spcPts val="95"/>
              </a:spcBef>
              <a:buChar char="•"/>
              <a:tabLst>
                <a:tab pos="200025" algn="l"/>
              </a:tabLst>
            </a:pPr>
            <a:r>
              <a:rPr sz="1200" dirty="0">
                <a:latin typeface="Calibri"/>
                <a:cs typeface="Calibri"/>
              </a:rPr>
              <a:t>Has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own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execution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context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Program</a:t>
            </a:r>
            <a:r>
              <a:rPr sz="12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006FC0"/>
                </a:solidFill>
                <a:latin typeface="Calibri"/>
                <a:cs typeface="Calibri"/>
              </a:rPr>
              <a:t>counter,</a:t>
            </a:r>
            <a:r>
              <a:rPr sz="12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call</a:t>
            </a:r>
            <a:r>
              <a:rPr sz="1200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stack</a:t>
            </a:r>
            <a:r>
              <a:rPr sz="12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06FC0"/>
                </a:solidFill>
                <a:latin typeface="Calibri"/>
                <a:cs typeface="Calibri"/>
              </a:rPr>
              <a:t>(local</a:t>
            </a:r>
            <a:r>
              <a:rPr sz="1200" spc="-10" dirty="0">
                <a:solidFill>
                  <a:srgbClr val="006FC0"/>
                </a:solidFill>
                <a:latin typeface="Calibri"/>
                <a:cs typeface="Calibri"/>
              </a:rPr>
              <a:t> variables)</a:t>
            </a:r>
            <a:endParaRPr sz="1200">
              <a:latin typeface="Calibri"/>
              <a:cs typeface="Calibri"/>
            </a:endParaRPr>
          </a:p>
          <a:p>
            <a:pPr marL="200025" indent="-114300">
              <a:lnSpc>
                <a:spcPct val="100000"/>
              </a:lnSpc>
              <a:spcBef>
                <a:spcPts val="110"/>
              </a:spcBef>
              <a:buChar char="•"/>
              <a:tabLst>
                <a:tab pos="200025" algn="l"/>
              </a:tabLst>
            </a:pPr>
            <a:r>
              <a:rPr sz="1200" spc="-10" dirty="0">
                <a:latin typeface="Calibri"/>
                <a:cs typeface="Calibri"/>
              </a:rPr>
              <a:t>Communicate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via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shared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access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data</a:t>
            </a:r>
            <a:endParaRPr sz="1200">
              <a:latin typeface="Calibri"/>
              <a:cs typeface="Calibri"/>
            </a:endParaRPr>
          </a:p>
          <a:p>
            <a:pPr marL="200025" indent="-114300">
              <a:lnSpc>
                <a:spcPct val="100000"/>
              </a:lnSpc>
              <a:spcBef>
                <a:spcPts val="95"/>
              </a:spcBef>
              <a:buChar char="•"/>
              <a:tabLst>
                <a:tab pos="200025" algn="l"/>
              </a:tabLst>
            </a:pPr>
            <a:r>
              <a:rPr sz="1200" dirty="0">
                <a:latin typeface="Calibri"/>
                <a:cs typeface="Calibri"/>
              </a:rPr>
              <a:t>Multiple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threads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process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execute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same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program</a:t>
            </a:r>
            <a:endParaRPr sz="1200">
              <a:latin typeface="Calibri"/>
              <a:cs typeface="Calibri"/>
            </a:endParaRPr>
          </a:p>
          <a:p>
            <a:pPr marL="200025" indent="-114300">
              <a:lnSpc>
                <a:spcPct val="100000"/>
              </a:lnSpc>
              <a:spcBef>
                <a:spcPts val="95"/>
              </a:spcBef>
              <a:buChar char="•"/>
              <a:tabLst>
                <a:tab pos="200025" algn="l"/>
              </a:tabLst>
            </a:pPr>
            <a:r>
              <a:rPr sz="1200" dirty="0">
                <a:latin typeface="Calibri"/>
                <a:cs typeface="Calibri"/>
              </a:rPr>
              <a:t>Also,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known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“</a:t>
            </a:r>
            <a:r>
              <a:rPr sz="1200" i="1" dirty="0">
                <a:solidFill>
                  <a:srgbClr val="B33114"/>
                </a:solidFill>
                <a:latin typeface="Calibri"/>
                <a:cs typeface="Calibri"/>
              </a:rPr>
              <a:t>lightweight</a:t>
            </a:r>
            <a:r>
              <a:rPr sz="1200" i="1" spc="-25" dirty="0">
                <a:solidFill>
                  <a:srgbClr val="B33114"/>
                </a:solidFill>
                <a:latin typeface="Calibri"/>
                <a:cs typeface="Calibri"/>
              </a:rPr>
              <a:t> </a:t>
            </a:r>
            <a:r>
              <a:rPr sz="1200" i="1" spc="-10" dirty="0">
                <a:solidFill>
                  <a:srgbClr val="B33114"/>
                </a:solidFill>
                <a:latin typeface="Calibri"/>
                <a:cs typeface="Calibri"/>
              </a:rPr>
              <a:t>process</a:t>
            </a:r>
            <a:r>
              <a:rPr sz="1200" spc="-10" dirty="0">
                <a:latin typeface="Calibri"/>
                <a:cs typeface="Calibri"/>
              </a:rPr>
              <a:t>”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-4762" y="201168"/>
            <a:ext cx="9153525" cy="902335"/>
            <a:chOff x="-4762" y="201168"/>
            <a:chExt cx="9153525" cy="902335"/>
          </a:xfrm>
        </p:grpSpPr>
        <p:sp>
          <p:nvSpPr>
            <p:cNvPr id="13" name="object 13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8"/>
              <a:ext cx="6377939" cy="902207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78612" y="311150"/>
            <a:ext cx="586613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80" dirty="0"/>
              <a:t>Perform</a:t>
            </a:r>
            <a:r>
              <a:rPr sz="3200" spc="-55" dirty="0"/>
              <a:t> </a:t>
            </a:r>
            <a:r>
              <a:rPr sz="3200" spc="-120" dirty="0"/>
              <a:t>multiple</a:t>
            </a:r>
            <a:r>
              <a:rPr sz="3200" spc="-95" dirty="0"/>
              <a:t> </a:t>
            </a:r>
            <a:r>
              <a:rPr sz="3200" spc="-135" dirty="0"/>
              <a:t>tasks</a:t>
            </a:r>
            <a:r>
              <a:rPr sz="3200" spc="-50" dirty="0"/>
              <a:t> </a:t>
            </a:r>
            <a:r>
              <a:rPr sz="3200" spc="-60" dirty="0"/>
              <a:t>using…</a:t>
            </a:r>
            <a:endParaRPr sz="3200"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7800" y="1118628"/>
            <a:ext cx="6689090" cy="2362200"/>
            <a:chOff x="1447800" y="1118628"/>
            <a:chExt cx="6689090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00" y="1118628"/>
              <a:ext cx="2362187" cy="23621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3988" y="1953767"/>
              <a:ext cx="4422647" cy="8991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53306" y="2037842"/>
            <a:ext cx="391477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Why</a:t>
            </a:r>
            <a:r>
              <a:rPr sz="3200" b="0" spc="-3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Yu Gothic"/>
                <a:cs typeface="Yu Gothic"/>
              </a:rPr>
              <a:t>Multithreading?</a:t>
            </a:r>
            <a:endParaRPr sz="32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212" y="834964"/>
            <a:ext cx="5285740" cy="12858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335"/>
              </a:spcBef>
              <a:buFont typeface="Times New Roman"/>
              <a:buAutoNum type="arabicPeriod"/>
              <a:tabLst>
                <a:tab pos="413384" algn="l"/>
              </a:tabLst>
            </a:pPr>
            <a:r>
              <a:rPr sz="2200" dirty="0">
                <a:latin typeface="Times New Roman"/>
                <a:cs typeface="Times New Roman"/>
              </a:rPr>
              <a:t>Captures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logical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structure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problem</a:t>
            </a:r>
            <a:endParaRPr sz="2200">
              <a:latin typeface="Times New Roman"/>
              <a:cs typeface="Times New Roman"/>
            </a:endParaRPr>
          </a:p>
          <a:p>
            <a:pPr marL="697865" lvl="1" indent="-342265">
              <a:lnSpc>
                <a:spcPct val="100000"/>
              </a:lnSpc>
              <a:spcBef>
                <a:spcPts val="195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Times New Roman"/>
                <a:cs typeface="Times New Roman"/>
              </a:rPr>
              <a:t>May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concurrent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interacting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components</a:t>
            </a:r>
            <a:endParaRPr sz="1800">
              <a:latin typeface="Times New Roman"/>
              <a:cs typeface="Times New Roman"/>
            </a:endParaRPr>
          </a:p>
          <a:p>
            <a:pPr marL="697865" lvl="1" indent="-342265">
              <a:lnSpc>
                <a:spcPct val="100000"/>
              </a:lnSpc>
              <a:spcBef>
                <a:spcPts val="195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Times New Roman"/>
                <a:cs typeface="Times New Roman"/>
              </a:rPr>
              <a:t>Can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handle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component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using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separate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thread</a:t>
            </a:r>
            <a:endParaRPr sz="1800">
              <a:latin typeface="Times New Roman"/>
              <a:cs typeface="Times New Roman"/>
            </a:endParaRPr>
          </a:p>
          <a:p>
            <a:pPr marL="697865" lvl="1" indent="-342265">
              <a:lnSpc>
                <a:spcPct val="100000"/>
              </a:lnSpc>
              <a:spcBef>
                <a:spcPts val="180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Simplifies</a:t>
            </a:r>
            <a:r>
              <a:rPr sz="1800" spc="-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18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for</a:t>
            </a:r>
            <a:r>
              <a:rPr sz="18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imes New Roman"/>
                <a:cs typeface="Times New Roman"/>
              </a:rPr>
              <a:t>problem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5212" y="2866392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6FC0"/>
                </a:solidFill>
                <a:latin typeface="Times New Roman"/>
                <a:cs typeface="Times New Roman"/>
              </a:rPr>
              <a:t>Example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98674" y="3612911"/>
            <a:ext cx="16795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208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44536A"/>
                </a:solidFill>
                <a:latin typeface="Times New Roman"/>
                <a:cs typeface="Times New Roman"/>
              </a:rPr>
              <a:t>Web</a:t>
            </a:r>
            <a:r>
              <a:rPr sz="1500" b="1" spc="-5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4536A"/>
                </a:solidFill>
                <a:latin typeface="Times New Roman"/>
                <a:cs typeface="Times New Roman"/>
              </a:rPr>
              <a:t>server</a:t>
            </a:r>
            <a:r>
              <a:rPr sz="1500" b="1" spc="-7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500" b="1" spc="-20" dirty="0">
                <a:solidFill>
                  <a:srgbClr val="44536A"/>
                </a:solidFill>
                <a:latin typeface="Times New Roman"/>
                <a:cs typeface="Times New Roman"/>
              </a:rPr>
              <a:t>uses </a:t>
            </a:r>
            <a:r>
              <a:rPr sz="1500" b="1" dirty="0">
                <a:solidFill>
                  <a:srgbClr val="44536A"/>
                </a:solidFill>
                <a:latin typeface="Times New Roman"/>
                <a:cs typeface="Times New Roman"/>
              </a:rPr>
              <a:t>threads</a:t>
            </a:r>
            <a:r>
              <a:rPr sz="1500" b="1" spc="-4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4536A"/>
                </a:solidFill>
                <a:latin typeface="Times New Roman"/>
                <a:cs typeface="Times New Roman"/>
              </a:rPr>
              <a:t>to</a:t>
            </a:r>
            <a:r>
              <a:rPr sz="1500" b="1" spc="-3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44536A"/>
                </a:solidFill>
                <a:latin typeface="Times New Roman"/>
                <a:cs typeface="Times New Roman"/>
              </a:rPr>
              <a:t>handle</a:t>
            </a:r>
            <a:r>
              <a:rPr sz="1500" b="1" spc="-5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500" b="1" spc="-50" dirty="0">
                <a:solidFill>
                  <a:srgbClr val="44536A"/>
                </a:solidFill>
                <a:latin typeface="Times New Roman"/>
                <a:cs typeface="Times New Roman"/>
              </a:rPr>
              <a:t>…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96064" y="3695207"/>
            <a:ext cx="1842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275" marR="5080" indent="-29209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44536A"/>
                </a:solidFill>
                <a:latin typeface="Times New Roman"/>
                <a:cs typeface="Times New Roman"/>
              </a:rPr>
              <a:t>Multiple</a:t>
            </a:r>
            <a:r>
              <a:rPr sz="1500" b="1" spc="-30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44536A"/>
                </a:solidFill>
                <a:latin typeface="Times New Roman"/>
                <a:cs typeface="Times New Roman"/>
              </a:rPr>
              <a:t>simultaneous </a:t>
            </a:r>
            <a:r>
              <a:rPr sz="1500" b="1" dirty="0">
                <a:solidFill>
                  <a:srgbClr val="44536A"/>
                </a:solidFill>
                <a:latin typeface="Times New Roman"/>
                <a:cs typeface="Times New Roman"/>
              </a:rPr>
              <a:t>web </a:t>
            </a:r>
            <a:r>
              <a:rPr sz="1500" b="1" spc="-10" dirty="0">
                <a:solidFill>
                  <a:srgbClr val="44536A"/>
                </a:solidFill>
                <a:latin typeface="Times New Roman"/>
                <a:cs typeface="Times New Roman"/>
              </a:rPr>
              <a:t>browser</a:t>
            </a:r>
            <a:r>
              <a:rPr sz="1500" b="1" spc="-45" dirty="0">
                <a:solidFill>
                  <a:srgbClr val="44536A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44536A"/>
                </a:solidFill>
                <a:latin typeface="Times New Roman"/>
                <a:cs typeface="Times New Roman"/>
              </a:rPr>
              <a:t>requests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762" y="201168"/>
            <a:ext cx="9153525" cy="902335"/>
            <a:chOff x="-4762" y="201168"/>
            <a:chExt cx="9153525" cy="902335"/>
          </a:xfrm>
        </p:grpSpPr>
        <p:sp>
          <p:nvSpPr>
            <p:cNvPr id="7" name="object 7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8" y="201168"/>
              <a:ext cx="6179819" cy="90220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5" dirty="0"/>
              <a:t>Motivation</a:t>
            </a:r>
            <a:r>
              <a:rPr sz="3200" spc="-50" dirty="0"/>
              <a:t> </a:t>
            </a:r>
            <a:r>
              <a:rPr sz="3200" spc="-215" dirty="0"/>
              <a:t>for</a:t>
            </a:r>
            <a:r>
              <a:rPr sz="3200" spc="-15" dirty="0"/>
              <a:t> </a:t>
            </a:r>
            <a:r>
              <a:rPr sz="3200" spc="-105" dirty="0"/>
              <a:t>multithreading</a:t>
            </a:r>
            <a:endParaRPr sz="3200"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97580" y="2778251"/>
            <a:ext cx="473441" cy="70103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47359" y="2598420"/>
            <a:ext cx="699515" cy="492251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3145535" y="3004941"/>
            <a:ext cx="1217930" cy="171450"/>
            <a:chOff x="3145535" y="3004941"/>
            <a:chExt cx="1217930" cy="171450"/>
          </a:xfrm>
        </p:grpSpPr>
        <p:sp>
          <p:nvSpPr>
            <p:cNvPr id="14" name="object 14"/>
            <p:cNvSpPr/>
            <p:nvPr/>
          </p:nvSpPr>
          <p:spPr>
            <a:xfrm>
              <a:off x="3259835" y="3090672"/>
              <a:ext cx="1103630" cy="0"/>
            </a:xfrm>
            <a:custGeom>
              <a:avLst/>
              <a:gdLst/>
              <a:ahLst/>
              <a:cxnLst/>
              <a:rect l="l" t="t" r="r" b="b"/>
              <a:pathLst>
                <a:path w="1103629">
                  <a:moveTo>
                    <a:pt x="1103376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45535" y="3004941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85725"/>
                  </a:lnTo>
                  <a:lnTo>
                    <a:pt x="171450" y="171450"/>
                  </a:lnTo>
                  <a:lnTo>
                    <a:pt x="114300" y="85725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3139439" y="2727574"/>
            <a:ext cx="2165985" cy="837565"/>
            <a:chOff x="3139439" y="2727574"/>
            <a:chExt cx="2165985" cy="837565"/>
          </a:xfrm>
        </p:grpSpPr>
        <p:sp>
          <p:nvSpPr>
            <p:cNvPr id="17" name="object 17"/>
            <p:cNvSpPr/>
            <p:nvPr/>
          </p:nvSpPr>
          <p:spPr>
            <a:xfrm>
              <a:off x="3253739" y="2813304"/>
              <a:ext cx="2051685" cy="0"/>
            </a:xfrm>
            <a:custGeom>
              <a:avLst/>
              <a:gdLst/>
              <a:ahLst/>
              <a:cxnLst/>
              <a:rect l="l" t="t" r="r" b="b"/>
              <a:pathLst>
                <a:path w="2051685">
                  <a:moveTo>
                    <a:pt x="2051303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139439" y="2727574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85725"/>
                  </a:lnTo>
                  <a:lnTo>
                    <a:pt x="171450" y="171450"/>
                  </a:lnTo>
                  <a:lnTo>
                    <a:pt x="114300" y="85725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53739" y="3479292"/>
              <a:ext cx="2051685" cy="0"/>
            </a:xfrm>
            <a:custGeom>
              <a:avLst/>
              <a:gdLst/>
              <a:ahLst/>
              <a:cxnLst/>
              <a:rect l="l" t="t" r="r" b="b"/>
              <a:pathLst>
                <a:path w="2051685">
                  <a:moveTo>
                    <a:pt x="2051303" y="0"/>
                  </a:moveTo>
                  <a:lnTo>
                    <a:pt x="0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139439" y="3393563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171450" y="0"/>
                  </a:moveTo>
                  <a:lnTo>
                    <a:pt x="0" y="85725"/>
                  </a:lnTo>
                  <a:lnTo>
                    <a:pt x="171450" y="171450"/>
                  </a:lnTo>
                  <a:lnTo>
                    <a:pt x="114300" y="85725"/>
                  </a:lnTo>
                  <a:lnTo>
                    <a:pt x="17145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35535" y="2897124"/>
              <a:ext cx="433821" cy="475487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5502909" y="3184905"/>
            <a:ext cx="459740" cy="445770"/>
            <a:chOff x="5502909" y="3184905"/>
            <a:chExt cx="459740" cy="445770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09259" y="3191255"/>
              <a:ext cx="446532" cy="43281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506084" y="3188080"/>
              <a:ext cx="453390" cy="439420"/>
            </a:xfrm>
            <a:custGeom>
              <a:avLst/>
              <a:gdLst/>
              <a:ahLst/>
              <a:cxnLst/>
              <a:rect l="l" t="t" r="r" b="b"/>
              <a:pathLst>
                <a:path w="453389" h="439420">
                  <a:moveTo>
                    <a:pt x="0" y="0"/>
                  </a:moveTo>
                  <a:lnTo>
                    <a:pt x="452882" y="0"/>
                  </a:lnTo>
                  <a:lnTo>
                    <a:pt x="452882" y="439166"/>
                  </a:lnTo>
                  <a:lnTo>
                    <a:pt x="0" y="439166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01168"/>
            <a:ext cx="9153525" cy="902335"/>
            <a:chOff x="-4762" y="201168"/>
            <a:chExt cx="9153525" cy="902335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8" y="201168"/>
              <a:ext cx="6179819" cy="90220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5" dirty="0"/>
              <a:t>Motivation</a:t>
            </a:r>
            <a:r>
              <a:rPr sz="3200" spc="-50" dirty="0"/>
              <a:t> </a:t>
            </a:r>
            <a:r>
              <a:rPr sz="3200" spc="-215" dirty="0"/>
              <a:t>for</a:t>
            </a:r>
            <a:r>
              <a:rPr sz="3200" spc="-15" dirty="0"/>
              <a:t> </a:t>
            </a:r>
            <a:r>
              <a:rPr sz="3200" spc="-105" dirty="0"/>
              <a:t>multithreading</a:t>
            </a:r>
            <a:endParaRPr sz="320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39865" y="831685"/>
            <a:ext cx="5292725" cy="141986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640"/>
              </a:spcBef>
              <a:buAutoNum type="arabicPeriod" startAt="2"/>
              <a:tabLst>
                <a:tab pos="413384" algn="l"/>
              </a:tabLst>
            </a:pPr>
            <a:r>
              <a:rPr sz="2200" dirty="0">
                <a:latin typeface="Times New Roman"/>
                <a:cs typeface="Times New Roman"/>
              </a:rPr>
              <a:t>Better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utilize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hardware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resources</a:t>
            </a:r>
            <a:endParaRPr sz="2200">
              <a:latin typeface="Times New Roman"/>
              <a:cs typeface="Times New Roman"/>
            </a:endParaRPr>
          </a:p>
          <a:p>
            <a:pPr marL="697865" lvl="1" indent="-342265">
              <a:lnSpc>
                <a:spcPct val="100000"/>
              </a:lnSpc>
              <a:spcBef>
                <a:spcPts val="450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thread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delayed,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threads</a:t>
            </a:r>
            <a:endParaRPr sz="1800">
              <a:latin typeface="Times New Roman"/>
              <a:cs typeface="Times New Roman"/>
            </a:endParaRPr>
          </a:p>
          <a:p>
            <a:pPr marL="697865" lvl="1" indent="-342900">
              <a:lnSpc>
                <a:spcPct val="100000"/>
              </a:lnSpc>
              <a:spcBef>
                <a:spcPts val="430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extra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hardware,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compute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threads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parallel</a:t>
            </a:r>
            <a:endParaRPr sz="1800">
              <a:latin typeface="Times New Roman"/>
              <a:cs typeface="Times New Roman"/>
            </a:endParaRPr>
          </a:p>
          <a:p>
            <a:pPr marL="697865" lvl="1" indent="-342900">
              <a:lnSpc>
                <a:spcPct val="100000"/>
              </a:lnSpc>
              <a:spcBef>
                <a:spcPts val="434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Reduce</a:t>
            </a:r>
            <a:r>
              <a:rPr sz="18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overall</a:t>
            </a:r>
            <a:r>
              <a:rPr sz="18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execution</a:t>
            </a:r>
            <a:r>
              <a:rPr sz="1800" spc="-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000FF"/>
                </a:solidFill>
                <a:latin typeface="Times New Roman"/>
                <a:cs typeface="Times New Roman"/>
              </a:rPr>
              <a:t>time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9865" y="2938810"/>
            <a:ext cx="838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6FC0"/>
                </a:solidFill>
                <a:latin typeface="Times New Roman"/>
                <a:cs typeface="Times New Roman"/>
              </a:rPr>
              <a:t>Example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36820" y="2854451"/>
            <a:ext cx="1516379" cy="987539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3602735" y="2893689"/>
            <a:ext cx="1213485" cy="171450"/>
            <a:chOff x="3602735" y="2893689"/>
            <a:chExt cx="1213485" cy="171450"/>
          </a:xfrm>
        </p:grpSpPr>
        <p:sp>
          <p:nvSpPr>
            <p:cNvPr id="11" name="object 11"/>
            <p:cNvSpPr/>
            <p:nvPr/>
          </p:nvSpPr>
          <p:spPr>
            <a:xfrm>
              <a:off x="3602735" y="2979419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804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644389" y="2893689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0"/>
                  </a:moveTo>
                  <a:lnTo>
                    <a:pt x="57150" y="85725"/>
                  </a:lnTo>
                  <a:lnTo>
                    <a:pt x="0" y="171450"/>
                  </a:lnTo>
                  <a:lnTo>
                    <a:pt x="17145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2034682" y="3076955"/>
            <a:ext cx="2869565" cy="949960"/>
            <a:chOff x="2034682" y="3076955"/>
            <a:chExt cx="2869565" cy="949960"/>
          </a:xfrm>
        </p:grpSpPr>
        <p:sp>
          <p:nvSpPr>
            <p:cNvPr id="14" name="object 14"/>
            <p:cNvSpPr/>
            <p:nvPr/>
          </p:nvSpPr>
          <p:spPr>
            <a:xfrm>
              <a:off x="2505455" y="3360419"/>
              <a:ext cx="2284730" cy="0"/>
            </a:xfrm>
            <a:custGeom>
              <a:avLst/>
              <a:gdLst/>
              <a:ahLst/>
              <a:cxnLst/>
              <a:rect l="l" t="t" r="r" b="b"/>
              <a:pathLst>
                <a:path w="2284729">
                  <a:moveTo>
                    <a:pt x="0" y="0"/>
                  </a:moveTo>
                  <a:lnTo>
                    <a:pt x="2284476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32782" y="3274691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0"/>
                  </a:moveTo>
                  <a:lnTo>
                    <a:pt x="57150" y="85725"/>
                  </a:lnTo>
                  <a:lnTo>
                    <a:pt x="0" y="171450"/>
                  </a:lnTo>
                  <a:lnTo>
                    <a:pt x="17145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34682" y="3076955"/>
              <a:ext cx="431200" cy="51053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17291" y="3553968"/>
              <a:ext cx="443483" cy="46634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714116" y="3550793"/>
              <a:ext cx="450215" cy="473075"/>
            </a:xfrm>
            <a:custGeom>
              <a:avLst/>
              <a:gdLst/>
              <a:ahLst/>
              <a:cxnLst/>
              <a:rect l="l" t="t" r="r" b="b"/>
              <a:pathLst>
                <a:path w="450214" h="473075">
                  <a:moveTo>
                    <a:pt x="0" y="0"/>
                  </a:moveTo>
                  <a:lnTo>
                    <a:pt x="449833" y="0"/>
                  </a:lnTo>
                  <a:lnTo>
                    <a:pt x="449833" y="472693"/>
                  </a:lnTo>
                  <a:lnTo>
                    <a:pt x="0" y="472693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602735" y="3756273"/>
            <a:ext cx="1213485" cy="171450"/>
            <a:chOff x="3602735" y="3756273"/>
            <a:chExt cx="1213485" cy="171450"/>
          </a:xfrm>
        </p:grpSpPr>
        <p:sp>
          <p:nvSpPr>
            <p:cNvPr id="20" name="object 20"/>
            <p:cNvSpPr/>
            <p:nvPr/>
          </p:nvSpPr>
          <p:spPr>
            <a:xfrm>
              <a:off x="3602735" y="3842003"/>
              <a:ext cx="1099185" cy="0"/>
            </a:xfrm>
            <a:custGeom>
              <a:avLst/>
              <a:gdLst/>
              <a:ahLst/>
              <a:cxnLst/>
              <a:rect l="l" t="t" r="r" b="b"/>
              <a:pathLst>
                <a:path w="1099185">
                  <a:moveTo>
                    <a:pt x="0" y="0"/>
                  </a:moveTo>
                  <a:lnTo>
                    <a:pt x="1098804" y="0"/>
                  </a:lnTo>
                </a:path>
              </a:pathLst>
            </a:custGeom>
            <a:ln w="5715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44389" y="3756273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0"/>
                  </a:moveTo>
                  <a:lnTo>
                    <a:pt x="57150" y="85725"/>
                  </a:lnTo>
                  <a:lnTo>
                    <a:pt x="0" y="171450"/>
                  </a:lnTo>
                  <a:lnTo>
                    <a:pt x="171450" y="85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638044" y="2610611"/>
            <a:ext cx="620267" cy="4724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01167"/>
            <a:ext cx="9153525" cy="902335"/>
            <a:chOff x="-4762" y="201167"/>
            <a:chExt cx="9153525" cy="902335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7"/>
              <a:ext cx="5775959" cy="90220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8612" y="311150"/>
            <a:ext cx="526542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40" dirty="0"/>
              <a:t>Web/</a:t>
            </a:r>
            <a:r>
              <a:rPr sz="3200" spc="-30" dirty="0"/>
              <a:t> </a:t>
            </a:r>
            <a:r>
              <a:rPr sz="3200" spc="-229" dirty="0"/>
              <a:t>Internet</a:t>
            </a:r>
            <a:r>
              <a:rPr sz="3200" spc="-20" dirty="0"/>
              <a:t> </a:t>
            </a:r>
            <a:r>
              <a:rPr sz="3200" spc="-10" dirty="0"/>
              <a:t>applications</a:t>
            </a:r>
            <a:endParaRPr sz="3200"/>
          </a:p>
        </p:txBody>
      </p:sp>
      <p:grpSp>
        <p:nvGrpSpPr>
          <p:cNvPr id="6" name="object 6"/>
          <p:cNvGrpSpPr/>
          <p:nvPr/>
        </p:nvGrpSpPr>
        <p:grpSpPr>
          <a:xfrm>
            <a:off x="76200" y="318515"/>
            <a:ext cx="7393940" cy="3929379"/>
            <a:chOff x="76200" y="318515"/>
            <a:chExt cx="7393940" cy="3929379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04723" y="3361824"/>
              <a:ext cx="47625" cy="167640"/>
            </a:xfrm>
            <a:custGeom>
              <a:avLst/>
              <a:gdLst/>
              <a:ahLst/>
              <a:cxnLst/>
              <a:rect l="l" t="t" r="r" b="b"/>
              <a:pathLst>
                <a:path w="47625" h="167639">
                  <a:moveTo>
                    <a:pt x="38640" y="167158"/>
                  </a:moveTo>
                  <a:lnTo>
                    <a:pt x="0" y="21698"/>
                  </a:lnTo>
                  <a:lnTo>
                    <a:pt x="4210" y="0"/>
                  </a:lnTo>
                  <a:lnTo>
                    <a:pt x="47062" y="118672"/>
                  </a:lnTo>
                  <a:lnTo>
                    <a:pt x="38640" y="167158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104723" y="3361824"/>
              <a:ext cx="47625" cy="167640"/>
            </a:xfrm>
            <a:custGeom>
              <a:avLst/>
              <a:gdLst/>
              <a:ahLst/>
              <a:cxnLst/>
              <a:rect l="l" t="t" r="r" b="b"/>
              <a:pathLst>
                <a:path w="47625" h="167639">
                  <a:moveTo>
                    <a:pt x="47062" y="118671"/>
                  </a:moveTo>
                  <a:lnTo>
                    <a:pt x="4210" y="0"/>
                  </a:lnTo>
                  <a:lnTo>
                    <a:pt x="0" y="21698"/>
                  </a:lnTo>
                  <a:lnTo>
                    <a:pt x="38640" y="167158"/>
                  </a:lnTo>
                  <a:lnTo>
                    <a:pt x="47062" y="118671"/>
                  </a:lnTo>
                  <a:close/>
                </a:path>
              </a:pathLst>
            </a:custGeom>
            <a:ln w="398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114632" y="3365307"/>
              <a:ext cx="319405" cy="116205"/>
            </a:xfrm>
            <a:custGeom>
              <a:avLst/>
              <a:gdLst/>
              <a:ahLst/>
              <a:cxnLst/>
              <a:rect l="l" t="t" r="r" b="b"/>
              <a:pathLst>
                <a:path w="319404" h="116204">
                  <a:moveTo>
                    <a:pt x="319033" y="115993"/>
                  </a:moveTo>
                  <a:lnTo>
                    <a:pt x="37649" y="115993"/>
                  </a:lnTo>
                  <a:lnTo>
                    <a:pt x="0" y="12054"/>
                  </a:lnTo>
                  <a:lnTo>
                    <a:pt x="265778" y="0"/>
                  </a:lnTo>
                  <a:lnTo>
                    <a:pt x="319033" y="115993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14632" y="3365307"/>
              <a:ext cx="319405" cy="116205"/>
            </a:xfrm>
            <a:custGeom>
              <a:avLst/>
              <a:gdLst/>
              <a:ahLst/>
              <a:cxnLst/>
              <a:rect l="l" t="t" r="r" b="b"/>
              <a:pathLst>
                <a:path w="319404" h="116204">
                  <a:moveTo>
                    <a:pt x="0" y="12054"/>
                  </a:moveTo>
                  <a:lnTo>
                    <a:pt x="37649" y="115993"/>
                  </a:lnTo>
                  <a:lnTo>
                    <a:pt x="319033" y="115993"/>
                  </a:lnTo>
                  <a:lnTo>
                    <a:pt x="265778" y="0"/>
                  </a:lnTo>
                  <a:lnTo>
                    <a:pt x="0" y="12054"/>
                  </a:lnTo>
                  <a:close/>
                </a:path>
              </a:pathLst>
            </a:custGeom>
            <a:ln w="424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43366" y="3481300"/>
              <a:ext cx="301625" cy="48260"/>
            </a:xfrm>
            <a:custGeom>
              <a:avLst/>
              <a:gdLst/>
              <a:ahLst/>
              <a:cxnLst/>
              <a:rect l="l" t="t" r="r" b="b"/>
              <a:pathLst>
                <a:path w="301625" h="48260">
                  <a:moveTo>
                    <a:pt x="301447" y="48218"/>
                  </a:moveTo>
                  <a:lnTo>
                    <a:pt x="0" y="48218"/>
                  </a:lnTo>
                  <a:lnTo>
                    <a:pt x="7678" y="0"/>
                  </a:lnTo>
                  <a:lnTo>
                    <a:pt x="290300" y="0"/>
                  </a:lnTo>
                  <a:lnTo>
                    <a:pt x="301447" y="48218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43366" y="3481300"/>
              <a:ext cx="301625" cy="48260"/>
            </a:xfrm>
            <a:custGeom>
              <a:avLst/>
              <a:gdLst/>
              <a:ahLst/>
              <a:cxnLst/>
              <a:rect l="l" t="t" r="r" b="b"/>
              <a:pathLst>
                <a:path w="301625" h="48260">
                  <a:moveTo>
                    <a:pt x="0" y="48218"/>
                  </a:moveTo>
                  <a:lnTo>
                    <a:pt x="7678" y="0"/>
                  </a:lnTo>
                  <a:lnTo>
                    <a:pt x="290300" y="0"/>
                  </a:lnTo>
                  <a:lnTo>
                    <a:pt x="301447" y="48218"/>
                  </a:lnTo>
                  <a:lnTo>
                    <a:pt x="0" y="48218"/>
                  </a:lnTo>
                  <a:close/>
                </a:path>
              </a:pathLst>
            </a:custGeom>
            <a:ln w="4278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0860" y="3359702"/>
              <a:ext cx="175190" cy="9746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7068815" y="2810521"/>
              <a:ext cx="389890" cy="594360"/>
            </a:xfrm>
            <a:custGeom>
              <a:avLst/>
              <a:gdLst/>
              <a:ahLst/>
              <a:cxnLst/>
              <a:rect l="l" t="t" r="r" b="b"/>
              <a:pathLst>
                <a:path w="389890" h="594360">
                  <a:moveTo>
                    <a:pt x="342688" y="594163"/>
                  </a:moveTo>
                  <a:lnTo>
                    <a:pt x="47186" y="594163"/>
                  </a:lnTo>
                  <a:lnTo>
                    <a:pt x="28754" y="590176"/>
                  </a:lnTo>
                  <a:lnTo>
                    <a:pt x="13762" y="579278"/>
                  </a:lnTo>
                  <a:lnTo>
                    <a:pt x="3686" y="563065"/>
                  </a:lnTo>
                  <a:lnTo>
                    <a:pt x="0" y="543131"/>
                  </a:lnTo>
                  <a:lnTo>
                    <a:pt x="0" y="51031"/>
                  </a:lnTo>
                  <a:lnTo>
                    <a:pt x="3686" y="31097"/>
                  </a:lnTo>
                  <a:lnTo>
                    <a:pt x="13762" y="14884"/>
                  </a:lnTo>
                  <a:lnTo>
                    <a:pt x="28754" y="3986"/>
                  </a:lnTo>
                  <a:lnTo>
                    <a:pt x="47186" y="0"/>
                  </a:lnTo>
                  <a:lnTo>
                    <a:pt x="342688" y="0"/>
                  </a:lnTo>
                  <a:lnTo>
                    <a:pt x="361120" y="3986"/>
                  </a:lnTo>
                  <a:lnTo>
                    <a:pt x="376112" y="14884"/>
                  </a:lnTo>
                  <a:lnTo>
                    <a:pt x="386188" y="31097"/>
                  </a:lnTo>
                  <a:lnTo>
                    <a:pt x="389875" y="51031"/>
                  </a:lnTo>
                  <a:lnTo>
                    <a:pt x="389875" y="543131"/>
                  </a:lnTo>
                  <a:lnTo>
                    <a:pt x="386188" y="563065"/>
                  </a:lnTo>
                  <a:lnTo>
                    <a:pt x="376112" y="579278"/>
                  </a:lnTo>
                  <a:lnTo>
                    <a:pt x="361120" y="590176"/>
                  </a:lnTo>
                  <a:lnTo>
                    <a:pt x="342688" y="594163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068815" y="2810521"/>
              <a:ext cx="389890" cy="594360"/>
            </a:xfrm>
            <a:custGeom>
              <a:avLst/>
              <a:gdLst/>
              <a:ahLst/>
              <a:cxnLst/>
              <a:rect l="l" t="t" r="r" b="b"/>
              <a:pathLst>
                <a:path w="389890" h="594360">
                  <a:moveTo>
                    <a:pt x="0" y="51031"/>
                  </a:moveTo>
                  <a:lnTo>
                    <a:pt x="3686" y="31097"/>
                  </a:lnTo>
                  <a:lnTo>
                    <a:pt x="13762" y="14884"/>
                  </a:lnTo>
                  <a:lnTo>
                    <a:pt x="28754" y="3986"/>
                  </a:lnTo>
                  <a:lnTo>
                    <a:pt x="47186" y="0"/>
                  </a:lnTo>
                  <a:lnTo>
                    <a:pt x="342688" y="0"/>
                  </a:lnTo>
                  <a:lnTo>
                    <a:pt x="361120" y="3986"/>
                  </a:lnTo>
                  <a:lnTo>
                    <a:pt x="376112" y="14884"/>
                  </a:lnTo>
                  <a:lnTo>
                    <a:pt x="386188" y="31097"/>
                  </a:lnTo>
                  <a:lnTo>
                    <a:pt x="389875" y="51031"/>
                  </a:lnTo>
                  <a:lnTo>
                    <a:pt x="389875" y="543131"/>
                  </a:lnTo>
                  <a:lnTo>
                    <a:pt x="386188" y="563065"/>
                  </a:lnTo>
                  <a:lnTo>
                    <a:pt x="376112" y="579278"/>
                  </a:lnTo>
                  <a:lnTo>
                    <a:pt x="361120" y="590176"/>
                  </a:lnTo>
                  <a:lnTo>
                    <a:pt x="342688" y="594163"/>
                  </a:lnTo>
                  <a:lnTo>
                    <a:pt x="47186" y="594163"/>
                  </a:lnTo>
                  <a:lnTo>
                    <a:pt x="28754" y="590176"/>
                  </a:lnTo>
                  <a:lnTo>
                    <a:pt x="13762" y="579278"/>
                  </a:lnTo>
                  <a:lnTo>
                    <a:pt x="3686" y="563065"/>
                  </a:lnTo>
                  <a:lnTo>
                    <a:pt x="0" y="543131"/>
                  </a:lnTo>
                  <a:lnTo>
                    <a:pt x="0" y="51031"/>
                  </a:lnTo>
                  <a:close/>
                </a:path>
              </a:pathLst>
            </a:custGeom>
            <a:ln w="406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084420" y="2819896"/>
              <a:ext cx="383540" cy="584200"/>
            </a:xfrm>
            <a:custGeom>
              <a:avLst/>
              <a:gdLst/>
              <a:ahLst/>
              <a:cxnLst/>
              <a:rect l="l" t="t" r="r" b="b"/>
              <a:pathLst>
                <a:path w="383540" h="584200">
                  <a:moveTo>
                    <a:pt x="335753" y="583983"/>
                  </a:moveTo>
                  <a:lnTo>
                    <a:pt x="47433" y="583983"/>
                  </a:lnTo>
                  <a:lnTo>
                    <a:pt x="28905" y="579975"/>
                  </a:lnTo>
                  <a:lnTo>
                    <a:pt x="13834" y="569021"/>
                  </a:lnTo>
                  <a:lnTo>
                    <a:pt x="3705" y="552722"/>
                  </a:lnTo>
                  <a:lnTo>
                    <a:pt x="0" y="532684"/>
                  </a:lnTo>
                  <a:lnTo>
                    <a:pt x="0" y="51299"/>
                  </a:lnTo>
                  <a:lnTo>
                    <a:pt x="3705" y="31260"/>
                  </a:lnTo>
                  <a:lnTo>
                    <a:pt x="13834" y="14962"/>
                  </a:lnTo>
                  <a:lnTo>
                    <a:pt x="28905" y="4007"/>
                  </a:lnTo>
                  <a:lnTo>
                    <a:pt x="47433" y="0"/>
                  </a:lnTo>
                  <a:lnTo>
                    <a:pt x="335753" y="0"/>
                  </a:lnTo>
                  <a:lnTo>
                    <a:pt x="354282" y="4007"/>
                  </a:lnTo>
                  <a:lnTo>
                    <a:pt x="369352" y="14962"/>
                  </a:lnTo>
                  <a:lnTo>
                    <a:pt x="379481" y="31260"/>
                  </a:lnTo>
                  <a:lnTo>
                    <a:pt x="383187" y="51299"/>
                  </a:lnTo>
                  <a:lnTo>
                    <a:pt x="383187" y="532684"/>
                  </a:lnTo>
                  <a:lnTo>
                    <a:pt x="379481" y="552722"/>
                  </a:lnTo>
                  <a:lnTo>
                    <a:pt x="369352" y="569021"/>
                  </a:lnTo>
                  <a:lnTo>
                    <a:pt x="354282" y="579975"/>
                  </a:lnTo>
                  <a:lnTo>
                    <a:pt x="335753" y="583983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084420" y="2819896"/>
              <a:ext cx="383540" cy="584200"/>
            </a:xfrm>
            <a:custGeom>
              <a:avLst/>
              <a:gdLst/>
              <a:ahLst/>
              <a:cxnLst/>
              <a:rect l="l" t="t" r="r" b="b"/>
              <a:pathLst>
                <a:path w="383540" h="584200">
                  <a:moveTo>
                    <a:pt x="0" y="51299"/>
                  </a:moveTo>
                  <a:lnTo>
                    <a:pt x="3705" y="31260"/>
                  </a:lnTo>
                  <a:lnTo>
                    <a:pt x="13834" y="14962"/>
                  </a:lnTo>
                  <a:lnTo>
                    <a:pt x="28905" y="4007"/>
                  </a:lnTo>
                  <a:lnTo>
                    <a:pt x="47433" y="0"/>
                  </a:lnTo>
                  <a:lnTo>
                    <a:pt x="335753" y="0"/>
                  </a:lnTo>
                  <a:lnTo>
                    <a:pt x="354282" y="4007"/>
                  </a:lnTo>
                  <a:lnTo>
                    <a:pt x="369352" y="14962"/>
                  </a:lnTo>
                  <a:lnTo>
                    <a:pt x="379481" y="31260"/>
                  </a:lnTo>
                  <a:lnTo>
                    <a:pt x="383187" y="51299"/>
                  </a:lnTo>
                  <a:lnTo>
                    <a:pt x="383187" y="532684"/>
                  </a:lnTo>
                  <a:lnTo>
                    <a:pt x="379481" y="552722"/>
                  </a:lnTo>
                  <a:lnTo>
                    <a:pt x="369352" y="569021"/>
                  </a:lnTo>
                  <a:lnTo>
                    <a:pt x="354282" y="579975"/>
                  </a:lnTo>
                  <a:lnTo>
                    <a:pt x="335753" y="583983"/>
                  </a:lnTo>
                  <a:lnTo>
                    <a:pt x="47433" y="583983"/>
                  </a:lnTo>
                  <a:lnTo>
                    <a:pt x="28905" y="579975"/>
                  </a:lnTo>
                  <a:lnTo>
                    <a:pt x="13834" y="569021"/>
                  </a:lnTo>
                  <a:lnTo>
                    <a:pt x="3705" y="552722"/>
                  </a:lnTo>
                  <a:lnTo>
                    <a:pt x="0" y="532684"/>
                  </a:lnTo>
                  <a:lnTo>
                    <a:pt x="0" y="51299"/>
                  </a:lnTo>
                  <a:close/>
                </a:path>
              </a:pathLst>
            </a:custGeom>
            <a:ln w="406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119842" y="2884188"/>
              <a:ext cx="294005" cy="447675"/>
            </a:xfrm>
            <a:custGeom>
              <a:avLst/>
              <a:gdLst/>
              <a:ahLst/>
              <a:cxnLst/>
              <a:rect l="l" t="t" r="r" b="b"/>
              <a:pathLst>
                <a:path w="294004" h="447675">
                  <a:moveTo>
                    <a:pt x="257233" y="447363"/>
                  </a:moveTo>
                  <a:lnTo>
                    <a:pt x="36287" y="447363"/>
                  </a:lnTo>
                  <a:lnTo>
                    <a:pt x="22112" y="444297"/>
                  </a:lnTo>
                  <a:lnTo>
                    <a:pt x="10583" y="435917"/>
                  </a:lnTo>
                  <a:lnTo>
                    <a:pt x="2834" y="423448"/>
                  </a:lnTo>
                  <a:lnTo>
                    <a:pt x="0" y="408118"/>
                  </a:lnTo>
                  <a:lnTo>
                    <a:pt x="0" y="39244"/>
                  </a:lnTo>
                  <a:lnTo>
                    <a:pt x="2834" y="23914"/>
                  </a:lnTo>
                  <a:lnTo>
                    <a:pt x="10583" y="11446"/>
                  </a:lnTo>
                  <a:lnTo>
                    <a:pt x="22112" y="3065"/>
                  </a:lnTo>
                  <a:lnTo>
                    <a:pt x="36287" y="0"/>
                  </a:lnTo>
                  <a:lnTo>
                    <a:pt x="257233" y="0"/>
                  </a:lnTo>
                  <a:lnTo>
                    <a:pt x="271408" y="3065"/>
                  </a:lnTo>
                  <a:lnTo>
                    <a:pt x="282937" y="11446"/>
                  </a:lnTo>
                  <a:lnTo>
                    <a:pt x="290685" y="23914"/>
                  </a:lnTo>
                  <a:lnTo>
                    <a:pt x="293520" y="39244"/>
                  </a:lnTo>
                  <a:lnTo>
                    <a:pt x="293520" y="408118"/>
                  </a:lnTo>
                  <a:lnTo>
                    <a:pt x="290685" y="423448"/>
                  </a:lnTo>
                  <a:lnTo>
                    <a:pt x="282937" y="435917"/>
                  </a:lnTo>
                  <a:lnTo>
                    <a:pt x="271408" y="444297"/>
                  </a:lnTo>
                  <a:lnTo>
                    <a:pt x="257233" y="447363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119842" y="2884188"/>
              <a:ext cx="294005" cy="447675"/>
            </a:xfrm>
            <a:custGeom>
              <a:avLst/>
              <a:gdLst/>
              <a:ahLst/>
              <a:cxnLst/>
              <a:rect l="l" t="t" r="r" b="b"/>
              <a:pathLst>
                <a:path w="294004" h="447675">
                  <a:moveTo>
                    <a:pt x="0" y="39244"/>
                  </a:moveTo>
                  <a:lnTo>
                    <a:pt x="2834" y="23914"/>
                  </a:lnTo>
                  <a:lnTo>
                    <a:pt x="10583" y="11446"/>
                  </a:lnTo>
                  <a:lnTo>
                    <a:pt x="22112" y="3065"/>
                  </a:lnTo>
                  <a:lnTo>
                    <a:pt x="36287" y="0"/>
                  </a:lnTo>
                  <a:lnTo>
                    <a:pt x="257233" y="0"/>
                  </a:lnTo>
                  <a:lnTo>
                    <a:pt x="271408" y="3065"/>
                  </a:lnTo>
                  <a:lnTo>
                    <a:pt x="282937" y="11446"/>
                  </a:lnTo>
                  <a:lnTo>
                    <a:pt x="290685" y="23914"/>
                  </a:lnTo>
                  <a:lnTo>
                    <a:pt x="293520" y="39244"/>
                  </a:lnTo>
                  <a:lnTo>
                    <a:pt x="293520" y="408118"/>
                  </a:lnTo>
                  <a:lnTo>
                    <a:pt x="290685" y="423448"/>
                  </a:lnTo>
                  <a:lnTo>
                    <a:pt x="282937" y="435917"/>
                  </a:lnTo>
                  <a:lnTo>
                    <a:pt x="271408" y="444297"/>
                  </a:lnTo>
                  <a:lnTo>
                    <a:pt x="257233" y="447363"/>
                  </a:lnTo>
                  <a:lnTo>
                    <a:pt x="36287" y="447363"/>
                  </a:lnTo>
                  <a:lnTo>
                    <a:pt x="22112" y="444297"/>
                  </a:lnTo>
                  <a:lnTo>
                    <a:pt x="10583" y="435917"/>
                  </a:lnTo>
                  <a:lnTo>
                    <a:pt x="2834" y="423448"/>
                  </a:lnTo>
                  <a:lnTo>
                    <a:pt x="0" y="408118"/>
                  </a:lnTo>
                  <a:lnTo>
                    <a:pt x="0" y="39244"/>
                  </a:lnTo>
                  <a:close/>
                </a:path>
              </a:pathLst>
            </a:custGeom>
            <a:ln w="406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142630" y="2884188"/>
              <a:ext cx="294005" cy="447675"/>
            </a:xfrm>
            <a:custGeom>
              <a:avLst/>
              <a:gdLst/>
              <a:ahLst/>
              <a:cxnLst/>
              <a:rect l="l" t="t" r="r" b="b"/>
              <a:pathLst>
                <a:path w="294004" h="447675">
                  <a:moveTo>
                    <a:pt x="257233" y="447363"/>
                  </a:moveTo>
                  <a:lnTo>
                    <a:pt x="36287" y="447363"/>
                  </a:lnTo>
                  <a:lnTo>
                    <a:pt x="22112" y="444297"/>
                  </a:lnTo>
                  <a:lnTo>
                    <a:pt x="10583" y="435917"/>
                  </a:lnTo>
                  <a:lnTo>
                    <a:pt x="2834" y="423448"/>
                  </a:lnTo>
                  <a:lnTo>
                    <a:pt x="0" y="408118"/>
                  </a:lnTo>
                  <a:lnTo>
                    <a:pt x="0" y="39244"/>
                  </a:lnTo>
                  <a:lnTo>
                    <a:pt x="2834" y="23914"/>
                  </a:lnTo>
                  <a:lnTo>
                    <a:pt x="10583" y="11446"/>
                  </a:lnTo>
                  <a:lnTo>
                    <a:pt x="22112" y="3065"/>
                  </a:lnTo>
                  <a:lnTo>
                    <a:pt x="36287" y="0"/>
                  </a:lnTo>
                  <a:lnTo>
                    <a:pt x="257233" y="0"/>
                  </a:lnTo>
                  <a:lnTo>
                    <a:pt x="271408" y="3065"/>
                  </a:lnTo>
                  <a:lnTo>
                    <a:pt x="282937" y="11446"/>
                  </a:lnTo>
                  <a:lnTo>
                    <a:pt x="290685" y="23914"/>
                  </a:lnTo>
                  <a:lnTo>
                    <a:pt x="293520" y="39244"/>
                  </a:lnTo>
                  <a:lnTo>
                    <a:pt x="293520" y="408118"/>
                  </a:lnTo>
                  <a:lnTo>
                    <a:pt x="290685" y="423448"/>
                  </a:lnTo>
                  <a:lnTo>
                    <a:pt x="282937" y="435917"/>
                  </a:lnTo>
                  <a:lnTo>
                    <a:pt x="271408" y="444297"/>
                  </a:lnTo>
                  <a:lnTo>
                    <a:pt x="257233" y="447363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142630" y="2884188"/>
              <a:ext cx="294005" cy="447675"/>
            </a:xfrm>
            <a:custGeom>
              <a:avLst/>
              <a:gdLst/>
              <a:ahLst/>
              <a:cxnLst/>
              <a:rect l="l" t="t" r="r" b="b"/>
              <a:pathLst>
                <a:path w="294004" h="447675">
                  <a:moveTo>
                    <a:pt x="0" y="39244"/>
                  </a:moveTo>
                  <a:lnTo>
                    <a:pt x="2834" y="23914"/>
                  </a:lnTo>
                  <a:lnTo>
                    <a:pt x="10583" y="11446"/>
                  </a:lnTo>
                  <a:lnTo>
                    <a:pt x="22112" y="3065"/>
                  </a:lnTo>
                  <a:lnTo>
                    <a:pt x="36287" y="0"/>
                  </a:lnTo>
                  <a:lnTo>
                    <a:pt x="257233" y="0"/>
                  </a:lnTo>
                  <a:lnTo>
                    <a:pt x="271408" y="3065"/>
                  </a:lnTo>
                  <a:lnTo>
                    <a:pt x="282937" y="11446"/>
                  </a:lnTo>
                  <a:lnTo>
                    <a:pt x="290685" y="23914"/>
                  </a:lnTo>
                  <a:lnTo>
                    <a:pt x="293520" y="39244"/>
                  </a:lnTo>
                  <a:lnTo>
                    <a:pt x="293520" y="408118"/>
                  </a:lnTo>
                  <a:lnTo>
                    <a:pt x="290685" y="423448"/>
                  </a:lnTo>
                  <a:lnTo>
                    <a:pt x="282937" y="435917"/>
                  </a:lnTo>
                  <a:lnTo>
                    <a:pt x="271408" y="444297"/>
                  </a:lnTo>
                  <a:lnTo>
                    <a:pt x="257233" y="447363"/>
                  </a:lnTo>
                  <a:lnTo>
                    <a:pt x="36287" y="447363"/>
                  </a:lnTo>
                  <a:lnTo>
                    <a:pt x="22112" y="444297"/>
                  </a:lnTo>
                  <a:lnTo>
                    <a:pt x="10583" y="435917"/>
                  </a:lnTo>
                  <a:lnTo>
                    <a:pt x="2834" y="423448"/>
                  </a:lnTo>
                  <a:lnTo>
                    <a:pt x="0" y="408118"/>
                  </a:lnTo>
                  <a:lnTo>
                    <a:pt x="0" y="39244"/>
                  </a:lnTo>
                  <a:close/>
                </a:path>
              </a:pathLst>
            </a:custGeom>
            <a:ln w="4060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26530" y="2892224"/>
              <a:ext cx="294640" cy="427990"/>
            </a:xfrm>
            <a:custGeom>
              <a:avLst/>
              <a:gdLst/>
              <a:ahLst/>
              <a:cxnLst/>
              <a:rect l="l" t="t" r="r" b="b"/>
              <a:pathLst>
                <a:path w="294640" h="427989">
                  <a:moveTo>
                    <a:pt x="259710" y="427540"/>
                  </a:moveTo>
                  <a:lnTo>
                    <a:pt x="34553" y="427540"/>
                  </a:lnTo>
                  <a:lnTo>
                    <a:pt x="21056" y="424620"/>
                  </a:lnTo>
                  <a:lnTo>
                    <a:pt x="10078" y="416640"/>
                  </a:lnTo>
                  <a:lnTo>
                    <a:pt x="2699" y="404768"/>
                  </a:lnTo>
                  <a:lnTo>
                    <a:pt x="0" y="390170"/>
                  </a:lnTo>
                  <a:lnTo>
                    <a:pt x="0" y="37369"/>
                  </a:lnTo>
                  <a:lnTo>
                    <a:pt x="2699" y="22772"/>
                  </a:lnTo>
                  <a:lnTo>
                    <a:pt x="10078" y="10899"/>
                  </a:lnTo>
                  <a:lnTo>
                    <a:pt x="21056" y="2919"/>
                  </a:lnTo>
                  <a:lnTo>
                    <a:pt x="34553" y="0"/>
                  </a:lnTo>
                  <a:lnTo>
                    <a:pt x="259710" y="0"/>
                  </a:lnTo>
                  <a:lnTo>
                    <a:pt x="273207" y="2919"/>
                  </a:lnTo>
                  <a:lnTo>
                    <a:pt x="284185" y="10899"/>
                  </a:lnTo>
                  <a:lnTo>
                    <a:pt x="291564" y="22772"/>
                  </a:lnTo>
                  <a:lnTo>
                    <a:pt x="294264" y="37369"/>
                  </a:lnTo>
                  <a:lnTo>
                    <a:pt x="294264" y="390170"/>
                  </a:lnTo>
                  <a:lnTo>
                    <a:pt x="291564" y="404768"/>
                  </a:lnTo>
                  <a:lnTo>
                    <a:pt x="284185" y="416640"/>
                  </a:lnTo>
                  <a:lnTo>
                    <a:pt x="273207" y="424620"/>
                  </a:lnTo>
                  <a:lnTo>
                    <a:pt x="259710" y="42754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126530" y="2892224"/>
              <a:ext cx="294640" cy="427990"/>
            </a:xfrm>
            <a:custGeom>
              <a:avLst/>
              <a:gdLst/>
              <a:ahLst/>
              <a:cxnLst/>
              <a:rect l="l" t="t" r="r" b="b"/>
              <a:pathLst>
                <a:path w="294640" h="427989">
                  <a:moveTo>
                    <a:pt x="0" y="37369"/>
                  </a:moveTo>
                  <a:lnTo>
                    <a:pt x="2699" y="22772"/>
                  </a:lnTo>
                  <a:lnTo>
                    <a:pt x="10078" y="10899"/>
                  </a:lnTo>
                  <a:lnTo>
                    <a:pt x="21056" y="2919"/>
                  </a:lnTo>
                  <a:lnTo>
                    <a:pt x="34553" y="0"/>
                  </a:lnTo>
                  <a:lnTo>
                    <a:pt x="259710" y="0"/>
                  </a:lnTo>
                  <a:lnTo>
                    <a:pt x="273207" y="2919"/>
                  </a:lnTo>
                  <a:lnTo>
                    <a:pt x="284185" y="10899"/>
                  </a:lnTo>
                  <a:lnTo>
                    <a:pt x="291564" y="22772"/>
                  </a:lnTo>
                  <a:lnTo>
                    <a:pt x="294264" y="37369"/>
                  </a:lnTo>
                  <a:lnTo>
                    <a:pt x="294264" y="390170"/>
                  </a:lnTo>
                  <a:lnTo>
                    <a:pt x="291564" y="404768"/>
                  </a:lnTo>
                  <a:lnTo>
                    <a:pt x="284185" y="416640"/>
                  </a:lnTo>
                  <a:lnTo>
                    <a:pt x="273207" y="424620"/>
                  </a:lnTo>
                  <a:lnTo>
                    <a:pt x="259710" y="427540"/>
                  </a:lnTo>
                  <a:lnTo>
                    <a:pt x="34553" y="427540"/>
                  </a:lnTo>
                  <a:lnTo>
                    <a:pt x="21056" y="424620"/>
                  </a:lnTo>
                  <a:lnTo>
                    <a:pt x="10078" y="416640"/>
                  </a:lnTo>
                  <a:lnTo>
                    <a:pt x="2699" y="404768"/>
                  </a:lnTo>
                  <a:lnTo>
                    <a:pt x="0" y="390170"/>
                  </a:lnTo>
                  <a:lnTo>
                    <a:pt x="0" y="37369"/>
                  </a:lnTo>
                  <a:close/>
                </a:path>
              </a:pathLst>
            </a:custGeom>
            <a:ln w="4066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50806" y="2886866"/>
              <a:ext cx="28575" cy="5715"/>
            </a:xfrm>
            <a:custGeom>
              <a:avLst/>
              <a:gdLst/>
              <a:ahLst/>
              <a:cxnLst/>
              <a:rect l="l" t="t" r="r" b="b"/>
              <a:pathLst>
                <a:path w="28575" h="5714">
                  <a:moveTo>
                    <a:pt x="5201" y="5089"/>
                  </a:moveTo>
                  <a:lnTo>
                    <a:pt x="990" y="3482"/>
                  </a:lnTo>
                  <a:lnTo>
                    <a:pt x="0" y="803"/>
                  </a:lnTo>
                  <a:lnTo>
                    <a:pt x="4458" y="0"/>
                  </a:lnTo>
                  <a:lnTo>
                    <a:pt x="12384" y="535"/>
                  </a:lnTo>
                  <a:lnTo>
                    <a:pt x="28237" y="535"/>
                  </a:lnTo>
                  <a:lnTo>
                    <a:pt x="23778" y="2143"/>
                  </a:lnTo>
                  <a:lnTo>
                    <a:pt x="14118" y="4286"/>
                  </a:lnTo>
                  <a:lnTo>
                    <a:pt x="5201" y="5089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49568" y="3317353"/>
              <a:ext cx="269875" cy="11430"/>
            </a:xfrm>
            <a:custGeom>
              <a:avLst/>
              <a:gdLst/>
              <a:ahLst/>
              <a:cxnLst/>
              <a:rect l="l" t="t" r="r" b="b"/>
              <a:pathLst>
                <a:path w="269875" h="11429">
                  <a:moveTo>
                    <a:pt x="253394" y="10983"/>
                  </a:moveTo>
                  <a:lnTo>
                    <a:pt x="12384" y="10983"/>
                  </a:lnTo>
                  <a:lnTo>
                    <a:pt x="1238" y="7768"/>
                  </a:lnTo>
                  <a:lnTo>
                    <a:pt x="0" y="1339"/>
                  </a:lnTo>
                  <a:lnTo>
                    <a:pt x="4458" y="2410"/>
                  </a:lnTo>
                  <a:lnTo>
                    <a:pt x="12632" y="2678"/>
                  </a:lnTo>
                  <a:lnTo>
                    <a:pt x="28237" y="3482"/>
                  </a:lnTo>
                  <a:lnTo>
                    <a:pt x="226642" y="3482"/>
                  </a:lnTo>
                  <a:lnTo>
                    <a:pt x="238532" y="2946"/>
                  </a:lnTo>
                  <a:lnTo>
                    <a:pt x="245220" y="2143"/>
                  </a:lnTo>
                  <a:lnTo>
                    <a:pt x="250669" y="0"/>
                  </a:lnTo>
                  <a:lnTo>
                    <a:pt x="269246" y="5357"/>
                  </a:lnTo>
                  <a:lnTo>
                    <a:pt x="263549" y="8572"/>
                  </a:lnTo>
                  <a:lnTo>
                    <a:pt x="258843" y="9643"/>
                  </a:lnTo>
                  <a:lnTo>
                    <a:pt x="253394" y="10983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162944" y="3449955"/>
              <a:ext cx="51435" cy="26034"/>
            </a:xfrm>
            <a:custGeom>
              <a:avLst/>
              <a:gdLst/>
              <a:ahLst/>
              <a:cxnLst/>
              <a:rect l="l" t="t" r="r" b="b"/>
              <a:pathLst>
                <a:path w="51434" h="26035">
                  <a:moveTo>
                    <a:pt x="8174" y="25984"/>
                  </a:moveTo>
                  <a:lnTo>
                    <a:pt x="0" y="0"/>
                  </a:lnTo>
                  <a:lnTo>
                    <a:pt x="35420" y="0"/>
                  </a:lnTo>
                  <a:lnTo>
                    <a:pt x="51025" y="25716"/>
                  </a:lnTo>
                  <a:lnTo>
                    <a:pt x="8174" y="25984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162944" y="3449955"/>
              <a:ext cx="51435" cy="26034"/>
            </a:xfrm>
            <a:custGeom>
              <a:avLst/>
              <a:gdLst/>
              <a:ahLst/>
              <a:cxnLst/>
              <a:rect l="l" t="t" r="r" b="b"/>
              <a:pathLst>
                <a:path w="51434" h="26035">
                  <a:moveTo>
                    <a:pt x="0" y="0"/>
                  </a:moveTo>
                  <a:lnTo>
                    <a:pt x="8174" y="25984"/>
                  </a:lnTo>
                  <a:lnTo>
                    <a:pt x="51025" y="25716"/>
                  </a:lnTo>
                  <a:lnTo>
                    <a:pt x="35420" y="0"/>
                  </a:lnTo>
                  <a:lnTo>
                    <a:pt x="0" y="0"/>
                  </a:lnTo>
                  <a:close/>
                </a:path>
              </a:pathLst>
            </a:custGeom>
            <a:ln w="421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164184" y="3491208"/>
              <a:ext cx="67945" cy="13970"/>
            </a:xfrm>
            <a:custGeom>
              <a:avLst/>
              <a:gdLst/>
              <a:ahLst/>
              <a:cxnLst/>
              <a:rect l="l" t="t" r="r" b="b"/>
              <a:pathLst>
                <a:path w="67945" h="13970">
                  <a:moveTo>
                    <a:pt x="67373" y="13662"/>
                  </a:moveTo>
                  <a:lnTo>
                    <a:pt x="247" y="13662"/>
                  </a:lnTo>
                  <a:lnTo>
                    <a:pt x="0" y="0"/>
                  </a:lnTo>
                  <a:lnTo>
                    <a:pt x="67125" y="0"/>
                  </a:lnTo>
                  <a:lnTo>
                    <a:pt x="67373" y="13662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164184" y="3491208"/>
              <a:ext cx="67945" cy="13970"/>
            </a:xfrm>
            <a:custGeom>
              <a:avLst/>
              <a:gdLst/>
              <a:ahLst/>
              <a:cxnLst/>
              <a:rect l="l" t="t" r="r" b="b"/>
              <a:pathLst>
                <a:path w="67945" h="13970">
                  <a:moveTo>
                    <a:pt x="0" y="0"/>
                  </a:moveTo>
                  <a:lnTo>
                    <a:pt x="247" y="13662"/>
                  </a:lnTo>
                  <a:lnTo>
                    <a:pt x="67373" y="13662"/>
                  </a:lnTo>
                  <a:lnTo>
                    <a:pt x="67125" y="0"/>
                  </a:lnTo>
                  <a:lnTo>
                    <a:pt x="0" y="0"/>
                  </a:lnTo>
                  <a:close/>
                </a:path>
              </a:pathLst>
            </a:custGeom>
            <a:ln w="4273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442596" y="2897313"/>
              <a:ext cx="19685" cy="27940"/>
            </a:xfrm>
            <a:custGeom>
              <a:avLst/>
              <a:gdLst/>
              <a:ahLst/>
              <a:cxnLst/>
              <a:rect l="l" t="t" r="r" b="b"/>
              <a:pathLst>
                <a:path w="19684" h="27939">
                  <a:moveTo>
                    <a:pt x="19568" y="27859"/>
                  </a:moveTo>
                  <a:lnTo>
                    <a:pt x="743" y="27859"/>
                  </a:lnTo>
                  <a:lnTo>
                    <a:pt x="0" y="0"/>
                  </a:lnTo>
                  <a:lnTo>
                    <a:pt x="18824" y="0"/>
                  </a:lnTo>
                  <a:lnTo>
                    <a:pt x="19568" y="27859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442596" y="2897313"/>
              <a:ext cx="19685" cy="27940"/>
            </a:xfrm>
            <a:custGeom>
              <a:avLst/>
              <a:gdLst/>
              <a:ahLst/>
              <a:cxnLst/>
              <a:rect l="l" t="t" r="r" b="b"/>
              <a:pathLst>
                <a:path w="19684" h="27939">
                  <a:moveTo>
                    <a:pt x="18824" y="0"/>
                  </a:moveTo>
                  <a:lnTo>
                    <a:pt x="0" y="0"/>
                  </a:lnTo>
                  <a:lnTo>
                    <a:pt x="743" y="27859"/>
                  </a:lnTo>
                  <a:lnTo>
                    <a:pt x="19568" y="27859"/>
                  </a:lnTo>
                  <a:lnTo>
                    <a:pt x="18824" y="0"/>
                  </a:lnTo>
                  <a:close/>
                </a:path>
              </a:pathLst>
            </a:custGeom>
            <a:ln w="406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447303" y="2905349"/>
              <a:ext cx="11430" cy="12065"/>
            </a:xfrm>
            <a:custGeom>
              <a:avLst/>
              <a:gdLst/>
              <a:ahLst/>
              <a:cxnLst/>
              <a:rect l="l" t="t" r="r" b="b"/>
              <a:pathLst>
                <a:path w="11429" h="12064">
                  <a:moveTo>
                    <a:pt x="8669" y="11518"/>
                  </a:moveTo>
                  <a:lnTo>
                    <a:pt x="2476" y="11518"/>
                  </a:lnTo>
                  <a:lnTo>
                    <a:pt x="0" y="8959"/>
                  </a:lnTo>
                  <a:lnTo>
                    <a:pt x="0" y="5759"/>
                  </a:lnTo>
                  <a:lnTo>
                    <a:pt x="0" y="2559"/>
                  </a:lnTo>
                  <a:lnTo>
                    <a:pt x="2476" y="0"/>
                  </a:lnTo>
                  <a:lnTo>
                    <a:pt x="8669" y="0"/>
                  </a:lnTo>
                  <a:lnTo>
                    <a:pt x="11146" y="2559"/>
                  </a:lnTo>
                  <a:lnTo>
                    <a:pt x="11146" y="8959"/>
                  </a:lnTo>
                  <a:lnTo>
                    <a:pt x="8669" y="11518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447303" y="2905349"/>
              <a:ext cx="11430" cy="12065"/>
            </a:xfrm>
            <a:custGeom>
              <a:avLst/>
              <a:gdLst/>
              <a:ahLst/>
              <a:cxnLst/>
              <a:rect l="l" t="t" r="r" b="b"/>
              <a:pathLst>
                <a:path w="11429" h="12064">
                  <a:moveTo>
                    <a:pt x="0" y="5759"/>
                  </a:moveTo>
                  <a:lnTo>
                    <a:pt x="0" y="2559"/>
                  </a:lnTo>
                  <a:lnTo>
                    <a:pt x="2476" y="0"/>
                  </a:lnTo>
                  <a:lnTo>
                    <a:pt x="5573" y="0"/>
                  </a:lnTo>
                  <a:lnTo>
                    <a:pt x="8669" y="0"/>
                  </a:lnTo>
                  <a:lnTo>
                    <a:pt x="11146" y="2559"/>
                  </a:lnTo>
                  <a:lnTo>
                    <a:pt x="11146" y="5759"/>
                  </a:lnTo>
                  <a:lnTo>
                    <a:pt x="11146" y="8959"/>
                  </a:lnTo>
                  <a:lnTo>
                    <a:pt x="8669" y="11518"/>
                  </a:lnTo>
                  <a:lnTo>
                    <a:pt x="5573" y="11518"/>
                  </a:lnTo>
                  <a:lnTo>
                    <a:pt x="2476" y="11518"/>
                  </a:lnTo>
                  <a:lnTo>
                    <a:pt x="0" y="8959"/>
                  </a:lnTo>
                  <a:lnTo>
                    <a:pt x="0" y="5759"/>
                  </a:lnTo>
                  <a:close/>
                </a:path>
              </a:pathLst>
            </a:custGeom>
            <a:ln w="4119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103500" y="2882847"/>
              <a:ext cx="10795" cy="16510"/>
            </a:xfrm>
            <a:custGeom>
              <a:avLst/>
              <a:gdLst/>
              <a:ahLst/>
              <a:cxnLst/>
              <a:rect l="l" t="t" r="r" b="b"/>
              <a:pathLst>
                <a:path w="10795" h="16510">
                  <a:moveTo>
                    <a:pt x="10650" y="16340"/>
                  </a:moveTo>
                  <a:lnTo>
                    <a:pt x="0" y="16340"/>
                  </a:lnTo>
                  <a:lnTo>
                    <a:pt x="0" y="0"/>
                  </a:lnTo>
                  <a:lnTo>
                    <a:pt x="10650" y="0"/>
                  </a:lnTo>
                  <a:lnTo>
                    <a:pt x="10650" y="1634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50811" y="2920082"/>
              <a:ext cx="245745" cy="371475"/>
            </a:xfrm>
            <a:custGeom>
              <a:avLst/>
              <a:gdLst/>
              <a:ahLst/>
              <a:cxnLst/>
              <a:rect l="l" t="t" r="r" b="b"/>
              <a:pathLst>
                <a:path w="245745" h="371475">
                  <a:moveTo>
                    <a:pt x="245467" y="371284"/>
                  </a:moveTo>
                  <a:lnTo>
                    <a:pt x="0" y="371284"/>
                  </a:lnTo>
                  <a:lnTo>
                    <a:pt x="0" y="0"/>
                  </a:lnTo>
                  <a:lnTo>
                    <a:pt x="245467" y="0"/>
                  </a:lnTo>
                  <a:lnTo>
                    <a:pt x="245467" y="371284"/>
                  </a:lnTo>
                  <a:close/>
                </a:path>
              </a:pathLst>
            </a:custGeom>
            <a:solidFill>
              <a:srgbClr val="40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150811" y="2920082"/>
              <a:ext cx="245745" cy="371475"/>
            </a:xfrm>
            <a:custGeom>
              <a:avLst/>
              <a:gdLst/>
              <a:ahLst/>
              <a:cxnLst/>
              <a:rect l="l" t="t" r="r" b="b"/>
              <a:pathLst>
                <a:path w="245745" h="371475">
                  <a:moveTo>
                    <a:pt x="0" y="0"/>
                  </a:moveTo>
                  <a:lnTo>
                    <a:pt x="245467" y="0"/>
                  </a:lnTo>
                  <a:lnTo>
                    <a:pt x="245467" y="371284"/>
                  </a:lnTo>
                  <a:lnTo>
                    <a:pt x="0" y="371284"/>
                  </a:lnTo>
                  <a:lnTo>
                    <a:pt x="0" y="0"/>
                  </a:lnTo>
                  <a:close/>
                </a:path>
              </a:pathLst>
            </a:custGeom>
            <a:ln w="4061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7176572" y="2954103"/>
              <a:ext cx="199390" cy="79375"/>
            </a:xfrm>
            <a:custGeom>
              <a:avLst/>
              <a:gdLst/>
              <a:ahLst/>
              <a:cxnLst/>
              <a:rect l="l" t="t" r="r" b="b"/>
              <a:pathLst>
                <a:path w="199390" h="79375">
                  <a:moveTo>
                    <a:pt x="198900" y="79293"/>
                  </a:moveTo>
                  <a:lnTo>
                    <a:pt x="0" y="79293"/>
                  </a:lnTo>
                  <a:lnTo>
                    <a:pt x="0" y="0"/>
                  </a:lnTo>
                  <a:lnTo>
                    <a:pt x="198900" y="0"/>
                  </a:lnTo>
                  <a:lnTo>
                    <a:pt x="198900" y="79293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175087" y="3043040"/>
              <a:ext cx="84455" cy="53340"/>
            </a:xfrm>
            <a:custGeom>
              <a:avLst/>
              <a:gdLst/>
              <a:ahLst/>
              <a:cxnLst/>
              <a:rect l="l" t="t" r="r" b="b"/>
              <a:pathLst>
                <a:path w="84454" h="53339">
                  <a:moveTo>
                    <a:pt x="0" y="0"/>
                  </a:moveTo>
                  <a:lnTo>
                    <a:pt x="84216" y="0"/>
                  </a:lnTo>
                  <a:lnTo>
                    <a:pt x="84216" y="53040"/>
                  </a:lnTo>
                  <a:lnTo>
                    <a:pt x="0" y="53040"/>
                  </a:lnTo>
                  <a:lnTo>
                    <a:pt x="0" y="0"/>
                  </a:lnTo>
                  <a:close/>
                </a:path>
              </a:pathLst>
            </a:custGeom>
            <a:ln w="4194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7175088" y="3103313"/>
              <a:ext cx="84455" cy="53340"/>
            </a:xfrm>
            <a:custGeom>
              <a:avLst/>
              <a:gdLst/>
              <a:ahLst/>
              <a:cxnLst/>
              <a:rect l="l" t="t" r="r" b="b"/>
              <a:pathLst>
                <a:path w="84454" h="53339">
                  <a:moveTo>
                    <a:pt x="0" y="0"/>
                  </a:moveTo>
                  <a:lnTo>
                    <a:pt x="84216" y="0"/>
                  </a:lnTo>
                  <a:lnTo>
                    <a:pt x="84216" y="53308"/>
                  </a:lnTo>
                  <a:lnTo>
                    <a:pt x="0" y="53308"/>
                  </a:lnTo>
                  <a:lnTo>
                    <a:pt x="0" y="0"/>
                  </a:lnTo>
                  <a:close/>
                </a:path>
              </a:pathLst>
            </a:custGeom>
            <a:ln w="4193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7175089" y="3168676"/>
              <a:ext cx="84455" cy="53340"/>
            </a:xfrm>
            <a:custGeom>
              <a:avLst/>
              <a:gdLst/>
              <a:ahLst/>
              <a:cxnLst/>
              <a:rect l="l" t="t" r="r" b="b"/>
              <a:pathLst>
                <a:path w="84454" h="53339">
                  <a:moveTo>
                    <a:pt x="0" y="0"/>
                  </a:moveTo>
                  <a:lnTo>
                    <a:pt x="84216" y="0"/>
                  </a:lnTo>
                  <a:lnTo>
                    <a:pt x="84216" y="53040"/>
                  </a:lnTo>
                  <a:lnTo>
                    <a:pt x="0" y="53040"/>
                  </a:lnTo>
                  <a:lnTo>
                    <a:pt x="0" y="0"/>
                  </a:lnTo>
                  <a:close/>
                </a:path>
              </a:pathLst>
            </a:custGeom>
            <a:ln w="4194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90268" y="3041968"/>
              <a:ext cx="83185" cy="225425"/>
            </a:xfrm>
            <a:custGeom>
              <a:avLst/>
              <a:gdLst/>
              <a:ahLst/>
              <a:cxnLst/>
              <a:rect l="l" t="t" r="r" b="b"/>
              <a:pathLst>
                <a:path w="83184" h="225425">
                  <a:moveTo>
                    <a:pt x="0" y="0"/>
                  </a:moveTo>
                  <a:lnTo>
                    <a:pt x="82730" y="0"/>
                  </a:lnTo>
                  <a:lnTo>
                    <a:pt x="82730" y="225289"/>
                  </a:lnTo>
                  <a:lnTo>
                    <a:pt x="0" y="225289"/>
                  </a:lnTo>
                  <a:lnTo>
                    <a:pt x="0" y="0"/>
                  </a:lnTo>
                  <a:close/>
                </a:path>
              </a:pathLst>
            </a:custGeom>
            <a:ln w="4001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67233" y="3043039"/>
              <a:ext cx="17780" cy="50800"/>
            </a:xfrm>
            <a:custGeom>
              <a:avLst/>
              <a:gdLst/>
              <a:ahLst/>
              <a:cxnLst/>
              <a:rect l="l" t="t" r="r" b="b"/>
              <a:pathLst>
                <a:path w="17779" h="50800">
                  <a:moveTo>
                    <a:pt x="17338" y="50361"/>
                  </a:moveTo>
                  <a:lnTo>
                    <a:pt x="0" y="50361"/>
                  </a:lnTo>
                  <a:lnTo>
                    <a:pt x="0" y="0"/>
                  </a:lnTo>
                  <a:lnTo>
                    <a:pt x="17338" y="0"/>
                  </a:lnTo>
                  <a:lnTo>
                    <a:pt x="17338" y="50361"/>
                  </a:lnTo>
                  <a:close/>
                </a:path>
              </a:pathLst>
            </a:custGeom>
            <a:solidFill>
              <a:srgbClr val="40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267233" y="3043039"/>
              <a:ext cx="17780" cy="50800"/>
            </a:xfrm>
            <a:custGeom>
              <a:avLst/>
              <a:gdLst/>
              <a:ahLst/>
              <a:cxnLst/>
              <a:rect l="l" t="t" r="r" b="b"/>
              <a:pathLst>
                <a:path w="17779" h="50800">
                  <a:moveTo>
                    <a:pt x="0" y="0"/>
                  </a:moveTo>
                  <a:lnTo>
                    <a:pt x="17338" y="0"/>
                  </a:lnTo>
                  <a:lnTo>
                    <a:pt x="17338" y="50361"/>
                  </a:lnTo>
                  <a:lnTo>
                    <a:pt x="0" y="50361"/>
                  </a:lnTo>
                  <a:lnTo>
                    <a:pt x="0" y="0"/>
                  </a:lnTo>
                  <a:close/>
                </a:path>
              </a:pathLst>
            </a:custGeom>
            <a:ln w="3997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7265996" y="3103312"/>
              <a:ext cx="17780" cy="50800"/>
            </a:xfrm>
            <a:custGeom>
              <a:avLst/>
              <a:gdLst/>
              <a:ahLst/>
              <a:cxnLst/>
              <a:rect l="l" t="t" r="r" b="b"/>
              <a:pathLst>
                <a:path w="17779" h="50800">
                  <a:moveTo>
                    <a:pt x="17338" y="50361"/>
                  </a:moveTo>
                  <a:lnTo>
                    <a:pt x="0" y="50361"/>
                  </a:lnTo>
                  <a:lnTo>
                    <a:pt x="0" y="0"/>
                  </a:lnTo>
                  <a:lnTo>
                    <a:pt x="17338" y="0"/>
                  </a:lnTo>
                  <a:lnTo>
                    <a:pt x="17338" y="50361"/>
                  </a:lnTo>
                  <a:close/>
                </a:path>
              </a:pathLst>
            </a:custGeom>
            <a:solidFill>
              <a:srgbClr val="40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265996" y="3103312"/>
              <a:ext cx="17780" cy="50800"/>
            </a:xfrm>
            <a:custGeom>
              <a:avLst/>
              <a:gdLst/>
              <a:ahLst/>
              <a:cxnLst/>
              <a:rect l="l" t="t" r="r" b="b"/>
              <a:pathLst>
                <a:path w="17779" h="50800">
                  <a:moveTo>
                    <a:pt x="0" y="0"/>
                  </a:moveTo>
                  <a:lnTo>
                    <a:pt x="17338" y="0"/>
                  </a:lnTo>
                  <a:lnTo>
                    <a:pt x="17338" y="50361"/>
                  </a:lnTo>
                  <a:lnTo>
                    <a:pt x="0" y="50361"/>
                  </a:lnTo>
                  <a:lnTo>
                    <a:pt x="0" y="0"/>
                  </a:lnTo>
                  <a:close/>
                </a:path>
              </a:pathLst>
            </a:custGeom>
            <a:ln w="3997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7265996" y="3168675"/>
              <a:ext cx="17780" cy="50165"/>
            </a:xfrm>
            <a:custGeom>
              <a:avLst/>
              <a:gdLst/>
              <a:ahLst/>
              <a:cxnLst/>
              <a:rect l="l" t="t" r="r" b="b"/>
              <a:pathLst>
                <a:path w="17779" h="50164">
                  <a:moveTo>
                    <a:pt x="17338" y="50094"/>
                  </a:moveTo>
                  <a:lnTo>
                    <a:pt x="0" y="50094"/>
                  </a:lnTo>
                  <a:lnTo>
                    <a:pt x="0" y="0"/>
                  </a:lnTo>
                  <a:lnTo>
                    <a:pt x="17338" y="0"/>
                  </a:lnTo>
                  <a:lnTo>
                    <a:pt x="17338" y="50094"/>
                  </a:lnTo>
                  <a:close/>
                </a:path>
              </a:pathLst>
            </a:custGeom>
            <a:solidFill>
              <a:srgbClr val="40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265996" y="3168675"/>
              <a:ext cx="17780" cy="50165"/>
            </a:xfrm>
            <a:custGeom>
              <a:avLst/>
              <a:gdLst/>
              <a:ahLst/>
              <a:cxnLst/>
              <a:rect l="l" t="t" r="r" b="b"/>
              <a:pathLst>
                <a:path w="17779" h="50164">
                  <a:moveTo>
                    <a:pt x="0" y="0"/>
                  </a:moveTo>
                  <a:lnTo>
                    <a:pt x="17338" y="0"/>
                  </a:lnTo>
                  <a:lnTo>
                    <a:pt x="17338" y="50094"/>
                  </a:lnTo>
                  <a:lnTo>
                    <a:pt x="0" y="50094"/>
                  </a:lnTo>
                  <a:lnTo>
                    <a:pt x="0" y="0"/>
                  </a:lnTo>
                  <a:close/>
                </a:path>
              </a:pathLst>
            </a:custGeom>
            <a:ln w="3997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7176331" y="3230288"/>
              <a:ext cx="22225" cy="20955"/>
            </a:xfrm>
            <a:custGeom>
              <a:avLst/>
              <a:gdLst/>
              <a:ahLst/>
              <a:cxnLst/>
              <a:rect l="l" t="t" r="r" b="b"/>
              <a:pathLst>
                <a:path w="22225" h="20954">
                  <a:moveTo>
                    <a:pt x="22045" y="20359"/>
                  </a:moveTo>
                  <a:lnTo>
                    <a:pt x="0" y="20359"/>
                  </a:lnTo>
                  <a:lnTo>
                    <a:pt x="0" y="0"/>
                  </a:lnTo>
                  <a:lnTo>
                    <a:pt x="22045" y="0"/>
                  </a:lnTo>
                  <a:lnTo>
                    <a:pt x="22045" y="20359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7176331" y="3230288"/>
              <a:ext cx="22225" cy="20955"/>
            </a:xfrm>
            <a:custGeom>
              <a:avLst/>
              <a:gdLst/>
              <a:ahLst/>
              <a:cxnLst/>
              <a:rect l="l" t="t" r="r" b="b"/>
              <a:pathLst>
                <a:path w="22225" h="20954">
                  <a:moveTo>
                    <a:pt x="0" y="0"/>
                  </a:moveTo>
                  <a:lnTo>
                    <a:pt x="22045" y="0"/>
                  </a:lnTo>
                  <a:lnTo>
                    <a:pt x="22045" y="20359"/>
                  </a:lnTo>
                  <a:lnTo>
                    <a:pt x="0" y="20359"/>
                  </a:lnTo>
                  <a:lnTo>
                    <a:pt x="0" y="0"/>
                  </a:lnTo>
                  <a:close/>
                </a:path>
              </a:pathLst>
            </a:custGeom>
            <a:ln w="4137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7205064" y="3230288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292" y="20359"/>
                  </a:moveTo>
                  <a:lnTo>
                    <a:pt x="0" y="20359"/>
                  </a:lnTo>
                  <a:lnTo>
                    <a:pt x="0" y="0"/>
                  </a:lnTo>
                  <a:lnTo>
                    <a:pt x="22292" y="0"/>
                  </a:lnTo>
                  <a:lnTo>
                    <a:pt x="22292" y="20359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7205064" y="3230288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292" y="0"/>
                  </a:lnTo>
                  <a:lnTo>
                    <a:pt x="22292" y="20359"/>
                  </a:lnTo>
                  <a:lnTo>
                    <a:pt x="0" y="20359"/>
                  </a:lnTo>
                  <a:lnTo>
                    <a:pt x="0" y="0"/>
                  </a:lnTo>
                  <a:close/>
                </a:path>
              </a:pathLst>
            </a:custGeom>
            <a:ln w="4139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7236028" y="3230288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22292" y="20359"/>
                  </a:moveTo>
                  <a:lnTo>
                    <a:pt x="0" y="20359"/>
                  </a:lnTo>
                  <a:lnTo>
                    <a:pt x="0" y="0"/>
                  </a:lnTo>
                  <a:lnTo>
                    <a:pt x="22292" y="0"/>
                  </a:lnTo>
                  <a:lnTo>
                    <a:pt x="22292" y="20359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7236028" y="3230288"/>
              <a:ext cx="22860" cy="20955"/>
            </a:xfrm>
            <a:custGeom>
              <a:avLst/>
              <a:gdLst/>
              <a:ahLst/>
              <a:cxnLst/>
              <a:rect l="l" t="t" r="r" b="b"/>
              <a:pathLst>
                <a:path w="22859" h="20954">
                  <a:moveTo>
                    <a:pt x="0" y="0"/>
                  </a:moveTo>
                  <a:lnTo>
                    <a:pt x="22292" y="0"/>
                  </a:lnTo>
                  <a:lnTo>
                    <a:pt x="22292" y="20359"/>
                  </a:lnTo>
                  <a:lnTo>
                    <a:pt x="0" y="20359"/>
                  </a:lnTo>
                  <a:lnTo>
                    <a:pt x="0" y="0"/>
                  </a:lnTo>
                  <a:close/>
                </a:path>
              </a:pathLst>
            </a:custGeom>
            <a:ln w="4139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05161" y="3294826"/>
              <a:ext cx="262384" cy="102828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579236" y="2967393"/>
              <a:ext cx="297815" cy="354965"/>
            </a:xfrm>
            <a:custGeom>
              <a:avLst/>
              <a:gdLst/>
              <a:ahLst/>
              <a:cxnLst/>
              <a:rect l="l" t="t" r="r" b="b"/>
              <a:pathLst>
                <a:path w="297814" h="354964">
                  <a:moveTo>
                    <a:pt x="261594" y="354499"/>
                  </a:moveTo>
                  <a:lnTo>
                    <a:pt x="36020" y="354499"/>
                  </a:lnTo>
                  <a:lnTo>
                    <a:pt x="21949" y="352120"/>
                  </a:lnTo>
                  <a:lnTo>
                    <a:pt x="10505" y="345618"/>
                  </a:lnTo>
                  <a:lnTo>
                    <a:pt x="2814" y="335945"/>
                  </a:lnTo>
                  <a:lnTo>
                    <a:pt x="0" y="324051"/>
                  </a:lnTo>
                  <a:lnTo>
                    <a:pt x="0" y="30447"/>
                  </a:lnTo>
                  <a:lnTo>
                    <a:pt x="2814" y="18553"/>
                  </a:lnTo>
                  <a:lnTo>
                    <a:pt x="10505" y="8880"/>
                  </a:lnTo>
                  <a:lnTo>
                    <a:pt x="21949" y="2378"/>
                  </a:lnTo>
                  <a:lnTo>
                    <a:pt x="36020" y="0"/>
                  </a:lnTo>
                  <a:lnTo>
                    <a:pt x="261594" y="0"/>
                  </a:lnTo>
                  <a:lnTo>
                    <a:pt x="275664" y="2378"/>
                  </a:lnTo>
                  <a:lnTo>
                    <a:pt x="287108" y="8880"/>
                  </a:lnTo>
                  <a:lnTo>
                    <a:pt x="294800" y="18553"/>
                  </a:lnTo>
                  <a:lnTo>
                    <a:pt x="297614" y="30447"/>
                  </a:lnTo>
                  <a:lnTo>
                    <a:pt x="297614" y="324051"/>
                  </a:lnTo>
                  <a:lnTo>
                    <a:pt x="294800" y="335945"/>
                  </a:lnTo>
                  <a:lnTo>
                    <a:pt x="287108" y="345618"/>
                  </a:lnTo>
                  <a:lnTo>
                    <a:pt x="275664" y="352120"/>
                  </a:lnTo>
                  <a:lnTo>
                    <a:pt x="261594" y="354499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579236" y="2967393"/>
              <a:ext cx="297815" cy="354965"/>
            </a:xfrm>
            <a:custGeom>
              <a:avLst/>
              <a:gdLst/>
              <a:ahLst/>
              <a:cxnLst/>
              <a:rect l="l" t="t" r="r" b="b"/>
              <a:pathLst>
                <a:path w="297814" h="354964">
                  <a:moveTo>
                    <a:pt x="0" y="30447"/>
                  </a:moveTo>
                  <a:lnTo>
                    <a:pt x="2814" y="18553"/>
                  </a:lnTo>
                  <a:lnTo>
                    <a:pt x="10505" y="8880"/>
                  </a:lnTo>
                  <a:lnTo>
                    <a:pt x="21949" y="2378"/>
                  </a:lnTo>
                  <a:lnTo>
                    <a:pt x="36020" y="0"/>
                  </a:lnTo>
                  <a:lnTo>
                    <a:pt x="261594" y="0"/>
                  </a:lnTo>
                  <a:lnTo>
                    <a:pt x="275664" y="2378"/>
                  </a:lnTo>
                  <a:lnTo>
                    <a:pt x="287108" y="8880"/>
                  </a:lnTo>
                  <a:lnTo>
                    <a:pt x="294800" y="18553"/>
                  </a:lnTo>
                  <a:lnTo>
                    <a:pt x="297614" y="30447"/>
                  </a:lnTo>
                  <a:lnTo>
                    <a:pt x="297614" y="324051"/>
                  </a:lnTo>
                  <a:lnTo>
                    <a:pt x="294800" y="335945"/>
                  </a:lnTo>
                  <a:lnTo>
                    <a:pt x="287108" y="345618"/>
                  </a:lnTo>
                  <a:lnTo>
                    <a:pt x="275664" y="352120"/>
                  </a:lnTo>
                  <a:lnTo>
                    <a:pt x="261594" y="354499"/>
                  </a:lnTo>
                  <a:lnTo>
                    <a:pt x="36020" y="354499"/>
                  </a:lnTo>
                  <a:lnTo>
                    <a:pt x="21949" y="352120"/>
                  </a:lnTo>
                  <a:lnTo>
                    <a:pt x="10505" y="345618"/>
                  </a:lnTo>
                  <a:lnTo>
                    <a:pt x="2814" y="335945"/>
                  </a:lnTo>
                  <a:lnTo>
                    <a:pt x="0" y="324051"/>
                  </a:lnTo>
                  <a:lnTo>
                    <a:pt x="0" y="30447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591148" y="2972987"/>
              <a:ext cx="292735" cy="348615"/>
            </a:xfrm>
            <a:custGeom>
              <a:avLst/>
              <a:gdLst/>
              <a:ahLst/>
              <a:cxnLst/>
              <a:rect l="l" t="t" r="r" b="b"/>
              <a:pathLst>
                <a:path w="292735" h="348614">
                  <a:moveTo>
                    <a:pt x="256299" y="348425"/>
                  </a:moveTo>
                  <a:lnTo>
                    <a:pt x="36209" y="348425"/>
                  </a:lnTo>
                  <a:lnTo>
                    <a:pt x="22064" y="346034"/>
                  </a:lnTo>
                  <a:lnTo>
                    <a:pt x="10560" y="339498"/>
                  </a:lnTo>
                  <a:lnTo>
                    <a:pt x="2828" y="329774"/>
                  </a:lnTo>
                  <a:lnTo>
                    <a:pt x="0" y="317818"/>
                  </a:lnTo>
                  <a:lnTo>
                    <a:pt x="0" y="30607"/>
                  </a:lnTo>
                  <a:lnTo>
                    <a:pt x="2828" y="18651"/>
                  </a:lnTo>
                  <a:lnTo>
                    <a:pt x="10560" y="8927"/>
                  </a:lnTo>
                  <a:lnTo>
                    <a:pt x="22064" y="2391"/>
                  </a:lnTo>
                  <a:lnTo>
                    <a:pt x="36209" y="0"/>
                  </a:lnTo>
                  <a:lnTo>
                    <a:pt x="256299" y="0"/>
                  </a:lnTo>
                  <a:lnTo>
                    <a:pt x="270444" y="2391"/>
                  </a:lnTo>
                  <a:lnTo>
                    <a:pt x="281947" y="8927"/>
                  </a:lnTo>
                  <a:lnTo>
                    <a:pt x="289680" y="18651"/>
                  </a:lnTo>
                  <a:lnTo>
                    <a:pt x="292508" y="30607"/>
                  </a:lnTo>
                  <a:lnTo>
                    <a:pt x="292508" y="317818"/>
                  </a:lnTo>
                  <a:lnTo>
                    <a:pt x="289680" y="329774"/>
                  </a:lnTo>
                  <a:lnTo>
                    <a:pt x="281947" y="339498"/>
                  </a:lnTo>
                  <a:lnTo>
                    <a:pt x="270444" y="346034"/>
                  </a:lnTo>
                  <a:lnTo>
                    <a:pt x="256299" y="348425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591148" y="2972987"/>
              <a:ext cx="292735" cy="348615"/>
            </a:xfrm>
            <a:custGeom>
              <a:avLst/>
              <a:gdLst/>
              <a:ahLst/>
              <a:cxnLst/>
              <a:rect l="l" t="t" r="r" b="b"/>
              <a:pathLst>
                <a:path w="292735" h="348614">
                  <a:moveTo>
                    <a:pt x="0" y="30607"/>
                  </a:moveTo>
                  <a:lnTo>
                    <a:pt x="2828" y="18651"/>
                  </a:lnTo>
                  <a:lnTo>
                    <a:pt x="10560" y="8927"/>
                  </a:lnTo>
                  <a:lnTo>
                    <a:pt x="22064" y="2391"/>
                  </a:lnTo>
                  <a:lnTo>
                    <a:pt x="36209" y="0"/>
                  </a:lnTo>
                  <a:lnTo>
                    <a:pt x="256299" y="0"/>
                  </a:lnTo>
                  <a:lnTo>
                    <a:pt x="270444" y="2391"/>
                  </a:lnTo>
                  <a:lnTo>
                    <a:pt x="281947" y="8927"/>
                  </a:lnTo>
                  <a:lnTo>
                    <a:pt x="289680" y="18651"/>
                  </a:lnTo>
                  <a:lnTo>
                    <a:pt x="292508" y="30607"/>
                  </a:lnTo>
                  <a:lnTo>
                    <a:pt x="292508" y="317818"/>
                  </a:lnTo>
                  <a:lnTo>
                    <a:pt x="289680" y="329774"/>
                  </a:lnTo>
                  <a:lnTo>
                    <a:pt x="281947" y="339498"/>
                  </a:lnTo>
                  <a:lnTo>
                    <a:pt x="270444" y="346034"/>
                  </a:lnTo>
                  <a:lnTo>
                    <a:pt x="256299" y="348425"/>
                  </a:lnTo>
                  <a:lnTo>
                    <a:pt x="36209" y="348425"/>
                  </a:lnTo>
                  <a:lnTo>
                    <a:pt x="22064" y="346034"/>
                  </a:lnTo>
                  <a:lnTo>
                    <a:pt x="10560" y="339498"/>
                  </a:lnTo>
                  <a:lnTo>
                    <a:pt x="2828" y="329774"/>
                  </a:lnTo>
                  <a:lnTo>
                    <a:pt x="0" y="317818"/>
                  </a:lnTo>
                  <a:lnTo>
                    <a:pt x="0" y="30607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618186" y="3011345"/>
              <a:ext cx="224154" cy="267335"/>
            </a:xfrm>
            <a:custGeom>
              <a:avLst/>
              <a:gdLst/>
              <a:ahLst/>
              <a:cxnLst/>
              <a:rect l="l" t="t" r="r" b="b"/>
              <a:pathLst>
                <a:path w="224155" h="267335">
                  <a:moveTo>
                    <a:pt x="196361" y="266913"/>
                  </a:moveTo>
                  <a:lnTo>
                    <a:pt x="27700" y="266913"/>
                  </a:lnTo>
                  <a:lnTo>
                    <a:pt x="16879" y="265083"/>
                  </a:lnTo>
                  <a:lnTo>
                    <a:pt x="8079" y="260083"/>
                  </a:lnTo>
                  <a:lnTo>
                    <a:pt x="2164" y="252644"/>
                  </a:lnTo>
                  <a:lnTo>
                    <a:pt x="0" y="243498"/>
                  </a:lnTo>
                  <a:lnTo>
                    <a:pt x="0" y="23414"/>
                  </a:lnTo>
                  <a:lnTo>
                    <a:pt x="2164" y="14268"/>
                  </a:lnTo>
                  <a:lnTo>
                    <a:pt x="8079" y="6829"/>
                  </a:lnTo>
                  <a:lnTo>
                    <a:pt x="16879" y="1829"/>
                  </a:lnTo>
                  <a:lnTo>
                    <a:pt x="27700" y="0"/>
                  </a:lnTo>
                  <a:lnTo>
                    <a:pt x="196361" y="0"/>
                  </a:lnTo>
                  <a:lnTo>
                    <a:pt x="207181" y="1829"/>
                  </a:lnTo>
                  <a:lnTo>
                    <a:pt x="215982" y="6829"/>
                  </a:lnTo>
                  <a:lnTo>
                    <a:pt x="221897" y="14268"/>
                  </a:lnTo>
                  <a:lnTo>
                    <a:pt x="224061" y="23414"/>
                  </a:lnTo>
                  <a:lnTo>
                    <a:pt x="224061" y="243498"/>
                  </a:lnTo>
                  <a:lnTo>
                    <a:pt x="221897" y="252644"/>
                  </a:lnTo>
                  <a:lnTo>
                    <a:pt x="215982" y="260083"/>
                  </a:lnTo>
                  <a:lnTo>
                    <a:pt x="207181" y="265083"/>
                  </a:lnTo>
                  <a:lnTo>
                    <a:pt x="196361" y="266913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618186" y="3011345"/>
              <a:ext cx="224154" cy="267335"/>
            </a:xfrm>
            <a:custGeom>
              <a:avLst/>
              <a:gdLst/>
              <a:ahLst/>
              <a:cxnLst/>
              <a:rect l="l" t="t" r="r" b="b"/>
              <a:pathLst>
                <a:path w="224155" h="267335">
                  <a:moveTo>
                    <a:pt x="0" y="23414"/>
                  </a:moveTo>
                  <a:lnTo>
                    <a:pt x="2164" y="14268"/>
                  </a:lnTo>
                  <a:lnTo>
                    <a:pt x="8079" y="6829"/>
                  </a:lnTo>
                  <a:lnTo>
                    <a:pt x="16879" y="1829"/>
                  </a:lnTo>
                  <a:lnTo>
                    <a:pt x="27700" y="0"/>
                  </a:lnTo>
                  <a:lnTo>
                    <a:pt x="196361" y="0"/>
                  </a:lnTo>
                  <a:lnTo>
                    <a:pt x="207181" y="1829"/>
                  </a:lnTo>
                  <a:lnTo>
                    <a:pt x="215982" y="6829"/>
                  </a:lnTo>
                  <a:lnTo>
                    <a:pt x="221897" y="14268"/>
                  </a:lnTo>
                  <a:lnTo>
                    <a:pt x="224061" y="23414"/>
                  </a:lnTo>
                  <a:lnTo>
                    <a:pt x="224061" y="243498"/>
                  </a:lnTo>
                  <a:lnTo>
                    <a:pt x="221897" y="252644"/>
                  </a:lnTo>
                  <a:lnTo>
                    <a:pt x="215982" y="260083"/>
                  </a:lnTo>
                  <a:lnTo>
                    <a:pt x="207181" y="265083"/>
                  </a:lnTo>
                  <a:lnTo>
                    <a:pt x="196361" y="266913"/>
                  </a:lnTo>
                  <a:lnTo>
                    <a:pt x="27700" y="266913"/>
                  </a:lnTo>
                  <a:lnTo>
                    <a:pt x="16879" y="265083"/>
                  </a:lnTo>
                  <a:lnTo>
                    <a:pt x="8079" y="260083"/>
                  </a:lnTo>
                  <a:lnTo>
                    <a:pt x="2164" y="252644"/>
                  </a:lnTo>
                  <a:lnTo>
                    <a:pt x="0" y="243498"/>
                  </a:lnTo>
                  <a:lnTo>
                    <a:pt x="0" y="23414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635581" y="3011345"/>
              <a:ext cx="224154" cy="267335"/>
            </a:xfrm>
            <a:custGeom>
              <a:avLst/>
              <a:gdLst/>
              <a:ahLst/>
              <a:cxnLst/>
              <a:rect l="l" t="t" r="r" b="b"/>
              <a:pathLst>
                <a:path w="224155" h="267335">
                  <a:moveTo>
                    <a:pt x="196361" y="266913"/>
                  </a:moveTo>
                  <a:lnTo>
                    <a:pt x="27700" y="266913"/>
                  </a:lnTo>
                  <a:lnTo>
                    <a:pt x="16879" y="265083"/>
                  </a:lnTo>
                  <a:lnTo>
                    <a:pt x="8079" y="260083"/>
                  </a:lnTo>
                  <a:lnTo>
                    <a:pt x="2164" y="252644"/>
                  </a:lnTo>
                  <a:lnTo>
                    <a:pt x="0" y="243498"/>
                  </a:lnTo>
                  <a:lnTo>
                    <a:pt x="0" y="23414"/>
                  </a:lnTo>
                  <a:lnTo>
                    <a:pt x="2164" y="14268"/>
                  </a:lnTo>
                  <a:lnTo>
                    <a:pt x="8079" y="6829"/>
                  </a:lnTo>
                  <a:lnTo>
                    <a:pt x="16879" y="1829"/>
                  </a:lnTo>
                  <a:lnTo>
                    <a:pt x="27700" y="0"/>
                  </a:lnTo>
                  <a:lnTo>
                    <a:pt x="196361" y="0"/>
                  </a:lnTo>
                  <a:lnTo>
                    <a:pt x="207181" y="1829"/>
                  </a:lnTo>
                  <a:lnTo>
                    <a:pt x="215982" y="6829"/>
                  </a:lnTo>
                  <a:lnTo>
                    <a:pt x="221897" y="14268"/>
                  </a:lnTo>
                  <a:lnTo>
                    <a:pt x="224061" y="23414"/>
                  </a:lnTo>
                  <a:lnTo>
                    <a:pt x="224061" y="243498"/>
                  </a:lnTo>
                  <a:lnTo>
                    <a:pt x="221897" y="252644"/>
                  </a:lnTo>
                  <a:lnTo>
                    <a:pt x="215982" y="260083"/>
                  </a:lnTo>
                  <a:lnTo>
                    <a:pt x="207181" y="265083"/>
                  </a:lnTo>
                  <a:lnTo>
                    <a:pt x="196361" y="266913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35581" y="3011345"/>
              <a:ext cx="224154" cy="267335"/>
            </a:xfrm>
            <a:custGeom>
              <a:avLst/>
              <a:gdLst/>
              <a:ahLst/>
              <a:cxnLst/>
              <a:rect l="l" t="t" r="r" b="b"/>
              <a:pathLst>
                <a:path w="224155" h="267335">
                  <a:moveTo>
                    <a:pt x="0" y="23414"/>
                  </a:moveTo>
                  <a:lnTo>
                    <a:pt x="2164" y="14268"/>
                  </a:lnTo>
                  <a:lnTo>
                    <a:pt x="8079" y="6829"/>
                  </a:lnTo>
                  <a:lnTo>
                    <a:pt x="16879" y="1829"/>
                  </a:lnTo>
                  <a:lnTo>
                    <a:pt x="27700" y="0"/>
                  </a:lnTo>
                  <a:lnTo>
                    <a:pt x="196361" y="0"/>
                  </a:lnTo>
                  <a:lnTo>
                    <a:pt x="207181" y="1829"/>
                  </a:lnTo>
                  <a:lnTo>
                    <a:pt x="215982" y="6829"/>
                  </a:lnTo>
                  <a:lnTo>
                    <a:pt x="221897" y="14268"/>
                  </a:lnTo>
                  <a:lnTo>
                    <a:pt x="224061" y="23414"/>
                  </a:lnTo>
                  <a:lnTo>
                    <a:pt x="224061" y="243498"/>
                  </a:lnTo>
                  <a:lnTo>
                    <a:pt x="221897" y="252644"/>
                  </a:lnTo>
                  <a:lnTo>
                    <a:pt x="215982" y="260083"/>
                  </a:lnTo>
                  <a:lnTo>
                    <a:pt x="207181" y="265083"/>
                  </a:lnTo>
                  <a:lnTo>
                    <a:pt x="196361" y="266913"/>
                  </a:lnTo>
                  <a:lnTo>
                    <a:pt x="27700" y="266913"/>
                  </a:lnTo>
                  <a:lnTo>
                    <a:pt x="16879" y="265083"/>
                  </a:lnTo>
                  <a:lnTo>
                    <a:pt x="8079" y="260083"/>
                  </a:lnTo>
                  <a:lnTo>
                    <a:pt x="2164" y="252644"/>
                  </a:lnTo>
                  <a:lnTo>
                    <a:pt x="0" y="243498"/>
                  </a:lnTo>
                  <a:lnTo>
                    <a:pt x="0" y="23414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623291" y="3016140"/>
              <a:ext cx="224790" cy="255270"/>
            </a:xfrm>
            <a:custGeom>
              <a:avLst/>
              <a:gdLst/>
              <a:ahLst/>
              <a:cxnLst/>
              <a:rect l="l" t="t" r="r" b="b"/>
              <a:pathLst>
                <a:path w="224789" h="255270">
                  <a:moveTo>
                    <a:pt x="198251" y="255085"/>
                  </a:moveTo>
                  <a:lnTo>
                    <a:pt x="26376" y="255085"/>
                  </a:lnTo>
                  <a:lnTo>
                    <a:pt x="16073" y="253343"/>
                  </a:lnTo>
                  <a:lnTo>
                    <a:pt x="7693" y="248582"/>
                  </a:lnTo>
                  <a:lnTo>
                    <a:pt x="2060" y="241499"/>
                  </a:lnTo>
                  <a:lnTo>
                    <a:pt x="0" y="232789"/>
                  </a:lnTo>
                  <a:lnTo>
                    <a:pt x="0" y="22296"/>
                  </a:lnTo>
                  <a:lnTo>
                    <a:pt x="2060" y="13586"/>
                  </a:lnTo>
                  <a:lnTo>
                    <a:pt x="7693" y="6503"/>
                  </a:lnTo>
                  <a:lnTo>
                    <a:pt x="16073" y="1741"/>
                  </a:lnTo>
                  <a:lnTo>
                    <a:pt x="26376" y="0"/>
                  </a:lnTo>
                  <a:lnTo>
                    <a:pt x="198251" y="0"/>
                  </a:lnTo>
                  <a:lnTo>
                    <a:pt x="208555" y="1741"/>
                  </a:lnTo>
                  <a:lnTo>
                    <a:pt x="216935" y="6503"/>
                  </a:lnTo>
                  <a:lnTo>
                    <a:pt x="222568" y="13586"/>
                  </a:lnTo>
                  <a:lnTo>
                    <a:pt x="224628" y="22296"/>
                  </a:lnTo>
                  <a:lnTo>
                    <a:pt x="224628" y="232789"/>
                  </a:lnTo>
                  <a:lnTo>
                    <a:pt x="222568" y="241499"/>
                  </a:lnTo>
                  <a:lnTo>
                    <a:pt x="216935" y="248582"/>
                  </a:lnTo>
                  <a:lnTo>
                    <a:pt x="208555" y="253343"/>
                  </a:lnTo>
                  <a:lnTo>
                    <a:pt x="198251" y="255085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623291" y="3016140"/>
              <a:ext cx="224790" cy="255270"/>
            </a:xfrm>
            <a:custGeom>
              <a:avLst/>
              <a:gdLst/>
              <a:ahLst/>
              <a:cxnLst/>
              <a:rect l="l" t="t" r="r" b="b"/>
              <a:pathLst>
                <a:path w="224789" h="255270">
                  <a:moveTo>
                    <a:pt x="0" y="22296"/>
                  </a:moveTo>
                  <a:lnTo>
                    <a:pt x="2060" y="13586"/>
                  </a:lnTo>
                  <a:lnTo>
                    <a:pt x="7693" y="6503"/>
                  </a:lnTo>
                  <a:lnTo>
                    <a:pt x="16073" y="1741"/>
                  </a:lnTo>
                  <a:lnTo>
                    <a:pt x="26376" y="0"/>
                  </a:lnTo>
                  <a:lnTo>
                    <a:pt x="198251" y="0"/>
                  </a:lnTo>
                  <a:lnTo>
                    <a:pt x="208555" y="1741"/>
                  </a:lnTo>
                  <a:lnTo>
                    <a:pt x="216935" y="6503"/>
                  </a:lnTo>
                  <a:lnTo>
                    <a:pt x="222568" y="13586"/>
                  </a:lnTo>
                  <a:lnTo>
                    <a:pt x="224628" y="22296"/>
                  </a:lnTo>
                  <a:lnTo>
                    <a:pt x="224628" y="232789"/>
                  </a:lnTo>
                  <a:lnTo>
                    <a:pt x="222568" y="241499"/>
                  </a:lnTo>
                  <a:lnTo>
                    <a:pt x="216935" y="248582"/>
                  </a:lnTo>
                  <a:lnTo>
                    <a:pt x="208555" y="253343"/>
                  </a:lnTo>
                  <a:lnTo>
                    <a:pt x="198251" y="255085"/>
                  </a:lnTo>
                  <a:lnTo>
                    <a:pt x="26376" y="255085"/>
                  </a:lnTo>
                  <a:lnTo>
                    <a:pt x="16073" y="253343"/>
                  </a:lnTo>
                  <a:lnTo>
                    <a:pt x="7693" y="248582"/>
                  </a:lnTo>
                  <a:lnTo>
                    <a:pt x="2060" y="241499"/>
                  </a:lnTo>
                  <a:lnTo>
                    <a:pt x="0" y="232789"/>
                  </a:lnTo>
                  <a:lnTo>
                    <a:pt x="0" y="22296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641821" y="3012944"/>
              <a:ext cx="21590" cy="3175"/>
            </a:xfrm>
            <a:custGeom>
              <a:avLst/>
              <a:gdLst/>
              <a:ahLst/>
              <a:cxnLst/>
              <a:rect l="l" t="t" r="r" b="b"/>
              <a:pathLst>
                <a:path w="21589" h="3175">
                  <a:moveTo>
                    <a:pt x="3970" y="3036"/>
                  </a:moveTo>
                  <a:lnTo>
                    <a:pt x="756" y="2077"/>
                  </a:lnTo>
                  <a:lnTo>
                    <a:pt x="0" y="479"/>
                  </a:lnTo>
                  <a:lnTo>
                    <a:pt x="3403" y="0"/>
                  </a:lnTo>
                  <a:lnTo>
                    <a:pt x="9454" y="319"/>
                  </a:lnTo>
                  <a:lnTo>
                    <a:pt x="21555" y="319"/>
                  </a:lnTo>
                  <a:lnTo>
                    <a:pt x="18151" y="1278"/>
                  </a:lnTo>
                  <a:lnTo>
                    <a:pt x="10777" y="2557"/>
                  </a:lnTo>
                  <a:lnTo>
                    <a:pt x="3970" y="3036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640875" y="3269788"/>
              <a:ext cx="205740" cy="6985"/>
            </a:xfrm>
            <a:custGeom>
              <a:avLst/>
              <a:gdLst/>
              <a:ahLst/>
              <a:cxnLst/>
              <a:rect l="l" t="t" r="r" b="b"/>
              <a:pathLst>
                <a:path w="205739" h="6985">
                  <a:moveTo>
                    <a:pt x="193430" y="6552"/>
                  </a:moveTo>
                  <a:lnTo>
                    <a:pt x="9454" y="6552"/>
                  </a:lnTo>
                  <a:lnTo>
                    <a:pt x="945" y="4635"/>
                  </a:lnTo>
                  <a:lnTo>
                    <a:pt x="0" y="799"/>
                  </a:lnTo>
                  <a:lnTo>
                    <a:pt x="3403" y="1438"/>
                  </a:lnTo>
                  <a:lnTo>
                    <a:pt x="9643" y="1598"/>
                  </a:lnTo>
                  <a:lnTo>
                    <a:pt x="21555" y="2077"/>
                  </a:lnTo>
                  <a:lnTo>
                    <a:pt x="173009" y="2077"/>
                  </a:lnTo>
                  <a:lnTo>
                    <a:pt x="182085" y="1758"/>
                  </a:lnTo>
                  <a:lnTo>
                    <a:pt x="187190" y="1278"/>
                  </a:lnTo>
                  <a:lnTo>
                    <a:pt x="191350" y="0"/>
                  </a:lnTo>
                  <a:lnTo>
                    <a:pt x="205531" y="3196"/>
                  </a:lnTo>
                  <a:lnTo>
                    <a:pt x="201182" y="5114"/>
                  </a:lnTo>
                  <a:lnTo>
                    <a:pt x="197590" y="5753"/>
                  </a:lnTo>
                  <a:lnTo>
                    <a:pt x="193430" y="6552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1651085" y="3348903"/>
              <a:ext cx="39370" cy="15875"/>
            </a:xfrm>
            <a:custGeom>
              <a:avLst/>
              <a:gdLst/>
              <a:ahLst/>
              <a:cxnLst/>
              <a:rect l="l" t="t" r="r" b="b"/>
              <a:pathLst>
                <a:path w="39369" h="15875">
                  <a:moveTo>
                    <a:pt x="6239" y="15503"/>
                  </a:moveTo>
                  <a:lnTo>
                    <a:pt x="0" y="0"/>
                  </a:lnTo>
                  <a:lnTo>
                    <a:pt x="27038" y="0"/>
                  </a:lnTo>
                  <a:lnTo>
                    <a:pt x="38950" y="15343"/>
                  </a:lnTo>
                  <a:lnTo>
                    <a:pt x="6239" y="15503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651085" y="3348903"/>
              <a:ext cx="39370" cy="15875"/>
            </a:xfrm>
            <a:custGeom>
              <a:avLst/>
              <a:gdLst/>
              <a:ahLst/>
              <a:cxnLst/>
              <a:rect l="l" t="t" r="r" b="b"/>
              <a:pathLst>
                <a:path w="39369" h="15875">
                  <a:moveTo>
                    <a:pt x="0" y="0"/>
                  </a:moveTo>
                  <a:lnTo>
                    <a:pt x="6239" y="15503"/>
                  </a:lnTo>
                  <a:lnTo>
                    <a:pt x="38950" y="15343"/>
                  </a:lnTo>
                  <a:lnTo>
                    <a:pt x="27038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1652030" y="3373516"/>
              <a:ext cx="51435" cy="8255"/>
            </a:xfrm>
            <a:custGeom>
              <a:avLst/>
              <a:gdLst/>
              <a:ahLst/>
              <a:cxnLst/>
              <a:rect l="l" t="t" r="r" b="b"/>
              <a:pathLst>
                <a:path w="51435" h="8254">
                  <a:moveTo>
                    <a:pt x="51430" y="8151"/>
                  </a:moveTo>
                  <a:lnTo>
                    <a:pt x="189" y="8151"/>
                  </a:lnTo>
                  <a:lnTo>
                    <a:pt x="0" y="0"/>
                  </a:lnTo>
                  <a:lnTo>
                    <a:pt x="51241" y="0"/>
                  </a:lnTo>
                  <a:lnTo>
                    <a:pt x="51430" y="8151"/>
                  </a:lnTo>
                  <a:close/>
                </a:path>
              </a:pathLst>
            </a:custGeom>
            <a:solidFill>
              <a:srgbClr val="5F5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652030" y="3373516"/>
              <a:ext cx="51435" cy="8255"/>
            </a:xfrm>
            <a:custGeom>
              <a:avLst/>
              <a:gdLst/>
              <a:ahLst/>
              <a:cxnLst/>
              <a:rect l="l" t="t" r="r" b="b"/>
              <a:pathLst>
                <a:path w="51435" h="8254">
                  <a:moveTo>
                    <a:pt x="0" y="0"/>
                  </a:moveTo>
                  <a:lnTo>
                    <a:pt x="189" y="8151"/>
                  </a:lnTo>
                  <a:lnTo>
                    <a:pt x="51430" y="8151"/>
                  </a:lnTo>
                  <a:lnTo>
                    <a:pt x="51241" y="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864558" y="3019177"/>
              <a:ext cx="15240" cy="17145"/>
            </a:xfrm>
            <a:custGeom>
              <a:avLst/>
              <a:gdLst/>
              <a:ahLst/>
              <a:cxnLst/>
              <a:rect l="l" t="t" r="r" b="b"/>
              <a:pathLst>
                <a:path w="15239" h="17144">
                  <a:moveTo>
                    <a:pt x="14937" y="16622"/>
                  </a:moveTo>
                  <a:lnTo>
                    <a:pt x="567" y="16622"/>
                  </a:lnTo>
                  <a:lnTo>
                    <a:pt x="0" y="0"/>
                  </a:lnTo>
                  <a:lnTo>
                    <a:pt x="14370" y="0"/>
                  </a:lnTo>
                  <a:lnTo>
                    <a:pt x="14937" y="16622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864558" y="3019177"/>
              <a:ext cx="15240" cy="17145"/>
            </a:xfrm>
            <a:custGeom>
              <a:avLst/>
              <a:gdLst/>
              <a:ahLst/>
              <a:cxnLst/>
              <a:rect l="l" t="t" r="r" b="b"/>
              <a:pathLst>
                <a:path w="15239" h="17144">
                  <a:moveTo>
                    <a:pt x="14370" y="0"/>
                  </a:moveTo>
                  <a:lnTo>
                    <a:pt x="0" y="0"/>
                  </a:lnTo>
                  <a:lnTo>
                    <a:pt x="567" y="16622"/>
                  </a:lnTo>
                  <a:lnTo>
                    <a:pt x="14937" y="16622"/>
                  </a:lnTo>
                  <a:lnTo>
                    <a:pt x="14370" y="0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868150" y="3023972"/>
              <a:ext cx="8890" cy="6985"/>
            </a:xfrm>
            <a:custGeom>
              <a:avLst/>
              <a:gdLst/>
              <a:ahLst/>
              <a:cxnLst/>
              <a:rect l="l" t="t" r="r" b="b"/>
              <a:pathLst>
                <a:path w="8889" h="6985">
                  <a:moveTo>
                    <a:pt x="6617" y="6872"/>
                  </a:moveTo>
                  <a:lnTo>
                    <a:pt x="1890" y="6872"/>
                  </a:lnTo>
                  <a:lnTo>
                    <a:pt x="0" y="5345"/>
                  </a:lnTo>
                  <a:lnTo>
                    <a:pt x="0" y="3436"/>
                  </a:lnTo>
                  <a:lnTo>
                    <a:pt x="0" y="1527"/>
                  </a:lnTo>
                  <a:lnTo>
                    <a:pt x="1890" y="0"/>
                  </a:lnTo>
                  <a:lnTo>
                    <a:pt x="6617" y="0"/>
                  </a:lnTo>
                  <a:lnTo>
                    <a:pt x="8508" y="1527"/>
                  </a:lnTo>
                  <a:lnTo>
                    <a:pt x="8508" y="5345"/>
                  </a:lnTo>
                  <a:lnTo>
                    <a:pt x="6617" y="6872"/>
                  </a:lnTo>
                  <a:close/>
                </a:path>
              </a:pathLst>
            </a:custGeom>
            <a:solidFill>
              <a:srgbClr val="C0C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1868150" y="3023972"/>
              <a:ext cx="8890" cy="6985"/>
            </a:xfrm>
            <a:custGeom>
              <a:avLst/>
              <a:gdLst/>
              <a:ahLst/>
              <a:cxnLst/>
              <a:rect l="l" t="t" r="r" b="b"/>
              <a:pathLst>
                <a:path w="8889" h="6985">
                  <a:moveTo>
                    <a:pt x="0" y="3436"/>
                  </a:moveTo>
                  <a:lnTo>
                    <a:pt x="0" y="1527"/>
                  </a:lnTo>
                  <a:lnTo>
                    <a:pt x="1890" y="0"/>
                  </a:lnTo>
                  <a:lnTo>
                    <a:pt x="4254" y="0"/>
                  </a:lnTo>
                  <a:lnTo>
                    <a:pt x="6617" y="0"/>
                  </a:lnTo>
                  <a:lnTo>
                    <a:pt x="8508" y="1527"/>
                  </a:lnTo>
                  <a:lnTo>
                    <a:pt x="8508" y="3436"/>
                  </a:lnTo>
                  <a:lnTo>
                    <a:pt x="8508" y="5345"/>
                  </a:lnTo>
                  <a:lnTo>
                    <a:pt x="6617" y="6872"/>
                  </a:lnTo>
                  <a:lnTo>
                    <a:pt x="4254" y="6872"/>
                  </a:lnTo>
                  <a:lnTo>
                    <a:pt x="1890" y="6872"/>
                  </a:lnTo>
                  <a:lnTo>
                    <a:pt x="0" y="5345"/>
                  </a:lnTo>
                  <a:lnTo>
                    <a:pt x="0" y="3436"/>
                  </a:lnTo>
                  <a:close/>
                </a:path>
              </a:pathLst>
            </a:custGeom>
            <a:ln w="31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1605705" y="3010546"/>
              <a:ext cx="8255" cy="10160"/>
            </a:xfrm>
            <a:custGeom>
              <a:avLst/>
              <a:gdLst/>
              <a:ahLst/>
              <a:cxnLst/>
              <a:rect l="l" t="t" r="r" b="b"/>
              <a:pathLst>
                <a:path w="8255" h="10160">
                  <a:moveTo>
                    <a:pt x="8130" y="9749"/>
                  </a:moveTo>
                  <a:lnTo>
                    <a:pt x="0" y="9749"/>
                  </a:lnTo>
                  <a:lnTo>
                    <a:pt x="0" y="0"/>
                  </a:lnTo>
                  <a:lnTo>
                    <a:pt x="8130" y="0"/>
                  </a:lnTo>
                  <a:lnTo>
                    <a:pt x="8130" y="9749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641819" y="3032762"/>
              <a:ext cx="187960" cy="221615"/>
            </a:xfrm>
            <a:custGeom>
              <a:avLst/>
              <a:gdLst/>
              <a:ahLst/>
              <a:cxnLst/>
              <a:rect l="l" t="t" r="r" b="b"/>
              <a:pathLst>
                <a:path w="187960" h="221614">
                  <a:moveTo>
                    <a:pt x="187379" y="221521"/>
                  </a:moveTo>
                  <a:lnTo>
                    <a:pt x="0" y="221521"/>
                  </a:lnTo>
                  <a:lnTo>
                    <a:pt x="0" y="0"/>
                  </a:lnTo>
                  <a:lnTo>
                    <a:pt x="187379" y="0"/>
                  </a:lnTo>
                  <a:lnTo>
                    <a:pt x="187379" y="221521"/>
                  </a:lnTo>
                  <a:close/>
                </a:path>
              </a:pathLst>
            </a:custGeom>
            <a:solidFill>
              <a:srgbClr val="40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641819" y="3032762"/>
              <a:ext cx="187960" cy="221615"/>
            </a:xfrm>
            <a:custGeom>
              <a:avLst/>
              <a:gdLst/>
              <a:ahLst/>
              <a:cxnLst/>
              <a:rect l="l" t="t" r="r" b="b"/>
              <a:pathLst>
                <a:path w="187960" h="221614">
                  <a:moveTo>
                    <a:pt x="0" y="0"/>
                  </a:moveTo>
                  <a:lnTo>
                    <a:pt x="187379" y="0"/>
                  </a:lnTo>
                  <a:lnTo>
                    <a:pt x="187379" y="221521"/>
                  </a:lnTo>
                  <a:lnTo>
                    <a:pt x="0" y="221521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661483" y="3053061"/>
              <a:ext cx="152400" cy="47625"/>
            </a:xfrm>
            <a:custGeom>
              <a:avLst/>
              <a:gdLst/>
              <a:ahLst/>
              <a:cxnLst/>
              <a:rect l="l" t="t" r="r" b="b"/>
              <a:pathLst>
                <a:path w="152400" h="47625">
                  <a:moveTo>
                    <a:pt x="151832" y="47309"/>
                  </a:moveTo>
                  <a:lnTo>
                    <a:pt x="0" y="47309"/>
                  </a:lnTo>
                  <a:lnTo>
                    <a:pt x="0" y="0"/>
                  </a:lnTo>
                  <a:lnTo>
                    <a:pt x="151832" y="0"/>
                  </a:lnTo>
                  <a:lnTo>
                    <a:pt x="151832" y="47309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660349" y="3106123"/>
              <a:ext cx="64769" cy="31750"/>
            </a:xfrm>
            <a:custGeom>
              <a:avLst/>
              <a:gdLst/>
              <a:ahLst/>
              <a:cxnLst/>
              <a:rect l="l" t="t" r="r" b="b"/>
              <a:pathLst>
                <a:path w="64769" h="31750">
                  <a:moveTo>
                    <a:pt x="0" y="0"/>
                  </a:moveTo>
                  <a:lnTo>
                    <a:pt x="64287" y="0"/>
                  </a:lnTo>
                  <a:lnTo>
                    <a:pt x="64287" y="31645"/>
                  </a:lnTo>
                  <a:lnTo>
                    <a:pt x="0" y="316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660349" y="3142085"/>
              <a:ext cx="64769" cy="32384"/>
            </a:xfrm>
            <a:custGeom>
              <a:avLst/>
              <a:gdLst/>
              <a:ahLst/>
              <a:cxnLst/>
              <a:rect l="l" t="t" r="r" b="b"/>
              <a:pathLst>
                <a:path w="64769" h="32385">
                  <a:moveTo>
                    <a:pt x="0" y="0"/>
                  </a:moveTo>
                  <a:lnTo>
                    <a:pt x="64287" y="0"/>
                  </a:lnTo>
                  <a:lnTo>
                    <a:pt x="64287" y="31805"/>
                  </a:lnTo>
                  <a:lnTo>
                    <a:pt x="0" y="3180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660348" y="3181083"/>
              <a:ext cx="64769" cy="31750"/>
            </a:xfrm>
            <a:custGeom>
              <a:avLst/>
              <a:gdLst/>
              <a:ahLst/>
              <a:cxnLst/>
              <a:rect l="l" t="t" r="r" b="b"/>
              <a:pathLst>
                <a:path w="64769" h="31750">
                  <a:moveTo>
                    <a:pt x="0" y="0"/>
                  </a:moveTo>
                  <a:lnTo>
                    <a:pt x="64287" y="0"/>
                  </a:lnTo>
                  <a:lnTo>
                    <a:pt x="64287" y="31645"/>
                  </a:lnTo>
                  <a:lnTo>
                    <a:pt x="0" y="3164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748271" y="3105484"/>
              <a:ext cx="63500" cy="134620"/>
            </a:xfrm>
            <a:custGeom>
              <a:avLst/>
              <a:gdLst/>
              <a:ahLst/>
              <a:cxnLst/>
              <a:rect l="l" t="t" r="r" b="b"/>
              <a:pathLst>
                <a:path w="63500" h="134619">
                  <a:moveTo>
                    <a:pt x="0" y="0"/>
                  </a:moveTo>
                  <a:lnTo>
                    <a:pt x="63153" y="0"/>
                  </a:lnTo>
                  <a:lnTo>
                    <a:pt x="63153" y="134415"/>
                  </a:lnTo>
                  <a:lnTo>
                    <a:pt x="0" y="134415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730686" y="3106124"/>
              <a:ext cx="13335" cy="30480"/>
            </a:xfrm>
            <a:custGeom>
              <a:avLst/>
              <a:gdLst/>
              <a:ahLst/>
              <a:cxnLst/>
              <a:rect l="l" t="t" r="r" b="b"/>
              <a:pathLst>
                <a:path w="13335" h="30480">
                  <a:moveTo>
                    <a:pt x="13235" y="30047"/>
                  </a:moveTo>
                  <a:lnTo>
                    <a:pt x="0" y="30047"/>
                  </a:lnTo>
                  <a:lnTo>
                    <a:pt x="0" y="0"/>
                  </a:lnTo>
                  <a:lnTo>
                    <a:pt x="13235" y="0"/>
                  </a:lnTo>
                  <a:lnTo>
                    <a:pt x="13235" y="30047"/>
                  </a:lnTo>
                  <a:close/>
                </a:path>
              </a:pathLst>
            </a:custGeom>
            <a:solidFill>
              <a:srgbClr val="40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730686" y="3106123"/>
              <a:ext cx="13335" cy="30480"/>
            </a:xfrm>
            <a:custGeom>
              <a:avLst/>
              <a:gdLst/>
              <a:ahLst/>
              <a:cxnLst/>
              <a:rect l="l" t="t" r="r" b="b"/>
              <a:pathLst>
                <a:path w="13335" h="30480">
                  <a:moveTo>
                    <a:pt x="0" y="0"/>
                  </a:moveTo>
                  <a:lnTo>
                    <a:pt x="13235" y="0"/>
                  </a:lnTo>
                  <a:lnTo>
                    <a:pt x="13235" y="30047"/>
                  </a:lnTo>
                  <a:lnTo>
                    <a:pt x="0" y="3004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729741" y="3142085"/>
              <a:ext cx="13335" cy="30480"/>
            </a:xfrm>
            <a:custGeom>
              <a:avLst/>
              <a:gdLst/>
              <a:ahLst/>
              <a:cxnLst/>
              <a:rect l="l" t="t" r="r" b="b"/>
              <a:pathLst>
                <a:path w="13335" h="30480">
                  <a:moveTo>
                    <a:pt x="13235" y="30047"/>
                  </a:moveTo>
                  <a:lnTo>
                    <a:pt x="0" y="30047"/>
                  </a:lnTo>
                  <a:lnTo>
                    <a:pt x="0" y="0"/>
                  </a:lnTo>
                  <a:lnTo>
                    <a:pt x="13235" y="0"/>
                  </a:lnTo>
                  <a:lnTo>
                    <a:pt x="13235" y="30047"/>
                  </a:lnTo>
                  <a:close/>
                </a:path>
              </a:pathLst>
            </a:custGeom>
            <a:solidFill>
              <a:srgbClr val="40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1729741" y="3142085"/>
              <a:ext cx="13335" cy="30480"/>
            </a:xfrm>
            <a:custGeom>
              <a:avLst/>
              <a:gdLst/>
              <a:ahLst/>
              <a:cxnLst/>
              <a:rect l="l" t="t" r="r" b="b"/>
              <a:pathLst>
                <a:path w="13335" h="30480">
                  <a:moveTo>
                    <a:pt x="0" y="0"/>
                  </a:moveTo>
                  <a:lnTo>
                    <a:pt x="13235" y="0"/>
                  </a:lnTo>
                  <a:lnTo>
                    <a:pt x="13235" y="30047"/>
                  </a:lnTo>
                  <a:lnTo>
                    <a:pt x="0" y="3004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729740" y="3181083"/>
              <a:ext cx="13335" cy="30480"/>
            </a:xfrm>
            <a:custGeom>
              <a:avLst/>
              <a:gdLst/>
              <a:ahLst/>
              <a:cxnLst/>
              <a:rect l="l" t="t" r="r" b="b"/>
              <a:pathLst>
                <a:path w="13335" h="30480">
                  <a:moveTo>
                    <a:pt x="13235" y="29887"/>
                  </a:moveTo>
                  <a:lnTo>
                    <a:pt x="0" y="29887"/>
                  </a:lnTo>
                  <a:lnTo>
                    <a:pt x="0" y="0"/>
                  </a:lnTo>
                  <a:lnTo>
                    <a:pt x="13235" y="0"/>
                  </a:lnTo>
                  <a:lnTo>
                    <a:pt x="13235" y="29887"/>
                  </a:lnTo>
                  <a:close/>
                </a:path>
              </a:pathLst>
            </a:custGeom>
            <a:solidFill>
              <a:srgbClr val="404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729740" y="3181083"/>
              <a:ext cx="13335" cy="30480"/>
            </a:xfrm>
            <a:custGeom>
              <a:avLst/>
              <a:gdLst/>
              <a:ahLst/>
              <a:cxnLst/>
              <a:rect l="l" t="t" r="r" b="b"/>
              <a:pathLst>
                <a:path w="13335" h="30480">
                  <a:moveTo>
                    <a:pt x="0" y="0"/>
                  </a:moveTo>
                  <a:lnTo>
                    <a:pt x="13235" y="0"/>
                  </a:lnTo>
                  <a:lnTo>
                    <a:pt x="13235" y="29887"/>
                  </a:lnTo>
                  <a:lnTo>
                    <a:pt x="0" y="29887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61293" y="3217844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4" h="12700">
                  <a:moveTo>
                    <a:pt x="16828" y="12146"/>
                  </a:moveTo>
                  <a:lnTo>
                    <a:pt x="0" y="12146"/>
                  </a:lnTo>
                  <a:lnTo>
                    <a:pt x="0" y="0"/>
                  </a:lnTo>
                  <a:lnTo>
                    <a:pt x="16828" y="0"/>
                  </a:lnTo>
                  <a:lnTo>
                    <a:pt x="16828" y="12146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661293" y="3217843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4" h="12700">
                  <a:moveTo>
                    <a:pt x="0" y="0"/>
                  </a:moveTo>
                  <a:lnTo>
                    <a:pt x="16828" y="0"/>
                  </a:lnTo>
                  <a:lnTo>
                    <a:pt x="16828" y="12146"/>
                  </a:lnTo>
                  <a:lnTo>
                    <a:pt x="0" y="1214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683226" y="3217844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4" h="12700">
                  <a:moveTo>
                    <a:pt x="17017" y="12146"/>
                  </a:moveTo>
                  <a:lnTo>
                    <a:pt x="0" y="12146"/>
                  </a:lnTo>
                  <a:lnTo>
                    <a:pt x="0" y="0"/>
                  </a:lnTo>
                  <a:lnTo>
                    <a:pt x="17017" y="0"/>
                  </a:lnTo>
                  <a:lnTo>
                    <a:pt x="17017" y="12146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683226" y="3217843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4" h="12700">
                  <a:moveTo>
                    <a:pt x="0" y="0"/>
                  </a:moveTo>
                  <a:lnTo>
                    <a:pt x="17017" y="0"/>
                  </a:lnTo>
                  <a:lnTo>
                    <a:pt x="17017" y="12146"/>
                  </a:lnTo>
                  <a:lnTo>
                    <a:pt x="0" y="1214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706861" y="3217844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4" h="12700">
                  <a:moveTo>
                    <a:pt x="17017" y="12146"/>
                  </a:moveTo>
                  <a:lnTo>
                    <a:pt x="0" y="12146"/>
                  </a:lnTo>
                  <a:lnTo>
                    <a:pt x="0" y="0"/>
                  </a:lnTo>
                  <a:lnTo>
                    <a:pt x="17017" y="0"/>
                  </a:lnTo>
                  <a:lnTo>
                    <a:pt x="17017" y="12146"/>
                  </a:lnTo>
                  <a:close/>
                </a:path>
              </a:pathLst>
            </a:custGeom>
            <a:solidFill>
              <a:srgbClr val="000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706861" y="3217843"/>
              <a:ext cx="17145" cy="12700"/>
            </a:xfrm>
            <a:custGeom>
              <a:avLst/>
              <a:gdLst/>
              <a:ahLst/>
              <a:cxnLst/>
              <a:rect l="l" t="t" r="r" b="b"/>
              <a:pathLst>
                <a:path w="17144" h="12700">
                  <a:moveTo>
                    <a:pt x="0" y="0"/>
                  </a:moveTo>
                  <a:lnTo>
                    <a:pt x="17017" y="0"/>
                  </a:lnTo>
                  <a:lnTo>
                    <a:pt x="17017" y="12146"/>
                  </a:lnTo>
                  <a:lnTo>
                    <a:pt x="0" y="12146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00005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6" name="object 9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462540" y="757427"/>
              <a:ext cx="1057643" cy="140968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44568" y="949960"/>
              <a:ext cx="3574289" cy="3297334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55931" y="2055218"/>
              <a:ext cx="1951877" cy="1186583"/>
            </a:xfrm>
            <a:prstGeom prst="rect">
              <a:avLst/>
            </a:prstGeom>
          </p:spPr>
        </p:pic>
      </p:grpSp>
      <p:sp>
        <p:nvSpPr>
          <p:cNvPr id="99" name="object 99"/>
          <p:cNvSpPr txBox="1"/>
          <p:nvPr/>
        </p:nvSpPr>
        <p:spPr>
          <a:xfrm>
            <a:off x="3132550" y="2187403"/>
            <a:ext cx="5854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solidFill>
                  <a:srgbClr val="006FC0"/>
                </a:solidFill>
                <a:latin typeface="Arial"/>
                <a:cs typeface="Arial"/>
              </a:rPr>
              <a:t>Internet Server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6343618" y="1307598"/>
            <a:ext cx="6800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006FC0"/>
                </a:solidFill>
                <a:latin typeface="Arial"/>
                <a:cs typeface="Arial"/>
              </a:rPr>
              <a:t>PC</a:t>
            </a:r>
            <a:r>
              <a:rPr sz="1200" b="1" spc="-10" dirty="0">
                <a:solidFill>
                  <a:srgbClr val="006FC0"/>
                </a:solidFill>
                <a:latin typeface="Arial"/>
                <a:cs typeface="Arial"/>
              </a:rPr>
              <a:t> client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4716129" y="2841181"/>
            <a:ext cx="18021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FB0128"/>
                </a:solidFill>
                <a:latin typeface="Arial"/>
                <a:cs typeface="Arial"/>
              </a:rPr>
              <a:t>Local</a:t>
            </a:r>
            <a:r>
              <a:rPr sz="1500" b="1" spc="-105" dirty="0">
                <a:solidFill>
                  <a:srgbClr val="FB0128"/>
                </a:solidFill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FB0128"/>
                </a:solidFill>
                <a:latin typeface="Arial"/>
                <a:cs typeface="Arial"/>
              </a:rPr>
              <a:t>Area</a:t>
            </a:r>
            <a:r>
              <a:rPr sz="1500" b="1" spc="-25" dirty="0">
                <a:solidFill>
                  <a:srgbClr val="FB0128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FB0128"/>
                </a:solidFill>
                <a:latin typeface="Arial"/>
                <a:cs typeface="Arial"/>
              </a:rPr>
              <a:t>Network</a:t>
            </a:r>
            <a:endParaRPr sz="15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5999844" y="3953133"/>
            <a:ext cx="34734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5" dirty="0">
                <a:solidFill>
                  <a:srgbClr val="006FC0"/>
                </a:solidFill>
                <a:latin typeface="Arial"/>
                <a:cs typeface="Arial"/>
              </a:rPr>
              <a:t>PDA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54939" y="4022175"/>
            <a:ext cx="3268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Serving</a:t>
            </a:r>
            <a:r>
              <a:rPr sz="1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many</a:t>
            </a:r>
            <a:r>
              <a:rPr sz="1800" spc="-5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users</a:t>
            </a:r>
            <a:r>
              <a:rPr sz="1800" spc="-5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simultaneously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743702" y="1977898"/>
            <a:ext cx="1401445" cy="1061720"/>
            <a:chOff x="5743702" y="1977898"/>
            <a:chExt cx="1401445" cy="1061720"/>
          </a:xfrm>
        </p:grpSpPr>
        <p:sp>
          <p:nvSpPr>
            <p:cNvPr id="3" name="object 3"/>
            <p:cNvSpPr/>
            <p:nvPr/>
          </p:nvSpPr>
          <p:spPr>
            <a:xfrm>
              <a:off x="5750052" y="1984248"/>
              <a:ext cx="1388745" cy="1049020"/>
            </a:xfrm>
            <a:custGeom>
              <a:avLst/>
              <a:gdLst/>
              <a:ahLst/>
              <a:cxnLst/>
              <a:rect l="l" t="t" r="r" b="b"/>
              <a:pathLst>
                <a:path w="1388745" h="1049020">
                  <a:moveTo>
                    <a:pt x="694182" y="0"/>
                  </a:moveTo>
                  <a:lnTo>
                    <a:pt x="639931" y="1577"/>
                  </a:lnTo>
                  <a:lnTo>
                    <a:pt x="586823" y="6231"/>
                  </a:lnTo>
                  <a:lnTo>
                    <a:pt x="535011" y="13846"/>
                  </a:lnTo>
                  <a:lnTo>
                    <a:pt x="484650" y="24304"/>
                  </a:lnTo>
                  <a:lnTo>
                    <a:pt x="435894" y="37490"/>
                  </a:lnTo>
                  <a:lnTo>
                    <a:pt x="388897" y="53286"/>
                  </a:lnTo>
                  <a:lnTo>
                    <a:pt x="343814" y="71577"/>
                  </a:lnTo>
                  <a:lnTo>
                    <a:pt x="300799" y="92245"/>
                  </a:lnTo>
                  <a:lnTo>
                    <a:pt x="260005" y="115174"/>
                  </a:lnTo>
                  <a:lnTo>
                    <a:pt x="221589" y="140247"/>
                  </a:lnTo>
                  <a:lnTo>
                    <a:pt x="185703" y="167349"/>
                  </a:lnTo>
                  <a:lnTo>
                    <a:pt x="152503" y="196362"/>
                  </a:lnTo>
                  <a:lnTo>
                    <a:pt x="122142" y="227169"/>
                  </a:lnTo>
                  <a:lnTo>
                    <a:pt x="94775" y="259655"/>
                  </a:lnTo>
                  <a:lnTo>
                    <a:pt x="70557" y="293703"/>
                  </a:lnTo>
                  <a:lnTo>
                    <a:pt x="49641" y="329195"/>
                  </a:lnTo>
                  <a:lnTo>
                    <a:pt x="32181" y="366017"/>
                  </a:lnTo>
                  <a:lnTo>
                    <a:pt x="18333" y="404050"/>
                  </a:lnTo>
                  <a:lnTo>
                    <a:pt x="8251" y="443178"/>
                  </a:lnTo>
                  <a:lnTo>
                    <a:pt x="2088" y="483286"/>
                  </a:lnTo>
                  <a:lnTo>
                    <a:pt x="0" y="524256"/>
                  </a:lnTo>
                  <a:lnTo>
                    <a:pt x="2088" y="565225"/>
                  </a:lnTo>
                  <a:lnTo>
                    <a:pt x="8251" y="605333"/>
                  </a:lnTo>
                  <a:lnTo>
                    <a:pt x="18333" y="644461"/>
                  </a:lnTo>
                  <a:lnTo>
                    <a:pt x="32181" y="682494"/>
                  </a:lnTo>
                  <a:lnTo>
                    <a:pt x="49641" y="719316"/>
                  </a:lnTo>
                  <a:lnTo>
                    <a:pt x="70557" y="754808"/>
                  </a:lnTo>
                  <a:lnTo>
                    <a:pt x="94775" y="788856"/>
                  </a:lnTo>
                  <a:lnTo>
                    <a:pt x="122142" y="821342"/>
                  </a:lnTo>
                  <a:lnTo>
                    <a:pt x="152503" y="852149"/>
                  </a:lnTo>
                  <a:lnTo>
                    <a:pt x="185703" y="881162"/>
                  </a:lnTo>
                  <a:lnTo>
                    <a:pt x="221589" y="908264"/>
                  </a:lnTo>
                  <a:lnTo>
                    <a:pt x="260005" y="933337"/>
                  </a:lnTo>
                  <a:lnTo>
                    <a:pt x="300799" y="956266"/>
                  </a:lnTo>
                  <a:lnTo>
                    <a:pt x="343814" y="976934"/>
                  </a:lnTo>
                  <a:lnTo>
                    <a:pt x="388897" y="995225"/>
                  </a:lnTo>
                  <a:lnTo>
                    <a:pt x="435894" y="1011021"/>
                  </a:lnTo>
                  <a:lnTo>
                    <a:pt x="484650" y="1024207"/>
                  </a:lnTo>
                  <a:lnTo>
                    <a:pt x="535011" y="1034665"/>
                  </a:lnTo>
                  <a:lnTo>
                    <a:pt x="586823" y="1042280"/>
                  </a:lnTo>
                  <a:lnTo>
                    <a:pt x="639931" y="1046934"/>
                  </a:lnTo>
                  <a:lnTo>
                    <a:pt x="694182" y="1048512"/>
                  </a:lnTo>
                  <a:lnTo>
                    <a:pt x="748432" y="1046934"/>
                  </a:lnTo>
                  <a:lnTo>
                    <a:pt x="801540" y="1042280"/>
                  </a:lnTo>
                  <a:lnTo>
                    <a:pt x="853352" y="1034665"/>
                  </a:lnTo>
                  <a:lnTo>
                    <a:pt x="903713" y="1024207"/>
                  </a:lnTo>
                  <a:lnTo>
                    <a:pt x="952469" y="1011021"/>
                  </a:lnTo>
                  <a:lnTo>
                    <a:pt x="999466" y="995225"/>
                  </a:lnTo>
                  <a:lnTo>
                    <a:pt x="1044549" y="976934"/>
                  </a:lnTo>
                  <a:lnTo>
                    <a:pt x="1087564" y="956266"/>
                  </a:lnTo>
                  <a:lnTo>
                    <a:pt x="1128358" y="933337"/>
                  </a:lnTo>
                  <a:lnTo>
                    <a:pt x="1166774" y="908264"/>
                  </a:lnTo>
                  <a:lnTo>
                    <a:pt x="1202660" y="881162"/>
                  </a:lnTo>
                  <a:lnTo>
                    <a:pt x="1235860" y="852149"/>
                  </a:lnTo>
                  <a:lnTo>
                    <a:pt x="1266221" y="821342"/>
                  </a:lnTo>
                  <a:lnTo>
                    <a:pt x="1293588" y="788856"/>
                  </a:lnTo>
                  <a:lnTo>
                    <a:pt x="1317806" y="754808"/>
                  </a:lnTo>
                  <a:lnTo>
                    <a:pt x="1338722" y="719316"/>
                  </a:lnTo>
                  <a:lnTo>
                    <a:pt x="1356182" y="682494"/>
                  </a:lnTo>
                  <a:lnTo>
                    <a:pt x="1370030" y="644461"/>
                  </a:lnTo>
                  <a:lnTo>
                    <a:pt x="1380112" y="605333"/>
                  </a:lnTo>
                  <a:lnTo>
                    <a:pt x="1386275" y="565225"/>
                  </a:lnTo>
                  <a:lnTo>
                    <a:pt x="1388364" y="524256"/>
                  </a:lnTo>
                  <a:lnTo>
                    <a:pt x="1386275" y="483286"/>
                  </a:lnTo>
                  <a:lnTo>
                    <a:pt x="1380112" y="443178"/>
                  </a:lnTo>
                  <a:lnTo>
                    <a:pt x="1370030" y="404050"/>
                  </a:lnTo>
                  <a:lnTo>
                    <a:pt x="1356182" y="366017"/>
                  </a:lnTo>
                  <a:lnTo>
                    <a:pt x="1338722" y="329195"/>
                  </a:lnTo>
                  <a:lnTo>
                    <a:pt x="1317806" y="293703"/>
                  </a:lnTo>
                  <a:lnTo>
                    <a:pt x="1293588" y="259655"/>
                  </a:lnTo>
                  <a:lnTo>
                    <a:pt x="1266221" y="227169"/>
                  </a:lnTo>
                  <a:lnTo>
                    <a:pt x="1235860" y="196362"/>
                  </a:lnTo>
                  <a:lnTo>
                    <a:pt x="1202660" y="167349"/>
                  </a:lnTo>
                  <a:lnTo>
                    <a:pt x="1166774" y="140247"/>
                  </a:lnTo>
                  <a:lnTo>
                    <a:pt x="1128358" y="115174"/>
                  </a:lnTo>
                  <a:lnTo>
                    <a:pt x="1087564" y="92245"/>
                  </a:lnTo>
                  <a:lnTo>
                    <a:pt x="1044549" y="71577"/>
                  </a:lnTo>
                  <a:lnTo>
                    <a:pt x="999466" y="53286"/>
                  </a:lnTo>
                  <a:lnTo>
                    <a:pt x="952469" y="37490"/>
                  </a:lnTo>
                  <a:lnTo>
                    <a:pt x="903713" y="24304"/>
                  </a:lnTo>
                  <a:lnTo>
                    <a:pt x="853352" y="13846"/>
                  </a:lnTo>
                  <a:lnTo>
                    <a:pt x="801540" y="6231"/>
                  </a:lnTo>
                  <a:lnTo>
                    <a:pt x="748432" y="1577"/>
                  </a:lnTo>
                  <a:lnTo>
                    <a:pt x="694182" y="0"/>
                  </a:lnTo>
                  <a:close/>
                </a:path>
              </a:pathLst>
            </a:custGeom>
            <a:solidFill>
              <a:srgbClr val="0077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750052" y="1984248"/>
              <a:ext cx="1388745" cy="1049020"/>
            </a:xfrm>
            <a:custGeom>
              <a:avLst/>
              <a:gdLst/>
              <a:ahLst/>
              <a:cxnLst/>
              <a:rect l="l" t="t" r="r" b="b"/>
              <a:pathLst>
                <a:path w="1388745" h="1049020">
                  <a:moveTo>
                    <a:pt x="0" y="524256"/>
                  </a:moveTo>
                  <a:lnTo>
                    <a:pt x="2088" y="483286"/>
                  </a:lnTo>
                  <a:lnTo>
                    <a:pt x="8251" y="443178"/>
                  </a:lnTo>
                  <a:lnTo>
                    <a:pt x="18333" y="404050"/>
                  </a:lnTo>
                  <a:lnTo>
                    <a:pt x="32181" y="366017"/>
                  </a:lnTo>
                  <a:lnTo>
                    <a:pt x="49641" y="329195"/>
                  </a:lnTo>
                  <a:lnTo>
                    <a:pt x="70557" y="293703"/>
                  </a:lnTo>
                  <a:lnTo>
                    <a:pt x="94775" y="259655"/>
                  </a:lnTo>
                  <a:lnTo>
                    <a:pt x="122142" y="227169"/>
                  </a:lnTo>
                  <a:lnTo>
                    <a:pt x="152503" y="196362"/>
                  </a:lnTo>
                  <a:lnTo>
                    <a:pt x="185703" y="167349"/>
                  </a:lnTo>
                  <a:lnTo>
                    <a:pt x="221589" y="140247"/>
                  </a:lnTo>
                  <a:lnTo>
                    <a:pt x="260005" y="115174"/>
                  </a:lnTo>
                  <a:lnTo>
                    <a:pt x="300799" y="92245"/>
                  </a:lnTo>
                  <a:lnTo>
                    <a:pt x="343814" y="71577"/>
                  </a:lnTo>
                  <a:lnTo>
                    <a:pt x="388897" y="53286"/>
                  </a:lnTo>
                  <a:lnTo>
                    <a:pt x="435894" y="37490"/>
                  </a:lnTo>
                  <a:lnTo>
                    <a:pt x="484650" y="24304"/>
                  </a:lnTo>
                  <a:lnTo>
                    <a:pt x="535011" y="13846"/>
                  </a:lnTo>
                  <a:lnTo>
                    <a:pt x="586823" y="6231"/>
                  </a:lnTo>
                  <a:lnTo>
                    <a:pt x="639931" y="1577"/>
                  </a:lnTo>
                  <a:lnTo>
                    <a:pt x="694182" y="0"/>
                  </a:lnTo>
                  <a:lnTo>
                    <a:pt x="748432" y="1577"/>
                  </a:lnTo>
                  <a:lnTo>
                    <a:pt x="801540" y="6231"/>
                  </a:lnTo>
                  <a:lnTo>
                    <a:pt x="853352" y="13846"/>
                  </a:lnTo>
                  <a:lnTo>
                    <a:pt x="903713" y="24304"/>
                  </a:lnTo>
                  <a:lnTo>
                    <a:pt x="952469" y="37490"/>
                  </a:lnTo>
                  <a:lnTo>
                    <a:pt x="999466" y="53286"/>
                  </a:lnTo>
                  <a:lnTo>
                    <a:pt x="1044549" y="71577"/>
                  </a:lnTo>
                  <a:lnTo>
                    <a:pt x="1087564" y="92245"/>
                  </a:lnTo>
                  <a:lnTo>
                    <a:pt x="1128358" y="115174"/>
                  </a:lnTo>
                  <a:lnTo>
                    <a:pt x="1166774" y="140247"/>
                  </a:lnTo>
                  <a:lnTo>
                    <a:pt x="1202660" y="167349"/>
                  </a:lnTo>
                  <a:lnTo>
                    <a:pt x="1235860" y="196362"/>
                  </a:lnTo>
                  <a:lnTo>
                    <a:pt x="1266221" y="227169"/>
                  </a:lnTo>
                  <a:lnTo>
                    <a:pt x="1293588" y="259655"/>
                  </a:lnTo>
                  <a:lnTo>
                    <a:pt x="1317806" y="293703"/>
                  </a:lnTo>
                  <a:lnTo>
                    <a:pt x="1338722" y="329195"/>
                  </a:lnTo>
                  <a:lnTo>
                    <a:pt x="1356182" y="366017"/>
                  </a:lnTo>
                  <a:lnTo>
                    <a:pt x="1370030" y="404050"/>
                  </a:lnTo>
                  <a:lnTo>
                    <a:pt x="1380112" y="443178"/>
                  </a:lnTo>
                  <a:lnTo>
                    <a:pt x="1386275" y="483286"/>
                  </a:lnTo>
                  <a:lnTo>
                    <a:pt x="1388364" y="524256"/>
                  </a:lnTo>
                  <a:lnTo>
                    <a:pt x="1386275" y="565225"/>
                  </a:lnTo>
                  <a:lnTo>
                    <a:pt x="1380112" y="605333"/>
                  </a:lnTo>
                  <a:lnTo>
                    <a:pt x="1370030" y="644461"/>
                  </a:lnTo>
                  <a:lnTo>
                    <a:pt x="1356182" y="682494"/>
                  </a:lnTo>
                  <a:lnTo>
                    <a:pt x="1338722" y="719316"/>
                  </a:lnTo>
                  <a:lnTo>
                    <a:pt x="1317806" y="754808"/>
                  </a:lnTo>
                  <a:lnTo>
                    <a:pt x="1293588" y="788856"/>
                  </a:lnTo>
                  <a:lnTo>
                    <a:pt x="1266221" y="821342"/>
                  </a:lnTo>
                  <a:lnTo>
                    <a:pt x="1235860" y="852149"/>
                  </a:lnTo>
                  <a:lnTo>
                    <a:pt x="1202660" y="881162"/>
                  </a:lnTo>
                  <a:lnTo>
                    <a:pt x="1166774" y="908264"/>
                  </a:lnTo>
                  <a:lnTo>
                    <a:pt x="1128358" y="933337"/>
                  </a:lnTo>
                  <a:lnTo>
                    <a:pt x="1087564" y="956266"/>
                  </a:lnTo>
                  <a:lnTo>
                    <a:pt x="1044549" y="976934"/>
                  </a:lnTo>
                  <a:lnTo>
                    <a:pt x="999466" y="995225"/>
                  </a:lnTo>
                  <a:lnTo>
                    <a:pt x="952469" y="1011021"/>
                  </a:lnTo>
                  <a:lnTo>
                    <a:pt x="903713" y="1024207"/>
                  </a:lnTo>
                  <a:lnTo>
                    <a:pt x="853352" y="1034665"/>
                  </a:lnTo>
                  <a:lnTo>
                    <a:pt x="801540" y="1042280"/>
                  </a:lnTo>
                  <a:lnTo>
                    <a:pt x="748432" y="1046934"/>
                  </a:lnTo>
                  <a:lnTo>
                    <a:pt x="694182" y="1048512"/>
                  </a:lnTo>
                  <a:lnTo>
                    <a:pt x="639931" y="1046934"/>
                  </a:lnTo>
                  <a:lnTo>
                    <a:pt x="586823" y="1042280"/>
                  </a:lnTo>
                  <a:lnTo>
                    <a:pt x="535011" y="1034665"/>
                  </a:lnTo>
                  <a:lnTo>
                    <a:pt x="484650" y="1024207"/>
                  </a:lnTo>
                  <a:lnTo>
                    <a:pt x="435894" y="1011021"/>
                  </a:lnTo>
                  <a:lnTo>
                    <a:pt x="388897" y="995225"/>
                  </a:lnTo>
                  <a:lnTo>
                    <a:pt x="343814" y="976934"/>
                  </a:lnTo>
                  <a:lnTo>
                    <a:pt x="300799" y="956266"/>
                  </a:lnTo>
                  <a:lnTo>
                    <a:pt x="260005" y="933337"/>
                  </a:lnTo>
                  <a:lnTo>
                    <a:pt x="221589" y="908264"/>
                  </a:lnTo>
                  <a:lnTo>
                    <a:pt x="185703" y="881162"/>
                  </a:lnTo>
                  <a:lnTo>
                    <a:pt x="152503" y="852149"/>
                  </a:lnTo>
                  <a:lnTo>
                    <a:pt x="122142" y="821342"/>
                  </a:lnTo>
                  <a:lnTo>
                    <a:pt x="94775" y="788856"/>
                  </a:lnTo>
                  <a:lnTo>
                    <a:pt x="70557" y="754808"/>
                  </a:lnTo>
                  <a:lnTo>
                    <a:pt x="49641" y="719316"/>
                  </a:lnTo>
                  <a:lnTo>
                    <a:pt x="32181" y="682494"/>
                  </a:lnTo>
                  <a:lnTo>
                    <a:pt x="18333" y="644461"/>
                  </a:lnTo>
                  <a:lnTo>
                    <a:pt x="8251" y="605333"/>
                  </a:lnTo>
                  <a:lnTo>
                    <a:pt x="2088" y="565225"/>
                  </a:lnTo>
                  <a:lnTo>
                    <a:pt x="0" y="524256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6168704" y="2154275"/>
            <a:ext cx="54864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5334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latin typeface="Arial"/>
                <a:cs typeface="Arial"/>
              </a:rPr>
              <a:t>Server Threads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766061" y="1892554"/>
            <a:ext cx="5233035" cy="1877060"/>
            <a:chOff x="1766061" y="1892554"/>
            <a:chExt cx="5233035" cy="1877060"/>
          </a:xfrm>
        </p:grpSpPr>
        <p:sp>
          <p:nvSpPr>
            <p:cNvPr id="7" name="object 7"/>
            <p:cNvSpPr/>
            <p:nvPr/>
          </p:nvSpPr>
          <p:spPr>
            <a:xfrm>
              <a:off x="5971032" y="2555748"/>
              <a:ext cx="46355" cy="210820"/>
            </a:xfrm>
            <a:custGeom>
              <a:avLst/>
              <a:gdLst/>
              <a:ahLst/>
              <a:cxnLst/>
              <a:rect l="l" t="t" r="r" b="b"/>
              <a:pathLst>
                <a:path w="46354" h="210819">
                  <a:moveTo>
                    <a:pt x="20078" y="0"/>
                  </a:moveTo>
                  <a:lnTo>
                    <a:pt x="0" y="0"/>
                  </a:lnTo>
                  <a:lnTo>
                    <a:pt x="33070" y="210642"/>
                  </a:lnTo>
                  <a:lnTo>
                    <a:pt x="12992" y="204660"/>
                  </a:lnTo>
                  <a:lnTo>
                    <a:pt x="7086" y="185508"/>
                  </a:lnTo>
                  <a:lnTo>
                    <a:pt x="12992" y="167551"/>
                  </a:lnTo>
                  <a:lnTo>
                    <a:pt x="20078" y="148399"/>
                  </a:lnTo>
                  <a:lnTo>
                    <a:pt x="38976" y="136436"/>
                  </a:lnTo>
                  <a:lnTo>
                    <a:pt x="46062" y="117284"/>
                  </a:lnTo>
                  <a:lnTo>
                    <a:pt x="33070" y="99339"/>
                  </a:lnTo>
                  <a:lnTo>
                    <a:pt x="12992" y="93357"/>
                  </a:lnTo>
                  <a:lnTo>
                    <a:pt x="0" y="74206"/>
                  </a:lnTo>
                  <a:lnTo>
                    <a:pt x="0" y="56248"/>
                  </a:lnTo>
                  <a:lnTo>
                    <a:pt x="12992" y="37096"/>
                  </a:lnTo>
                  <a:lnTo>
                    <a:pt x="20078" y="19151"/>
                  </a:lnTo>
                  <a:lnTo>
                    <a:pt x="20078" y="0"/>
                  </a:lnTo>
                  <a:close/>
                </a:path>
              </a:pathLst>
            </a:custGeom>
            <a:solidFill>
              <a:srgbClr val="05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971032" y="2555748"/>
              <a:ext cx="46355" cy="210820"/>
            </a:xfrm>
            <a:custGeom>
              <a:avLst/>
              <a:gdLst/>
              <a:ahLst/>
              <a:cxnLst/>
              <a:rect l="l" t="t" r="r" b="b"/>
              <a:pathLst>
                <a:path w="46354" h="210819">
                  <a:moveTo>
                    <a:pt x="0" y="0"/>
                  </a:moveTo>
                  <a:lnTo>
                    <a:pt x="20078" y="0"/>
                  </a:lnTo>
                  <a:lnTo>
                    <a:pt x="20078" y="19151"/>
                  </a:lnTo>
                  <a:lnTo>
                    <a:pt x="12992" y="37096"/>
                  </a:lnTo>
                  <a:lnTo>
                    <a:pt x="0" y="56248"/>
                  </a:lnTo>
                  <a:lnTo>
                    <a:pt x="0" y="74206"/>
                  </a:lnTo>
                  <a:lnTo>
                    <a:pt x="12992" y="93357"/>
                  </a:lnTo>
                  <a:lnTo>
                    <a:pt x="33070" y="99339"/>
                  </a:lnTo>
                  <a:lnTo>
                    <a:pt x="46062" y="117284"/>
                  </a:lnTo>
                  <a:lnTo>
                    <a:pt x="38976" y="136436"/>
                  </a:lnTo>
                  <a:lnTo>
                    <a:pt x="20078" y="148399"/>
                  </a:lnTo>
                  <a:lnTo>
                    <a:pt x="12992" y="167551"/>
                  </a:lnTo>
                  <a:lnTo>
                    <a:pt x="7086" y="185508"/>
                  </a:lnTo>
                  <a:lnTo>
                    <a:pt x="12992" y="204660"/>
                  </a:lnTo>
                  <a:lnTo>
                    <a:pt x="33070" y="2106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138671" y="2334768"/>
              <a:ext cx="46355" cy="235585"/>
            </a:xfrm>
            <a:custGeom>
              <a:avLst/>
              <a:gdLst/>
              <a:ahLst/>
              <a:cxnLst/>
              <a:rect l="l" t="t" r="r" b="b"/>
              <a:pathLst>
                <a:path w="46354" h="235585">
                  <a:moveTo>
                    <a:pt x="20078" y="0"/>
                  </a:moveTo>
                  <a:lnTo>
                    <a:pt x="0" y="0"/>
                  </a:lnTo>
                  <a:lnTo>
                    <a:pt x="33070" y="235026"/>
                  </a:lnTo>
                  <a:lnTo>
                    <a:pt x="12992" y="227863"/>
                  </a:lnTo>
                  <a:lnTo>
                    <a:pt x="7086" y="207581"/>
                  </a:lnTo>
                  <a:lnTo>
                    <a:pt x="12992" y="186118"/>
                  </a:lnTo>
                  <a:lnTo>
                    <a:pt x="20078" y="165836"/>
                  </a:lnTo>
                  <a:lnTo>
                    <a:pt x="38976" y="151511"/>
                  </a:lnTo>
                  <a:lnTo>
                    <a:pt x="46062" y="131229"/>
                  </a:lnTo>
                  <a:lnTo>
                    <a:pt x="33070" y="110947"/>
                  </a:lnTo>
                  <a:lnTo>
                    <a:pt x="12992" y="103797"/>
                  </a:lnTo>
                  <a:lnTo>
                    <a:pt x="0" y="83515"/>
                  </a:lnTo>
                  <a:lnTo>
                    <a:pt x="0" y="62039"/>
                  </a:lnTo>
                  <a:lnTo>
                    <a:pt x="12992" y="41757"/>
                  </a:lnTo>
                  <a:lnTo>
                    <a:pt x="20078" y="20281"/>
                  </a:lnTo>
                  <a:lnTo>
                    <a:pt x="20078" y="0"/>
                  </a:lnTo>
                  <a:close/>
                </a:path>
              </a:pathLst>
            </a:custGeom>
            <a:solidFill>
              <a:srgbClr val="05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138671" y="2334768"/>
              <a:ext cx="46355" cy="235585"/>
            </a:xfrm>
            <a:custGeom>
              <a:avLst/>
              <a:gdLst/>
              <a:ahLst/>
              <a:cxnLst/>
              <a:rect l="l" t="t" r="r" b="b"/>
              <a:pathLst>
                <a:path w="46354" h="235585">
                  <a:moveTo>
                    <a:pt x="0" y="0"/>
                  </a:moveTo>
                  <a:lnTo>
                    <a:pt x="20078" y="0"/>
                  </a:lnTo>
                  <a:lnTo>
                    <a:pt x="20078" y="20281"/>
                  </a:lnTo>
                  <a:lnTo>
                    <a:pt x="12992" y="41757"/>
                  </a:lnTo>
                  <a:lnTo>
                    <a:pt x="0" y="62039"/>
                  </a:lnTo>
                  <a:lnTo>
                    <a:pt x="0" y="83515"/>
                  </a:lnTo>
                  <a:lnTo>
                    <a:pt x="12992" y="103797"/>
                  </a:lnTo>
                  <a:lnTo>
                    <a:pt x="33070" y="110947"/>
                  </a:lnTo>
                  <a:lnTo>
                    <a:pt x="46062" y="131229"/>
                  </a:lnTo>
                  <a:lnTo>
                    <a:pt x="38976" y="151511"/>
                  </a:lnTo>
                  <a:lnTo>
                    <a:pt x="20078" y="165836"/>
                  </a:lnTo>
                  <a:lnTo>
                    <a:pt x="12992" y="186118"/>
                  </a:lnTo>
                  <a:lnTo>
                    <a:pt x="7086" y="207581"/>
                  </a:lnTo>
                  <a:lnTo>
                    <a:pt x="12992" y="227863"/>
                  </a:lnTo>
                  <a:lnTo>
                    <a:pt x="33070" y="235026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716267" y="2549652"/>
              <a:ext cx="47625" cy="210820"/>
            </a:xfrm>
            <a:custGeom>
              <a:avLst/>
              <a:gdLst/>
              <a:ahLst/>
              <a:cxnLst/>
              <a:rect l="l" t="t" r="r" b="b"/>
              <a:pathLst>
                <a:path w="47625" h="210819">
                  <a:moveTo>
                    <a:pt x="20218" y="0"/>
                  </a:moveTo>
                  <a:lnTo>
                    <a:pt x="0" y="0"/>
                  </a:lnTo>
                  <a:lnTo>
                    <a:pt x="34493" y="210642"/>
                  </a:lnTo>
                  <a:lnTo>
                    <a:pt x="13081" y="204660"/>
                  </a:lnTo>
                  <a:lnTo>
                    <a:pt x="7137" y="185508"/>
                  </a:lnTo>
                  <a:lnTo>
                    <a:pt x="13081" y="167551"/>
                  </a:lnTo>
                  <a:lnTo>
                    <a:pt x="20218" y="148399"/>
                  </a:lnTo>
                  <a:lnTo>
                    <a:pt x="40436" y="136436"/>
                  </a:lnTo>
                  <a:lnTo>
                    <a:pt x="47574" y="117284"/>
                  </a:lnTo>
                  <a:lnTo>
                    <a:pt x="34493" y="99339"/>
                  </a:lnTo>
                  <a:lnTo>
                    <a:pt x="13081" y="93357"/>
                  </a:lnTo>
                  <a:lnTo>
                    <a:pt x="0" y="74206"/>
                  </a:lnTo>
                  <a:lnTo>
                    <a:pt x="0" y="56248"/>
                  </a:lnTo>
                  <a:lnTo>
                    <a:pt x="13081" y="37096"/>
                  </a:lnTo>
                  <a:lnTo>
                    <a:pt x="20218" y="19151"/>
                  </a:lnTo>
                  <a:lnTo>
                    <a:pt x="20218" y="0"/>
                  </a:lnTo>
                  <a:close/>
                </a:path>
              </a:pathLst>
            </a:custGeom>
            <a:solidFill>
              <a:srgbClr val="05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716267" y="2549652"/>
              <a:ext cx="47625" cy="210820"/>
            </a:xfrm>
            <a:custGeom>
              <a:avLst/>
              <a:gdLst/>
              <a:ahLst/>
              <a:cxnLst/>
              <a:rect l="l" t="t" r="r" b="b"/>
              <a:pathLst>
                <a:path w="47625" h="210819">
                  <a:moveTo>
                    <a:pt x="0" y="0"/>
                  </a:moveTo>
                  <a:lnTo>
                    <a:pt x="20218" y="0"/>
                  </a:lnTo>
                  <a:lnTo>
                    <a:pt x="20218" y="19151"/>
                  </a:lnTo>
                  <a:lnTo>
                    <a:pt x="13081" y="37096"/>
                  </a:lnTo>
                  <a:lnTo>
                    <a:pt x="0" y="56248"/>
                  </a:lnTo>
                  <a:lnTo>
                    <a:pt x="0" y="74206"/>
                  </a:lnTo>
                  <a:lnTo>
                    <a:pt x="13081" y="93357"/>
                  </a:lnTo>
                  <a:lnTo>
                    <a:pt x="34493" y="99339"/>
                  </a:lnTo>
                  <a:lnTo>
                    <a:pt x="47574" y="117284"/>
                  </a:lnTo>
                  <a:lnTo>
                    <a:pt x="40436" y="136436"/>
                  </a:lnTo>
                  <a:lnTo>
                    <a:pt x="20218" y="148399"/>
                  </a:lnTo>
                  <a:lnTo>
                    <a:pt x="13081" y="167551"/>
                  </a:lnTo>
                  <a:lnTo>
                    <a:pt x="7137" y="185508"/>
                  </a:lnTo>
                  <a:lnTo>
                    <a:pt x="13081" y="204660"/>
                  </a:lnTo>
                  <a:lnTo>
                    <a:pt x="34493" y="2106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944867" y="2305812"/>
              <a:ext cx="47625" cy="210820"/>
            </a:xfrm>
            <a:custGeom>
              <a:avLst/>
              <a:gdLst/>
              <a:ahLst/>
              <a:cxnLst/>
              <a:rect l="l" t="t" r="r" b="b"/>
              <a:pathLst>
                <a:path w="47625" h="210819">
                  <a:moveTo>
                    <a:pt x="20218" y="0"/>
                  </a:moveTo>
                  <a:lnTo>
                    <a:pt x="0" y="0"/>
                  </a:lnTo>
                  <a:lnTo>
                    <a:pt x="34493" y="210642"/>
                  </a:lnTo>
                  <a:lnTo>
                    <a:pt x="13081" y="204698"/>
                  </a:lnTo>
                  <a:lnTo>
                    <a:pt x="7137" y="185648"/>
                  </a:lnTo>
                  <a:lnTo>
                    <a:pt x="13081" y="167805"/>
                  </a:lnTo>
                  <a:lnTo>
                    <a:pt x="20218" y="148755"/>
                  </a:lnTo>
                  <a:lnTo>
                    <a:pt x="40436" y="136855"/>
                  </a:lnTo>
                  <a:lnTo>
                    <a:pt x="47574" y="117817"/>
                  </a:lnTo>
                  <a:lnTo>
                    <a:pt x="34493" y="98780"/>
                  </a:lnTo>
                  <a:lnTo>
                    <a:pt x="13081" y="92824"/>
                  </a:lnTo>
                  <a:lnTo>
                    <a:pt x="0" y="73787"/>
                  </a:lnTo>
                  <a:lnTo>
                    <a:pt x="0" y="55930"/>
                  </a:lnTo>
                  <a:lnTo>
                    <a:pt x="13081" y="36893"/>
                  </a:lnTo>
                  <a:lnTo>
                    <a:pt x="20218" y="19037"/>
                  </a:lnTo>
                  <a:lnTo>
                    <a:pt x="20218" y="0"/>
                  </a:lnTo>
                  <a:close/>
                </a:path>
              </a:pathLst>
            </a:custGeom>
            <a:solidFill>
              <a:srgbClr val="0562C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44867" y="2305812"/>
              <a:ext cx="47625" cy="210820"/>
            </a:xfrm>
            <a:custGeom>
              <a:avLst/>
              <a:gdLst/>
              <a:ahLst/>
              <a:cxnLst/>
              <a:rect l="l" t="t" r="r" b="b"/>
              <a:pathLst>
                <a:path w="47625" h="210819">
                  <a:moveTo>
                    <a:pt x="0" y="0"/>
                  </a:moveTo>
                  <a:lnTo>
                    <a:pt x="20218" y="0"/>
                  </a:lnTo>
                  <a:lnTo>
                    <a:pt x="20218" y="19037"/>
                  </a:lnTo>
                  <a:lnTo>
                    <a:pt x="13081" y="36893"/>
                  </a:lnTo>
                  <a:lnTo>
                    <a:pt x="0" y="55930"/>
                  </a:lnTo>
                  <a:lnTo>
                    <a:pt x="0" y="73787"/>
                  </a:lnTo>
                  <a:lnTo>
                    <a:pt x="13081" y="92824"/>
                  </a:lnTo>
                  <a:lnTo>
                    <a:pt x="34493" y="98780"/>
                  </a:lnTo>
                  <a:lnTo>
                    <a:pt x="47574" y="117817"/>
                  </a:lnTo>
                  <a:lnTo>
                    <a:pt x="40436" y="136855"/>
                  </a:lnTo>
                  <a:lnTo>
                    <a:pt x="20218" y="148755"/>
                  </a:lnTo>
                  <a:lnTo>
                    <a:pt x="13081" y="167805"/>
                  </a:lnTo>
                  <a:lnTo>
                    <a:pt x="7137" y="185648"/>
                  </a:lnTo>
                  <a:lnTo>
                    <a:pt x="13081" y="204698"/>
                  </a:lnTo>
                  <a:lnTo>
                    <a:pt x="34493" y="21064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72411" y="1898904"/>
              <a:ext cx="464820" cy="334010"/>
            </a:xfrm>
            <a:custGeom>
              <a:avLst/>
              <a:gdLst/>
              <a:ahLst/>
              <a:cxnLst/>
              <a:rect l="l" t="t" r="r" b="b"/>
              <a:pathLst>
                <a:path w="464819" h="334010">
                  <a:moveTo>
                    <a:pt x="232410" y="0"/>
                  </a:moveTo>
                  <a:lnTo>
                    <a:pt x="179119" y="4407"/>
                  </a:lnTo>
                  <a:lnTo>
                    <a:pt x="130200" y="16961"/>
                  </a:lnTo>
                  <a:lnTo>
                    <a:pt x="87048" y="36661"/>
                  </a:lnTo>
                  <a:lnTo>
                    <a:pt x="51057" y="62504"/>
                  </a:lnTo>
                  <a:lnTo>
                    <a:pt x="23622" y="93489"/>
                  </a:lnTo>
                  <a:lnTo>
                    <a:pt x="6137" y="128614"/>
                  </a:lnTo>
                  <a:lnTo>
                    <a:pt x="0" y="166878"/>
                  </a:lnTo>
                  <a:lnTo>
                    <a:pt x="6137" y="205141"/>
                  </a:lnTo>
                  <a:lnTo>
                    <a:pt x="23622" y="240266"/>
                  </a:lnTo>
                  <a:lnTo>
                    <a:pt x="51057" y="271251"/>
                  </a:lnTo>
                  <a:lnTo>
                    <a:pt x="87048" y="297094"/>
                  </a:lnTo>
                  <a:lnTo>
                    <a:pt x="130200" y="316794"/>
                  </a:lnTo>
                  <a:lnTo>
                    <a:pt x="179119" y="329348"/>
                  </a:lnTo>
                  <a:lnTo>
                    <a:pt x="232410" y="333756"/>
                  </a:lnTo>
                  <a:lnTo>
                    <a:pt x="285700" y="329348"/>
                  </a:lnTo>
                  <a:lnTo>
                    <a:pt x="334619" y="316794"/>
                  </a:lnTo>
                  <a:lnTo>
                    <a:pt x="377771" y="297094"/>
                  </a:lnTo>
                  <a:lnTo>
                    <a:pt x="413762" y="271251"/>
                  </a:lnTo>
                  <a:lnTo>
                    <a:pt x="441198" y="240266"/>
                  </a:lnTo>
                  <a:lnTo>
                    <a:pt x="458682" y="205141"/>
                  </a:lnTo>
                  <a:lnTo>
                    <a:pt x="464820" y="166878"/>
                  </a:lnTo>
                  <a:lnTo>
                    <a:pt x="458682" y="128614"/>
                  </a:lnTo>
                  <a:lnTo>
                    <a:pt x="441198" y="93489"/>
                  </a:lnTo>
                  <a:lnTo>
                    <a:pt x="413762" y="62504"/>
                  </a:lnTo>
                  <a:lnTo>
                    <a:pt x="377771" y="36661"/>
                  </a:lnTo>
                  <a:lnTo>
                    <a:pt x="334619" y="16961"/>
                  </a:lnTo>
                  <a:lnTo>
                    <a:pt x="285700" y="4407"/>
                  </a:lnTo>
                  <a:lnTo>
                    <a:pt x="232410" y="0"/>
                  </a:lnTo>
                  <a:close/>
                </a:path>
              </a:pathLst>
            </a:custGeom>
            <a:solidFill>
              <a:srgbClr val="0077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772411" y="1898904"/>
              <a:ext cx="464820" cy="334010"/>
            </a:xfrm>
            <a:custGeom>
              <a:avLst/>
              <a:gdLst/>
              <a:ahLst/>
              <a:cxnLst/>
              <a:rect l="l" t="t" r="r" b="b"/>
              <a:pathLst>
                <a:path w="464819" h="334010">
                  <a:moveTo>
                    <a:pt x="0" y="166878"/>
                  </a:moveTo>
                  <a:lnTo>
                    <a:pt x="6137" y="128614"/>
                  </a:lnTo>
                  <a:lnTo>
                    <a:pt x="23622" y="93489"/>
                  </a:lnTo>
                  <a:lnTo>
                    <a:pt x="51057" y="62504"/>
                  </a:lnTo>
                  <a:lnTo>
                    <a:pt x="87048" y="36661"/>
                  </a:lnTo>
                  <a:lnTo>
                    <a:pt x="130200" y="16961"/>
                  </a:lnTo>
                  <a:lnTo>
                    <a:pt x="179119" y="4407"/>
                  </a:lnTo>
                  <a:lnTo>
                    <a:pt x="232410" y="0"/>
                  </a:lnTo>
                  <a:lnTo>
                    <a:pt x="285700" y="4407"/>
                  </a:lnTo>
                  <a:lnTo>
                    <a:pt x="334619" y="16961"/>
                  </a:lnTo>
                  <a:lnTo>
                    <a:pt x="377771" y="36661"/>
                  </a:lnTo>
                  <a:lnTo>
                    <a:pt x="413762" y="62504"/>
                  </a:lnTo>
                  <a:lnTo>
                    <a:pt x="441198" y="93489"/>
                  </a:lnTo>
                  <a:lnTo>
                    <a:pt x="458682" y="128614"/>
                  </a:lnTo>
                  <a:lnTo>
                    <a:pt x="464820" y="166878"/>
                  </a:lnTo>
                  <a:lnTo>
                    <a:pt x="458682" y="205141"/>
                  </a:lnTo>
                  <a:lnTo>
                    <a:pt x="441198" y="240266"/>
                  </a:lnTo>
                  <a:lnTo>
                    <a:pt x="413762" y="271251"/>
                  </a:lnTo>
                  <a:lnTo>
                    <a:pt x="377771" y="297094"/>
                  </a:lnTo>
                  <a:lnTo>
                    <a:pt x="334619" y="316794"/>
                  </a:lnTo>
                  <a:lnTo>
                    <a:pt x="285700" y="329348"/>
                  </a:lnTo>
                  <a:lnTo>
                    <a:pt x="232410" y="333756"/>
                  </a:lnTo>
                  <a:lnTo>
                    <a:pt x="179119" y="329348"/>
                  </a:lnTo>
                  <a:lnTo>
                    <a:pt x="130200" y="316794"/>
                  </a:lnTo>
                  <a:lnTo>
                    <a:pt x="87048" y="297094"/>
                  </a:lnTo>
                  <a:lnTo>
                    <a:pt x="51057" y="271251"/>
                  </a:lnTo>
                  <a:lnTo>
                    <a:pt x="23622" y="240266"/>
                  </a:lnTo>
                  <a:lnTo>
                    <a:pt x="6137" y="205141"/>
                  </a:lnTo>
                  <a:lnTo>
                    <a:pt x="0" y="16687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972055" y="1979676"/>
              <a:ext cx="46355" cy="194310"/>
            </a:xfrm>
            <a:custGeom>
              <a:avLst/>
              <a:gdLst/>
              <a:ahLst/>
              <a:cxnLst/>
              <a:rect l="l" t="t" r="r" b="b"/>
              <a:pathLst>
                <a:path w="46355" h="194310">
                  <a:moveTo>
                    <a:pt x="20078" y="0"/>
                  </a:moveTo>
                  <a:lnTo>
                    <a:pt x="0" y="0"/>
                  </a:lnTo>
                  <a:lnTo>
                    <a:pt x="33070" y="193878"/>
                  </a:lnTo>
                  <a:lnTo>
                    <a:pt x="12992" y="187896"/>
                  </a:lnTo>
                  <a:lnTo>
                    <a:pt x="7086" y="171132"/>
                  </a:lnTo>
                  <a:lnTo>
                    <a:pt x="12992" y="154381"/>
                  </a:lnTo>
                  <a:lnTo>
                    <a:pt x="20078" y="136436"/>
                  </a:lnTo>
                  <a:lnTo>
                    <a:pt x="38976" y="125653"/>
                  </a:lnTo>
                  <a:lnTo>
                    <a:pt x="46062" y="108902"/>
                  </a:lnTo>
                  <a:lnTo>
                    <a:pt x="33070" y="90957"/>
                  </a:lnTo>
                  <a:lnTo>
                    <a:pt x="12992" y="84975"/>
                  </a:lnTo>
                  <a:lnTo>
                    <a:pt x="0" y="68211"/>
                  </a:lnTo>
                  <a:lnTo>
                    <a:pt x="0" y="51460"/>
                  </a:lnTo>
                  <a:lnTo>
                    <a:pt x="12992" y="34709"/>
                  </a:lnTo>
                  <a:lnTo>
                    <a:pt x="20078" y="16751"/>
                  </a:lnTo>
                  <a:lnTo>
                    <a:pt x="2007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72055" y="1979676"/>
              <a:ext cx="46355" cy="194310"/>
            </a:xfrm>
            <a:custGeom>
              <a:avLst/>
              <a:gdLst/>
              <a:ahLst/>
              <a:cxnLst/>
              <a:rect l="l" t="t" r="r" b="b"/>
              <a:pathLst>
                <a:path w="46355" h="194310">
                  <a:moveTo>
                    <a:pt x="0" y="0"/>
                  </a:moveTo>
                  <a:lnTo>
                    <a:pt x="20078" y="0"/>
                  </a:lnTo>
                  <a:lnTo>
                    <a:pt x="20078" y="16751"/>
                  </a:lnTo>
                  <a:lnTo>
                    <a:pt x="12992" y="34709"/>
                  </a:lnTo>
                  <a:lnTo>
                    <a:pt x="0" y="51460"/>
                  </a:lnTo>
                  <a:lnTo>
                    <a:pt x="0" y="68211"/>
                  </a:lnTo>
                  <a:lnTo>
                    <a:pt x="12992" y="84975"/>
                  </a:lnTo>
                  <a:lnTo>
                    <a:pt x="33070" y="90957"/>
                  </a:lnTo>
                  <a:lnTo>
                    <a:pt x="46062" y="108902"/>
                  </a:lnTo>
                  <a:lnTo>
                    <a:pt x="38976" y="125653"/>
                  </a:lnTo>
                  <a:lnTo>
                    <a:pt x="20078" y="136436"/>
                  </a:lnTo>
                  <a:lnTo>
                    <a:pt x="12992" y="154381"/>
                  </a:lnTo>
                  <a:lnTo>
                    <a:pt x="7086" y="171132"/>
                  </a:lnTo>
                  <a:lnTo>
                    <a:pt x="12992" y="187896"/>
                  </a:lnTo>
                  <a:lnTo>
                    <a:pt x="33070" y="19387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098547" y="3429000"/>
              <a:ext cx="375285" cy="334010"/>
            </a:xfrm>
            <a:custGeom>
              <a:avLst/>
              <a:gdLst/>
              <a:ahLst/>
              <a:cxnLst/>
              <a:rect l="l" t="t" r="r" b="b"/>
              <a:pathLst>
                <a:path w="375285" h="334010">
                  <a:moveTo>
                    <a:pt x="187452" y="0"/>
                  </a:moveTo>
                  <a:lnTo>
                    <a:pt x="137618" y="5961"/>
                  </a:lnTo>
                  <a:lnTo>
                    <a:pt x="92839" y="22783"/>
                  </a:lnTo>
                  <a:lnTo>
                    <a:pt x="54902" y="48877"/>
                  </a:lnTo>
                  <a:lnTo>
                    <a:pt x="25591" y="82651"/>
                  </a:lnTo>
                  <a:lnTo>
                    <a:pt x="6695" y="122515"/>
                  </a:lnTo>
                  <a:lnTo>
                    <a:pt x="0" y="166878"/>
                  </a:lnTo>
                  <a:lnTo>
                    <a:pt x="6695" y="211240"/>
                  </a:lnTo>
                  <a:lnTo>
                    <a:pt x="25591" y="251104"/>
                  </a:lnTo>
                  <a:lnTo>
                    <a:pt x="54902" y="284878"/>
                  </a:lnTo>
                  <a:lnTo>
                    <a:pt x="92839" y="310972"/>
                  </a:lnTo>
                  <a:lnTo>
                    <a:pt x="137618" y="327794"/>
                  </a:lnTo>
                  <a:lnTo>
                    <a:pt x="187452" y="333756"/>
                  </a:lnTo>
                  <a:lnTo>
                    <a:pt x="237285" y="327794"/>
                  </a:lnTo>
                  <a:lnTo>
                    <a:pt x="282064" y="310972"/>
                  </a:lnTo>
                  <a:lnTo>
                    <a:pt x="320001" y="284878"/>
                  </a:lnTo>
                  <a:lnTo>
                    <a:pt x="349312" y="251104"/>
                  </a:lnTo>
                  <a:lnTo>
                    <a:pt x="368208" y="211240"/>
                  </a:lnTo>
                  <a:lnTo>
                    <a:pt x="374904" y="166878"/>
                  </a:lnTo>
                  <a:lnTo>
                    <a:pt x="368208" y="122515"/>
                  </a:lnTo>
                  <a:lnTo>
                    <a:pt x="349312" y="82651"/>
                  </a:lnTo>
                  <a:lnTo>
                    <a:pt x="320001" y="48877"/>
                  </a:lnTo>
                  <a:lnTo>
                    <a:pt x="282064" y="22783"/>
                  </a:lnTo>
                  <a:lnTo>
                    <a:pt x="237285" y="5961"/>
                  </a:lnTo>
                  <a:lnTo>
                    <a:pt x="187452" y="0"/>
                  </a:lnTo>
                  <a:close/>
                </a:path>
              </a:pathLst>
            </a:custGeom>
            <a:solidFill>
              <a:srgbClr val="0077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098547" y="3429000"/>
              <a:ext cx="375285" cy="334010"/>
            </a:xfrm>
            <a:custGeom>
              <a:avLst/>
              <a:gdLst/>
              <a:ahLst/>
              <a:cxnLst/>
              <a:rect l="l" t="t" r="r" b="b"/>
              <a:pathLst>
                <a:path w="375285" h="334010">
                  <a:moveTo>
                    <a:pt x="0" y="166878"/>
                  </a:moveTo>
                  <a:lnTo>
                    <a:pt x="6695" y="122515"/>
                  </a:lnTo>
                  <a:lnTo>
                    <a:pt x="25591" y="82651"/>
                  </a:lnTo>
                  <a:lnTo>
                    <a:pt x="54902" y="48877"/>
                  </a:lnTo>
                  <a:lnTo>
                    <a:pt x="92839" y="22783"/>
                  </a:lnTo>
                  <a:lnTo>
                    <a:pt x="137618" y="5961"/>
                  </a:lnTo>
                  <a:lnTo>
                    <a:pt x="187452" y="0"/>
                  </a:lnTo>
                  <a:lnTo>
                    <a:pt x="237285" y="5961"/>
                  </a:lnTo>
                  <a:lnTo>
                    <a:pt x="282064" y="22783"/>
                  </a:lnTo>
                  <a:lnTo>
                    <a:pt x="320001" y="48877"/>
                  </a:lnTo>
                  <a:lnTo>
                    <a:pt x="349312" y="82651"/>
                  </a:lnTo>
                  <a:lnTo>
                    <a:pt x="368208" y="122515"/>
                  </a:lnTo>
                  <a:lnTo>
                    <a:pt x="374904" y="166878"/>
                  </a:lnTo>
                  <a:lnTo>
                    <a:pt x="368208" y="211240"/>
                  </a:lnTo>
                  <a:lnTo>
                    <a:pt x="349312" y="251104"/>
                  </a:lnTo>
                  <a:lnTo>
                    <a:pt x="320001" y="284878"/>
                  </a:lnTo>
                  <a:lnTo>
                    <a:pt x="282064" y="310972"/>
                  </a:lnTo>
                  <a:lnTo>
                    <a:pt x="237285" y="327794"/>
                  </a:lnTo>
                  <a:lnTo>
                    <a:pt x="187452" y="333756"/>
                  </a:lnTo>
                  <a:lnTo>
                    <a:pt x="137618" y="327794"/>
                  </a:lnTo>
                  <a:lnTo>
                    <a:pt x="92839" y="310972"/>
                  </a:lnTo>
                  <a:lnTo>
                    <a:pt x="54902" y="284878"/>
                  </a:lnTo>
                  <a:lnTo>
                    <a:pt x="25591" y="251104"/>
                  </a:lnTo>
                  <a:lnTo>
                    <a:pt x="6695" y="211240"/>
                  </a:lnTo>
                  <a:lnTo>
                    <a:pt x="0" y="16687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58567" y="3509772"/>
              <a:ext cx="37465" cy="192405"/>
            </a:xfrm>
            <a:custGeom>
              <a:avLst/>
              <a:gdLst/>
              <a:ahLst/>
              <a:cxnLst/>
              <a:rect l="l" t="t" r="r" b="b"/>
              <a:pathLst>
                <a:path w="37464" h="192404">
                  <a:moveTo>
                    <a:pt x="16192" y="0"/>
                  </a:moveTo>
                  <a:lnTo>
                    <a:pt x="0" y="0"/>
                  </a:lnTo>
                  <a:lnTo>
                    <a:pt x="26670" y="192354"/>
                  </a:lnTo>
                  <a:lnTo>
                    <a:pt x="10477" y="186423"/>
                  </a:lnTo>
                  <a:lnTo>
                    <a:pt x="5715" y="169799"/>
                  </a:lnTo>
                  <a:lnTo>
                    <a:pt x="10477" y="153174"/>
                  </a:lnTo>
                  <a:lnTo>
                    <a:pt x="16192" y="135369"/>
                  </a:lnTo>
                  <a:lnTo>
                    <a:pt x="31432" y="124675"/>
                  </a:lnTo>
                  <a:lnTo>
                    <a:pt x="37147" y="108051"/>
                  </a:lnTo>
                  <a:lnTo>
                    <a:pt x="26670" y="90246"/>
                  </a:lnTo>
                  <a:lnTo>
                    <a:pt x="10477" y="84302"/>
                  </a:lnTo>
                  <a:lnTo>
                    <a:pt x="0" y="67678"/>
                  </a:lnTo>
                  <a:lnTo>
                    <a:pt x="0" y="51053"/>
                  </a:lnTo>
                  <a:lnTo>
                    <a:pt x="10477" y="34429"/>
                  </a:lnTo>
                  <a:lnTo>
                    <a:pt x="16192" y="16624"/>
                  </a:lnTo>
                  <a:lnTo>
                    <a:pt x="16192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58567" y="3509772"/>
              <a:ext cx="37465" cy="192405"/>
            </a:xfrm>
            <a:custGeom>
              <a:avLst/>
              <a:gdLst/>
              <a:ahLst/>
              <a:cxnLst/>
              <a:rect l="l" t="t" r="r" b="b"/>
              <a:pathLst>
                <a:path w="37464" h="192404">
                  <a:moveTo>
                    <a:pt x="0" y="0"/>
                  </a:moveTo>
                  <a:lnTo>
                    <a:pt x="16192" y="0"/>
                  </a:lnTo>
                  <a:lnTo>
                    <a:pt x="16192" y="16624"/>
                  </a:lnTo>
                  <a:lnTo>
                    <a:pt x="10477" y="34429"/>
                  </a:lnTo>
                  <a:lnTo>
                    <a:pt x="0" y="51053"/>
                  </a:lnTo>
                  <a:lnTo>
                    <a:pt x="0" y="67678"/>
                  </a:lnTo>
                  <a:lnTo>
                    <a:pt x="10477" y="84302"/>
                  </a:lnTo>
                  <a:lnTo>
                    <a:pt x="26670" y="90246"/>
                  </a:lnTo>
                  <a:lnTo>
                    <a:pt x="37147" y="108051"/>
                  </a:lnTo>
                  <a:lnTo>
                    <a:pt x="31432" y="124675"/>
                  </a:lnTo>
                  <a:lnTo>
                    <a:pt x="16192" y="135369"/>
                  </a:lnTo>
                  <a:lnTo>
                    <a:pt x="10477" y="153174"/>
                  </a:lnTo>
                  <a:lnTo>
                    <a:pt x="5715" y="169799"/>
                  </a:lnTo>
                  <a:lnTo>
                    <a:pt x="10477" y="186423"/>
                  </a:lnTo>
                  <a:lnTo>
                    <a:pt x="26670" y="19235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271867" y="2071210"/>
              <a:ext cx="3668395" cy="554990"/>
            </a:xfrm>
            <a:custGeom>
              <a:avLst/>
              <a:gdLst/>
              <a:ahLst/>
              <a:cxnLst/>
              <a:rect l="l" t="t" r="r" b="b"/>
              <a:pathLst>
                <a:path w="3668395" h="554989">
                  <a:moveTo>
                    <a:pt x="0" y="0"/>
                  </a:moveTo>
                  <a:lnTo>
                    <a:pt x="53642" y="23089"/>
                  </a:lnTo>
                  <a:lnTo>
                    <a:pt x="107083" y="46012"/>
                  </a:lnTo>
                  <a:lnTo>
                    <a:pt x="160185" y="68652"/>
                  </a:lnTo>
                  <a:lnTo>
                    <a:pt x="212806" y="90891"/>
                  </a:lnTo>
                  <a:lnTo>
                    <a:pt x="264807" y="112614"/>
                  </a:lnTo>
                  <a:lnTo>
                    <a:pt x="316048" y="133703"/>
                  </a:lnTo>
                  <a:lnTo>
                    <a:pt x="366388" y="154043"/>
                  </a:lnTo>
                  <a:lnTo>
                    <a:pt x="415688" y="173515"/>
                  </a:lnTo>
                  <a:lnTo>
                    <a:pt x="463808" y="192004"/>
                  </a:lnTo>
                  <a:lnTo>
                    <a:pt x="510607" y="209393"/>
                  </a:lnTo>
                  <a:lnTo>
                    <a:pt x="555946" y="225566"/>
                  </a:lnTo>
                  <a:lnTo>
                    <a:pt x="599685" y="240405"/>
                  </a:lnTo>
                  <a:lnTo>
                    <a:pt x="641683" y="253794"/>
                  </a:lnTo>
                  <a:lnTo>
                    <a:pt x="681801" y="265616"/>
                  </a:lnTo>
                  <a:lnTo>
                    <a:pt x="719899" y="275755"/>
                  </a:lnTo>
                  <a:lnTo>
                    <a:pt x="758484" y="284963"/>
                  </a:lnTo>
                  <a:lnTo>
                    <a:pt x="809895" y="294094"/>
                  </a:lnTo>
                  <a:lnTo>
                    <a:pt x="827093" y="294952"/>
                  </a:lnTo>
                  <a:lnTo>
                    <a:pt x="841533" y="293964"/>
                  </a:lnTo>
                  <a:lnTo>
                    <a:pt x="855401" y="291596"/>
                  </a:lnTo>
                  <a:lnTo>
                    <a:pt x="870881" y="288319"/>
                  </a:lnTo>
                  <a:lnTo>
                    <a:pt x="890160" y="284599"/>
                  </a:lnTo>
                  <a:lnTo>
                    <a:pt x="915423" y="280905"/>
                  </a:lnTo>
                  <a:lnTo>
                    <a:pt x="948856" y="277706"/>
                  </a:lnTo>
                  <a:lnTo>
                    <a:pt x="992643" y="275468"/>
                  </a:lnTo>
                  <a:lnTo>
                    <a:pt x="1048971" y="274662"/>
                  </a:lnTo>
                  <a:lnTo>
                    <a:pt x="1120025" y="275755"/>
                  </a:lnTo>
                  <a:lnTo>
                    <a:pt x="1152673" y="276596"/>
                  </a:lnTo>
                  <a:lnTo>
                    <a:pt x="1188146" y="277394"/>
                  </a:lnTo>
                  <a:lnTo>
                    <a:pt x="1226276" y="278159"/>
                  </a:lnTo>
                  <a:lnTo>
                    <a:pt x="1266897" y="278900"/>
                  </a:lnTo>
                  <a:lnTo>
                    <a:pt x="1309843" y="279627"/>
                  </a:lnTo>
                  <a:lnTo>
                    <a:pt x="1354945" y="280349"/>
                  </a:lnTo>
                  <a:lnTo>
                    <a:pt x="1402036" y="281076"/>
                  </a:lnTo>
                  <a:lnTo>
                    <a:pt x="1450951" y="281817"/>
                  </a:lnTo>
                  <a:lnTo>
                    <a:pt x="1501521" y="282582"/>
                  </a:lnTo>
                  <a:lnTo>
                    <a:pt x="1553581" y="283380"/>
                  </a:lnTo>
                  <a:lnTo>
                    <a:pt x="1606962" y="284221"/>
                  </a:lnTo>
                  <a:lnTo>
                    <a:pt x="1661497" y="285115"/>
                  </a:lnTo>
                  <a:lnTo>
                    <a:pt x="1717021" y="286071"/>
                  </a:lnTo>
                  <a:lnTo>
                    <a:pt x="1773365" y="287098"/>
                  </a:lnTo>
                  <a:lnTo>
                    <a:pt x="1830363" y="288207"/>
                  </a:lnTo>
                  <a:lnTo>
                    <a:pt x="1887847" y="289406"/>
                  </a:lnTo>
                  <a:lnTo>
                    <a:pt x="1945652" y="290705"/>
                  </a:lnTo>
                  <a:lnTo>
                    <a:pt x="2003609" y="292114"/>
                  </a:lnTo>
                  <a:lnTo>
                    <a:pt x="2061551" y="293642"/>
                  </a:lnTo>
                  <a:lnTo>
                    <a:pt x="2119313" y="295299"/>
                  </a:lnTo>
                  <a:lnTo>
                    <a:pt x="2176726" y="297095"/>
                  </a:lnTo>
                  <a:lnTo>
                    <a:pt x="2233623" y="299038"/>
                  </a:lnTo>
                  <a:lnTo>
                    <a:pt x="2289839" y="301139"/>
                  </a:lnTo>
                  <a:lnTo>
                    <a:pt x="2345204" y="303406"/>
                  </a:lnTo>
                  <a:lnTo>
                    <a:pt x="2399554" y="305851"/>
                  </a:lnTo>
                  <a:lnTo>
                    <a:pt x="2452720" y="308481"/>
                  </a:lnTo>
                  <a:lnTo>
                    <a:pt x="2504536" y="311307"/>
                  </a:lnTo>
                  <a:lnTo>
                    <a:pt x="2554834" y="314338"/>
                  </a:lnTo>
                  <a:lnTo>
                    <a:pt x="2603448" y="317584"/>
                  </a:lnTo>
                  <a:lnTo>
                    <a:pt x="2650210" y="321054"/>
                  </a:lnTo>
                  <a:lnTo>
                    <a:pt x="2694954" y="324758"/>
                  </a:lnTo>
                  <a:lnTo>
                    <a:pt x="2737512" y="328705"/>
                  </a:lnTo>
                  <a:lnTo>
                    <a:pt x="2777718" y="332905"/>
                  </a:lnTo>
                  <a:lnTo>
                    <a:pt x="2844655" y="341183"/>
                  </a:lnTo>
                  <a:lnTo>
                    <a:pt x="2910068" y="350868"/>
                  </a:lnTo>
                  <a:lnTo>
                    <a:pt x="2973857" y="361785"/>
                  </a:lnTo>
                  <a:lnTo>
                    <a:pt x="3035923" y="373760"/>
                  </a:lnTo>
                  <a:lnTo>
                    <a:pt x="3096165" y="386618"/>
                  </a:lnTo>
                  <a:lnTo>
                    <a:pt x="3154483" y="400184"/>
                  </a:lnTo>
                  <a:lnTo>
                    <a:pt x="3210778" y="414283"/>
                  </a:lnTo>
                  <a:lnTo>
                    <a:pt x="3264950" y="428741"/>
                  </a:lnTo>
                  <a:lnTo>
                    <a:pt x="3316898" y="443382"/>
                  </a:lnTo>
                  <a:lnTo>
                    <a:pt x="3366524" y="458032"/>
                  </a:lnTo>
                  <a:lnTo>
                    <a:pt x="3413726" y="472516"/>
                  </a:lnTo>
                  <a:lnTo>
                    <a:pt x="3458406" y="486660"/>
                  </a:lnTo>
                  <a:lnTo>
                    <a:pt x="3500463" y="500289"/>
                  </a:lnTo>
                  <a:lnTo>
                    <a:pt x="3539798" y="513227"/>
                  </a:lnTo>
                  <a:lnTo>
                    <a:pt x="3576310" y="525300"/>
                  </a:lnTo>
                  <a:lnTo>
                    <a:pt x="3609899" y="536334"/>
                  </a:lnTo>
                  <a:lnTo>
                    <a:pt x="3640467" y="546153"/>
                  </a:lnTo>
                  <a:lnTo>
                    <a:pt x="3667912" y="554583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54543" y="2562311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24244" y="0"/>
                  </a:moveTo>
                  <a:lnTo>
                    <a:pt x="85432" y="63538"/>
                  </a:lnTo>
                  <a:lnTo>
                    <a:pt x="0" y="8553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71760" y="2060486"/>
              <a:ext cx="87630" cy="81915"/>
            </a:xfrm>
            <a:custGeom>
              <a:avLst/>
              <a:gdLst/>
              <a:ahLst/>
              <a:cxnLst/>
              <a:rect l="l" t="t" r="r" b="b"/>
              <a:pathLst>
                <a:path w="87630" h="81914">
                  <a:moveTo>
                    <a:pt x="52387" y="81648"/>
                  </a:moveTo>
                  <a:lnTo>
                    <a:pt x="0" y="10680"/>
                  </a:lnTo>
                  <a:lnTo>
                    <a:pt x="87566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501906" y="2611232"/>
              <a:ext cx="4193540" cy="930275"/>
            </a:xfrm>
            <a:custGeom>
              <a:avLst/>
              <a:gdLst/>
              <a:ahLst/>
              <a:cxnLst/>
              <a:rect l="l" t="t" r="r" b="b"/>
              <a:pathLst>
                <a:path w="4193540" h="930275">
                  <a:moveTo>
                    <a:pt x="0" y="929804"/>
                  </a:moveTo>
                  <a:lnTo>
                    <a:pt x="53365" y="916626"/>
                  </a:lnTo>
                  <a:lnTo>
                    <a:pt x="106631" y="903389"/>
                  </a:lnTo>
                  <a:lnTo>
                    <a:pt x="159730" y="890051"/>
                  </a:lnTo>
                  <a:lnTo>
                    <a:pt x="212592" y="876572"/>
                  </a:lnTo>
                  <a:lnTo>
                    <a:pt x="265151" y="862910"/>
                  </a:lnTo>
                  <a:lnTo>
                    <a:pt x="317337" y="849026"/>
                  </a:lnTo>
                  <a:lnTo>
                    <a:pt x="369083" y="834877"/>
                  </a:lnTo>
                  <a:lnTo>
                    <a:pt x="420321" y="820423"/>
                  </a:lnTo>
                  <a:lnTo>
                    <a:pt x="470982" y="805624"/>
                  </a:lnTo>
                  <a:lnTo>
                    <a:pt x="520999" y="790437"/>
                  </a:lnTo>
                  <a:lnTo>
                    <a:pt x="570302" y="774824"/>
                  </a:lnTo>
                  <a:lnTo>
                    <a:pt x="618825" y="758742"/>
                  </a:lnTo>
                  <a:lnTo>
                    <a:pt x="666499" y="742150"/>
                  </a:lnTo>
                  <a:lnTo>
                    <a:pt x="713256" y="725009"/>
                  </a:lnTo>
                  <a:lnTo>
                    <a:pt x="759027" y="707277"/>
                  </a:lnTo>
                  <a:lnTo>
                    <a:pt x="803745" y="688912"/>
                  </a:lnTo>
                  <a:lnTo>
                    <a:pt x="847342" y="669875"/>
                  </a:lnTo>
                  <a:lnTo>
                    <a:pt x="889749" y="650125"/>
                  </a:lnTo>
                  <a:lnTo>
                    <a:pt x="936155" y="625736"/>
                  </a:lnTo>
                  <a:lnTo>
                    <a:pt x="979269" y="599225"/>
                  </a:lnTo>
                  <a:lnTo>
                    <a:pt x="1019592" y="570930"/>
                  </a:lnTo>
                  <a:lnTo>
                    <a:pt x="1057627" y="541183"/>
                  </a:lnTo>
                  <a:lnTo>
                    <a:pt x="1093876" y="510319"/>
                  </a:lnTo>
                  <a:lnTo>
                    <a:pt x="1128841" y="478675"/>
                  </a:lnTo>
                  <a:lnTo>
                    <a:pt x="1163025" y="446584"/>
                  </a:lnTo>
                  <a:lnTo>
                    <a:pt x="1196930" y="414381"/>
                  </a:lnTo>
                  <a:lnTo>
                    <a:pt x="1231058" y="382402"/>
                  </a:lnTo>
                  <a:lnTo>
                    <a:pt x="1265912" y="350980"/>
                  </a:lnTo>
                  <a:lnTo>
                    <a:pt x="1301993" y="320452"/>
                  </a:lnTo>
                  <a:lnTo>
                    <a:pt x="1339805" y="291151"/>
                  </a:lnTo>
                  <a:lnTo>
                    <a:pt x="1379849" y="263413"/>
                  </a:lnTo>
                  <a:lnTo>
                    <a:pt x="1422628" y="237573"/>
                  </a:lnTo>
                  <a:lnTo>
                    <a:pt x="1468644" y="213965"/>
                  </a:lnTo>
                  <a:lnTo>
                    <a:pt x="1518399" y="192925"/>
                  </a:lnTo>
                  <a:lnTo>
                    <a:pt x="1558683" y="177725"/>
                  </a:lnTo>
                  <a:lnTo>
                    <a:pt x="1600542" y="162174"/>
                  </a:lnTo>
                  <a:lnTo>
                    <a:pt x="1643862" y="146438"/>
                  </a:lnTo>
                  <a:lnTo>
                    <a:pt x="1688534" y="130684"/>
                  </a:lnTo>
                  <a:lnTo>
                    <a:pt x="1734447" y="115077"/>
                  </a:lnTo>
                  <a:lnTo>
                    <a:pt x="1781489" y="99785"/>
                  </a:lnTo>
                  <a:lnTo>
                    <a:pt x="1829549" y="84975"/>
                  </a:lnTo>
                  <a:lnTo>
                    <a:pt x="1878516" y="70812"/>
                  </a:lnTo>
                  <a:lnTo>
                    <a:pt x="1928279" y="57464"/>
                  </a:lnTo>
                  <a:lnTo>
                    <a:pt x="1978728" y="45097"/>
                  </a:lnTo>
                  <a:lnTo>
                    <a:pt x="2029750" y="33879"/>
                  </a:lnTo>
                  <a:lnTo>
                    <a:pt x="2081235" y="23974"/>
                  </a:lnTo>
                  <a:lnTo>
                    <a:pt x="2133071" y="15551"/>
                  </a:lnTo>
                  <a:lnTo>
                    <a:pt x="2185149" y="8775"/>
                  </a:lnTo>
                  <a:lnTo>
                    <a:pt x="2237356" y="3813"/>
                  </a:lnTo>
                  <a:lnTo>
                    <a:pt x="2289581" y="833"/>
                  </a:lnTo>
                  <a:lnTo>
                    <a:pt x="2341714" y="0"/>
                  </a:lnTo>
                  <a:lnTo>
                    <a:pt x="2393644" y="1481"/>
                  </a:lnTo>
                  <a:lnTo>
                    <a:pt x="2445258" y="5442"/>
                  </a:lnTo>
                  <a:lnTo>
                    <a:pt x="2496447" y="12052"/>
                  </a:lnTo>
                  <a:lnTo>
                    <a:pt x="2547099" y="21475"/>
                  </a:lnTo>
                  <a:lnTo>
                    <a:pt x="2586674" y="31811"/>
                  </a:lnTo>
                  <a:lnTo>
                    <a:pt x="2627024" y="45684"/>
                  </a:lnTo>
                  <a:lnTo>
                    <a:pt x="2668062" y="62789"/>
                  </a:lnTo>
                  <a:lnTo>
                    <a:pt x="2709702" y="82820"/>
                  </a:lnTo>
                  <a:lnTo>
                    <a:pt x="2751855" y="105474"/>
                  </a:lnTo>
                  <a:lnTo>
                    <a:pt x="2794435" y="130444"/>
                  </a:lnTo>
                  <a:lnTo>
                    <a:pt x="2837355" y="157426"/>
                  </a:lnTo>
                  <a:lnTo>
                    <a:pt x="2880528" y="186116"/>
                  </a:lnTo>
                  <a:lnTo>
                    <a:pt x="2923865" y="216208"/>
                  </a:lnTo>
                  <a:lnTo>
                    <a:pt x="2967282" y="247398"/>
                  </a:lnTo>
                  <a:lnTo>
                    <a:pt x="3010689" y="279380"/>
                  </a:lnTo>
                  <a:lnTo>
                    <a:pt x="3054001" y="311850"/>
                  </a:lnTo>
                  <a:lnTo>
                    <a:pt x="3097130" y="344503"/>
                  </a:lnTo>
                  <a:lnTo>
                    <a:pt x="3139989" y="377034"/>
                  </a:lnTo>
                  <a:lnTo>
                    <a:pt x="3182491" y="409138"/>
                  </a:lnTo>
                  <a:lnTo>
                    <a:pt x="3224548" y="440511"/>
                  </a:lnTo>
                  <a:lnTo>
                    <a:pt x="3266074" y="470847"/>
                  </a:lnTo>
                  <a:lnTo>
                    <a:pt x="3306982" y="499841"/>
                  </a:lnTo>
                  <a:lnTo>
                    <a:pt x="3347184" y="527190"/>
                  </a:lnTo>
                  <a:lnTo>
                    <a:pt x="3386594" y="552587"/>
                  </a:lnTo>
                  <a:lnTo>
                    <a:pt x="3425123" y="575728"/>
                  </a:lnTo>
                  <a:lnTo>
                    <a:pt x="3462686" y="596308"/>
                  </a:lnTo>
                  <a:lnTo>
                    <a:pt x="3499195" y="614022"/>
                  </a:lnTo>
                  <a:lnTo>
                    <a:pt x="3534563" y="628566"/>
                  </a:lnTo>
                  <a:lnTo>
                    <a:pt x="3601527" y="646922"/>
                  </a:lnTo>
                  <a:lnTo>
                    <a:pt x="3632949" y="650125"/>
                  </a:lnTo>
                  <a:lnTo>
                    <a:pt x="3676681" y="649084"/>
                  </a:lnTo>
                  <a:lnTo>
                    <a:pt x="3718277" y="643057"/>
                  </a:lnTo>
                  <a:lnTo>
                    <a:pt x="3757857" y="632330"/>
                  </a:lnTo>
                  <a:lnTo>
                    <a:pt x="3795546" y="617187"/>
                  </a:lnTo>
                  <a:lnTo>
                    <a:pt x="3831464" y="597913"/>
                  </a:lnTo>
                  <a:lnTo>
                    <a:pt x="3865734" y="574795"/>
                  </a:lnTo>
                  <a:lnTo>
                    <a:pt x="3898479" y="548117"/>
                  </a:lnTo>
                  <a:lnTo>
                    <a:pt x="3929820" y="518164"/>
                  </a:lnTo>
                  <a:lnTo>
                    <a:pt x="3959880" y="485222"/>
                  </a:lnTo>
                  <a:lnTo>
                    <a:pt x="3988781" y="449575"/>
                  </a:lnTo>
                  <a:lnTo>
                    <a:pt x="4016646" y="411510"/>
                  </a:lnTo>
                  <a:lnTo>
                    <a:pt x="4043596" y="371311"/>
                  </a:lnTo>
                  <a:lnTo>
                    <a:pt x="4069754" y="329263"/>
                  </a:lnTo>
                  <a:lnTo>
                    <a:pt x="4095243" y="285653"/>
                  </a:lnTo>
                  <a:lnTo>
                    <a:pt x="4120183" y="240764"/>
                  </a:lnTo>
                  <a:lnTo>
                    <a:pt x="4144699" y="194882"/>
                  </a:lnTo>
                  <a:lnTo>
                    <a:pt x="4168911" y="148293"/>
                  </a:lnTo>
                  <a:lnTo>
                    <a:pt x="4192943" y="101282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20804" y="2712274"/>
              <a:ext cx="79375" cy="88265"/>
            </a:xfrm>
            <a:custGeom>
              <a:avLst/>
              <a:gdLst/>
              <a:ahLst/>
              <a:cxnLst/>
              <a:rect l="l" t="t" r="r" b="b"/>
              <a:pathLst>
                <a:path w="79375" h="88264">
                  <a:moveTo>
                    <a:pt x="0" y="47777"/>
                  </a:moveTo>
                  <a:lnTo>
                    <a:pt x="74155" y="0"/>
                  </a:lnTo>
                  <a:lnTo>
                    <a:pt x="79248" y="8807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01680" y="3479694"/>
              <a:ext cx="85090" cy="86360"/>
            </a:xfrm>
            <a:custGeom>
              <a:avLst/>
              <a:gdLst/>
              <a:ahLst/>
              <a:cxnLst/>
              <a:rect l="l" t="t" r="r" b="b"/>
              <a:pathLst>
                <a:path w="85089" h="86360">
                  <a:moveTo>
                    <a:pt x="84620" y="86321"/>
                  </a:moveTo>
                  <a:lnTo>
                    <a:pt x="0" y="61404"/>
                  </a:lnTo>
                  <a:lnTo>
                    <a:pt x="63347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5789216" y="1595691"/>
            <a:ext cx="12153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00CC"/>
                </a:solidFill>
                <a:latin typeface="Times New Roman"/>
                <a:cs typeface="Times New Roman"/>
              </a:rPr>
              <a:t>Server</a:t>
            </a:r>
            <a:r>
              <a:rPr sz="1500" b="1" spc="-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5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process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02966" y="1624266"/>
            <a:ext cx="132207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00CC"/>
                </a:solidFill>
                <a:latin typeface="Times New Roman"/>
                <a:cs typeface="Times New Roman"/>
              </a:rPr>
              <a:t>Client</a:t>
            </a:r>
            <a:r>
              <a:rPr sz="150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00CC"/>
                </a:solidFill>
                <a:latin typeface="Times New Roman"/>
                <a:cs typeface="Times New Roman"/>
              </a:rPr>
              <a:t>1</a:t>
            </a:r>
            <a:r>
              <a:rPr sz="15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 Process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619500" y="2174748"/>
            <a:ext cx="1600200" cy="858519"/>
          </a:xfrm>
          <a:prstGeom prst="rect">
            <a:avLst/>
          </a:prstGeom>
          <a:solidFill>
            <a:srgbClr val="0077A1"/>
          </a:solidFill>
          <a:ln w="12700">
            <a:solidFill>
              <a:srgbClr val="000000"/>
            </a:solidFill>
          </a:ln>
        </p:spPr>
        <p:txBody>
          <a:bodyPr vert="horz" wrap="square" lIns="0" tIns="259715" rIns="0" bIns="0" rtlCol="0">
            <a:spAutoFit/>
          </a:bodyPr>
          <a:lstStyle/>
          <a:p>
            <a:pPr marL="333375">
              <a:lnSpc>
                <a:spcPct val="100000"/>
              </a:lnSpc>
              <a:spcBef>
                <a:spcPts val="2045"/>
              </a:spcBef>
            </a:pPr>
            <a:r>
              <a:rPr sz="2100" b="1" spc="-10" dirty="0">
                <a:latin typeface="Times New Roman"/>
                <a:cs typeface="Times New Roman"/>
              </a:rPr>
              <a:t>Internet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60116" y="3161410"/>
            <a:ext cx="4665345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0000CC"/>
                </a:solidFill>
                <a:latin typeface="Times New Roman"/>
                <a:cs typeface="Times New Roman"/>
              </a:rPr>
              <a:t>Client</a:t>
            </a:r>
            <a:r>
              <a:rPr sz="1500" b="1" spc="-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00CC"/>
                </a:solidFill>
                <a:latin typeface="Times New Roman"/>
                <a:cs typeface="Times New Roman"/>
              </a:rPr>
              <a:t>2</a:t>
            </a:r>
            <a:r>
              <a:rPr sz="1500" b="1" spc="-10" dirty="0">
                <a:solidFill>
                  <a:srgbClr val="0000CC"/>
                </a:solidFill>
                <a:latin typeface="Times New Roman"/>
                <a:cs typeface="Times New Roman"/>
              </a:rPr>
              <a:t> Process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500">
              <a:latin typeface="Times New Roman"/>
              <a:cs typeface="Times New Roman"/>
            </a:endParaRPr>
          </a:p>
          <a:p>
            <a:pPr marL="1267460">
              <a:lnSpc>
                <a:spcPct val="100000"/>
              </a:lnSpc>
            </a:pP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Serving</a:t>
            </a:r>
            <a:r>
              <a:rPr sz="1800" spc="-4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multiple</a:t>
            </a:r>
            <a:r>
              <a:rPr sz="1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00FF"/>
                </a:solidFill>
                <a:latin typeface="Calibri"/>
                <a:cs typeface="Calibri"/>
              </a:rPr>
              <a:t>clients</a:t>
            </a:r>
            <a:r>
              <a:rPr sz="1800" spc="-3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Calibri"/>
                <a:cs typeface="Calibri"/>
              </a:rPr>
              <a:t>concurrently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-4762" y="201168"/>
            <a:ext cx="9153525" cy="902335"/>
            <a:chOff x="-4762" y="201168"/>
            <a:chExt cx="9153525" cy="902335"/>
          </a:xfrm>
        </p:grpSpPr>
        <p:sp>
          <p:nvSpPr>
            <p:cNvPr id="34" name="object 34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8"/>
              <a:ext cx="4585715" cy="902207"/>
            </a:xfrm>
            <a:prstGeom prst="rect">
              <a:avLst/>
            </a:prstGeom>
          </p:spPr>
        </p:pic>
      </p:grpSp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578612" y="311150"/>
            <a:ext cx="4075429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95" dirty="0"/>
              <a:t>Multithreaded</a:t>
            </a:r>
            <a:r>
              <a:rPr sz="3200" spc="-30" dirty="0"/>
              <a:t> </a:t>
            </a:r>
            <a:r>
              <a:rPr sz="3200" spc="-85" dirty="0"/>
              <a:t>server</a:t>
            </a:r>
            <a:endParaRPr sz="3200"/>
          </a:p>
        </p:txBody>
      </p:sp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049" y="3884206"/>
            <a:ext cx="50596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 Light"/>
                <a:cs typeface="Calibri Light"/>
              </a:rPr>
              <a:t>“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Editing”</a:t>
            </a:r>
            <a:r>
              <a:rPr sz="18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8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“Printing”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documents</a:t>
            </a:r>
            <a:r>
              <a:rPr sz="18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are</a:t>
            </a:r>
            <a:r>
              <a:rPr sz="18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in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background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01167"/>
            <a:ext cx="9153525" cy="902335"/>
            <a:chOff x="-4762" y="201167"/>
            <a:chExt cx="9153525" cy="902335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7"/>
              <a:ext cx="7342631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/>
              <a:t>Modern</a:t>
            </a:r>
            <a:r>
              <a:rPr sz="3200" spc="-130" dirty="0"/>
              <a:t> </a:t>
            </a:r>
            <a:r>
              <a:rPr sz="3200" spc="-20" dirty="0"/>
              <a:t>applications</a:t>
            </a:r>
            <a:r>
              <a:rPr sz="3200" spc="-130" dirty="0"/>
              <a:t> </a:t>
            </a:r>
            <a:r>
              <a:rPr sz="3200" spc="55" dirty="0"/>
              <a:t>need</a:t>
            </a:r>
            <a:r>
              <a:rPr sz="3200" spc="-130" dirty="0"/>
              <a:t> </a:t>
            </a:r>
            <a:r>
              <a:rPr sz="3200" spc="-65" dirty="0"/>
              <a:t>threads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899076" y="1600410"/>
            <a:ext cx="6743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00CC"/>
                </a:solidFill>
                <a:latin typeface="Arial MT"/>
                <a:cs typeface="Arial MT"/>
              </a:rPr>
              <a:t>Printing thread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97877" y="2215916"/>
            <a:ext cx="6102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00CC"/>
                </a:solidFill>
                <a:latin typeface="Arial MT"/>
                <a:cs typeface="Arial MT"/>
              </a:rPr>
              <a:t>Editing thread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29942" y="1407026"/>
            <a:ext cx="4973196" cy="2102152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6809232" y="2180843"/>
            <a:ext cx="207645" cy="105410"/>
          </a:xfrm>
          <a:custGeom>
            <a:avLst/>
            <a:gdLst/>
            <a:ahLst/>
            <a:cxnLst/>
            <a:rect l="l" t="t" r="r" b="b"/>
            <a:pathLst>
              <a:path w="207645" h="105410">
                <a:moveTo>
                  <a:pt x="205740" y="0"/>
                </a:moveTo>
                <a:lnTo>
                  <a:pt x="0" y="0"/>
                </a:lnTo>
                <a:lnTo>
                  <a:pt x="0" y="36576"/>
                </a:lnTo>
                <a:lnTo>
                  <a:pt x="205740" y="36576"/>
                </a:lnTo>
                <a:lnTo>
                  <a:pt x="205740" y="0"/>
                </a:lnTo>
                <a:close/>
              </a:path>
              <a:path w="207645" h="105410">
                <a:moveTo>
                  <a:pt x="207264" y="68580"/>
                </a:moveTo>
                <a:lnTo>
                  <a:pt x="0" y="68580"/>
                </a:lnTo>
                <a:lnTo>
                  <a:pt x="0" y="105156"/>
                </a:lnTo>
                <a:lnTo>
                  <a:pt x="207264" y="105156"/>
                </a:lnTo>
                <a:lnTo>
                  <a:pt x="207264" y="6858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61260" y="973708"/>
            <a:ext cx="1977389" cy="1754505"/>
            <a:chOff x="1961260" y="973708"/>
            <a:chExt cx="1977389" cy="17545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4435" y="976883"/>
              <a:ext cx="1970532" cy="17480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964435" y="976883"/>
              <a:ext cx="1971039" cy="1748155"/>
            </a:xfrm>
            <a:custGeom>
              <a:avLst/>
              <a:gdLst/>
              <a:ahLst/>
              <a:cxnLst/>
              <a:rect l="l" t="t" r="r" b="b"/>
              <a:pathLst>
                <a:path w="1971039" h="1748155">
                  <a:moveTo>
                    <a:pt x="0" y="0"/>
                  </a:moveTo>
                  <a:lnTo>
                    <a:pt x="1970532" y="0"/>
                  </a:lnTo>
                  <a:lnTo>
                    <a:pt x="1970532" y="1748027"/>
                  </a:lnTo>
                  <a:lnTo>
                    <a:pt x="0" y="1748027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019697" y="949122"/>
            <a:ext cx="1833245" cy="172212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writer()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50" spc="-50" dirty="0">
                <a:solidFill>
                  <a:srgbClr val="B33114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 -</a:t>
            </a: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endParaRPr sz="1050">
              <a:latin typeface="Courier New"/>
              <a:cs typeface="Courier New"/>
            </a:endParaRPr>
          </a:p>
          <a:p>
            <a:pPr marL="469900" marR="5080">
              <a:lnSpc>
                <a:spcPct val="120000"/>
              </a:lnSpc>
            </a:pP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lock(buff[i]); write(src,buff[i]</a:t>
            </a:r>
            <a:endParaRPr sz="10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050" spc="-25" dirty="0">
                <a:solidFill>
                  <a:srgbClr val="B33114"/>
                </a:solidFill>
                <a:latin typeface="Courier New"/>
                <a:cs typeface="Courier New"/>
              </a:rPr>
              <a:t>);</a:t>
            </a:r>
            <a:endParaRPr sz="10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unlock(buff[i]);</a:t>
            </a:r>
            <a:endParaRPr sz="10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 -</a:t>
            </a: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50" spc="-50" dirty="0">
                <a:solidFill>
                  <a:srgbClr val="B33114"/>
                </a:solidFill>
                <a:latin typeface="Courier New"/>
                <a:cs typeface="Courier New"/>
              </a:rPr>
              <a:t>}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32348" y="1001141"/>
            <a:ext cx="2097405" cy="1593215"/>
            <a:chOff x="5332348" y="1001141"/>
            <a:chExt cx="2097405" cy="159321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5523" y="1004316"/>
              <a:ext cx="2090927" cy="1586484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335523" y="1004316"/>
              <a:ext cx="2091055" cy="1586865"/>
            </a:xfrm>
            <a:custGeom>
              <a:avLst/>
              <a:gdLst/>
              <a:ahLst/>
              <a:cxnLst/>
              <a:rect l="l" t="t" r="r" b="b"/>
              <a:pathLst>
                <a:path w="2091054" h="1586864">
                  <a:moveTo>
                    <a:pt x="0" y="0"/>
                  </a:moveTo>
                  <a:lnTo>
                    <a:pt x="2090927" y="0"/>
                  </a:lnTo>
                  <a:lnTo>
                    <a:pt x="2090927" y="1586484"/>
                  </a:lnTo>
                  <a:lnTo>
                    <a:pt x="0" y="1586484"/>
                  </a:lnTo>
                  <a:lnTo>
                    <a:pt x="0" y="0"/>
                  </a:lnTo>
                  <a:close/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390357" y="977648"/>
            <a:ext cx="1911350" cy="15621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reader()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50" spc="-50" dirty="0">
                <a:solidFill>
                  <a:srgbClr val="B33114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469265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 -</a:t>
            </a: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endParaRPr sz="10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lock(buff[i]);</a:t>
            </a:r>
            <a:endParaRPr sz="10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read(src,buff[i]);</a:t>
            </a:r>
            <a:endParaRPr sz="10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0"/>
              </a:spcBef>
            </a:pP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unlock(buff[i]);</a:t>
            </a:r>
            <a:endParaRPr sz="105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4"/>
              </a:spcBef>
            </a:pP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 -</a:t>
            </a: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5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r>
              <a:rPr sz="1050" spc="-10" dirty="0">
                <a:solidFill>
                  <a:srgbClr val="B33114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B33114"/>
                </a:solidFill>
                <a:latin typeface="Courier New"/>
                <a:cs typeface="Courier New"/>
              </a:rPr>
              <a:t>-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050" spc="-50" dirty="0">
                <a:solidFill>
                  <a:srgbClr val="B33114"/>
                </a:solidFill>
                <a:latin typeface="Courier New"/>
                <a:cs typeface="Courier New"/>
              </a:rPr>
              <a:t>}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01494" y="3127501"/>
            <a:ext cx="850265" cy="635000"/>
            <a:chOff x="2301494" y="3127501"/>
            <a:chExt cx="850265" cy="635000"/>
          </a:xfrm>
        </p:grpSpPr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4194" y="3541013"/>
              <a:ext cx="824483" cy="20878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314194" y="3541013"/>
              <a:ext cx="824865" cy="208915"/>
            </a:xfrm>
            <a:custGeom>
              <a:avLst/>
              <a:gdLst/>
              <a:ahLst/>
              <a:cxnLst/>
              <a:rect l="l" t="t" r="r" b="b"/>
              <a:pathLst>
                <a:path w="824864" h="208914">
                  <a:moveTo>
                    <a:pt x="0" y="104394"/>
                  </a:moveTo>
                  <a:lnTo>
                    <a:pt x="25791" y="67966"/>
                  </a:lnTo>
                  <a:lnTo>
                    <a:pt x="96954" y="37133"/>
                  </a:lnTo>
                  <a:lnTo>
                    <a:pt x="146640" y="24551"/>
                  </a:lnTo>
                  <a:lnTo>
                    <a:pt x="204176" y="14252"/>
                  </a:lnTo>
                  <a:lnTo>
                    <a:pt x="268398" y="6530"/>
                  </a:lnTo>
                  <a:lnTo>
                    <a:pt x="338141" y="1681"/>
                  </a:lnTo>
                  <a:lnTo>
                    <a:pt x="412242" y="0"/>
                  </a:lnTo>
                  <a:lnTo>
                    <a:pt x="486342" y="1681"/>
                  </a:lnTo>
                  <a:lnTo>
                    <a:pt x="556085" y="6530"/>
                  </a:lnTo>
                  <a:lnTo>
                    <a:pt x="620307" y="14252"/>
                  </a:lnTo>
                  <a:lnTo>
                    <a:pt x="677843" y="24551"/>
                  </a:lnTo>
                  <a:lnTo>
                    <a:pt x="727529" y="37133"/>
                  </a:lnTo>
                  <a:lnTo>
                    <a:pt x="768200" y="51703"/>
                  </a:lnTo>
                  <a:lnTo>
                    <a:pt x="817842" y="85628"/>
                  </a:lnTo>
                  <a:lnTo>
                    <a:pt x="824484" y="104394"/>
                  </a:lnTo>
                  <a:lnTo>
                    <a:pt x="817842" y="123159"/>
                  </a:lnTo>
                  <a:lnTo>
                    <a:pt x="768200" y="157084"/>
                  </a:lnTo>
                  <a:lnTo>
                    <a:pt x="727529" y="171654"/>
                  </a:lnTo>
                  <a:lnTo>
                    <a:pt x="677843" y="184236"/>
                  </a:lnTo>
                  <a:lnTo>
                    <a:pt x="620307" y="194535"/>
                  </a:lnTo>
                  <a:lnTo>
                    <a:pt x="556085" y="202257"/>
                  </a:lnTo>
                  <a:lnTo>
                    <a:pt x="486342" y="207106"/>
                  </a:lnTo>
                  <a:lnTo>
                    <a:pt x="412242" y="208788"/>
                  </a:lnTo>
                  <a:lnTo>
                    <a:pt x="338141" y="207106"/>
                  </a:lnTo>
                  <a:lnTo>
                    <a:pt x="268398" y="202257"/>
                  </a:lnTo>
                  <a:lnTo>
                    <a:pt x="204176" y="194535"/>
                  </a:lnTo>
                  <a:lnTo>
                    <a:pt x="146640" y="184236"/>
                  </a:lnTo>
                  <a:lnTo>
                    <a:pt x="96954" y="171654"/>
                  </a:lnTo>
                  <a:lnTo>
                    <a:pt x="56283" y="157084"/>
                  </a:lnTo>
                  <a:lnTo>
                    <a:pt x="6641" y="123159"/>
                  </a:lnTo>
                  <a:lnTo>
                    <a:pt x="0" y="1043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4194" y="3483101"/>
              <a:ext cx="824483" cy="21031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314194" y="3483101"/>
              <a:ext cx="824865" cy="210820"/>
            </a:xfrm>
            <a:custGeom>
              <a:avLst/>
              <a:gdLst/>
              <a:ahLst/>
              <a:cxnLst/>
              <a:rect l="l" t="t" r="r" b="b"/>
              <a:pathLst>
                <a:path w="824864" h="210820">
                  <a:moveTo>
                    <a:pt x="0" y="105156"/>
                  </a:moveTo>
                  <a:lnTo>
                    <a:pt x="25791" y="68463"/>
                  </a:lnTo>
                  <a:lnTo>
                    <a:pt x="96954" y="37404"/>
                  </a:lnTo>
                  <a:lnTo>
                    <a:pt x="146640" y="24731"/>
                  </a:lnTo>
                  <a:lnTo>
                    <a:pt x="204176" y="14356"/>
                  </a:lnTo>
                  <a:lnTo>
                    <a:pt x="268398" y="6578"/>
                  </a:lnTo>
                  <a:lnTo>
                    <a:pt x="338141" y="1694"/>
                  </a:lnTo>
                  <a:lnTo>
                    <a:pt x="412242" y="0"/>
                  </a:lnTo>
                  <a:lnTo>
                    <a:pt x="486342" y="1694"/>
                  </a:lnTo>
                  <a:lnTo>
                    <a:pt x="556085" y="6578"/>
                  </a:lnTo>
                  <a:lnTo>
                    <a:pt x="620307" y="14356"/>
                  </a:lnTo>
                  <a:lnTo>
                    <a:pt x="677843" y="24731"/>
                  </a:lnTo>
                  <a:lnTo>
                    <a:pt x="727529" y="37404"/>
                  </a:lnTo>
                  <a:lnTo>
                    <a:pt x="768200" y="52081"/>
                  </a:lnTo>
                  <a:lnTo>
                    <a:pt x="817842" y="86253"/>
                  </a:lnTo>
                  <a:lnTo>
                    <a:pt x="824484" y="105156"/>
                  </a:lnTo>
                  <a:lnTo>
                    <a:pt x="817842" y="124058"/>
                  </a:lnTo>
                  <a:lnTo>
                    <a:pt x="768200" y="158230"/>
                  </a:lnTo>
                  <a:lnTo>
                    <a:pt x="727529" y="172907"/>
                  </a:lnTo>
                  <a:lnTo>
                    <a:pt x="677843" y="185580"/>
                  </a:lnTo>
                  <a:lnTo>
                    <a:pt x="620307" y="195955"/>
                  </a:lnTo>
                  <a:lnTo>
                    <a:pt x="556085" y="203733"/>
                  </a:lnTo>
                  <a:lnTo>
                    <a:pt x="486342" y="208617"/>
                  </a:lnTo>
                  <a:lnTo>
                    <a:pt x="412242" y="210312"/>
                  </a:lnTo>
                  <a:lnTo>
                    <a:pt x="338141" y="208617"/>
                  </a:lnTo>
                  <a:lnTo>
                    <a:pt x="268398" y="203733"/>
                  </a:lnTo>
                  <a:lnTo>
                    <a:pt x="204176" y="195955"/>
                  </a:lnTo>
                  <a:lnTo>
                    <a:pt x="146640" y="185580"/>
                  </a:lnTo>
                  <a:lnTo>
                    <a:pt x="96954" y="172907"/>
                  </a:lnTo>
                  <a:lnTo>
                    <a:pt x="56283" y="158230"/>
                  </a:lnTo>
                  <a:lnTo>
                    <a:pt x="6641" y="124058"/>
                  </a:lnTo>
                  <a:lnTo>
                    <a:pt x="0" y="105156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4194" y="3426713"/>
              <a:ext cx="824483" cy="20878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14194" y="3426713"/>
              <a:ext cx="824865" cy="208915"/>
            </a:xfrm>
            <a:custGeom>
              <a:avLst/>
              <a:gdLst/>
              <a:ahLst/>
              <a:cxnLst/>
              <a:rect l="l" t="t" r="r" b="b"/>
              <a:pathLst>
                <a:path w="824864" h="208914">
                  <a:moveTo>
                    <a:pt x="0" y="104394"/>
                  </a:moveTo>
                  <a:lnTo>
                    <a:pt x="25791" y="67966"/>
                  </a:lnTo>
                  <a:lnTo>
                    <a:pt x="96954" y="37133"/>
                  </a:lnTo>
                  <a:lnTo>
                    <a:pt x="146640" y="24551"/>
                  </a:lnTo>
                  <a:lnTo>
                    <a:pt x="204176" y="14252"/>
                  </a:lnTo>
                  <a:lnTo>
                    <a:pt x="268398" y="6530"/>
                  </a:lnTo>
                  <a:lnTo>
                    <a:pt x="338141" y="1681"/>
                  </a:lnTo>
                  <a:lnTo>
                    <a:pt x="412242" y="0"/>
                  </a:lnTo>
                  <a:lnTo>
                    <a:pt x="486342" y="1681"/>
                  </a:lnTo>
                  <a:lnTo>
                    <a:pt x="556085" y="6530"/>
                  </a:lnTo>
                  <a:lnTo>
                    <a:pt x="620307" y="14252"/>
                  </a:lnTo>
                  <a:lnTo>
                    <a:pt x="677843" y="24551"/>
                  </a:lnTo>
                  <a:lnTo>
                    <a:pt x="727529" y="37133"/>
                  </a:lnTo>
                  <a:lnTo>
                    <a:pt x="768200" y="51703"/>
                  </a:lnTo>
                  <a:lnTo>
                    <a:pt x="817842" y="85628"/>
                  </a:lnTo>
                  <a:lnTo>
                    <a:pt x="824484" y="104394"/>
                  </a:lnTo>
                  <a:lnTo>
                    <a:pt x="817842" y="123159"/>
                  </a:lnTo>
                  <a:lnTo>
                    <a:pt x="768200" y="157084"/>
                  </a:lnTo>
                  <a:lnTo>
                    <a:pt x="727529" y="171654"/>
                  </a:lnTo>
                  <a:lnTo>
                    <a:pt x="677843" y="184236"/>
                  </a:lnTo>
                  <a:lnTo>
                    <a:pt x="620307" y="194535"/>
                  </a:lnTo>
                  <a:lnTo>
                    <a:pt x="556085" y="202257"/>
                  </a:lnTo>
                  <a:lnTo>
                    <a:pt x="486342" y="207106"/>
                  </a:lnTo>
                  <a:lnTo>
                    <a:pt x="412242" y="208788"/>
                  </a:lnTo>
                  <a:lnTo>
                    <a:pt x="338141" y="207106"/>
                  </a:lnTo>
                  <a:lnTo>
                    <a:pt x="268398" y="202257"/>
                  </a:lnTo>
                  <a:lnTo>
                    <a:pt x="204176" y="194535"/>
                  </a:lnTo>
                  <a:lnTo>
                    <a:pt x="146640" y="184236"/>
                  </a:lnTo>
                  <a:lnTo>
                    <a:pt x="96954" y="171654"/>
                  </a:lnTo>
                  <a:lnTo>
                    <a:pt x="56283" y="157084"/>
                  </a:lnTo>
                  <a:lnTo>
                    <a:pt x="6641" y="123159"/>
                  </a:lnTo>
                  <a:lnTo>
                    <a:pt x="0" y="1043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4194" y="3426713"/>
              <a:ext cx="824483" cy="20878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314194" y="3426713"/>
              <a:ext cx="824865" cy="208915"/>
            </a:xfrm>
            <a:custGeom>
              <a:avLst/>
              <a:gdLst/>
              <a:ahLst/>
              <a:cxnLst/>
              <a:rect l="l" t="t" r="r" b="b"/>
              <a:pathLst>
                <a:path w="824864" h="208914">
                  <a:moveTo>
                    <a:pt x="0" y="104394"/>
                  </a:moveTo>
                  <a:lnTo>
                    <a:pt x="25791" y="67966"/>
                  </a:lnTo>
                  <a:lnTo>
                    <a:pt x="96954" y="37133"/>
                  </a:lnTo>
                  <a:lnTo>
                    <a:pt x="146640" y="24551"/>
                  </a:lnTo>
                  <a:lnTo>
                    <a:pt x="204176" y="14252"/>
                  </a:lnTo>
                  <a:lnTo>
                    <a:pt x="268398" y="6530"/>
                  </a:lnTo>
                  <a:lnTo>
                    <a:pt x="338141" y="1681"/>
                  </a:lnTo>
                  <a:lnTo>
                    <a:pt x="412242" y="0"/>
                  </a:lnTo>
                  <a:lnTo>
                    <a:pt x="486342" y="1681"/>
                  </a:lnTo>
                  <a:lnTo>
                    <a:pt x="556085" y="6530"/>
                  </a:lnTo>
                  <a:lnTo>
                    <a:pt x="620307" y="14252"/>
                  </a:lnTo>
                  <a:lnTo>
                    <a:pt x="677843" y="24551"/>
                  </a:lnTo>
                  <a:lnTo>
                    <a:pt x="727529" y="37133"/>
                  </a:lnTo>
                  <a:lnTo>
                    <a:pt x="768200" y="51703"/>
                  </a:lnTo>
                  <a:lnTo>
                    <a:pt x="817842" y="85628"/>
                  </a:lnTo>
                  <a:lnTo>
                    <a:pt x="824484" y="104394"/>
                  </a:lnTo>
                  <a:lnTo>
                    <a:pt x="817842" y="123159"/>
                  </a:lnTo>
                  <a:lnTo>
                    <a:pt x="768200" y="157084"/>
                  </a:lnTo>
                  <a:lnTo>
                    <a:pt x="727529" y="171654"/>
                  </a:lnTo>
                  <a:lnTo>
                    <a:pt x="677843" y="184236"/>
                  </a:lnTo>
                  <a:lnTo>
                    <a:pt x="620307" y="194535"/>
                  </a:lnTo>
                  <a:lnTo>
                    <a:pt x="556085" y="202257"/>
                  </a:lnTo>
                  <a:lnTo>
                    <a:pt x="486342" y="207106"/>
                  </a:lnTo>
                  <a:lnTo>
                    <a:pt x="412242" y="208788"/>
                  </a:lnTo>
                  <a:lnTo>
                    <a:pt x="338141" y="207106"/>
                  </a:lnTo>
                  <a:lnTo>
                    <a:pt x="268398" y="202257"/>
                  </a:lnTo>
                  <a:lnTo>
                    <a:pt x="204176" y="194535"/>
                  </a:lnTo>
                  <a:lnTo>
                    <a:pt x="146640" y="184236"/>
                  </a:lnTo>
                  <a:lnTo>
                    <a:pt x="96954" y="171654"/>
                  </a:lnTo>
                  <a:lnTo>
                    <a:pt x="56283" y="157084"/>
                  </a:lnTo>
                  <a:lnTo>
                    <a:pt x="6641" y="123159"/>
                  </a:lnTo>
                  <a:lnTo>
                    <a:pt x="0" y="104394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4194" y="3368801"/>
              <a:ext cx="824483" cy="21031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14194" y="3368801"/>
              <a:ext cx="824865" cy="210820"/>
            </a:xfrm>
            <a:custGeom>
              <a:avLst/>
              <a:gdLst/>
              <a:ahLst/>
              <a:cxnLst/>
              <a:rect l="l" t="t" r="r" b="b"/>
              <a:pathLst>
                <a:path w="824864" h="210820">
                  <a:moveTo>
                    <a:pt x="0" y="105156"/>
                  </a:moveTo>
                  <a:lnTo>
                    <a:pt x="25791" y="68463"/>
                  </a:lnTo>
                  <a:lnTo>
                    <a:pt x="96954" y="37404"/>
                  </a:lnTo>
                  <a:lnTo>
                    <a:pt x="146640" y="24731"/>
                  </a:lnTo>
                  <a:lnTo>
                    <a:pt x="204176" y="14356"/>
                  </a:lnTo>
                  <a:lnTo>
                    <a:pt x="268398" y="6578"/>
                  </a:lnTo>
                  <a:lnTo>
                    <a:pt x="338141" y="1694"/>
                  </a:lnTo>
                  <a:lnTo>
                    <a:pt x="412242" y="0"/>
                  </a:lnTo>
                  <a:lnTo>
                    <a:pt x="486342" y="1694"/>
                  </a:lnTo>
                  <a:lnTo>
                    <a:pt x="556085" y="6578"/>
                  </a:lnTo>
                  <a:lnTo>
                    <a:pt x="620307" y="14356"/>
                  </a:lnTo>
                  <a:lnTo>
                    <a:pt x="677843" y="24731"/>
                  </a:lnTo>
                  <a:lnTo>
                    <a:pt x="727529" y="37404"/>
                  </a:lnTo>
                  <a:lnTo>
                    <a:pt x="768200" y="52081"/>
                  </a:lnTo>
                  <a:lnTo>
                    <a:pt x="817842" y="86253"/>
                  </a:lnTo>
                  <a:lnTo>
                    <a:pt x="824484" y="105156"/>
                  </a:lnTo>
                  <a:lnTo>
                    <a:pt x="817842" y="124058"/>
                  </a:lnTo>
                  <a:lnTo>
                    <a:pt x="768200" y="158230"/>
                  </a:lnTo>
                  <a:lnTo>
                    <a:pt x="727529" y="172907"/>
                  </a:lnTo>
                  <a:lnTo>
                    <a:pt x="677843" y="185580"/>
                  </a:lnTo>
                  <a:lnTo>
                    <a:pt x="620307" y="195955"/>
                  </a:lnTo>
                  <a:lnTo>
                    <a:pt x="556085" y="203733"/>
                  </a:lnTo>
                  <a:lnTo>
                    <a:pt x="486342" y="208617"/>
                  </a:lnTo>
                  <a:lnTo>
                    <a:pt x="412242" y="210312"/>
                  </a:lnTo>
                  <a:lnTo>
                    <a:pt x="338141" y="208617"/>
                  </a:lnTo>
                  <a:lnTo>
                    <a:pt x="268398" y="203733"/>
                  </a:lnTo>
                  <a:lnTo>
                    <a:pt x="204176" y="195955"/>
                  </a:lnTo>
                  <a:lnTo>
                    <a:pt x="146640" y="185580"/>
                  </a:lnTo>
                  <a:lnTo>
                    <a:pt x="96954" y="172907"/>
                  </a:lnTo>
                  <a:lnTo>
                    <a:pt x="56283" y="158230"/>
                  </a:lnTo>
                  <a:lnTo>
                    <a:pt x="6641" y="124058"/>
                  </a:lnTo>
                  <a:lnTo>
                    <a:pt x="0" y="105156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4194" y="3312413"/>
              <a:ext cx="824483" cy="2087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314194" y="3312413"/>
              <a:ext cx="824865" cy="208915"/>
            </a:xfrm>
            <a:custGeom>
              <a:avLst/>
              <a:gdLst/>
              <a:ahLst/>
              <a:cxnLst/>
              <a:rect l="l" t="t" r="r" b="b"/>
              <a:pathLst>
                <a:path w="824864" h="208914">
                  <a:moveTo>
                    <a:pt x="0" y="104393"/>
                  </a:moveTo>
                  <a:lnTo>
                    <a:pt x="25791" y="67966"/>
                  </a:lnTo>
                  <a:lnTo>
                    <a:pt x="96954" y="37133"/>
                  </a:lnTo>
                  <a:lnTo>
                    <a:pt x="146640" y="24551"/>
                  </a:lnTo>
                  <a:lnTo>
                    <a:pt x="204176" y="14252"/>
                  </a:lnTo>
                  <a:lnTo>
                    <a:pt x="268398" y="6530"/>
                  </a:lnTo>
                  <a:lnTo>
                    <a:pt x="338141" y="1681"/>
                  </a:lnTo>
                  <a:lnTo>
                    <a:pt x="412242" y="0"/>
                  </a:lnTo>
                  <a:lnTo>
                    <a:pt x="486342" y="1681"/>
                  </a:lnTo>
                  <a:lnTo>
                    <a:pt x="556085" y="6530"/>
                  </a:lnTo>
                  <a:lnTo>
                    <a:pt x="620307" y="14252"/>
                  </a:lnTo>
                  <a:lnTo>
                    <a:pt x="677843" y="24551"/>
                  </a:lnTo>
                  <a:lnTo>
                    <a:pt x="727529" y="37133"/>
                  </a:lnTo>
                  <a:lnTo>
                    <a:pt x="768200" y="51703"/>
                  </a:lnTo>
                  <a:lnTo>
                    <a:pt x="817842" y="85628"/>
                  </a:lnTo>
                  <a:lnTo>
                    <a:pt x="824484" y="104393"/>
                  </a:lnTo>
                  <a:lnTo>
                    <a:pt x="817842" y="123159"/>
                  </a:lnTo>
                  <a:lnTo>
                    <a:pt x="768200" y="157084"/>
                  </a:lnTo>
                  <a:lnTo>
                    <a:pt x="727529" y="171654"/>
                  </a:lnTo>
                  <a:lnTo>
                    <a:pt x="677843" y="184236"/>
                  </a:lnTo>
                  <a:lnTo>
                    <a:pt x="620307" y="194535"/>
                  </a:lnTo>
                  <a:lnTo>
                    <a:pt x="556085" y="202257"/>
                  </a:lnTo>
                  <a:lnTo>
                    <a:pt x="486342" y="207106"/>
                  </a:lnTo>
                  <a:lnTo>
                    <a:pt x="412242" y="208787"/>
                  </a:lnTo>
                  <a:lnTo>
                    <a:pt x="338141" y="207106"/>
                  </a:lnTo>
                  <a:lnTo>
                    <a:pt x="268398" y="202257"/>
                  </a:lnTo>
                  <a:lnTo>
                    <a:pt x="204176" y="194535"/>
                  </a:lnTo>
                  <a:lnTo>
                    <a:pt x="146640" y="184236"/>
                  </a:lnTo>
                  <a:lnTo>
                    <a:pt x="96954" y="171654"/>
                  </a:lnTo>
                  <a:lnTo>
                    <a:pt x="56283" y="157084"/>
                  </a:lnTo>
                  <a:lnTo>
                    <a:pt x="6641" y="123159"/>
                  </a:lnTo>
                  <a:lnTo>
                    <a:pt x="0" y="10439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4194" y="3254501"/>
              <a:ext cx="824483" cy="2103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314194" y="3254501"/>
              <a:ext cx="824865" cy="210820"/>
            </a:xfrm>
            <a:custGeom>
              <a:avLst/>
              <a:gdLst/>
              <a:ahLst/>
              <a:cxnLst/>
              <a:rect l="l" t="t" r="r" b="b"/>
              <a:pathLst>
                <a:path w="824864" h="210820">
                  <a:moveTo>
                    <a:pt x="0" y="105156"/>
                  </a:moveTo>
                  <a:lnTo>
                    <a:pt x="25791" y="68463"/>
                  </a:lnTo>
                  <a:lnTo>
                    <a:pt x="96954" y="37404"/>
                  </a:lnTo>
                  <a:lnTo>
                    <a:pt x="146640" y="24731"/>
                  </a:lnTo>
                  <a:lnTo>
                    <a:pt x="204176" y="14356"/>
                  </a:lnTo>
                  <a:lnTo>
                    <a:pt x="268398" y="6578"/>
                  </a:lnTo>
                  <a:lnTo>
                    <a:pt x="338141" y="1694"/>
                  </a:lnTo>
                  <a:lnTo>
                    <a:pt x="412242" y="0"/>
                  </a:lnTo>
                  <a:lnTo>
                    <a:pt x="486342" y="1694"/>
                  </a:lnTo>
                  <a:lnTo>
                    <a:pt x="556085" y="6578"/>
                  </a:lnTo>
                  <a:lnTo>
                    <a:pt x="620307" y="14356"/>
                  </a:lnTo>
                  <a:lnTo>
                    <a:pt x="677843" y="24731"/>
                  </a:lnTo>
                  <a:lnTo>
                    <a:pt x="727529" y="37404"/>
                  </a:lnTo>
                  <a:lnTo>
                    <a:pt x="768200" y="52081"/>
                  </a:lnTo>
                  <a:lnTo>
                    <a:pt x="817842" y="86253"/>
                  </a:lnTo>
                  <a:lnTo>
                    <a:pt x="824484" y="105156"/>
                  </a:lnTo>
                  <a:lnTo>
                    <a:pt x="817842" y="124058"/>
                  </a:lnTo>
                  <a:lnTo>
                    <a:pt x="768200" y="158230"/>
                  </a:lnTo>
                  <a:lnTo>
                    <a:pt x="727529" y="172907"/>
                  </a:lnTo>
                  <a:lnTo>
                    <a:pt x="677843" y="185580"/>
                  </a:lnTo>
                  <a:lnTo>
                    <a:pt x="620307" y="195955"/>
                  </a:lnTo>
                  <a:lnTo>
                    <a:pt x="556085" y="203733"/>
                  </a:lnTo>
                  <a:lnTo>
                    <a:pt x="486342" y="208617"/>
                  </a:lnTo>
                  <a:lnTo>
                    <a:pt x="412242" y="210312"/>
                  </a:lnTo>
                  <a:lnTo>
                    <a:pt x="338141" y="208617"/>
                  </a:lnTo>
                  <a:lnTo>
                    <a:pt x="268398" y="203733"/>
                  </a:lnTo>
                  <a:lnTo>
                    <a:pt x="204176" y="195955"/>
                  </a:lnTo>
                  <a:lnTo>
                    <a:pt x="146640" y="185580"/>
                  </a:lnTo>
                  <a:lnTo>
                    <a:pt x="96954" y="172907"/>
                  </a:lnTo>
                  <a:lnTo>
                    <a:pt x="56283" y="158230"/>
                  </a:lnTo>
                  <a:lnTo>
                    <a:pt x="6641" y="124058"/>
                  </a:lnTo>
                  <a:lnTo>
                    <a:pt x="0" y="105156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14194" y="3198113"/>
              <a:ext cx="824483" cy="208787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314194" y="3198113"/>
              <a:ext cx="824865" cy="208915"/>
            </a:xfrm>
            <a:custGeom>
              <a:avLst/>
              <a:gdLst/>
              <a:ahLst/>
              <a:cxnLst/>
              <a:rect l="l" t="t" r="r" b="b"/>
              <a:pathLst>
                <a:path w="824864" h="208914">
                  <a:moveTo>
                    <a:pt x="0" y="104393"/>
                  </a:moveTo>
                  <a:lnTo>
                    <a:pt x="25791" y="67966"/>
                  </a:lnTo>
                  <a:lnTo>
                    <a:pt x="96954" y="37133"/>
                  </a:lnTo>
                  <a:lnTo>
                    <a:pt x="146640" y="24551"/>
                  </a:lnTo>
                  <a:lnTo>
                    <a:pt x="204176" y="14252"/>
                  </a:lnTo>
                  <a:lnTo>
                    <a:pt x="268398" y="6530"/>
                  </a:lnTo>
                  <a:lnTo>
                    <a:pt x="338141" y="1681"/>
                  </a:lnTo>
                  <a:lnTo>
                    <a:pt x="412242" y="0"/>
                  </a:lnTo>
                  <a:lnTo>
                    <a:pt x="486342" y="1681"/>
                  </a:lnTo>
                  <a:lnTo>
                    <a:pt x="556085" y="6530"/>
                  </a:lnTo>
                  <a:lnTo>
                    <a:pt x="620307" y="14252"/>
                  </a:lnTo>
                  <a:lnTo>
                    <a:pt x="677843" y="24551"/>
                  </a:lnTo>
                  <a:lnTo>
                    <a:pt x="727529" y="37133"/>
                  </a:lnTo>
                  <a:lnTo>
                    <a:pt x="768200" y="51703"/>
                  </a:lnTo>
                  <a:lnTo>
                    <a:pt x="817842" y="85628"/>
                  </a:lnTo>
                  <a:lnTo>
                    <a:pt x="824484" y="104393"/>
                  </a:lnTo>
                  <a:lnTo>
                    <a:pt x="817842" y="123159"/>
                  </a:lnTo>
                  <a:lnTo>
                    <a:pt x="768200" y="157084"/>
                  </a:lnTo>
                  <a:lnTo>
                    <a:pt x="727529" y="171654"/>
                  </a:lnTo>
                  <a:lnTo>
                    <a:pt x="677843" y="184236"/>
                  </a:lnTo>
                  <a:lnTo>
                    <a:pt x="620307" y="194535"/>
                  </a:lnTo>
                  <a:lnTo>
                    <a:pt x="556085" y="202257"/>
                  </a:lnTo>
                  <a:lnTo>
                    <a:pt x="486342" y="207106"/>
                  </a:lnTo>
                  <a:lnTo>
                    <a:pt x="412242" y="208787"/>
                  </a:lnTo>
                  <a:lnTo>
                    <a:pt x="338141" y="207106"/>
                  </a:lnTo>
                  <a:lnTo>
                    <a:pt x="268398" y="202257"/>
                  </a:lnTo>
                  <a:lnTo>
                    <a:pt x="204176" y="194535"/>
                  </a:lnTo>
                  <a:lnTo>
                    <a:pt x="146640" y="184236"/>
                  </a:lnTo>
                  <a:lnTo>
                    <a:pt x="96954" y="171654"/>
                  </a:lnTo>
                  <a:lnTo>
                    <a:pt x="56283" y="157084"/>
                  </a:lnTo>
                  <a:lnTo>
                    <a:pt x="6641" y="123159"/>
                  </a:lnTo>
                  <a:lnTo>
                    <a:pt x="0" y="104393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14194" y="3140201"/>
              <a:ext cx="824483" cy="210312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314194" y="3140201"/>
              <a:ext cx="824865" cy="210820"/>
            </a:xfrm>
            <a:custGeom>
              <a:avLst/>
              <a:gdLst/>
              <a:ahLst/>
              <a:cxnLst/>
              <a:rect l="l" t="t" r="r" b="b"/>
              <a:pathLst>
                <a:path w="824864" h="210820">
                  <a:moveTo>
                    <a:pt x="0" y="105156"/>
                  </a:moveTo>
                  <a:lnTo>
                    <a:pt x="25791" y="68463"/>
                  </a:lnTo>
                  <a:lnTo>
                    <a:pt x="96954" y="37404"/>
                  </a:lnTo>
                  <a:lnTo>
                    <a:pt x="146640" y="24731"/>
                  </a:lnTo>
                  <a:lnTo>
                    <a:pt x="204176" y="14356"/>
                  </a:lnTo>
                  <a:lnTo>
                    <a:pt x="268398" y="6578"/>
                  </a:lnTo>
                  <a:lnTo>
                    <a:pt x="338141" y="1694"/>
                  </a:lnTo>
                  <a:lnTo>
                    <a:pt x="412242" y="0"/>
                  </a:lnTo>
                  <a:lnTo>
                    <a:pt x="486342" y="1694"/>
                  </a:lnTo>
                  <a:lnTo>
                    <a:pt x="556085" y="6578"/>
                  </a:lnTo>
                  <a:lnTo>
                    <a:pt x="620307" y="14356"/>
                  </a:lnTo>
                  <a:lnTo>
                    <a:pt x="677843" y="24731"/>
                  </a:lnTo>
                  <a:lnTo>
                    <a:pt x="727529" y="37404"/>
                  </a:lnTo>
                  <a:lnTo>
                    <a:pt x="768200" y="52081"/>
                  </a:lnTo>
                  <a:lnTo>
                    <a:pt x="817842" y="86253"/>
                  </a:lnTo>
                  <a:lnTo>
                    <a:pt x="824484" y="105156"/>
                  </a:lnTo>
                  <a:lnTo>
                    <a:pt x="817842" y="124058"/>
                  </a:lnTo>
                  <a:lnTo>
                    <a:pt x="768200" y="158230"/>
                  </a:lnTo>
                  <a:lnTo>
                    <a:pt x="727529" y="172907"/>
                  </a:lnTo>
                  <a:lnTo>
                    <a:pt x="677843" y="185580"/>
                  </a:lnTo>
                  <a:lnTo>
                    <a:pt x="620307" y="195955"/>
                  </a:lnTo>
                  <a:lnTo>
                    <a:pt x="556085" y="203733"/>
                  </a:lnTo>
                  <a:lnTo>
                    <a:pt x="486342" y="208617"/>
                  </a:lnTo>
                  <a:lnTo>
                    <a:pt x="412242" y="210312"/>
                  </a:lnTo>
                  <a:lnTo>
                    <a:pt x="338141" y="208617"/>
                  </a:lnTo>
                  <a:lnTo>
                    <a:pt x="268398" y="203733"/>
                  </a:lnTo>
                  <a:lnTo>
                    <a:pt x="204176" y="195955"/>
                  </a:lnTo>
                  <a:lnTo>
                    <a:pt x="146640" y="185580"/>
                  </a:lnTo>
                  <a:lnTo>
                    <a:pt x="96954" y="172907"/>
                  </a:lnTo>
                  <a:lnTo>
                    <a:pt x="56283" y="158230"/>
                  </a:lnTo>
                  <a:lnTo>
                    <a:pt x="6641" y="124058"/>
                  </a:lnTo>
                  <a:lnTo>
                    <a:pt x="0" y="105156"/>
                  </a:lnTo>
                  <a:close/>
                </a:path>
              </a:pathLst>
            </a:custGeom>
            <a:ln w="253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149597" y="1129030"/>
            <a:ext cx="2673985" cy="2699385"/>
            <a:chOff x="4149597" y="1129030"/>
            <a:chExt cx="2673985" cy="2699385"/>
          </a:xfrm>
        </p:grpSpPr>
        <p:sp>
          <p:nvSpPr>
            <p:cNvPr id="30" name="object 30"/>
            <p:cNvSpPr/>
            <p:nvPr/>
          </p:nvSpPr>
          <p:spPr>
            <a:xfrm>
              <a:off x="6116364" y="3122513"/>
              <a:ext cx="702310" cy="701040"/>
            </a:xfrm>
            <a:custGeom>
              <a:avLst/>
              <a:gdLst/>
              <a:ahLst/>
              <a:cxnLst/>
              <a:rect l="l" t="t" r="r" b="b"/>
              <a:pathLst>
                <a:path w="702309" h="701039">
                  <a:moveTo>
                    <a:pt x="0" y="0"/>
                  </a:moveTo>
                  <a:lnTo>
                    <a:pt x="701934" y="0"/>
                  </a:lnTo>
                  <a:lnTo>
                    <a:pt x="701934" y="700906"/>
                  </a:lnTo>
                  <a:lnTo>
                    <a:pt x="0" y="700906"/>
                  </a:lnTo>
                  <a:lnTo>
                    <a:pt x="0" y="0"/>
                  </a:lnTo>
                  <a:close/>
                </a:path>
              </a:pathLst>
            </a:custGeom>
            <a:ln w="952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22284" y="3126776"/>
              <a:ext cx="690245" cy="690245"/>
            </a:xfrm>
            <a:custGeom>
              <a:avLst/>
              <a:gdLst/>
              <a:ahLst/>
              <a:cxnLst/>
              <a:rect l="l" t="t" r="r" b="b"/>
              <a:pathLst>
                <a:path w="690245" h="690245">
                  <a:moveTo>
                    <a:pt x="690176" y="689949"/>
                  </a:moveTo>
                  <a:lnTo>
                    <a:pt x="0" y="689949"/>
                  </a:lnTo>
                  <a:lnTo>
                    <a:pt x="0" y="0"/>
                  </a:lnTo>
                  <a:lnTo>
                    <a:pt x="690176" y="0"/>
                  </a:lnTo>
                  <a:lnTo>
                    <a:pt x="690176" y="6899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40627" y="3148291"/>
              <a:ext cx="356235" cy="633730"/>
            </a:xfrm>
            <a:custGeom>
              <a:avLst/>
              <a:gdLst/>
              <a:ahLst/>
              <a:cxnLst/>
              <a:rect l="l" t="t" r="r" b="b"/>
              <a:pathLst>
                <a:path w="356234" h="633729">
                  <a:moveTo>
                    <a:pt x="51447" y="608177"/>
                  </a:moveTo>
                  <a:lnTo>
                    <a:pt x="49441" y="598258"/>
                  </a:lnTo>
                  <a:lnTo>
                    <a:pt x="43942" y="590207"/>
                  </a:lnTo>
                  <a:lnTo>
                    <a:pt x="35775" y="584784"/>
                  </a:lnTo>
                  <a:lnTo>
                    <a:pt x="25730" y="582803"/>
                  </a:lnTo>
                  <a:lnTo>
                    <a:pt x="15684" y="584784"/>
                  </a:lnTo>
                  <a:lnTo>
                    <a:pt x="7505" y="590207"/>
                  </a:lnTo>
                  <a:lnTo>
                    <a:pt x="2019" y="598258"/>
                  </a:lnTo>
                  <a:lnTo>
                    <a:pt x="0" y="608177"/>
                  </a:lnTo>
                  <a:lnTo>
                    <a:pt x="2019" y="618083"/>
                  </a:lnTo>
                  <a:lnTo>
                    <a:pt x="7505" y="626135"/>
                  </a:lnTo>
                  <a:lnTo>
                    <a:pt x="15684" y="631558"/>
                  </a:lnTo>
                  <a:lnTo>
                    <a:pt x="25730" y="633539"/>
                  </a:lnTo>
                  <a:lnTo>
                    <a:pt x="35775" y="631558"/>
                  </a:lnTo>
                  <a:lnTo>
                    <a:pt x="43942" y="626135"/>
                  </a:lnTo>
                  <a:lnTo>
                    <a:pt x="49441" y="618083"/>
                  </a:lnTo>
                  <a:lnTo>
                    <a:pt x="51447" y="608177"/>
                  </a:lnTo>
                  <a:close/>
                </a:path>
                <a:path w="356234" h="633729">
                  <a:moveTo>
                    <a:pt x="51447" y="469163"/>
                  </a:moveTo>
                  <a:lnTo>
                    <a:pt x="49441" y="459181"/>
                  </a:lnTo>
                  <a:lnTo>
                    <a:pt x="43942" y="451053"/>
                  </a:lnTo>
                  <a:lnTo>
                    <a:pt x="35775" y="445592"/>
                  </a:lnTo>
                  <a:lnTo>
                    <a:pt x="25730" y="443598"/>
                  </a:lnTo>
                  <a:lnTo>
                    <a:pt x="15684" y="445592"/>
                  </a:lnTo>
                  <a:lnTo>
                    <a:pt x="7505" y="451053"/>
                  </a:lnTo>
                  <a:lnTo>
                    <a:pt x="2019" y="459181"/>
                  </a:lnTo>
                  <a:lnTo>
                    <a:pt x="0" y="469163"/>
                  </a:lnTo>
                  <a:lnTo>
                    <a:pt x="2019" y="479158"/>
                  </a:lnTo>
                  <a:lnTo>
                    <a:pt x="7505" y="487273"/>
                  </a:lnTo>
                  <a:lnTo>
                    <a:pt x="15684" y="492734"/>
                  </a:lnTo>
                  <a:lnTo>
                    <a:pt x="25730" y="494741"/>
                  </a:lnTo>
                  <a:lnTo>
                    <a:pt x="35775" y="492734"/>
                  </a:lnTo>
                  <a:lnTo>
                    <a:pt x="43942" y="487273"/>
                  </a:lnTo>
                  <a:lnTo>
                    <a:pt x="49441" y="479158"/>
                  </a:lnTo>
                  <a:lnTo>
                    <a:pt x="51447" y="469163"/>
                  </a:lnTo>
                  <a:close/>
                </a:path>
                <a:path w="356234" h="633729">
                  <a:moveTo>
                    <a:pt x="51447" y="171881"/>
                  </a:moveTo>
                  <a:lnTo>
                    <a:pt x="49441" y="161963"/>
                  </a:lnTo>
                  <a:lnTo>
                    <a:pt x="43942" y="153911"/>
                  </a:lnTo>
                  <a:lnTo>
                    <a:pt x="35775" y="148488"/>
                  </a:lnTo>
                  <a:lnTo>
                    <a:pt x="25730" y="146507"/>
                  </a:lnTo>
                  <a:lnTo>
                    <a:pt x="15684" y="148488"/>
                  </a:lnTo>
                  <a:lnTo>
                    <a:pt x="7505" y="153911"/>
                  </a:lnTo>
                  <a:lnTo>
                    <a:pt x="2019" y="161963"/>
                  </a:lnTo>
                  <a:lnTo>
                    <a:pt x="0" y="171881"/>
                  </a:lnTo>
                  <a:lnTo>
                    <a:pt x="2019" y="181787"/>
                  </a:lnTo>
                  <a:lnTo>
                    <a:pt x="7505" y="189839"/>
                  </a:lnTo>
                  <a:lnTo>
                    <a:pt x="15684" y="195262"/>
                  </a:lnTo>
                  <a:lnTo>
                    <a:pt x="25730" y="197243"/>
                  </a:lnTo>
                  <a:lnTo>
                    <a:pt x="35775" y="195262"/>
                  </a:lnTo>
                  <a:lnTo>
                    <a:pt x="43942" y="189839"/>
                  </a:lnTo>
                  <a:lnTo>
                    <a:pt x="49441" y="181787"/>
                  </a:lnTo>
                  <a:lnTo>
                    <a:pt x="51447" y="171881"/>
                  </a:lnTo>
                  <a:close/>
                </a:path>
                <a:path w="356234" h="633729">
                  <a:moveTo>
                    <a:pt x="356031" y="0"/>
                  </a:moveTo>
                  <a:lnTo>
                    <a:pt x="314718" y="0"/>
                  </a:lnTo>
                  <a:lnTo>
                    <a:pt x="314718" y="5676"/>
                  </a:lnTo>
                  <a:lnTo>
                    <a:pt x="356031" y="5676"/>
                  </a:lnTo>
                  <a:lnTo>
                    <a:pt x="35603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065168" y="3069547"/>
              <a:ext cx="690245" cy="689610"/>
            </a:xfrm>
            <a:custGeom>
              <a:avLst/>
              <a:gdLst/>
              <a:ahLst/>
              <a:cxnLst/>
              <a:rect l="l" t="t" r="r" b="b"/>
              <a:pathLst>
                <a:path w="690245" h="689610">
                  <a:moveTo>
                    <a:pt x="690181" y="689547"/>
                  </a:moveTo>
                  <a:lnTo>
                    <a:pt x="0" y="689547"/>
                  </a:lnTo>
                  <a:lnTo>
                    <a:pt x="0" y="0"/>
                  </a:lnTo>
                  <a:lnTo>
                    <a:pt x="690181" y="0"/>
                  </a:lnTo>
                  <a:lnTo>
                    <a:pt x="690181" y="689547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383121" y="3237166"/>
              <a:ext cx="52069" cy="487680"/>
            </a:xfrm>
            <a:custGeom>
              <a:avLst/>
              <a:gdLst/>
              <a:ahLst/>
              <a:cxnLst/>
              <a:rect l="l" t="t" r="r" b="b"/>
              <a:pathLst>
                <a:path w="52070" h="487679">
                  <a:moveTo>
                    <a:pt x="51841" y="322859"/>
                  </a:moveTo>
                  <a:lnTo>
                    <a:pt x="49834" y="312953"/>
                  </a:lnTo>
                  <a:lnTo>
                    <a:pt x="44335" y="304888"/>
                  </a:lnTo>
                  <a:lnTo>
                    <a:pt x="36169" y="299478"/>
                  </a:lnTo>
                  <a:lnTo>
                    <a:pt x="26123" y="297497"/>
                  </a:lnTo>
                  <a:lnTo>
                    <a:pt x="16078" y="299478"/>
                  </a:lnTo>
                  <a:lnTo>
                    <a:pt x="7899" y="304888"/>
                  </a:lnTo>
                  <a:lnTo>
                    <a:pt x="2413" y="312953"/>
                  </a:lnTo>
                  <a:lnTo>
                    <a:pt x="406" y="322859"/>
                  </a:lnTo>
                  <a:lnTo>
                    <a:pt x="1270" y="327126"/>
                  </a:lnTo>
                  <a:lnTo>
                    <a:pt x="0" y="327126"/>
                  </a:lnTo>
                  <a:lnTo>
                    <a:pt x="0" y="456590"/>
                  </a:lnTo>
                  <a:lnTo>
                    <a:pt x="1460" y="456590"/>
                  </a:lnTo>
                  <a:lnTo>
                    <a:pt x="406" y="461873"/>
                  </a:lnTo>
                  <a:lnTo>
                    <a:pt x="2413" y="471855"/>
                  </a:lnTo>
                  <a:lnTo>
                    <a:pt x="7899" y="479983"/>
                  </a:lnTo>
                  <a:lnTo>
                    <a:pt x="16078" y="485444"/>
                  </a:lnTo>
                  <a:lnTo>
                    <a:pt x="26123" y="487438"/>
                  </a:lnTo>
                  <a:lnTo>
                    <a:pt x="36169" y="485444"/>
                  </a:lnTo>
                  <a:lnTo>
                    <a:pt x="44335" y="479983"/>
                  </a:lnTo>
                  <a:lnTo>
                    <a:pt x="49834" y="471855"/>
                  </a:lnTo>
                  <a:lnTo>
                    <a:pt x="51841" y="461873"/>
                  </a:lnTo>
                  <a:lnTo>
                    <a:pt x="50774" y="456590"/>
                  </a:lnTo>
                  <a:lnTo>
                    <a:pt x="51841" y="456590"/>
                  </a:lnTo>
                  <a:lnTo>
                    <a:pt x="51841" y="327126"/>
                  </a:lnTo>
                  <a:lnTo>
                    <a:pt x="50965" y="327126"/>
                  </a:lnTo>
                  <a:lnTo>
                    <a:pt x="51841" y="322859"/>
                  </a:lnTo>
                  <a:close/>
                </a:path>
                <a:path w="52070" h="487679">
                  <a:moveTo>
                    <a:pt x="51841" y="25577"/>
                  </a:moveTo>
                  <a:lnTo>
                    <a:pt x="49834" y="15582"/>
                  </a:lnTo>
                  <a:lnTo>
                    <a:pt x="44335" y="7467"/>
                  </a:lnTo>
                  <a:lnTo>
                    <a:pt x="36169" y="2006"/>
                  </a:lnTo>
                  <a:lnTo>
                    <a:pt x="26123" y="0"/>
                  </a:lnTo>
                  <a:lnTo>
                    <a:pt x="16078" y="2006"/>
                  </a:lnTo>
                  <a:lnTo>
                    <a:pt x="7899" y="7467"/>
                  </a:lnTo>
                  <a:lnTo>
                    <a:pt x="2413" y="15582"/>
                  </a:lnTo>
                  <a:lnTo>
                    <a:pt x="406" y="25577"/>
                  </a:lnTo>
                  <a:lnTo>
                    <a:pt x="2413" y="35560"/>
                  </a:lnTo>
                  <a:lnTo>
                    <a:pt x="7899" y="43688"/>
                  </a:lnTo>
                  <a:lnTo>
                    <a:pt x="16078" y="49149"/>
                  </a:lnTo>
                  <a:lnTo>
                    <a:pt x="26123" y="51142"/>
                  </a:lnTo>
                  <a:lnTo>
                    <a:pt x="36169" y="49149"/>
                  </a:lnTo>
                  <a:lnTo>
                    <a:pt x="44335" y="43688"/>
                  </a:lnTo>
                  <a:lnTo>
                    <a:pt x="49834" y="35560"/>
                  </a:lnTo>
                  <a:lnTo>
                    <a:pt x="51841" y="2557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29659" y="3334975"/>
              <a:ext cx="159178" cy="16031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6085019" y="3090651"/>
              <a:ext cx="143510" cy="93345"/>
            </a:xfrm>
            <a:custGeom>
              <a:avLst/>
              <a:gdLst/>
              <a:ahLst/>
              <a:cxnLst/>
              <a:rect l="l" t="t" r="r" b="b"/>
              <a:pathLst>
                <a:path w="143510" h="93344">
                  <a:moveTo>
                    <a:pt x="142976" y="93346"/>
                  </a:moveTo>
                  <a:lnTo>
                    <a:pt x="0" y="93346"/>
                  </a:lnTo>
                  <a:lnTo>
                    <a:pt x="0" y="0"/>
                  </a:lnTo>
                  <a:lnTo>
                    <a:pt x="142976" y="0"/>
                  </a:lnTo>
                  <a:lnTo>
                    <a:pt x="142976" y="93346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60804" y="3091056"/>
              <a:ext cx="478790" cy="93345"/>
            </a:xfrm>
            <a:custGeom>
              <a:avLst/>
              <a:gdLst/>
              <a:ahLst/>
              <a:cxnLst/>
              <a:rect l="l" t="t" r="r" b="b"/>
              <a:pathLst>
                <a:path w="478790" h="93344">
                  <a:moveTo>
                    <a:pt x="478749" y="93346"/>
                  </a:moveTo>
                  <a:lnTo>
                    <a:pt x="0" y="93346"/>
                  </a:lnTo>
                  <a:lnTo>
                    <a:pt x="0" y="0"/>
                  </a:lnTo>
                  <a:lnTo>
                    <a:pt x="478749" y="0"/>
                  </a:lnTo>
                  <a:lnTo>
                    <a:pt x="478749" y="93346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260804" y="3091056"/>
              <a:ext cx="478790" cy="5715"/>
            </a:xfrm>
            <a:custGeom>
              <a:avLst/>
              <a:gdLst/>
              <a:ahLst/>
              <a:cxnLst/>
              <a:rect l="l" t="t" r="r" b="b"/>
              <a:pathLst>
                <a:path w="478790" h="5714">
                  <a:moveTo>
                    <a:pt x="478749" y="5276"/>
                  </a:moveTo>
                  <a:lnTo>
                    <a:pt x="0" y="5276"/>
                  </a:lnTo>
                  <a:lnTo>
                    <a:pt x="0" y="0"/>
                  </a:lnTo>
                  <a:lnTo>
                    <a:pt x="478749" y="0"/>
                  </a:lnTo>
                  <a:lnTo>
                    <a:pt x="478749" y="5276"/>
                  </a:lnTo>
                  <a:close/>
                </a:path>
              </a:pathLst>
            </a:custGeom>
            <a:solidFill>
              <a:srgbClr val="5FD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60352" y="3065394"/>
              <a:ext cx="701040" cy="701040"/>
            </a:xfrm>
            <a:custGeom>
              <a:avLst/>
              <a:gdLst/>
              <a:ahLst/>
              <a:cxnLst/>
              <a:rect l="l" t="t" r="r" b="b"/>
              <a:pathLst>
                <a:path w="701040" h="701039">
                  <a:moveTo>
                    <a:pt x="0" y="0"/>
                  </a:moveTo>
                  <a:lnTo>
                    <a:pt x="700742" y="0"/>
                  </a:lnTo>
                  <a:lnTo>
                    <a:pt x="700742" y="700906"/>
                  </a:lnTo>
                  <a:lnTo>
                    <a:pt x="0" y="700906"/>
                  </a:lnTo>
                  <a:lnTo>
                    <a:pt x="0" y="0"/>
                  </a:lnTo>
                  <a:close/>
                </a:path>
              </a:pathLst>
            </a:custGeom>
            <a:ln w="952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225798" y="1205229"/>
              <a:ext cx="845185" cy="459740"/>
            </a:xfrm>
            <a:custGeom>
              <a:avLst/>
              <a:gdLst/>
              <a:ahLst/>
              <a:cxnLst/>
              <a:rect l="l" t="t" r="r" b="b"/>
              <a:pathLst>
                <a:path w="845185" h="459739">
                  <a:moveTo>
                    <a:pt x="844804" y="0"/>
                  </a:moveTo>
                  <a:lnTo>
                    <a:pt x="762254" y="0"/>
                  </a:lnTo>
                  <a:lnTo>
                    <a:pt x="762254" y="6350"/>
                  </a:lnTo>
                  <a:lnTo>
                    <a:pt x="762254" y="12700"/>
                  </a:lnTo>
                  <a:lnTo>
                    <a:pt x="762254" y="377190"/>
                  </a:lnTo>
                  <a:lnTo>
                    <a:pt x="12700" y="377190"/>
                  </a:lnTo>
                  <a:lnTo>
                    <a:pt x="6350" y="377190"/>
                  </a:lnTo>
                  <a:lnTo>
                    <a:pt x="0" y="377190"/>
                  </a:lnTo>
                  <a:lnTo>
                    <a:pt x="0" y="387350"/>
                  </a:lnTo>
                  <a:lnTo>
                    <a:pt x="6350" y="387350"/>
                  </a:lnTo>
                  <a:lnTo>
                    <a:pt x="6350" y="453390"/>
                  </a:lnTo>
                  <a:lnTo>
                    <a:pt x="762254" y="453390"/>
                  </a:lnTo>
                  <a:lnTo>
                    <a:pt x="762254" y="459740"/>
                  </a:lnTo>
                  <a:lnTo>
                    <a:pt x="844804" y="459740"/>
                  </a:lnTo>
                  <a:lnTo>
                    <a:pt x="844804" y="447040"/>
                  </a:lnTo>
                  <a:lnTo>
                    <a:pt x="844804" y="377190"/>
                  </a:lnTo>
                  <a:lnTo>
                    <a:pt x="844804" y="12700"/>
                  </a:lnTo>
                  <a:lnTo>
                    <a:pt x="84480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155947" y="1135380"/>
              <a:ext cx="832485" cy="447040"/>
            </a:xfrm>
            <a:custGeom>
              <a:avLst/>
              <a:gdLst/>
              <a:ahLst/>
              <a:cxnLst/>
              <a:rect l="l" t="t" r="r" b="b"/>
              <a:pathLst>
                <a:path w="832485" h="447040">
                  <a:moveTo>
                    <a:pt x="832103" y="0"/>
                  </a:moveTo>
                  <a:lnTo>
                    <a:pt x="0" y="0"/>
                  </a:lnTo>
                  <a:lnTo>
                    <a:pt x="0" y="446531"/>
                  </a:lnTo>
                  <a:lnTo>
                    <a:pt x="832103" y="446531"/>
                  </a:lnTo>
                  <a:lnTo>
                    <a:pt x="83210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155947" y="1135380"/>
              <a:ext cx="832485" cy="447040"/>
            </a:xfrm>
            <a:custGeom>
              <a:avLst/>
              <a:gdLst/>
              <a:ahLst/>
              <a:cxnLst/>
              <a:rect l="l" t="t" r="r" b="b"/>
              <a:pathLst>
                <a:path w="832485" h="447040">
                  <a:moveTo>
                    <a:pt x="0" y="0"/>
                  </a:moveTo>
                  <a:lnTo>
                    <a:pt x="832103" y="0"/>
                  </a:lnTo>
                  <a:lnTo>
                    <a:pt x="832103" y="446531"/>
                  </a:lnTo>
                  <a:lnTo>
                    <a:pt x="0" y="44653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280979" y="1249029"/>
            <a:ext cx="5835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Courier New"/>
                <a:cs typeface="Courier New"/>
              </a:rPr>
              <a:t>buff[0]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149597" y="1586230"/>
            <a:ext cx="921385" cy="535940"/>
            <a:chOff x="4149597" y="1586230"/>
            <a:chExt cx="921385" cy="535940"/>
          </a:xfrm>
        </p:grpSpPr>
        <p:sp>
          <p:nvSpPr>
            <p:cNvPr id="45" name="object 45"/>
            <p:cNvSpPr/>
            <p:nvPr/>
          </p:nvSpPr>
          <p:spPr>
            <a:xfrm>
              <a:off x="4225798" y="1662429"/>
              <a:ext cx="845185" cy="459740"/>
            </a:xfrm>
            <a:custGeom>
              <a:avLst/>
              <a:gdLst/>
              <a:ahLst/>
              <a:cxnLst/>
              <a:rect l="l" t="t" r="r" b="b"/>
              <a:pathLst>
                <a:path w="845185" h="459739">
                  <a:moveTo>
                    <a:pt x="844804" y="0"/>
                  </a:moveTo>
                  <a:lnTo>
                    <a:pt x="762254" y="0"/>
                  </a:lnTo>
                  <a:lnTo>
                    <a:pt x="762254" y="6350"/>
                  </a:lnTo>
                  <a:lnTo>
                    <a:pt x="762254" y="12700"/>
                  </a:lnTo>
                  <a:lnTo>
                    <a:pt x="762254" y="377190"/>
                  </a:lnTo>
                  <a:lnTo>
                    <a:pt x="12700" y="377190"/>
                  </a:lnTo>
                  <a:lnTo>
                    <a:pt x="6350" y="377190"/>
                  </a:lnTo>
                  <a:lnTo>
                    <a:pt x="0" y="377190"/>
                  </a:lnTo>
                  <a:lnTo>
                    <a:pt x="0" y="447040"/>
                  </a:lnTo>
                  <a:lnTo>
                    <a:pt x="0" y="459740"/>
                  </a:lnTo>
                  <a:lnTo>
                    <a:pt x="844804" y="459740"/>
                  </a:lnTo>
                  <a:lnTo>
                    <a:pt x="844804" y="447040"/>
                  </a:lnTo>
                  <a:lnTo>
                    <a:pt x="844804" y="377190"/>
                  </a:lnTo>
                  <a:lnTo>
                    <a:pt x="844804" y="12700"/>
                  </a:lnTo>
                  <a:lnTo>
                    <a:pt x="844804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155947" y="1592580"/>
              <a:ext cx="832485" cy="447040"/>
            </a:xfrm>
            <a:custGeom>
              <a:avLst/>
              <a:gdLst/>
              <a:ahLst/>
              <a:cxnLst/>
              <a:rect l="l" t="t" r="r" b="b"/>
              <a:pathLst>
                <a:path w="832485" h="447039">
                  <a:moveTo>
                    <a:pt x="832103" y="0"/>
                  </a:moveTo>
                  <a:lnTo>
                    <a:pt x="0" y="0"/>
                  </a:lnTo>
                  <a:lnTo>
                    <a:pt x="0" y="446531"/>
                  </a:lnTo>
                  <a:lnTo>
                    <a:pt x="832103" y="446531"/>
                  </a:lnTo>
                  <a:lnTo>
                    <a:pt x="83210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55947" y="1592580"/>
              <a:ext cx="832485" cy="447040"/>
            </a:xfrm>
            <a:custGeom>
              <a:avLst/>
              <a:gdLst/>
              <a:ahLst/>
              <a:cxnLst/>
              <a:rect l="l" t="t" r="r" b="b"/>
              <a:pathLst>
                <a:path w="832485" h="447039">
                  <a:moveTo>
                    <a:pt x="0" y="0"/>
                  </a:moveTo>
                  <a:lnTo>
                    <a:pt x="832103" y="0"/>
                  </a:lnTo>
                  <a:lnTo>
                    <a:pt x="832103" y="446531"/>
                  </a:lnTo>
                  <a:lnTo>
                    <a:pt x="0" y="44653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4280979" y="1706229"/>
            <a:ext cx="58356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FFF"/>
                </a:solidFill>
                <a:latin typeface="Courier New"/>
                <a:cs typeface="Courier New"/>
              </a:rPr>
              <a:t>buff[1]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-4762" y="201168"/>
            <a:ext cx="9153525" cy="3326129"/>
            <a:chOff x="-4762" y="201168"/>
            <a:chExt cx="9153525" cy="3326129"/>
          </a:xfrm>
        </p:grpSpPr>
        <p:sp>
          <p:nvSpPr>
            <p:cNvPr id="50" name="object 50"/>
            <p:cNvSpPr/>
            <p:nvPr/>
          </p:nvSpPr>
          <p:spPr>
            <a:xfrm>
              <a:off x="990602" y="2444497"/>
              <a:ext cx="1216025" cy="1076325"/>
            </a:xfrm>
            <a:custGeom>
              <a:avLst/>
              <a:gdLst/>
              <a:ahLst/>
              <a:cxnLst/>
              <a:rect l="l" t="t" r="r" b="b"/>
              <a:pathLst>
                <a:path w="1216025" h="1076325">
                  <a:moveTo>
                    <a:pt x="1215923" y="1075893"/>
                  </a:moveTo>
                  <a:lnTo>
                    <a:pt x="1164484" y="1074830"/>
                  </a:lnTo>
                  <a:lnTo>
                    <a:pt x="1113593" y="1071912"/>
                  </a:lnTo>
                  <a:lnTo>
                    <a:pt x="1063292" y="1067177"/>
                  </a:lnTo>
                  <a:lnTo>
                    <a:pt x="1013623" y="1060661"/>
                  </a:lnTo>
                  <a:lnTo>
                    <a:pt x="964629" y="1052402"/>
                  </a:lnTo>
                  <a:lnTo>
                    <a:pt x="916350" y="1042437"/>
                  </a:lnTo>
                  <a:lnTo>
                    <a:pt x="868829" y="1030803"/>
                  </a:lnTo>
                  <a:lnTo>
                    <a:pt x="822109" y="1017538"/>
                  </a:lnTo>
                  <a:lnTo>
                    <a:pt x="776230" y="1002678"/>
                  </a:lnTo>
                  <a:lnTo>
                    <a:pt x="731236" y="986261"/>
                  </a:lnTo>
                  <a:lnTo>
                    <a:pt x="687168" y="968324"/>
                  </a:lnTo>
                  <a:lnTo>
                    <a:pt x="644069" y="948904"/>
                  </a:lnTo>
                  <a:lnTo>
                    <a:pt x="601979" y="928038"/>
                  </a:lnTo>
                  <a:lnTo>
                    <a:pt x="560943" y="905764"/>
                  </a:lnTo>
                  <a:lnTo>
                    <a:pt x="521000" y="882119"/>
                  </a:lnTo>
                  <a:lnTo>
                    <a:pt x="482194" y="857140"/>
                  </a:lnTo>
                  <a:lnTo>
                    <a:pt x="444567" y="830864"/>
                  </a:lnTo>
                  <a:lnTo>
                    <a:pt x="408160" y="803329"/>
                  </a:lnTo>
                  <a:lnTo>
                    <a:pt x="373015" y="774571"/>
                  </a:lnTo>
                  <a:lnTo>
                    <a:pt x="339175" y="744628"/>
                  </a:lnTo>
                  <a:lnTo>
                    <a:pt x="306682" y="713537"/>
                  </a:lnTo>
                  <a:lnTo>
                    <a:pt x="275578" y="681335"/>
                  </a:lnTo>
                  <a:lnTo>
                    <a:pt x="245904" y="648059"/>
                  </a:lnTo>
                  <a:lnTo>
                    <a:pt x="217703" y="613748"/>
                  </a:lnTo>
                  <a:lnTo>
                    <a:pt x="191016" y="578436"/>
                  </a:lnTo>
                  <a:lnTo>
                    <a:pt x="165887" y="542163"/>
                  </a:lnTo>
                  <a:lnTo>
                    <a:pt x="142356" y="504966"/>
                  </a:lnTo>
                  <a:lnTo>
                    <a:pt x="120466" y="466880"/>
                  </a:lnTo>
                  <a:lnTo>
                    <a:pt x="100260" y="427944"/>
                  </a:lnTo>
                  <a:lnTo>
                    <a:pt x="81778" y="388195"/>
                  </a:lnTo>
                  <a:lnTo>
                    <a:pt x="65063" y="347670"/>
                  </a:lnTo>
                  <a:lnTo>
                    <a:pt x="50157" y="306407"/>
                  </a:lnTo>
                  <a:lnTo>
                    <a:pt x="37102" y="264441"/>
                  </a:lnTo>
                  <a:lnTo>
                    <a:pt x="25940" y="221812"/>
                  </a:lnTo>
                  <a:lnTo>
                    <a:pt x="16714" y="178555"/>
                  </a:lnTo>
                  <a:lnTo>
                    <a:pt x="9464" y="134708"/>
                  </a:lnTo>
                  <a:lnTo>
                    <a:pt x="4234" y="90308"/>
                  </a:lnTo>
                  <a:lnTo>
                    <a:pt x="1065" y="45393"/>
                  </a:lnTo>
                  <a:lnTo>
                    <a:pt x="0" y="0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92990" y="1522479"/>
              <a:ext cx="965835" cy="858519"/>
            </a:xfrm>
            <a:custGeom>
              <a:avLst/>
              <a:gdLst/>
              <a:ahLst/>
              <a:cxnLst/>
              <a:rect l="l" t="t" r="r" b="b"/>
              <a:pathLst>
                <a:path w="965835" h="858519">
                  <a:moveTo>
                    <a:pt x="0" y="858164"/>
                  </a:moveTo>
                  <a:lnTo>
                    <a:pt x="4591" y="812118"/>
                  </a:lnTo>
                  <a:lnTo>
                    <a:pt x="11519" y="766757"/>
                  </a:lnTo>
                  <a:lnTo>
                    <a:pt x="20725" y="722138"/>
                  </a:lnTo>
                  <a:lnTo>
                    <a:pt x="32149" y="678315"/>
                  </a:lnTo>
                  <a:lnTo>
                    <a:pt x="45733" y="635345"/>
                  </a:lnTo>
                  <a:lnTo>
                    <a:pt x="61420" y="593283"/>
                  </a:lnTo>
                  <a:lnTo>
                    <a:pt x="79149" y="552186"/>
                  </a:lnTo>
                  <a:lnTo>
                    <a:pt x="98864" y="512108"/>
                  </a:lnTo>
                  <a:lnTo>
                    <a:pt x="120504" y="473106"/>
                  </a:lnTo>
                  <a:lnTo>
                    <a:pt x="144013" y="435235"/>
                  </a:lnTo>
                  <a:lnTo>
                    <a:pt x="169330" y="398552"/>
                  </a:lnTo>
                  <a:lnTo>
                    <a:pt x="196398" y="363111"/>
                  </a:lnTo>
                  <a:lnTo>
                    <a:pt x="225159" y="328968"/>
                  </a:lnTo>
                  <a:lnTo>
                    <a:pt x="255553" y="296180"/>
                  </a:lnTo>
                  <a:lnTo>
                    <a:pt x="287522" y="264802"/>
                  </a:lnTo>
                  <a:lnTo>
                    <a:pt x="321007" y="234890"/>
                  </a:lnTo>
                  <a:lnTo>
                    <a:pt x="355951" y="206499"/>
                  </a:lnTo>
                  <a:lnTo>
                    <a:pt x="392294" y="179685"/>
                  </a:lnTo>
                  <a:lnTo>
                    <a:pt x="429978" y="154505"/>
                  </a:lnTo>
                  <a:lnTo>
                    <a:pt x="468945" y="131013"/>
                  </a:lnTo>
                  <a:lnTo>
                    <a:pt x="509135" y="109266"/>
                  </a:lnTo>
                  <a:lnTo>
                    <a:pt x="550491" y="89318"/>
                  </a:lnTo>
                  <a:lnTo>
                    <a:pt x="592954" y="71227"/>
                  </a:lnTo>
                  <a:lnTo>
                    <a:pt x="636465" y="55047"/>
                  </a:lnTo>
                  <a:lnTo>
                    <a:pt x="680966" y="40835"/>
                  </a:lnTo>
                  <a:lnTo>
                    <a:pt x="726398" y="28646"/>
                  </a:lnTo>
                  <a:lnTo>
                    <a:pt x="772703" y="18536"/>
                  </a:lnTo>
                  <a:lnTo>
                    <a:pt x="819822" y="10561"/>
                  </a:lnTo>
                  <a:lnTo>
                    <a:pt x="867696" y="4776"/>
                  </a:lnTo>
                  <a:lnTo>
                    <a:pt x="916268" y="1237"/>
                  </a:lnTo>
                  <a:lnTo>
                    <a:pt x="965479" y="0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55382" y="2366650"/>
              <a:ext cx="76200" cy="78105"/>
            </a:xfrm>
            <a:custGeom>
              <a:avLst/>
              <a:gdLst/>
              <a:ahLst/>
              <a:cxnLst/>
              <a:rect l="l" t="t" r="r" b="b"/>
              <a:pathLst>
                <a:path w="76200" h="78105">
                  <a:moveTo>
                    <a:pt x="0" y="0"/>
                  </a:moveTo>
                  <a:lnTo>
                    <a:pt x="35217" y="77571"/>
                  </a:lnTo>
                  <a:lnTo>
                    <a:pt x="76149" y="2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058318" y="1371918"/>
              <a:ext cx="661670" cy="475615"/>
            </a:xfrm>
            <a:custGeom>
              <a:avLst/>
              <a:gdLst/>
              <a:ahLst/>
              <a:cxnLst/>
              <a:rect l="l" t="t" r="r" b="b"/>
              <a:pathLst>
                <a:path w="661670" h="475614">
                  <a:moveTo>
                    <a:pt x="0" y="0"/>
                  </a:moveTo>
                  <a:lnTo>
                    <a:pt x="57818" y="4875"/>
                  </a:lnTo>
                  <a:lnTo>
                    <a:pt x="114124" y="12674"/>
                  </a:lnTo>
                  <a:lnTo>
                    <a:pt x="168733" y="23275"/>
                  </a:lnTo>
                  <a:lnTo>
                    <a:pt x="221461" y="36559"/>
                  </a:lnTo>
                  <a:lnTo>
                    <a:pt x="272123" y="52402"/>
                  </a:lnTo>
                  <a:lnTo>
                    <a:pt x="320534" y="70684"/>
                  </a:lnTo>
                  <a:lnTo>
                    <a:pt x="366512" y="91285"/>
                  </a:lnTo>
                  <a:lnTo>
                    <a:pt x="409870" y="114082"/>
                  </a:lnTo>
                  <a:lnTo>
                    <a:pt x="450426" y="138954"/>
                  </a:lnTo>
                  <a:lnTo>
                    <a:pt x="487994" y="165781"/>
                  </a:lnTo>
                  <a:lnTo>
                    <a:pt x="522390" y="194441"/>
                  </a:lnTo>
                  <a:lnTo>
                    <a:pt x="553430" y="224813"/>
                  </a:lnTo>
                  <a:lnTo>
                    <a:pt x="580929" y="256776"/>
                  </a:lnTo>
                  <a:lnTo>
                    <a:pt x="604704" y="290208"/>
                  </a:lnTo>
                  <a:lnTo>
                    <a:pt x="624569" y="324989"/>
                  </a:lnTo>
                  <a:lnTo>
                    <a:pt x="640340" y="360996"/>
                  </a:lnTo>
                  <a:lnTo>
                    <a:pt x="651834" y="398110"/>
                  </a:lnTo>
                  <a:lnTo>
                    <a:pt x="658866" y="436208"/>
                  </a:lnTo>
                  <a:lnTo>
                    <a:pt x="661250" y="475170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994109" y="1334168"/>
              <a:ext cx="77470" cy="76200"/>
            </a:xfrm>
            <a:custGeom>
              <a:avLst/>
              <a:gdLst/>
              <a:ahLst/>
              <a:cxnLst/>
              <a:rect l="l" t="t" r="r" b="b"/>
              <a:pathLst>
                <a:path w="77470" h="76200">
                  <a:moveTo>
                    <a:pt x="77266" y="0"/>
                  </a:moveTo>
                  <a:lnTo>
                    <a:pt x="0" y="35902"/>
                  </a:lnTo>
                  <a:lnTo>
                    <a:pt x="75082" y="76174"/>
                  </a:lnTo>
                  <a:lnTo>
                    <a:pt x="77266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7411178" y="1941575"/>
              <a:ext cx="701675" cy="733425"/>
            </a:xfrm>
            <a:custGeom>
              <a:avLst/>
              <a:gdLst/>
              <a:ahLst/>
              <a:cxnLst/>
              <a:rect l="l" t="t" r="r" b="b"/>
              <a:pathLst>
                <a:path w="701675" h="733425">
                  <a:moveTo>
                    <a:pt x="0" y="0"/>
                  </a:moveTo>
                  <a:lnTo>
                    <a:pt x="46096" y="1559"/>
                  </a:lnTo>
                  <a:lnTo>
                    <a:pt x="91396" y="6172"/>
                  </a:lnTo>
                  <a:lnTo>
                    <a:pt x="135808" y="13742"/>
                  </a:lnTo>
                  <a:lnTo>
                    <a:pt x="179238" y="24173"/>
                  </a:lnTo>
                  <a:lnTo>
                    <a:pt x="221596" y="37368"/>
                  </a:lnTo>
                  <a:lnTo>
                    <a:pt x="262787" y="53231"/>
                  </a:lnTo>
                  <a:lnTo>
                    <a:pt x="302720" y="71665"/>
                  </a:lnTo>
                  <a:lnTo>
                    <a:pt x="341303" y="92573"/>
                  </a:lnTo>
                  <a:lnTo>
                    <a:pt x="378443" y="115859"/>
                  </a:lnTo>
                  <a:lnTo>
                    <a:pt x="414048" y="141427"/>
                  </a:lnTo>
                  <a:lnTo>
                    <a:pt x="448026" y="169179"/>
                  </a:lnTo>
                  <a:lnTo>
                    <a:pt x="480283" y="199020"/>
                  </a:lnTo>
                  <a:lnTo>
                    <a:pt x="510728" y="230852"/>
                  </a:lnTo>
                  <a:lnTo>
                    <a:pt x="539268" y="264580"/>
                  </a:lnTo>
                  <a:lnTo>
                    <a:pt x="565811" y="300106"/>
                  </a:lnTo>
                  <a:lnTo>
                    <a:pt x="590265" y="337334"/>
                  </a:lnTo>
                  <a:lnTo>
                    <a:pt x="612536" y="376167"/>
                  </a:lnTo>
                  <a:lnTo>
                    <a:pt x="632534" y="416509"/>
                  </a:lnTo>
                  <a:lnTo>
                    <a:pt x="650165" y="458264"/>
                  </a:lnTo>
                  <a:lnTo>
                    <a:pt x="665336" y="501335"/>
                  </a:lnTo>
                  <a:lnTo>
                    <a:pt x="677957" y="545624"/>
                  </a:lnTo>
                  <a:lnTo>
                    <a:pt x="687934" y="591036"/>
                  </a:lnTo>
                  <a:lnTo>
                    <a:pt x="695174" y="637475"/>
                  </a:lnTo>
                  <a:lnTo>
                    <a:pt x="699586" y="684843"/>
                  </a:lnTo>
                  <a:lnTo>
                    <a:pt x="701078" y="733044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839706" y="2736781"/>
              <a:ext cx="1269365" cy="669925"/>
            </a:xfrm>
            <a:custGeom>
              <a:avLst/>
              <a:gdLst/>
              <a:ahLst/>
              <a:cxnLst/>
              <a:rect l="l" t="t" r="r" b="b"/>
              <a:pathLst>
                <a:path w="1269365" h="669925">
                  <a:moveTo>
                    <a:pt x="1269339" y="0"/>
                  </a:moveTo>
                  <a:lnTo>
                    <a:pt x="1253853" y="67248"/>
                  </a:lnTo>
                  <a:lnTo>
                    <a:pt x="1228073" y="132433"/>
                  </a:lnTo>
                  <a:lnTo>
                    <a:pt x="1192494" y="195269"/>
                  </a:lnTo>
                  <a:lnTo>
                    <a:pt x="1147610" y="255471"/>
                  </a:lnTo>
                  <a:lnTo>
                    <a:pt x="1121833" y="284495"/>
                  </a:lnTo>
                  <a:lnTo>
                    <a:pt x="1093916" y="312753"/>
                  </a:lnTo>
                  <a:lnTo>
                    <a:pt x="1063919" y="340210"/>
                  </a:lnTo>
                  <a:lnTo>
                    <a:pt x="1031906" y="366831"/>
                  </a:lnTo>
                  <a:lnTo>
                    <a:pt x="997938" y="392578"/>
                  </a:lnTo>
                  <a:lnTo>
                    <a:pt x="962077" y="417418"/>
                  </a:lnTo>
                  <a:lnTo>
                    <a:pt x="924384" y="441313"/>
                  </a:lnTo>
                  <a:lnTo>
                    <a:pt x="884921" y="464229"/>
                  </a:lnTo>
                  <a:lnTo>
                    <a:pt x="843751" y="486129"/>
                  </a:lnTo>
                  <a:lnTo>
                    <a:pt x="800935" y="506979"/>
                  </a:lnTo>
                  <a:lnTo>
                    <a:pt x="756535" y="526742"/>
                  </a:lnTo>
                  <a:lnTo>
                    <a:pt x="710612" y="545382"/>
                  </a:lnTo>
                  <a:lnTo>
                    <a:pt x="663229" y="562865"/>
                  </a:lnTo>
                  <a:lnTo>
                    <a:pt x="614448" y="579154"/>
                  </a:lnTo>
                  <a:lnTo>
                    <a:pt x="564330" y="594214"/>
                  </a:lnTo>
                  <a:lnTo>
                    <a:pt x="512937" y="608009"/>
                  </a:lnTo>
                  <a:lnTo>
                    <a:pt x="460331" y="620503"/>
                  </a:lnTo>
                  <a:lnTo>
                    <a:pt x="406574" y="631661"/>
                  </a:lnTo>
                  <a:lnTo>
                    <a:pt x="351728" y="641447"/>
                  </a:lnTo>
                  <a:lnTo>
                    <a:pt x="295854" y="649825"/>
                  </a:lnTo>
                  <a:lnTo>
                    <a:pt x="239015" y="656760"/>
                  </a:lnTo>
                  <a:lnTo>
                    <a:pt x="181272" y="662216"/>
                  </a:lnTo>
                  <a:lnTo>
                    <a:pt x="122687" y="666157"/>
                  </a:lnTo>
                  <a:lnTo>
                    <a:pt x="63321" y="668548"/>
                  </a:lnTo>
                  <a:lnTo>
                    <a:pt x="3238" y="669353"/>
                  </a:lnTo>
                  <a:lnTo>
                    <a:pt x="2120" y="669353"/>
                  </a:lnTo>
                  <a:lnTo>
                    <a:pt x="1066" y="669328"/>
                  </a:lnTo>
                  <a:lnTo>
                    <a:pt x="0" y="669328"/>
                  </a:lnTo>
                </a:path>
              </a:pathLst>
            </a:custGeom>
            <a:ln w="12700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070133" y="2673098"/>
              <a:ext cx="76200" cy="79375"/>
            </a:xfrm>
            <a:custGeom>
              <a:avLst/>
              <a:gdLst/>
              <a:ahLst/>
              <a:cxnLst/>
              <a:rect l="l" t="t" r="r" b="b"/>
              <a:pathLst>
                <a:path w="76200" h="79375">
                  <a:moveTo>
                    <a:pt x="43637" y="0"/>
                  </a:moveTo>
                  <a:lnTo>
                    <a:pt x="0" y="73164"/>
                  </a:lnTo>
                  <a:lnTo>
                    <a:pt x="75984" y="78816"/>
                  </a:lnTo>
                  <a:lnTo>
                    <a:pt x="43637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8327" y="201168"/>
              <a:ext cx="6853427" cy="902207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2831592" y="3794759"/>
            <a:ext cx="3188335" cy="530860"/>
          </a:xfrm>
          <a:prstGeom prst="rect">
            <a:avLst/>
          </a:prstGeom>
          <a:ln w="12700">
            <a:solidFill>
              <a:srgbClr val="4471C4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500" dirty="0">
                <a:latin typeface="Arial MT"/>
                <a:cs typeface="Arial MT"/>
              </a:rPr>
              <a:t>Cooperative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parallel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i="1" spc="-10" dirty="0">
                <a:solidFill>
                  <a:srgbClr val="0000FF"/>
                </a:solidFill>
                <a:latin typeface="Arial"/>
                <a:cs typeface="Arial"/>
              </a:rPr>
              <a:t>synchronized</a:t>
            </a:r>
            <a:endParaRPr sz="15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500" spc="-10" dirty="0">
                <a:latin typeface="Arial MT"/>
                <a:cs typeface="Arial MT"/>
              </a:rPr>
              <a:t>threads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5" dirty="0"/>
              <a:t>Multithreaded/</a:t>
            </a:r>
            <a:r>
              <a:rPr sz="3200" spc="-100" dirty="0"/>
              <a:t> </a:t>
            </a:r>
            <a:r>
              <a:rPr sz="3200" spc="-95" dirty="0"/>
              <a:t>Parallel</a:t>
            </a:r>
            <a:r>
              <a:rPr sz="3200" spc="-105" dirty="0"/>
              <a:t> </a:t>
            </a:r>
            <a:r>
              <a:rPr sz="3200" spc="-150" dirty="0"/>
              <a:t>file</a:t>
            </a:r>
            <a:r>
              <a:rPr sz="3200" spc="-85" dirty="0"/>
              <a:t> </a:t>
            </a:r>
            <a:r>
              <a:rPr sz="3200" spc="105" dirty="0"/>
              <a:t>copy</a:t>
            </a:r>
            <a:endParaRPr sz="3200"/>
          </a:p>
        </p:txBody>
      </p:sp>
      <p:pic>
        <p:nvPicPr>
          <p:cNvPr id="62" name="object 6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grpSp>
        <p:nvGrpSpPr>
          <p:cNvPr id="63" name="object 63"/>
          <p:cNvGrpSpPr/>
          <p:nvPr/>
        </p:nvGrpSpPr>
        <p:grpSpPr>
          <a:xfrm>
            <a:off x="3428964" y="1486562"/>
            <a:ext cx="733425" cy="519430"/>
            <a:chOff x="3428964" y="1486562"/>
            <a:chExt cx="733425" cy="519430"/>
          </a:xfrm>
        </p:grpSpPr>
        <p:sp>
          <p:nvSpPr>
            <p:cNvPr id="64" name="object 64"/>
            <p:cNvSpPr/>
            <p:nvPr/>
          </p:nvSpPr>
          <p:spPr>
            <a:xfrm>
              <a:off x="3493305" y="1524318"/>
              <a:ext cx="662940" cy="475615"/>
            </a:xfrm>
            <a:custGeom>
              <a:avLst/>
              <a:gdLst/>
              <a:ahLst/>
              <a:cxnLst/>
              <a:rect l="l" t="t" r="r" b="b"/>
              <a:pathLst>
                <a:path w="662939" h="475614">
                  <a:moveTo>
                    <a:pt x="0" y="0"/>
                  </a:moveTo>
                  <a:lnTo>
                    <a:pt x="57941" y="4875"/>
                  </a:lnTo>
                  <a:lnTo>
                    <a:pt x="114366" y="12674"/>
                  </a:lnTo>
                  <a:lnTo>
                    <a:pt x="169091" y="23275"/>
                  </a:lnTo>
                  <a:lnTo>
                    <a:pt x="221930" y="36559"/>
                  </a:lnTo>
                  <a:lnTo>
                    <a:pt x="272699" y="52402"/>
                  </a:lnTo>
                  <a:lnTo>
                    <a:pt x="321214" y="70684"/>
                  </a:lnTo>
                  <a:lnTo>
                    <a:pt x="367288" y="91285"/>
                  </a:lnTo>
                  <a:lnTo>
                    <a:pt x="410738" y="114082"/>
                  </a:lnTo>
                  <a:lnTo>
                    <a:pt x="451379" y="138954"/>
                  </a:lnTo>
                  <a:lnTo>
                    <a:pt x="489026" y="165781"/>
                  </a:lnTo>
                  <a:lnTo>
                    <a:pt x="523495" y="194441"/>
                  </a:lnTo>
                  <a:lnTo>
                    <a:pt x="554600" y="224813"/>
                  </a:lnTo>
                  <a:lnTo>
                    <a:pt x="582157" y="256776"/>
                  </a:lnTo>
                  <a:lnTo>
                    <a:pt x="605982" y="290208"/>
                  </a:lnTo>
                  <a:lnTo>
                    <a:pt x="625889" y="324989"/>
                  </a:lnTo>
                  <a:lnTo>
                    <a:pt x="641694" y="360996"/>
                  </a:lnTo>
                  <a:lnTo>
                    <a:pt x="653211" y="398110"/>
                  </a:lnTo>
                  <a:lnTo>
                    <a:pt x="660258" y="436208"/>
                  </a:lnTo>
                  <a:lnTo>
                    <a:pt x="662647" y="475170"/>
                  </a:lnTo>
                </a:path>
              </a:pathLst>
            </a:custGeom>
            <a:ln w="12699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428964" y="1486562"/>
              <a:ext cx="77470" cy="76200"/>
            </a:xfrm>
            <a:custGeom>
              <a:avLst/>
              <a:gdLst/>
              <a:ahLst/>
              <a:cxnLst/>
              <a:rect l="l" t="t" r="r" b="b"/>
              <a:pathLst>
                <a:path w="77470" h="76200">
                  <a:moveTo>
                    <a:pt x="77254" y="0"/>
                  </a:moveTo>
                  <a:lnTo>
                    <a:pt x="0" y="35915"/>
                  </a:lnTo>
                  <a:lnTo>
                    <a:pt x="75082" y="76174"/>
                  </a:lnTo>
                  <a:lnTo>
                    <a:pt x="7725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7800" y="1118628"/>
            <a:ext cx="6722745" cy="2362200"/>
            <a:chOff x="1447800" y="1118628"/>
            <a:chExt cx="6722745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00" y="1118628"/>
              <a:ext cx="2362187" cy="23621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3988" y="1953767"/>
              <a:ext cx="4456175" cy="8991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53306" y="2037842"/>
            <a:ext cx="3948429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How</a:t>
            </a:r>
            <a:r>
              <a:rPr sz="3200" b="0" spc="-8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Yu Gothic"/>
                <a:cs typeface="Yu Gothic"/>
              </a:rPr>
              <a:t>Multithreading?</a:t>
            </a:r>
            <a:endParaRPr sz="32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3704" y="812291"/>
            <a:ext cx="1991867" cy="391972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40486" y="835215"/>
            <a:ext cx="106489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Times New Roman"/>
                <a:cs typeface="Times New Roman"/>
              </a:rPr>
              <a:t>Code-granularity </a:t>
            </a:r>
            <a:r>
              <a:rPr sz="1200" dirty="0">
                <a:solidFill>
                  <a:srgbClr val="0000CC"/>
                </a:solidFill>
                <a:latin typeface="Times New Roman"/>
                <a:cs typeface="Times New Roman"/>
              </a:rPr>
              <a:t>Code</a:t>
            </a:r>
            <a:r>
              <a:rPr sz="1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0000CC"/>
                </a:solidFill>
                <a:latin typeface="Times New Roman"/>
                <a:cs typeface="Times New Roman"/>
              </a:rPr>
              <a:t>Item</a:t>
            </a:r>
            <a:endParaRPr sz="1200">
              <a:latin typeface="Times New Roman"/>
              <a:cs typeface="Times New Roman"/>
            </a:endParaRPr>
          </a:p>
          <a:p>
            <a:pPr marL="12700" marR="339725" algn="just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Large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grain </a:t>
            </a:r>
            <a:r>
              <a:rPr sz="1200" dirty="0">
                <a:latin typeface="Times New Roman"/>
                <a:cs typeface="Times New Roman"/>
              </a:rPr>
              <a:t>(task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level) </a:t>
            </a:r>
            <a:r>
              <a:rPr sz="1200" spc="-10" dirty="0">
                <a:solidFill>
                  <a:srgbClr val="0000CC"/>
                </a:solidFill>
                <a:latin typeface="Times New Roman"/>
                <a:cs typeface="Times New Roman"/>
              </a:rPr>
              <a:t>Program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40486" y="2115375"/>
            <a:ext cx="1087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Medium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grain </a:t>
            </a:r>
            <a:r>
              <a:rPr sz="1200" dirty="0">
                <a:latin typeface="Times New Roman"/>
                <a:cs typeface="Times New Roman"/>
              </a:rPr>
              <a:t>(control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level) </a:t>
            </a:r>
            <a:r>
              <a:rPr sz="1200" dirty="0">
                <a:solidFill>
                  <a:srgbClr val="0000CC"/>
                </a:solidFill>
                <a:latin typeface="Times New Roman"/>
                <a:cs typeface="Times New Roman"/>
              </a:rPr>
              <a:t>Function</a:t>
            </a:r>
            <a:r>
              <a:rPr sz="12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00CC"/>
                </a:solidFill>
                <a:latin typeface="Times New Roman"/>
                <a:cs typeface="Times New Roman"/>
              </a:rPr>
              <a:t>(thread)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40486" y="3029775"/>
            <a:ext cx="10623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5052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Fine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grain </a:t>
            </a:r>
            <a:r>
              <a:rPr sz="1200" dirty="0">
                <a:latin typeface="Times New Roman"/>
                <a:cs typeface="Times New Roman"/>
              </a:rPr>
              <a:t>(data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level)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00CC"/>
                </a:solidFill>
                <a:latin typeface="Times New Roman"/>
                <a:cs typeface="Times New Roman"/>
              </a:rPr>
              <a:t>Loop</a:t>
            </a:r>
            <a:r>
              <a:rPr sz="1200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00CC"/>
                </a:solidFill>
                <a:latin typeface="Times New Roman"/>
                <a:cs typeface="Times New Roman"/>
              </a:rPr>
              <a:t>(Compiler)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40486" y="3761295"/>
            <a:ext cx="9817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Times New Roman"/>
                <a:cs typeface="Times New Roman"/>
              </a:rPr>
              <a:t>Very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fine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grain </a:t>
            </a:r>
            <a:r>
              <a:rPr sz="1200" dirty="0">
                <a:latin typeface="Times New Roman"/>
                <a:cs typeface="Times New Roman"/>
              </a:rPr>
              <a:t>(multiple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issue) </a:t>
            </a:r>
            <a:r>
              <a:rPr sz="1200" dirty="0">
                <a:solidFill>
                  <a:srgbClr val="0000CC"/>
                </a:solidFill>
                <a:latin typeface="Times New Roman"/>
                <a:cs typeface="Times New Roman"/>
              </a:rPr>
              <a:t>With</a:t>
            </a:r>
            <a:r>
              <a:rPr sz="1200" spc="-7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0000CC"/>
                </a:solidFill>
                <a:latin typeface="Times New Roman"/>
                <a:cs typeface="Times New Roman"/>
              </a:rPr>
              <a:t>hardware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40254" y="889755"/>
            <a:ext cx="3827779" cy="415290"/>
            <a:chOff x="2540254" y="889755"/>
            <a:chExt cx="3827779" cy="415290"/>
          </a:xfrm>
        </p:grpSpPr>
        <p:sp>
          <p:nvSpPr>
            <p:cNvPr id="8" name="object 8"/>
            <p:cNvSpPr/>
            <p:nvPr/>
          </p:nvSpPr>
          <p:spPr>
            <a:xfrm>
              <a:off x="6062472" y="1124712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5">
                  <a:moveTo>
                    <a:pt x="0" y="0"/>
                  </a:moveTo>
                  <a:lnTo>
                    <a:pt x="298704" y="0"/>
                  </a:lnTo>
                </a:path>
              </a:pathLst>
            </a:custGeom>
            <a:ln w="127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46604" y="896105"/>
              <a:ext cx="989330" cy="402590"/>
            </a:xfrm>
            <a:custGeom>
              <a:avLst/>
              <a:gdLst/>
              <a:ahLst/>
              <a:cxnLst/>
              <a:rect l="l" t="t" r="r" b="b"/>
              <a:pathLst>
                <a:path w="989329" h="402590">
                  <a:moveTo>
                    <a:pt x="0" y="117817"/>
                  </a:moveTo>
                  <a:lnTo>
                    <a:pt x="117817" y="0"/>
                  </a:lnTo>
                  <a:lnTo>
                    <a:pt x="871258" y="0"/>
                  </a:lnTo>
                  <a:lnTo>
                    <a:pt x="989076" y="117817"/>
                  </a:lnTo>
                  <a:lnTo>
                    <a:pt x="989076" y="284530"/>
                  </a:lnTo>
                  <a:lnTo>
                    <a:pt x="871258" y="402335"/>
                  </a:lnTo>
                  <a:lnTo>
                    <a:pt x="117817" y="402335"/>
                  </a:lnTo>
                  <a:lnTo>
                    <a:pt x="0" y="284530"/>
                  </a:lnTo>
                  <a:lnTo>
                    <a:pt x="0" y="11781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793236" y="896105"/>
              <a:ext cx="989330" cy="402590"/>
            </a:xfrm>
            <a:custGeom>
              <a:avLst/>
              <a:gdLst/>
              <a:ahLst/>
              <a:cxnLst/>
              <a:rect l="l" t="t" r="r" b="b"/>
              <a:pathLst>
                <a:path w="989329" h="402590">
                  <a:moveTo>
                    <a:pt x="0" y="117817"/>
                  </a:moveTo>
                  <a:lnTo>
                    <a:pt x="117817" y="0"/>
                  </a:lnTo>
                  <a:lnTo>
                    <a:pt x="871258" y="0"/>
                  </a:lnTo>
                  <a:lnTo>
                    <a:pt x="989076" y="117817"/>
                  </a:lnTo>
                  <a:lnTo>
                    <a:pt x="989076" y="284530"/>
                  </a:lnTo>
                  <a:lnTo>
                    <a:pt x="871258" y="402335"/>
                  </a:lnTo>
                  <a:lnTo>
                    <a:pt x="117817" y="402335"/>
                  </a:lnTo>
                  <a:lnTo>
                    <a:pt x="0" y="284530"/>
                  </a:lnTo>
                  <a:lnTo>
                    <a:pt x="0" y="11781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94031" y="969398"/>
            <a:ext cx="16929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04925" algn="l"/>
              </a:tabLst>
            </a:pPr>
            <a:r>
              <a:rPr sz="1350" spc="-25" dirty="0">
                <a:latin typeface="Calibri"/>
                <a:cs typeface="Calibri"/>
              </a:rPr>
              <a:t>Task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i-</a:t>
            </a:r>
            <a:r>
              <a:rPr sz="1350" spc="-50" dirty="0">
                <a:latin typeface="Calibri"/>
                <a:cs typeface="Calibri"/>
              </a:rPr>
              <a:t>l</a:t>
            </a:r>
            <a:r>
              <a:rPr sz="1350" dirty="0">
                <a:latin typeface="Calibri"/>
                <a:cs typeface="Calibri"/>
              </a:rPr>
              <a:t>	</a:t>
            </a:r>
            <a:r>
              <a:rPr sz="1350" spc="-25" dirty="0">
                <a:latin typeface="Calibri"/>
                <a:cs typeface="Calibri"/>
              </a:rPr>
              <a:t>Task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50" dirty="0">
                <a:latin typeface="Calibri"/>
                <a:cs typeface="Calibri"/>
              </a:rPr>
              <a:t>i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033517" y="889755"/>
            <a:ext cx="1000760" cy="415290"/>
            <a:chOff x="5033517" y="889755"/>
            <a:chExt cx="1000760" cy="415290"/>
          </a:xfrm>
        </p:grpSpPr>
        <p:sp>
          <p:nvSpPr>
            <p:cNvPr id="13" name="object 13"/>
            <p:cNvSpPr/>
            <p:nvPr/>
          </p:nvSpPr>
          <p:spPr>
            <a:xfrm>
              <a:off x="5039867" y="896105"/>
              <a:ext cx="988060" cy="402590"/>
            </a:xfrm>
            <a:custGeom>
              <a:avLst/>
              <a:gdLst/>
              <a:ahLst/>
              <a:cxnLst/>
              <a:rect l="l" t="t" r="r" b="b"/>
              <a:pathLst>
                <a:path w="988060" h="402590">
                  <a:moveTo>
                    <a:pt x="869734" y="0"/>
                  </a:moveTo>
                  <a:lnTo>
                    <a:pt x="117817" y="0"/>
                  </a:lnTo>
                  <a:lnTo>
                    <a:pt x="0" y="117817"/>
                  </a:lnTo>
                  <a:lnTo>
                    <a:pt x="0" y="284530"/>
                  </a:lnTo>
                  <a:lnTo>
                    <a:pt x="117817" y="402335"/>
                  </a:lnTo>
                  <a:lnTo>
                    <a:pt x="869734" y="402335"/>
                  </a:lnTo>
                  <a:lnTo>
                    <a:pt x="987552" y="284530"/>
                  </a:lnTo>
                  <a:lnTo>
                    <a:pt x="987552" y="117817"/>
                  </a:lnTo>
                  <a:lnTo>
                    <a:pt x="8697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039867" y="896105"/>
              <a:ext cx="988060" cy="402590"/>
            </a:xfrm>
            <a:custGeom>
              <a:avLst/>
              <a:gdLst/>
              <a:ahLst/>
              <a:cxnLst/>
              <a:rect l="l" t="t" r="r" b="b"/>
              <a:pathLst>
                <a:path w="988060" h="402590">
                  <a:moveTo>
                    <a:pt x="0" y="117817"/>
                  </a:moveTo>
                  <a:lnTo>
                    <a:pt x="117817" y="0"/>
                  </a:lnTo>
                  <a:lnTo>
                    <a:pt x="869734" y="0"/>
                  </a:lnTo>
                  <a:lnTo>
                    <a:pt x="987552" y="117817"/>
                  </a:lnTo>
                  <a:lnTo>
                    <a:pt x="987552" y="284530"/>
                  </a:lnTo>
                  <a:lnTo>
                    <a:pt x="869734" y="402335"/>
                  </a:lnTo>
                  <a:lnTo>
                    <a:pt x="117817" y="402335"/>
                  </a:lnTo>
                  <a:lnTo>
                    <a:pt x="0" y="284530"/>
                  </a:lnTo>
                  <a:lnTo>
                    <a:pt x="0" y="11781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246250" y="969398"/>
            <a:ext cx="57277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latin typeface="Calibri"/>
                <a:cs typeface="Calibri"/>
              </a:rPr>
              <a:t>Task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i+1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733801" y="1845310"/>
            <a:ext cx="661035" cy="852169"/>
            <a:chOff x="2733801" y="1845310"/>
            <a:chExt cx="661035" cy="852169"/>
          </a:xfrm>
        </p:grpSpPr>
        <p:sp>
          <p:nvSpPr>
            <p:cNvPr id="17" name="object 17"/>
            <p:cNvSpPr/>
            <p:nvPr/>
          </p:nvSpPr>
          <p:spPr>
            <a:xfrm>
              <a:off x="2809989" y="1921509"/>
              <a:ext cx="584835" cy="775970"/>
            </a:xfrm>
            <a:custGeom>
              <a:avLst/>
              <a:gdLst/>
              <a:ahLst/>
              <a:cxnLst/>
              <a:rect l="l" t="t" r="r" b="b"/>
              <a:pathLst>
                <a:path w="584835" h="775969">
                  <a:moveTo>
                    <a:pt x="584212" y="0"/>
                  </a:moveTo>
                  <a:lnTo>
                    <a:pt x="501650" y="0"/>
                  </a:lnTo>
                  <a:lnTo>
                    <a:pt x="501650" y="6362"/>
                  </a:lnTo>
                  <a:lnTo>
                    <a:pt x="501650" y="12700"/>
                  </a:lnTo>
                  <a:lnTo>
                    <a:pt x="501650" y="693432"/>
                  </a:lnTo>
                  <a:lnTo>
                    <a:pt x="12712" y="693432"/>
                  </a:lnTo>
                  <a:lnTo>
                    <a:pt x="0" y="693420"/>
                  </a:lnTo>
                  <a:lnTo>
                    <a:pt x="0" y="763270"/>
                  </a:lnTo>
                  <a:lnTo>
                    <a:pt x="0" y="775970"/>
                  </a:lnTo>
                  <a:lnTo>
                    <a:pt x="584212" y="775970"/>
                  </a:lnTo>
                  <a:lnTo>
                    <a:pt x="584212" y="763270"/>
                  </a:lnTo>
                  <a:lnTo>
                    <a:pt x="584212" y="693420"/>
                  </a:lnTo>
                  <a:lnTo>
                    <a:pt x="584212" y="12700"/>
                  </a:lnTo>
                  <a:lnTo>
                    <a:pt x="58421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0151" y="1851660"/>
              <a:ext cx="571500" cy="763905"/>
            </a:xfrm>
            <a:custGeom>
              <a:avLst/>
              <a:gdLst/>
              <a:ahLst/>
              <a:cxnLst/>
              <a:rect l="l" t="t" r="r" b="b"/>
              <a:pathLst>
                <a:path w="571500" h="763905">
                  <a:moveTo>
                    <a:pt x="571500" y="0"/>
                  </a:moveTo>
                  <a:lnTo>
                    <a:pt x="0" y="0"/>
                  </a:lnTo>
                  <a:lnTo>
                    <a:pt x="0" y="763524"/>
                  </a:lnTo>
                  <a:lnTo>
                    <a:pt x="571500" y="763524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0151" y="1851660"/>
              <a:ext cx="571500" cy="763905"/>
            </a:xfrm>
            <a:custGeom>
              <a:avLst/>
              <a:gdLst/>
              <a:ahLst/>
              <a:cxnLst/>
              <a:rect l="l" t="t" r="r" b="b"/>
              <a:pathLst>
                <a:path w="571500" h="763905">
                  <a:moveTo>
                    <a:pt x="0" y="0"/>
                  </a:moveTo>
                  <a:lnTo>
                    <a:pt x="571500" y="0"/>
                  </a:lnTo>
                  <a:lnTo>
                    <a:pt x="571500" y="763524"/>
                  </a:lnTo>
                  <a:lnTo>
                    <a:pt x="0" y="76352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795628" y="1870361"/>
            <a:ext cx="4064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func1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(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spc="-50" dirty="0">
                <a:latin typeface="Calibri"/>
                <a:cs typeface="Calibri"/>
              </a:rPr>
              <a:t>)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latin typeface="Calibri"/>
                <a:cs typeface="Calibri"/>
              </a:rPr>
              <a:t>{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latin typeface="Calibri"/>
                <a:cs typeface="Calibri"/>
              </a:rPr>
              <a:t>....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latin typeface="Calibri"/>
                <a:cs typeface="Calibri"/>
              </a:rPr>
              <a:t>....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963670" y="1915414"/>
            <a:ext cx="661035" cy="782320"/>
            <a:chOff x="3963670" y="1915414"/>
            <a:chExt cx="661035" cy="782320"/>
          </a:xfrm>
        </p:grpSpPr>
        <p:sp>
          <p:nvSpPr>
            <p:cNvPr id="22" name="object 22"/>
            <p:cNvSpPr/>
            <p:nvPr/>
          </p:nvSpPr>
          <p:spPr>
            <a:xfrm>
              <a:off x="4039857" y="1991613"/>
              <a:ext cx="584835" cy="706120"/>
            </a:xfrm>
            <a:custGeom>
              <a:avLst/>
              <a:gdLst/>
              <a:ahLst/>
              <a:cxnLst/>
              <a:rect l="l" t="t" r="r" b="b"/>
              <a:pathLst>
                <a:path w="584835" h="706119">
                  <a:moveTo>
                    <a:pt x="584212" y="0"/>
                  </a:moveTo>
                  <a:lnTo>
                    <a:pt x="501650" y="0"/>
                  </a:lnTo>
                  <a:lnTo>
                    <a:pt x="501650" y="6350"/>
                  </a:lnTo>
                  <a:lnTo>
                    <a:pt x="501650" y="12700"/>
                  </a:lnTo>
                  <a:lnTo>
                    <a:pt x="501650" y="623570"/>
                  </a:lnTo>
                  <a:lnTo>
                    <a:pt x="12712" y="623570"/>
                  </a:lnTo>
                  <a:lnTo>
                    <a:pt x="6350" y="623570"/>
                  </a:lnTo>
                  <a:lnTo>
                    <a:pt x="0" y="623570"/>
                  </a:lnTo>
                  <a:lnTo>
                    <a:pt x="0" y="693420"/>
                  </a:lnTo>
                  <a:lnTo>
                    <a:pt x="0" y="706120"/>
                  </a:lnTo>
                  <a:lnTo>
                    <a:pt x="584212" y="706120"/>
                  </a:lnTo>
                  <a:lnTo>
                    <a:pt x="584212" y="693420"/>
                  </a:lnTo>
                  <a:lnTo>
                    <a:pt x="584212" y="623570"/>
                  </a:lnTo>
                  <a:lnTo>
                    <a:pt x="584212" y="12700"/>
                  </a:lnTo>
                  <a:lnTo>
                    <a:pt x="58421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70020" y="1921764"/>
              <a:ext cx="571500" cy="693420"/>
            </a:xfrm>
            <a:custGeom>
              <a:avLst/>
              <a:gdLst/>
              <a:ahLst/>
              <a:cxnLst/>
              <a:rect l="l" t="t" r="r" b="b"/>
              <a:pathLst>
                <a:path w="571500" h="693419">
                  <a:moveTo>
                    <a:pt x="571500" y="0"/>
                  </a:moveTo>
                  <a:lnTo>
                    <a:pt x="0" y="0"/>
                  </a:lnTo>
                  <a:lnTo>
                    <a:pt x="0" y="693419"/>
                  </a:lnTo>
                  <a:lnTo>
                    <a:pt x="571500" y="693419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70020" y="1921764"/>
              <a:ext cx="571500" cy="693420"/>
            </a:xfrm>
            <a:custGeom>
              <a:avLst/>
              <a:gdLst/>
              <a:ahLst/>
              <a:cxnLst/>
              <a:rect l="l" t="t" r="r" b="b"/>
              <a:pathLst>
                <a:path w="571500" h="693419">
                  <a:moveTo>
                    <a:pt x="0" y="0"/>
                  </a:moveTo>
                  <a:lnTo>
                    <a:pt x="571500" y="0"/>
                  </a:lnTo>
                  <a:lnTo>
                    <a:pt x="571500" y="693419"/>
                  </a:lnTo>
                  <a:lnTo>
                    <a:pt x="0" y="69341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024710" y="1905187"/>
            <a:ext cx="4064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func2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(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spc="-50" dirty="0">
                <a:latin typeface="Calibri"/>
                <a:cs typeface="Calibri"/>
              </a:rPr>
              <a:t>)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latin typeface="Calibri"/>
                <a:cs typeface="Calibri"/>
              </a:rPr>
              <a:t>{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latin typeface="Calibri"/>
                <a:cs typeface="Calibri"/>
              </a:rPr>
              <a:t>....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latin typeface="Calibri"/>
                <a:cs typeface="Calibri"/>
              </a:rPr>
              <a:t>....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024710" y="2453827"/>
            <a:ext cx="6159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0" dirty="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120385" y="1880361"/>
            <a:ext cx="663575" cy="817880"/>
            <a:chOff x="5120385" y="1880361"/>
            <a:chExt cx="663575" cy="817880"/>
          </a:xfrm>
        </p:grpSpPr>
        <p:sp>
          <p:nvSpPr>
            <p:cNvPr id="28" name="object 28"/>
            <p:cNvSpPr/>
            <p:nvPr/>
          </p:nvSpPr>
          <p:spPr>
            <a:xfrm>
              <a:off x="5196586" y="1956574"/>
              <a:ext cx="587375" cy="741680"/>
            </a:xfrm>
            <a:custGeom>
              <a:avLst/>
              <a:gdLst/>
              <a:ahLst/>
              <a:cxnLst/>
              <a:rect l="l" t="t" r="r" b="b"/>
              <a:pathLst>
                <a:path w="587375" h="741680">
                  <a:moveTo>
                    <a:pt x="587248" y="0"/>
                  </a:moveTo>
                  <a:lnTo>
                    <a:pt x="504698" y="0"/>
                  </a:lnTo>
                  <a:lnTo>
                    <a:pt x="504698" y="6337"/>
                  </a:lnTo>
                  <a:lnTo>
                    <a:pt x="504698" y="12700"/>
                  </a:lnTo>
                  <a:lnTo>
                    <a:pt x="504698" y="659117"/>
                  </a:lnTo>
                  <a:lnTo>
                    <a:pt x="100609" y="659117"/>
                  </a:lnTo>
                  <a:lnTo>
                    <a:pt x="100838" y="658622"/>
                  </a:lnTo>
                  <a:lnTo>
                    <a:pt x="92151" y="658622"/>
                  </a:lnTo>
                  <a:lnTo>
                    <a:pt x="91948" y="659117"/>
                  </a:lnTo>
                  <a:lnTo>
                    <a:pt x="6350" y="659117"/>
                  </a:lnTo>
                  <a:lnTo>
                    <a:pt x="0" y="659130"/>
                  </a:lnTo>
                  <a:lnTo>
                    <a:pt x="0" y="728980"/>
                  </a:lnTo>
                  <a:lnTo>
                    <a:pt x="0" y="741680"/>
                  </a:lnTo>
                  <a:lnTo>
                    <a:pt x="587248" y="741680"/>
                  </a:lnTo>
                  <a:lnTo>
                    <a:pt x="587248" y="728980"/>
                  </a:lnTo>
                  <a:lnTo>
                    <a:pt x="587248" y="659130"/>
                  </a:lnTo>
                  <a:lnTo>
                    <a:pt x="587248" y="12700"/>
                  </a:lnTo>
                  <a:lnTo>
                    <a:pt x="587248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126735" y="1886711"/>
              <a:ext cx="574675" cy="728980"/>
            </a:xfrm>
            <a:custGeom>
              <a:avLst/>
              <a:gdLst/>
              <a:ahLst/>
              <a:cxnLst/>
              <a:rect l="l" t="t" r="r" b="b"/>
              <a:pathLst>
                <a:path w="574675" h="728980">
                  <a:moveTo>
                    <a:pt x="574548" y="0"/>
                  </a:moveTo>
                  <a:lnTo>
                    <a:pt x="0" y="0"/>
                  </a:lnTo>
                  <a:lnTo>
                    <a:pt x="0" y="728472"/>
                  </a:lnTo>
                  <a:lnTo>
                    <a:pt x="574548" y="728472"/>
                  </a:lnTo>
                  <a:lnTo>
                    <a:pt x="574548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126735" y="1886711"/>
              <a:ext cx="574675" cy="728980"/>
            </a:xfrm>
            <a:custGeom>
              <a:avLst/>
              <a:gdLst/>
              <a:ahLst/>
              <a:cxnLst/>
              <a:rect l="l" t="t" r="r" b="b"/>
              <a:pathLst>
                <a:path w="574675" h="728980">
                  <a:moveTo>
                    <a:pt x="0" y="0"/>
                  </a:moveTo>
                  <a:lnTo>
                    <a:pt x="574548" y="0"/>
                  </a:lnTo>
                  <a:lnTo>
                    <a:pt x="574548" y="728472"/>
                  </a:lnTo>
                  <a:lnTo>
                    <a:pt x="0" y="728472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5181996" y="1887329"/>
            <a:ext cx="4064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func3</a:t>
            </a:r>
            <a:r>
              <a:rPr sz="900" spc="-2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(</a:t>
            </a:r>
            <a:r>
              <a:rPr sz="900" spc="-5" dirty="0">
                <a:latin typeface="Calibri"/>
                <a:cs typeface="Calibri"/>
              </a:rPr>
              <a:t> </a:t>
            </a:r>
            <a:r>
              <a:rPr sz="900" spc="-50" dirty="0">
                <a:latin typeface="Calibri"/>
                <a:cs typeface="Calibri"/>
              </a:rPr>
              <a:t>)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latin typeface="Calibri"/>
                <a:cs typeface="Calibri"/>
              </a:rPr>
              <a:t>{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latin typeface="Calibri"/>
                <a:cs typeface="Calibri"/>
              </a:rPr>
              <a:t>....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20" dirty="0">
                <a:latin typeface="Calibri"/>
                <a:cs typeface="Calibri"/>
              </a:rPr>
              <a:t>....</a:t>
            </a:r>
            <a:endParaRPr sz="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900" spc="-50" dirty="0">
                <a:latin typeface="Calibri"/>
                <a:cs typeface="Calibri"/>
              </a:rPr>
              <a:t>}</a:t>
            </a:r>
            <a:endParaRPr sz="9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813050" y="1450594"/>
            <a:ext cx="2570480" cy="2058035"/>
            <a:chOff x="2813050" y="1450594"/>
            <a:chExt cx="2570480" cy="2058035"/>
          </a:xfrm>
        </p:grpSpPr>
        <p:sp>
          <p:nvSpPr>
            <p:cNvPr id="33" name="object 33"/>
            <p:cNvSpPr/>
            <p:nvPr/>
          </p:nvSpPr>
          <p:spPr>
            <a:xfrm>
              <a:off x="4191000" y="1456944"/>
              <a:ext cx="17145" cy="429895"/>
            </a:xfrm>
            <a:custGeom>
              <a:avLst/>
              <a:gdLst/>
              <a:ahLst/>
              <a:cxnLst/>
              <a:rect l="l" t="t" r="r" b="b"/>
              <a:pathLst>
                <a:path w="17145" h="429894">
                  <a:moveTo>
                    <a:pt x="0" y="0"/>
                  </a:moveTo>
                  <a:lnTo>
                    <a:pt x="16764" y="42976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119627" y="1456944"/>
              <a:ext cx="1047115" cy="337185"/>
            </a:xfrm>
            <a:custGeom>
              <a:avLst/>
              <a:gdLst/>
              <a:ahLst/>
              <a:cxnLst/>
              <a:rect l="l" t="t" r="r" b="b"/>
              <a:pathLst>
                <a:path w="1047114" h="337185">
                  <a:moveTo>
                    <a:pt x="1046988" y="0"/>
                  </a:moveTo>
                  <a:lnTo>
                    <a:pt x="0" y="33680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07763" y="1456944"/>
              <a:ext cx="1169035" cy="337185"/>
            </a:xfrm>
            <a:custGeom>
              <a:avLst/>
              <a:gdLst/>
              <a:ahLst/>
              <a:cxnLst/>
              <a:rect l="l" t="t" r="r" b="b"/>
              <a:pathLst>
                <a:path w="1169035" h="337185">
                  <a:moveTo>
                    <a:pt x="0" y="0"/>
                  </a:moveTo>
                  <a:lnTo>
                    <a:pt x="1168908" y="33680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889275" y="3175774"/>
              <a:ext cx="668020" cy="332740"/>
            </a:xfrm>
            <a:custGeom>
              <a:avLst/>
              <a:gdLst/>
              <a:ahLst/>
              <a:cxnLst/>
              <a:rect l="l" t="t" r="r" b="b"/>
              <a:pathLst>
                <a:path w="668020" h="332739">
                  <a:moveTo>
                    <a:pt x="667956" y="45758"/>
                  </a:moveTo>
                  <a:lnTo>
                    <a:pt x="647827" y="8039"/>
                  </a:lnTo>
                  <a:lnTo>
                    <a:pt x="631304" y="1016"/>
                  </a:lnTo>
                  <a:lnTo>
                    <a:pt x="631748" y="1016"/>
                  </a:lnTo>
                  <a:lnTo>
                    <a:pt x="621753" y="0"/>
                  </a:lnTo>
                  <a:lnTo>
                    <a:pt x="585431" y="0"/>
                  </a:lnTo>
                  <a:lnTo>
                    <a:pt x="585431" y="12700"/>
                  </a:lnTo>
                  <a:lnTo>
                    <a:pt x="585444" y="210197"/>
                  </a:lnTo>
                  <a:lnTo>
                    <a:pt x="582295" y="225767"/>
                  </a:lnTo>
                  <a:lnTo>
                    <a:pt x="573735" y="238467"/>
                  </a:lnTo>
                  <a:lnTo>
                    <a:pt x="561022" y="247040"/>
                  </a:lnTo>
                  <a:lnTo>
                    <a:pt x="545452" y="250177"/>
                  </a:lnTo>
                  <a:lnTo>
                    <a:pt x="12636" y="250177"/>
                  </a:lnTo>
                  <a:lnTo>
                    <a:pt x="6324" y="250177"/>
                  </a:lnTo>
                  <a:lnTo>
                    <a:pt x="0" y="250177"/>
                  </a:lnTo>
                  <a:lnTo>
                    <a:pt x="0" y="287058"/>
                  </a:lnTo>
                  <a:lnTo>
                    <a:pt x="20231" y="324802"/>
                  </a:lnTo>
                  <a:lnTo>
                    <a:pt x="37160" y="331952"/>
                  </a:lnTo>
                  <a:lnTo>
                    <a:pt x="37630" y="331952"/>
                  </a:lnTo>
                  <a:lnTo>
                    <a:pt x="46316" y="332740"/>
                  </a:lnTo>
                  <a:lnTo>
                    <a:pt x="622058" y="332740"/>
                  </a:lnTo>
                  <a:lnTo>
                    <a:pt x="630339" y="331952"/>
                  </a:lnTo>
                  <a:lnTo>
                    <a:pt x="630897" y="331952"/>
                  </a:lnTo>
                  <a:lnTo>
                    <a:pt x="664273" y="304660"/>
                  </a:lnTo>
                  <a:lnTo>
                    <a:pt x="667931" y="287058"/>
                  </a:lnTo>
                  <a:lnTo>
                    <a:pt x="667956" y="45758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19400" y="3105909"/>
              <a:ext cx="655320" cy="32003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2819400" y="3105909"/>
              <a:ext cx="655320" cy="320040"/>
            </a:xfrm>
            <a:custGeom>
              <a:avLst/>
              <a:gdLst/>
              <a:ahLst/>
              <a:cxnLst/>
              <a:rect l="l" t="t" r="r" b="b"/>
              <a:pathLst>
                <a:path w="655320" h="320039">
                  <a:moveTo>
                    <a:pt x="0" y="39992"/>
                  </a:moveTo>
                  <a:lnTo>
                    <a:pt x="3143" y="24426"/>
                  </a:lnTo>
                  <a:lnTo>
                    <a:pt x="11714" y="11714"/>
                  </a:lnTo>
                  <a:lnTo>
                    <a:pt x="24426" y="3143"/>
                  </a:lnTo>
                  <a:lnTo>
                    <a:pt x="39992" y="0"/>
                  </a:lnTo>
                  <a:lnTo>
                    <a:pt x="615327" y="0"/>
                  </a:lnTo>
                  <a:lnTo>
                    <a:pt x="630893" y="3143"/>
                  </a:lnTo>
                  <a:lnTo>
                    <a:pt x="643605" y="11714"/>
                  </a:lnTo>
                  <a:lnTo>
                    <a:pt x="652176" y="24426"/>
                  </a:lnTo>
                  <a:lnTo>
                    <a:pt x="655320" y="39992"/>
                  </a:lnTo>
                  <a:lnTo>
                    <a:pt x="655320" y="280047"/>
                  </a:lnTo>
                  <a:lnTo>
                    <a:pt x="652176" y="295613"/>
                  </a:lnTo>
                  <a:lnTo>
                    <a:pt x="643605" y="308325"/>
                  </a:lnTo>
                  <a:lnTo>
                    <a:pt x="630893" y="316896"/>
                  </a:lnTo>
                  <a:lnTo>
                    <a:pt x="615327" y="320040"/>
                  </a:lnTo>
                  <a:lnTo>
                    <a:pt x="39992" y="320040"/>
                  </a:lnTo>
                  <a:lnTo>
                    <a:pt x="24426" y="316896"/>
                  </a:lnTo>
                  <a:lnTo>
                    <a:pt x="11714" y="308325"/>
                  </a:lnTo>
                  <a:lnTo>
                    <a:pt x="3143" y="295613"/>
                  </a:lnTo>
                  <a:lnTo>
                    <a:pt x="0" y="280047"/>
                  </a:lnTo>
                  <a:lnTo>
                    <a:pt x="0" y="39992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2897134" y="3084019"/>
            <a:ext cx="49847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1050" spc="-1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(</a:t>
            </a:r>
            <a:r>
              <a:rPr sz="1050" spc="-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0</a:t>
            </a:r>
            <a:r>
              <a:rPr sz="1050" spc="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)</a:t>
            </a:r>
            <a:r>
              <a:rPr sz="1050" spc="-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E7E6E6"/>
                </a:solidFill>
                <a:latin typeface="Calibri"/>
                <a:cs typeface="Calibri"/>
              </a:rPr>
              <a:t>=..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b</a:t>
            </a:r>
            <a:r>
              <a:rPr sz="1050" spc="-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(</a:t>
            </a:r>
            <a:r>
              <a:rPr sz="1050" spc="-2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0</a:t>
            </a:r>
            <a:r>
              <a:rPr sz="1050" spc="1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)</a:t>
            </a:r>
            <a:r>
              <a:rPr sz="1050" spc="-1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spc="-25" dirty="0">
                <a:solidFill>
                  <a:srgbClr val="E7E6E6"/>
                </a:solidFill>
                <a:latin typeface="Calibri"/>
                <a:cs typeface="Calibri"/>
              </a:rPr>
              <a:t>=..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834129" y="3099559"/>
            <a:ext cx="744220" cy="408940"/>
            <a:chOff x="3834129" y="3099559"/>
            <a:chExt cx="744220" cy="408940"/>
          </a:xfrm>
        </p:grpSpPr>
        <p:sp>
          <p:nvSpPr>
            <p:cNvPr id="41" name="object 41"/>
            <p:cNvSpPr/>
            <p:nvPr/>
          </p:nvSpPr>
          <p:spPr>
            <a:xfrm>
              <a:off x="3910355" y="3175774"/>
              <a:ext cx="668020" cy="332740"/>
            </a:xfrm>
            <a:custGeom>
              <a:avLst/>
              <a:gdLst/>
              <a:ahLst/>
              <a:cxnLst/>
              <a:rect l="l" t="t" r="r" b="b"/>
              <a:pathLst>
                <a:path w="668020" h="332739">
                  <a:moveTo>
                    <a:pt x="667956" y="45758"/>
                  </a:moveTo>
                  <a:lnTo>
                    <a:pt x="647827" y="8039"/>
                  </a:lnTo>
                  <a:lnTo>
                    <a:pt x="631304" y="1016"/>
                  </a:lnTo>
                  <a:lnTo>
                    <a:pt x="631748" y="1016"/>
                  </a:lnTo>
                  <a:lnTo>
                    <a:pt x="621753" y="0"/>
                  </a:lnTo>
                  <a:lnTo>
                    <a:pt x="585431" y="0"/>
                  </a:lnTo>
                  <a:lnTo>
                    <a:pt x="585431" y="12700"/>
                  </a:lnTo>
                  <a:lnTo>
                    <a:pt x="585444" y="210197"/>
                  </a:lnTo>
                  <a:lnTo>
                    <a:pt x="582295" y="225767"/>
                  </a:lnTo>
                  <a:lnTo>
                    <a:pt x="573722" y="238467"/>
                  </a:lnTo>
                  <a:lnTo>
                    <a:pt x="561022" y="247040"/>
                  </a:lnTo>
                  <a:lnTo>
                    <a:pt x="545465" y="250177"/>
                  </a:lnTo>
                  <a:lnTo>
                    <a:pt x="12636" y="250177"/>
                  </a:lnTo>
                  <a:lnTo>
                    <a:pt x="6324" y="250177"/>
                  </a:lnTo>
                  <a:lnTo>
                    <a:pt x="0" y="250177"/>
                  </a:lnTo>
                  <a:lnTo>
                    <a:pt x="0" y="287058"/>
                  </a:lnTo>
                  <a:lnTo>
                    <a:pt x="20231" y="324802"/>
                  </a:lnTo>
                  <a:lnTo>
                    <a:pt x="37160" y="331952"/>
                  </a:lnTo>
                  <a:lnTo>
                    <a:pt x="37630" y="331952"/>
                  </a:lnTo>
                  <a:lnTo>
                    <a:pt x="46316" y="332740"/>
                  </a:lnTo>
                  <a:lnTo>
                    <a:pt x="622058" y="332740"/>
                  </a:lnTo>
                  <a:lnTo>
                    <a:pt x="630339" y="331952"/>
                  </a:lnTo>
                  <a:lnTo>
                    <a:pt x="630897" y="331952"/>
                  </a:lnTo>
                  <a:lnTo>
                    <a:pt x="664273" y="304660"/>
                  </a:lnTo>
                  <a:lnTo>
                    <a:pt x="667931" y="287058"/>
                  </a:lnTo>
                  <a:lnTo>
                    <a:pt x="667956" y="45758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40479" y="3105909"/>
              <a:ext cx="655320" cy="32003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840479" y="3105909"/>
              <a:ext cx="655320" cy="320040"/>
            </a:xfrm>
            <a:custGeom>
              <a:avLst/>
              <a:gdLst/>
              <a:ahLst/>
              <a:cxnLst/>
              <a:rect l="l" t="t" r="r" b="b"/>
              <a:pathLst>
                <a:path w="655320" h="320039">
                  <a:moveTo>
                    <a:pt x="0" y="39992"/>
                  </a:moveTo>
                  <a:lnTo>
                    <a:pt x="3143" y="24426"/>
                  </a:lnTo>
                  <a:lnTo>
                    <a:pt x="11714" y="11714"/>
                  </a:lnTo>
                  <a:lnTo>
                    <a:pt x="24426" y="3143"/>
                  </a:lnTo>
                  <a:lnTo>
                    <a:pt x="39992" y="0"/>
                  </a:lnTo>
                  <a:lnTo>
                    <a:pt x="615327" y="0"/>
                  </a:lnTo>
                  <a:lnTo>
                    <a:pt x="630893" y="3143"/>
                  </a:lnTo>
                  <a:lnTo>
                    <a:pt x="643605" y="11714"/>
                  </a:lnTo>
                  <a:lnTo>
                    <a:pt x="652176" y="24426"/>
                  </a:lnTo>
                  <a:lnTo>
                    <a:pt x="655320" y="39992"/>
                  </a:lnTo>
                  <a:lnTo>
                    <a:pt x="655320" y="280047"/>
                  </a:lnTo>
                  <a:lnTo>
                    <a:pt x="652176" y="295613"/>
                  </a:lnTo>
                  <a:lnTo>
                    <a:pt x="643605" y="308325"/>
                  </a:lnTo>
                  <a:lnTo>
                    <a:pt x="630893" y="316896"/>
                  </a:lnTo>
                  <a:lnTo>
                    <a:pt x="615327" y="320040"/>
                  </a:lnTo>
                  <a:lnTo>
                    <a:pt x="39992" y="320040"/>
                  </a:lnTo>
                  <a:lnTo>
                    <a:pt x="24426" y="316896"/>
                  </a:lnTo>
                  <a:lnTo>
                    <a:pt x="11714" y="308325"/>
                  </a:lnTo>
                  <a:lnTo>
                    <a:pt x="3143" y="295613"/>
                  </a:lnTo>
                  <a:lnTo>
                    <a:pt x="0" y="280047"/>
                  </a:lnTo>
                  <a:lnTo>
                    <a:pt x="0" y="39992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3933303" y="3084019"/>
            <a:ext cx="46926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1050" spc="-1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(</a:t>
            </a:r>
            <a:r>
              <a:rPr sz="1050" spc="-1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1</a:t>
            </a:r>
            <a:r>
              <a:rPr sz="1050" spc="1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E7E6E6"/>
                </a:solidFill>
                <a:latin typeface="Calibri"/>
                <a:cs typeface="Calibri"/>
              </a:rPr>
              <a:t>)=..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b</a:t>
            </a:r>
            <a:r>
              <a:rPr sz="1050" spc="-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(</a:t>
            </a:r>
            <a:r>
              <a:rPr sz="1050" spc="-2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1</a:t>
            </a:r>
            <a:r>
              <a:rPr sz="1050" spc="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E7E6E6"/>
                </a:solidFill>
                <a:latin typeface="Calibri"/>
                <a:cs typeface="Calibri"/>
              </a:rPr>
              <a:t>)=..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053329" y="3099559"/>
            <a:ext cx="744220" cy="408940"/>
            <a:chOff x="5053329" y="3099559"/>
            <a:chExt cx="744220" cy="408940"/>
          </a:xfrm>
        </p:grpSpPr>
        <p:sp>
          <p:nvSpPr>
            <p:cNvPr id="46" name="object 46"/>
            <p:cNvSpPr/>
            <p:nvPr/>
          </p:nvSpPr>
          <p:spPr>
            <a:xfrm>
              <a:off x="5129555" y="3175774"/>
              <a:ext cx="668020" cy="332740"/>
            </a:xfrm>
            <a:custGeom>
              <a:avLst/>
              <a:gdLst/>
              <a:ahLst/>
              <a:cxnLst/>
              <a:rect l="l" t="t" r="r" b="b"/>
              <a:pathLst>
                <a:path w="668020" h="332739">
                  <a:moveTo>
                    <a:pt x="667956" y="45758"/>
                  </a:moveTo>
                  <a:lnTo>
                    <a:pt x="647827" y="8039"/>
                  </a:lnTo>
                  <a:lnTo>
                    <a:pt x="631304" y="1016"/>
                  </a:lnTo>
                  <a:lnTo>
                    <a:pt x="631748" y="1016"/>
                  </a:lnTo>
                  <a:lnTo>
                    <a:pt x="621753" y="0"/>
                  </a:lnTo>
                  <a:lnTo>
                    <a:pt x="585431" y="0"/>
                  </a:lnTo>
                  <a:lnTo>
                    <a:pt x="585431" y="12700"/>
                  </a:lnTo>
                  <a:lnTo>
                    <a:pt x="585444" y="210197"/>
                  </a:lnTo>
                  <a:lnTo>
                    <a:pt x="582295" y="225767"/>
                  </a:lnTo>
                  <a:lnTo>
                    <a:pt x="573735" y="238467"/>
                  </a:lnTo>
                  <a:lnTo>
                    <a:pt x="561022" y="247040"/>
                  </a:lnTo>
                  <a:lnTo>
                    <a:pt x="545452" y="250177"/>
                  </a:lnTo>
                  <a:lnTo>
                    <a:pt x="12636" y="250177"/>
                  </a:lnTo>
                  <a:lnTo>
                    <a:pt x="6324" y="250177"/>
                  </a:lnTo>
                  <a:lnTo>
                    <a:pt x="0" y="250177"/>
                  </a:lnTo>
                  <a:lnTo>
                    <a:pt x="0" y="287058"/>
                  </a:lnTo>
                  <a:lnTo>
                    <a:pt x="20231" y="324802"/>
                  </a:lnTo>
                  <a:lnTo>
                    <a:pt x="37160" y="331952"/>
                  </a:lnTo>
                  <a:lnTo>
                    <a:pt x="37630" y="331952"/>
                  </a:lnTo>
                  <a:lnTo>
                    <a:pt x="46316" y="332740"/>
                  </a:lnTo>
                  <a:lnTo>
                    <a:pt x="622058" y="332740"/>
                  </a:lnTo>
                  <a:lnTo>
                    <a:pt x="630339" y="331952"/>
                  </a:lnTo>
                  <a:lnTo>
                    <a:pt x="630897" y="331952"/>
                  </a:lnTo>
                  <a:lnTo>
                    <a:pt x="664273" y="304660"/>
                  </a:lnTo>
                  <a:lnTo>
                    <a:pt x="667931" y="287058"/>
                  </a:lnTo>
                  <a:lnTo>
                    <a:pt x="667956" y="45758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059679" y="3105909"/>
              <a:ext cx="655320" cy="320039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059679" y="3105909"/>
              <a:ext cx="655320" cy="320040"/>
            </a:xfrm>
            <a:custGeom>
              <a:avLst/>
              <a:gdLst/>
              <a:ahLst/>
              <a:cxnLst/>
              <a:rect l="l" t="t" r="r" b="b"/>
              <a:pathLst>
                <a:path w="655320" h="320039">
                  <a:moveTo>
                    <a:pt x="0" y="39992"/>
                  </a:moveTo>
                  <a:lnTo>
                    <a:pt x="3143" y="24426"/>
                  </a:lnTo>
                  <a:lnTo>
                    <a:pt x="11714" y="11714"/>
                  </a:lnTo>
                  <a:lnTo>
                    <a:pt x="24426" y="3143"/>
                  </a:lnTo>
                  <a:lnTo>
                    <a:pt x="39992" y="0"/>
                  </a:lnTo>
                  <a:lnTo>
                    <a:pt x="615327" y="0"/>
                  </a:lnTo>
                  <a:lnTo>
                    <a:pt x="630893" y="3143"/>
                  </a:lnTo>
                  <a:lnTo>
                    <a:pt x="643605" y="11714"/>
                  </a:lnTo>
                  <a:lnTo>
                    <a:pt x="652176" y="24426"/>
                  </a:lnTo>
                  <a:lnTo>
                    <a:pt x="655320" y="39992"/>
                  </a:lnTo>
                  <a:lnTo>
                    <a:pt x="655320" y="280047"/>
                  </a:lnTo>
                  <a:lnTo>
                    <a:pt x="652176" y="295613"/>
                  </a:lnTo>
                  <a:lnTo>
                    <a:pt x="643605" y="308325"/>
                  </a:lnTo>
                  <a:lnTo>
                    <a:pt x="630893" y="316896"/>
                  </a:lnTo>
                  <a:lnTo>
                    <a:pt x="615327" y="320040"/>
                  </a:lnTo>
                  <a:lnTo>
                    <a:pt x="39992" y="320040"/>
                  </a:lnTo>
                  <a:lnTo>
                    <a:pt x="24426" y="316896"/>
                  </a:lnTo>
                  <a:lnTo>
                    <a:pt x="11714" y="308325"/>
                  </a:lnTo>
                  <a:lnTo>
                    <a:pt x="3143" y="295613"/>
                  </a:lnTo>
                  <a:lnTo>
                    <a:pt x="0" y="280047"/>
                  </a:lnTo>
                  <a:lnTo>
                    <a:pt x="0" y="39992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152503" y="3084019"/>
            <a:ext cx="469265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a</a:t>
            </a:r>
            <a:r>
              <a:rPr sz="1050" spc="-1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(</a:t>
            </a:r>
            <a:r>
              <a:rPr sz="1050" spc="-1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2</a:t>
            </a:r>
            <a:r>
              <a:rPr sz="1050" spc="1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E7E6E6"/>
                </a:solidFill>
                <a:latin typeface="Calibri"/>
                <a:cs typeface="Calibri"/>
              </a:rPr>
              <a:t>)=..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b</a:t>
            </a:r>
            <a:r>
              <a:rPr sz="1050" spc="-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(</a:t>
            </a:r>
            <a:r>
              <a:rPr sz="1050" spc="-20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E7E6E6"/>
                </a:solidFill>
                <a:latin typeface="Calibri"/>
                <a:cs typeface="Calibri"/>
              </a:rPr>
              <a:t>2</a:t>
            </a:r>
            <a:r>
              <a:rPr sz="1050" spc="5" dirty="0">
                <a:solidFill>
                  <a:srgbClr val="E7E6E6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E7E6E6"/>
                </a:solidFill>
                <a:latin typeface="Calibri"/>
                <a:cs typeface="Calibri"/>
              </a:rPr>
              <a:t>)=..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2889250" y="3937761"/>
            <a:ext cx="494665" cy="408940"/>
            <a:chOff x="2889250" y="3937761"/>
            <a:chExt cx="494665" cy="408940"/>
          </a:xfrm>
        </p:grpSpPr>
        <p:sp>
          <p:nvSpPr>
            <p:cNvPr id="51" name="object 51"/>
            <p:cNvSpPr/>
            <p:nvPr/>
          </p:nvSpPr>
          <p:spPr>
            <a:xfrm>
              <a:off x="2974746" y="4037202"/>
              <a:ext cx="408940" cy="309880"/>
            </a:xfrm>
            <a:custGeom>
              <a:avLst/>
              <a:gdLst/>
              <a:ahLst/>
              <a:cxnLst/>
              <a:rect l="l" t="t" r="r" b="b"/>
              <a:pathLst>
                <a:path w="408939" h="309879">
                  <a:moveTo>
                    <a:pt x="408762" y="142735"/>
                  </a:moveTo>
                  <a:lnTo>
                    <a:pt x="407619" y="125552"/>
                  </a:lnTo>
                  <a:lnTo>
                    <a:pt x="404469" y="109474"/>
                  </a:lnTo>
                  <a:lnTo>
                    <a:pt x="404368" y="108953"/>
                  </a:lnTo>
                  <a:lnTo>
                    <a:pt x="382993" y="63080"/>
                  </a:lnTo>
                  <a:lnTo>
                    <a:pt x="346786" y="24815"/>
                  </a:lnTo>
                  <a:lnTo>
                    <a:pt x="305955" y="0"/>
                  </a:lnTo>
                  <a:lnTo>
                    <a:pt x="311785" y="10909"/>
                  </a:lnTo>
                  <a:lnTo>
                    <a:pt x="318985" y="24396"/>
                  </a:lnTo>
                  <a:lnTo>
                    <a:pt x="326237" y="66929"/>
                  </a:lnTo>
                  <a:lnTo>
                    <a:pt x="318985" y="109474"/>
                  </a:lnTo>
                  <a:lnTo>
                    <a:pt x="298564" y="147701"/>
                  </a:lnTo>
                  <a:lnTo>
                    <a:pt x="266865" y="180086"/>
                  </a:lnTo>
                  <a:lnTo>
                    <a:pt x="225844" y="205105"/>
                  </a:lnTo>
                  <a:lnTo>
                    <a:pt x="177419" y="221234"/>
                  </a:lnTo>
                  <a:lnTo>
                    <a:pt x="123545" y="226949"/>
                  </a:lnTo>
                  <a:lnTo>
                    <a:pt x="69659" y="221234"/>
                  </a:lnTo>
                  <a:lnTo>
                    <a:pt x="21234" y="205105"/>
                  </a:lnTo>
                  <a:lnTo>
                    <a:pt x="19570" y="204101"/>
                  </a:lnTo>
                  <a:lnTo>
                    <a:pt x="11506" y="199174"/>
                  </a:lnTo>
                  <a:lnTo>
                    <a:pt x="0" y="192151"/>
                  </a:lnTo>
                  <a:lnTo>
                    <a:pt x="419" y="193421"/>
                  </a:lnTo>
                  <a:lnTo>
                    <a:pt x="7531" y="208737"/>
                  </a:lnTo>
                  <a:lnTo>
                    <a:pt x="39166" y="249745"/>
                  </a:lnTo>
                  <a:lnTo>
                    <a:pt x="83654" y="281546"/>
                  </a:lnTo>
                  <a:lnTo>
                    <a:pt x="119557" y="296811"/>
                  </a:lnTo>
                  <a:lnTo>
                    <a:pt x="158127" y="306222"/>
                  </a:lnTo>
                  <a:lnTo>
                    <a:pt x="199999" y="309499"/>
                  </a:lnTo>
                  <a:lnTo>
                    <a:pt x="220345" y="308635"/>
                  </a:lnTo>
                  <a:lnTo>
                    <a:pt x="220929" y="308635"/>
                  </a:lnTo>
                  <a:lnTo>
                    <a:pt x="241134" y="306222"/>
                  </a:lnTo>
                  <a:lnTo>
                    <a:pt x="241452" y="306222"/>
                  </a:lnTo>
                  <a:lnTo>
                    <a:pt x="261226" y="302133"/>
                  </a:lnTo>
                  <a:lnTo>
                    <a:pt x="261378" y="302133"/>
                  </a:lnTo>
                  <a:lnTo>
                    <a:pt x="279946" y="296811"/>
                  </a:lnTo>
                  <a:lnTo>
                    <a:pt x="316318" y="281279"/>
                  </a:lnTo>
                  <a:lnTo>
                    <a:pt x="360756" y="249326"/>
                  </a:lnTo>
                  <a:lnTo>
                    <a:pt x="392290" y="208089"/>
                  </a:lnTo>
                  <a:lnTo>
                    <a:pt x="407720" y="159918"/>
                  </a:lnTo>
                  <a:lnTo>
                    <a:pt x="408711" y="143535"/>
                  </a:lnTo>
                  <a:lnTo>
                    <a:pt x="408762" y="142735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895600" y="3944111"/>
              <a:ext cx="405765" cy="320040"/>
            </a:xfrm>
            <a:custGeom>
              <a:avLst/>
              <a:gdLst/>
              <a:ahLst/>
              <a:cxnLst/>
              <a:rect l="l" t="t" r="r" b="b"/>
              <a:pathLst>
                <a:path w="405764" h="320039">
                  <a:moveTo>
                    <a:pt x="202692" y="0"/>
                  </a:moveTo>
                  <a:lnTo>
                    <a:pt x="148810" y="5715"/>
                  </a:lnTo>
                  <a:lnTo>
                    <a:pt x="100392" y="21846"/>
                  </a:lnTo>
                  <a:lnTo>
                    <a:pt x="59369" y="46867"/>
                  </a:lnTo>
                  <a:lnTo>
                    <a:pt x="27674" y="79253"/>
                  </a:lnTo>
                  <a:lnTo>
                    <a:pt x="7240" y="117479"/>
                  </a:lnTo>
                  <a:lnTo>
                    <a:pt x="0" y="160019"/>
                  </a:lnTo>
                  <a:lnTo>
                    <a:pt x="7240" y="202560"/>
                  </a:lnTo>
                  <a:lnTo>
                    <a:pt x="27674" y="240786"/>
                  </a:lnTo>
                  <a:lnTo>
                    <a:pt x="59369" y="273172"/>
                  </a:lnTo>
                  <a:lnTo>
                    <a:pt x="100392" y="298193"/>
                  </a:lnTo>
                  <a:lnTo>
                    <a:pt x="148810" y="314324"/>
                  </a:lnTo>
                  <a:lnTo>
                    <a:pt x="202692" y="320039"/>
                  </a:lnTo>
                  <a:lnTo>
                    <a:pt x="256573" y="314324"/>
                  </a:lnTo>
                  <a:lnTo>
                    <a:pt x="304991" y="298193"/>
                  </a:lnTo>
                  <a:lnTo>
                    <a:pt x="346014" y="273172"/>
                  </a:lnTo>
                  <a:lnTo>
                    <a:pt x="377709" y="240786"/>
                  </a:lnTo>
                  <a:lnTo>
                    <a:pt x="398143" y="202560"/>
                  </a:lnTo>
                  <a:lnTo>
                    <a:pt x="405384" y="160019"/>
                  </a:lnTo>
                  <a:lnTo>
                    <a:pt x="398143" y="117479"/>
                  </a:lnTo>
                  <a:lnTo>
                    <a:pt x="377709" y="79253"/>
                  </a:lnTo>
                  <a:lnTo>
                    <a:pt x="346014" y="46867"/>
                  </a:lnTo>
                  <a:lnTo>
                    <a:pt x="304991" y="21846"/>
                  </a:lnTo>
                  <a:lnTo>
                    <a:pt x="256573" y="5715"/>
                  </a:lnTo>
                  <a:lnTo>
                    <a:pt x="202692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895600" y="3944111"/>
              <a:ext cx="405765" cy="320040"/>
            </a:xfrm>
            <a:custGeom>
              <a:avLst/>
              <a:gdLst/>
              <a:ahLst/>
              <a:cxnLst/>
              <a:rect l="l" t="t" r="r" b="b"/>
              <a:pathLst>
                <a:path w="405764" h="320039">
                  <a:moveTo>
                    <a:pt x="0" y="160019"/>
                  </a:moveTo>
                  <a:lnTo>
                    <a:pt x="7240" y="117479"/>
                  </a:lnTo>
                  <a:lnTo>
                    <a:pt x="27674" y="79253"/>
                  </a:lnTo>
                  <a:lnTo>
                    <a:pt x="59369" y="46867"/>
                  </a:lnTo>
                  <a:lnTo>
                    <a:pt x="100392" y="21846"/>
                  </a:lnTo>
                  <a:lnTo>
                    <a:pt x="148810" y="5715"/>
                  </a:lnTo>
                  <a:lnTo>
                    <a:pt x="202692" y="0"/>
                  </a:lnTo>
                  <a:lnTo>
                    <a:pt x="256573" y="5715"/>
                  </a:lnTo>
                  <a:lnTo>
                    <a:pt x="304991" y="21846"/>
                  </a:lnTo>
                  <a:lnTo>
                    <a:pt x="346014" y="46867"/>
                  </a:lnTo>
                  <a:lnTo>
                    <a:pt x="377709" y="79253"/>
                  </a:lnTo>
                  <a:lnTo>
                    <a:pt x="398143" y="117479"/>
                  </a:lnTo>
                  <a:lnTo>
                    <a:pt x="405384" y="160019"/>
                  </a:lnTo>
                  <a:lnTo>
                    <a:pt x="398143" y="202560"/>
                  </a:lnTo>
                  <a:lnTo>
                    <a:pt x="377709" y="240786"/>
                  </a:lnTo>
                  <a:lnTo>
                    <a:pt x="346014" y="273172"/>
                  </a:lnTo>
                  <a:lnTo>
                    <a:pt x="304991" y="298193"/>
                  </a:lnTo>
                  <a:lnTo>
                    <a:pt x="256573" y="314324"/>
                  </a:lnTo>
                  <a:lnTo>
                    <a:pt x="202692" y="320039"/>
                  </a:lnTo>
                  <a:lnTo>
                    <a:pt x="148810" y="314324"/>
                  </a:lnTo>
                  <a:lnTo>
                    <a:pt x="100392" y="298193"/>
                  </a:lnTo>
                  <a:lnTo>
                    <a:pt x="59369" y="273172"/>
                  </a:lnTo>
                  <a:lnTo>
                    <a:pt x="27674" y="240786"/>
                  </a:lnTo>
                  <a:lnTo>
                    <a:pt x="7240" y="202560"/>
                  </a:lnTo>
                  <a:lnTo>
                    <a:pt x="0" y="160019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3042531" y="3976321"/>
            <a:ext cx="1117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50" dirty="0">
                <a:solidFill>
                  <a:srgbClr val="E7E6E6"/>
                </a:solidFill>
                <a:latin typeface="Calibri"/>
                <a:cs typeface="Calibri"/>
              </a:rPr>
              <a:t>+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4032250" y="3997197"/>
            <a:ext cx="494665" cy="410845"/>
            <a:chOff x="4032250" y="3997197"/>
            <a:chExt cx="494665" cy="410845"/>
          </a:xfrm>
        </p:grpSpPr>
        <p:sp>
          <p:nvSpPr>
            <p:cNvPr id="56" name="object 56"/>
            <p:cNvSpPr/>
            <p:nvPr/>
          </p:nvSpPr>
          <p:spPr>
            <a:xfrm>
              <a:off x="4118038" y="4096613"/>
              <a:ext cx="408940" cy="311150"/>
            </a:xfrm>
            <a:custGeom>
              <a:avLst/>
              <a:gdLst/>
              <a:ahLst/>
              <a:cxnLst/>
              <a:rect l="l" t="t" r="r" b="b"/>
              <a:pathLst>
                <a:path w="408939" h="311150">
                  <a:moveTo>
                    <a:pt x="408470" y="143522"/>
                  </a:moveTo>
                  <a:lnTo>
                    <a:pt x="398767" y="93459"/>
                  </a:lnTo>
                  <a:lnTo>
                    <a:pt x="372173" y="49644"/>
                  </a:lnTo>
                  <a:lnTo>
                    <a:pt x="331673" y="14452"/>
                  </a:lnTo>
                  <a:lnTo>
                    <a:pt x="305409" y="0"/>
                  </a:lnTo>
                  <a:lnTo>
                    <a:pt x="311200" y="10883"/>
                  </a:lnTo>
                  <a:lnTo>
                    <a:pt x="318693" y="24980"/>
                  </a:lnTo>
                  <a:lnTo>
                    <a:pt x="325945" y="67716"/>
                  </a:lnTo>
                  <a:lnTo>
                    <a:pt x="318693" y="110464"/>
                  </a:lnTo>
                  <a:lnTo>
                    <a:pt x="298272" y="148869"/>
                  </a:lnTo>
                  <a:lnTo>
                    <a:pt x="266573" y="181406"/>
                  </a:lnTo>
                  <a:lnTo>
                    <a:pt x="225552" y="206552"/>
                  </a:lnTo>
                  <a:lnTo>
                    <a:pt x="177126" y="222758"/>
                  </a:lnTo>
                  <a:lnTo>
                    <a:pt x="123253" y="228498"/>
                  </a:lnTo>
                  <a:lnTo>
                    <a:pt x="69367" y="222758"/>
                  </a:lnTo>
                  <a:lnTo>
                    <a:pt x="20942" y="206552"/>
                  </a:lnTo>
                  <a:lnTo>
                    <a:pt x="19621" y="205752"/>
                  </a:lnTo>
                  <a:lnTo>
                    <a:pt x="11493" y="200761"/>
                  </a:lnTo>
                  <a:lnTo>
                    <a:pt x="0" y="193713"/>
                  </a:lnTo>
                  <a:lnTo>
                    <a:pt x="127" y="194386"/>
                  </a:lnTo>
                  <a:lnTo>
                    <a:pt x="7239" y="209804"/>
                  </a:lnTo>
                  <a:lnTo>
                    <a:pt x="38862" y="251002"/>
                  </a:lnTo>
                  <a:lnTo>
                    <a:pt x="83362" y="283006"/>
                  </a:lnTo>
                  <a:lnTo>
                    <a:pt x="118795" y="298132"/>
                  </a:lnTo>
                  <a:lnTo>
                    <a:pt x="157835" y="307771"/>
                  </a:lnTo>
                  <a:lnTo>
                    <a:pt x="199707" y="311048"/>
                  </a:lnTo>
                  <a:lnTo>
                    <a:pt x="220052" y="310184"/>
                  </a:lnTo>
                  <a:lnTo>
                    <a:pt x="220637" y="310184"/>
                  </a:lnTo>
                  <a:lnTo>
                    <a:pt x="240842" y="307771"/>
                  </a:lnTo>
                  <a:lnTo>
                    <a:pt x="241160" y="307771"/>
                  </a:lnTo>
                  <a:lnTo>
                    <a:pt x="260959" y="303682"/>
                  </a:lnTo>
                  <a:lnTo>
                    <a:pt x="261112" y="303682"/>
                  </a:lnTo>
                  <a:lnTo>
                    <a:pt x="279323" y="298361"/>
                  </a:lnTo>
                  <a:lnTo>
                    <a:pt x="316026" y="282740"/>
                  </a:lnTo>
                  <a:lnTo>
                    <a:pt x="360464" y="250583"/>
                  </a:lnTo>
                  <a:lnTo>
                    <a:pt x="391998" y="209143"/>
                  </a:lnTo>
                  <a:lnTo>
                    <a:pt x="407428" y="160807"/>
                  </a:lnTo>
                  <a:lnTo>
                    <a:pt x="408419" y="144322"/>
                  </a:lnTo>
                  <a:lnTo>
                    <a:pt x="408470" y="143522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038600" y="4003547"/>
              <a:ext cx="405765" cy="321945"/>
            </a:xfrm>
            <a:custGeom>
              <a:avLst/>
              <a:gdLst/>
              <a:ahLst/>
              <a:cxnLst/>
              <a:rect l="l" t="t" r="r" b="b"/>
              <a:pathLst>
                <a:path w="405764" h="321945">
                  <a:moveTo>
                    <a:pt x="202692" y="0"/>
                  </a:moveTo>
                  <a:lnTo>
                    <a:pt x="148810" y="5743"/>
                  </a:lnTo>
                  <a:lnTo>
                    <a:pt x="100392" y="21951"/>
                  </a:lnTo>
                  <a:lnTo>
                    <a:pt x="59369" y="47091"/>
                  </a:lnTo>
                  <a:lnTo>
                    <a:pt x="27674" y="79631"/>
                  </a:lnTo>
                  <a:lnTo>
                    <a:pt x="7240" y="118039"/>
                  </a:lnTo>
                  <a:lnTo>
                    <a:pt x="0" y="160781"/>
                  </a:lnTo>
                  <a:lnTo>
                    <a:pt x="7240" y="203524"/>
                  </a:lnTo>
                  <a:lnTo>
                    <a:pt x="27674" y="241932"/>
                  </a:lnTo>
                  <a:lnTo>
                    <a:pt x="59369" y="274472"/>
                  </a:lnTo>
                  <a:lnTo>
                    <a:pt x="100392" y="299612"/>
                  </a:lnTo>
                  <a:lnTo>
                    <a:pt x="148810" y="315820"/>
                  </a:lnTo>
                  <a:lnTo>
                    <a:pt x="202692" y="321563"/>
                  </a:lnTo>
                  <a:lnTo>
                    <a:pt x="256573" y="315820"/>
                  </a:lnTo>
                  <a:lnTo>
                    <a:pt x="304991" y="299612"/>
                  </a:lnTo>
                  <a:lnTo>
                    <a:pt x="346014" y="274472"/>
                  </a:lnTo>
                  <a:lnTo>
                    <a:pt x="377709" y="241932"/>
                  </a:lnTo>
                  <a:lnTo>
                    <a:pt x="398143" y="203524"/>
                  </a:lnTo>
                  <a:lnTo>
                    <a:pt x="405384" y="160781"/>
                  </a:lnTo>
                  <a:lnTo>
                    <a:pt x="398143" y="118039"/>
                  </a:lnTo>
                  <a:lnTo>
                    <a:pt x="377709" y="79631"/>
                  </a:lnTo>
                  <a:lnTo>
                    <a:pt x="346014" y="47091"/>
                  </a:lnTo>
                  <a:lnTo>
                    <a:pt x="304991" y="21951"/>
                  </a:lnTo>
                  <a:lnTo>
                    <a:pt x="256573" y="5743"/>
                  </a:lnTo>
                  <a:lnTo>
                    <a:pt x="202692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038600" y="4003547"/>
              <a:ext cx="405765" cy="321945"/>
            </a:xfrm>
            <a:custGeom>
              <a:avLst/>
              <a:gdLst/>
              <a:ahLst/>
              <a:cxnLst/>
              <a:rect l="l" t="t" r="r" b="b"/>
              <a:pathLst>
                <a:path w="405764" h="321945">
                  <a:moveTo>
                    <a:pt x="0" y="160781"/>
                  </a:moveTo>
                  <a:lnTo>
                    <a:pt x="7240" y="118039"/>
                  </a:lnTo>
                  <a:lnTo>
                    <a:pt x="27674" y="79631"/>
                  </a:lnTo>
                  <a:lnTo>
                    <a:pt x="59369" y="47091"/>
                  </a:lnTo>
                  <a:lnTo>
                    <a:pt x="100392" y="21951"/>
                  </a:lnTo>
                  <a:lnTo>
                    <a:pt x="148810" y="5743"/>
                  </a:lnTo>
                  <a:lnTo>
                    <a:pt x="202692" y="0"/>
                  </a:lnTo>
                  <a:lnTo>
                    <a:pt x="256573" y="5743"/>
                  </a:lnTo>
                  <a:lnTo>
                    <a:pt x="304991" y="21951"/>
                  </a:lnTo>
                  <a:lnTo>
                    <a:pt x="346014" y="47091"/>
                  </a:lnTo>
                  <a:lnTo>
                    <a:pt x="377709" y="79631"/>
                  </a:lnTo>
                  <a:lnTo>
                    <a:pt x="398143" y="118039"/>
                  </a:lnTo>
                  <a:lnTo>
                    <a:pt x="405384" y="160781"/>
                  </a:lnTo>
                  <a:lnTo>
                    <a:pt x="398143" y="203524"/>
                  </a:lnTo>
                  <a:lnTo>
                    <a:pt x="377709" y="241932"/>
                  </a:lnTo>
                  <a:lnTo>
                    <a:pt x="346014" y="274472"/>
                  </a:lnTo>
                  <a:lnTo>
                    <a:pt x="304991" y="299612"/>
                  </a:lnTo>
                  <a:lnTo>
                    <a:pt x="256573" y="315820"/>
                  </a:lnTo>
                  <a:lnTo>
                    <a:pt x="202692" y="321563"/>
                  </a:lnTo>
                  <a:lnTo>
                    <a:pt x="148810" y="315820"/>
                  </a:lnTo>
                  <a:lnTo>
                    <a:pt x="100392" y="299612"/>
                  </a:lnTo>
                  <a:lnTo>
                    <a:pt x="59369" y="274472"/>
                  </a:lnTo>
                  <a:lnTo>
                    <a:pt x="27674" y="241932"/>
                  </a:lnTo>
                  <a:lnTo>
                    <a:pt x="7240" y="203524"/>
                  </a:lnTo>
                  <a:lnTo>
                    <a:pt x="0" y="160781"/>
                  </a:lnTo>
                  <a:close/>
                </a:path>
              </a:pathLst>
            </a:custGeom>
            <a:ln w="12700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185531" y="4035852"/>
            <a:ext cx="1117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50" dirty="0">
                <a:solidFill>
                  <a:srgbClr val="E7E6E6"/>
                </a:solidFill>
                <a:latin typeface="Calibri"/>
                <a:cs typeface="Calibri"/>
              </a:rPr>
              <a:t>*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067046" y="3937761"/>
            <a:ext cx="578485" cy="408940"/>
            <a:chOff x="5067046" y="3937761"/>
            <a:chExt cx="578485" cy="408940"/>
          </a:xfrm>
        </p:grpSpPr>
        <p:sp>
          <p:nvSpPr>
            <p:cNvPr id="61" name="object 61"/>
            <p:cNvSpPr/>
            <p:nvPr/>
          </p:nvSpPr>
          <p:spPr>
            <a:xfrm>
              <a:off x="5150193" y="4047604"/>
              <a:ext cx="495300" cy="299720"/>
            </a:xfrm>
            <a:custGeom>
              <a:avLst/>
              <a:gdLst/>
              <a:ahLst/>
              <a:cxnLst/>
              <a:rect l="l" t="t" r="r" b="b"/>
              <a:pathLst>
                <a:path w="495300" h="299720">
                  <a:moveTo>
                    <a:pt x="494944" y="132511"/>
                  </a:moveTo>
                  <a:lnTo>
                    <a:pt x="486727" y="90220"/>
                  </a:lnTo>
                  <a:lnTo>
                    <a:pt x="463753" y="52235"/>
                  </a:lnTo>
                  <a:lnTo>
                    <a:pt x="420217" y="14109"/>
                  </a:lnTo>
                  <a:lnTo>
                    <a:pt x="395097" y="0"/>
                  </a:lnTo>
                  <a:lnTo>
                    <a:pt x="400735" y="10325"/>
                  </a:lnTo>
                  <a:lnTo>
                    <a:pt x="405942" y="19837"/>
                  </a:lnTo>
                  <a:lnTo>
                    <a:pt x="406044" y="20459"/>
                  </a:lnTo>
                  <a:lnTo>
                    <a:pt x="412394" y="56527"/>
                  </a:lnTo>
                  <a:lnTo>
                    <a:pt x="387540" y="126911"/>
                  </a:lnTo>
                  <a:lnTo>
                    <a:pt x="358660" y="156616"/>
                  </a:lnTo>
                  <a:lnTo>
                    <a:pt x="320789" y="181394"/>
                  </a:lnTo>
                  <a:lnTo>
                    <a:pt x="275374" y="200291"/>
                  </a:lnTo>
                  <a:lnTo>
                    <a:pt x="223888" y="212331"/>
                  </a:lnTo>
                  <a:lnTo>
                    <a:pt x="167792" y="216547"/>
                  </a:lnTo>
                  <a:lnTo>
                    <a:pt x="111709" y="212331"/>
                  </a:lnTo>
                  <a:lnTo>
                    <a:pt x="60223" y="200291"/>
                  </a:lnTo>
                  <a:lnTo>
                    <a:pt x="19265" y="183261"/>
                  </a:lnTo>
                  <a:lnTo>
                    <a:pt x="14808" y="181394"/>
                  </a:lnTo>
                  <a:lnTo>
                    <a:pt x="11061" y="178955"/>
                  </a:lnTo>
                  <a:lnTo>
                    <a:pt x="0" y="171716"/>
                  </a:lnTo>
                  <a:lnTo>
                    <a:pt x="1143" y="174879"/>
                  </a:lnTo>
                  <a:lnTo>
                    <a:pt x="24295" y="213360"/>
                  </a:lnTo>
                  <a:lnTo>
                    <a:pt x="67805" y="251358"/>
                  </a:lnTo>
                  <a:lnTo>
                    <a:pt x="104889" y="271322"/>
                  </a:lnTo>
                  <a:lnTo>
                    <a:pt x="146964" y="286232"/>
                  </a:lnTo>
                  <a:lnTo>
                    <a:pt x="194132" y="295833"/>
                  </a:lnTo>
                  <a:lnTo>
                    <a:pt x="244221" y="299097"/>
                  </a:lnTo>
                  <a:lnTo>
                    <a:pt x="268846" y="298234"/>
                  </a:lnTo>
                  <a:lnTo>
                    <a:pt x="269303" y="298234"/>
                  </a:lnTo>
                  <a:lnTo>
                    <a:pt x="293763" y="295833"/>
                  </a:lnTo>
                  <a:lnTo>
                    <a:pt x="294030" y="295833"/>
                  </a:lnTo>
                  <a:lnTo>
                    <a:pt x="317792" y="291769"/>
                  </a:lnTo>
                  <a:lnTo>
                    <a:pt x="362889" y="279336"/>
                  </a:lnTo>
                  <a:lnTo>
                    <a:pt x="402882" y="261632"/>
                  </a:lnTo>
                  <a:lnTo>
                    <a:pt x="436981" y="239318"/>
                  </a:lnTo>
                  <a:lnTo>
                    <a:pt x="474891" y="198145"/>
                  </a:lnTo>
                  <a:lnTo>
                    <a:pt x="491972" y="158369"/>
                  </a:lnTo>
                  <a:lnTo>
                    <a:pt x="494931" y="132956"/>
                  </a:lnTo>
                  <a:lnTo>
                    <a:pt x="494944" y="132511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50504" y="4149467"/>
              <a:ext cx="100913" cy="8956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5073396" y="3944111"/>
              <a:ext cx="489584" cy="320040"/>
            </a:xfrm>
            <a:custGeom>
              <a:avLst/>
              <a:gdLst/>
              <a:ahLst/>
              <a:cxnLst/>
              <a:rect l="l" t="t" r="r" b="b"/>
              <a:pathLst>
                <a:path w="489585" h="320039">
                  <a:moveTo>
                    <a:pt x="244602" y="0"/>
                  </a:moveTo>
                  <a:lnTo>
                    <a:pt x="188517" y="4226"/>
                  </a:lnTo>
                  <a:lnTo>
                    <a:pt x="137032" y="16264"/>
                  </a:lnTo>
                  <a:lnTo>
                    <a:pt x="91615" y="35153"/>
                  </a:lnTo>
                  <a:lnTo>
                    <a:pt x="53736" y="59934"/>
                  </a:lnTo>
                  <a:lnTo>
                    <a:pt x="24861" y="89646"/>
                  </a:lnTo>
                  <a:lnTo>
                    <a:pt x="6460" y="123328"/>
                  </a:lnTo>
                  <a:lnTo>
                    <a:pt x="0" y="160019"/>
                  </a:lnTo>
                  <a:lnTo>
                    <a:pt x="6460" y="196711"/>
                  </a:lnTo>
                  <a:lnTo>
                    <a:pt x="24861" y="230393"/>
                  </a:lnTo>
                  <a:lnTo>
                    <a:pt x="53736" y="260105"/>
                  </a:lnTo>
                  <a:lnTo>
                    <a:pt x="91615" y="284886"/>
                  </a:lnTo>
                  <a:lnTo>
                    <a:pt x="137032" y="303775"/>
                  </a:lnTo>
                  <a:lnTo>
                    <a:pt x="188517" y="315813"/>
                  </a:lnTo>
                  <a:lnTo>
                    <a:pt x="244602" y="320039"/>
                  </a:lnTo>
                  <a:lnTo>
                    <a:pt x="300686" y="315813"/>
                  </a:lnTo>
                  <a:lnTo>
                    <a:pt x="352171" y="303775"/>
                  </a:lnTo>
                  <a:lnTo>
                    <a:pt x="397588" y="284886"/>
                  </a:lnTo>
                  <a:lnTo>
                    <a:pt x="435467" y="260105"/>
                  </a:lnTo>
                  <a:lnTo>
                    <a:pt x="464342" y="230393"/>
                  </a:lnTo>
                  <a:lnTo>
                    <a:pt x="482743" y="196711"/>
                  </a:lnTo>
                  <a:lnTo>
                    <a:pt x="489204" y="160019"/>
                  </a:lnTo>
                  <a:lnTo>
                    <a:pt x="482743" y="123328"/>
                  </a:lnTo>
                  <a:lnTo>
                    <a:pt x="464342" y="89646"/>
                  </a:lnTo>
                  <a:lnTo>
                    <a:pt x="435467" y="59934"/>
                  </a:lnTo>
                  <a:lnTo>
                    <a:pt x="397588" y="35153"/>
                  </a:lnTo>
                  <a:lnTo>
                    <a:pt x="352171" y="16264"/>
                  </a:lnTo>
                  <a:lnTo>
                    <a:pt x="300686" y="4226"/>
                  </a:lnTo>
                  <a:lnTo>
                    <a:pt x="244602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073396" y="3944111"/>
              <a:ext cx="489584" cy="320040"/>
            </a:xfrm>
            <a:custGeom>
              <a:avLst/>
              <a:gdLst/>
              <a:ahLst/>
              <a:cxnLst/>
              <a:rect l="l" t="t" r="r" b="b"/>
              <a:pathLst>
                <a:path w="489585" h="320039">
                  <a:moveTo>
                    <a:pt x="0" y="160019"/>
                  </a:moveTo>
                  <a:lnTo>
                    <a:pt x="24861" y="89646"/>
                  </a:lnTo>
                  <a:lnTo>
                    <a:pt x="53736" y="59934"/>
                  </a:lnTo>
                  <a:lnTo>
                    <a:pt x="91615" y="35153"/>
                  </a:lnTo>
                  <a:lnTo>
                    <a:pt x="137032" y="16264"/>
                  </a:lnTo>
                  <a:lnTo>
                    <a:pt x="188517" y="4226"/>
                  </a:lnTo>
                  <a:lnTo>
                    <a:pt x="244602" y="0"/>
                  </a:lnTo>
                  <a:lnTo>
                    <a:pt x="300686" y="4226"/>
                  </a:lnTo>
                  <a:lnTo>
                    <a:pt x="352171" y="16264"/>
                  </a:lnTo>
                  <a:lnTo>
                    <a:pt x="397588" y="35153"/>
                  </a:lnTo>
                  <a:lnTo>
                    <a:pt x="435467" y="59934"/>
                  </a:lnTo>
                  <a:lnTo>
                    <a:pt x="464342" y="89646"/>
                  </a:lnTo>
                  <a:lnTo>
                    <a:pt x="482743" y="123328"/>
                  </a:lnTo>
                  <a:lnTo>
                    <a:pt x="489204" y="160019"/>
                  </a:lnTo>
                  <a:lnTo>
                    <a:pt x="482743" y="196711"/>
                  </a:lnTo>
                  <a:lnTo>
                    <a:pt x="464342" y="230393"/>
                  </a:lnTo>
                  <a:lnTo>
                    <a:pt x="435467" y="260105"/>
                  </a:lnTo>
                  <a:lnTo>
                    <a:pt x="397588" y="284886"/>
                  </a:lnTo>
                  <a:lnTo>
                    <a:pt x="352171" y="303775"/>
                  </a:lnTo>
                  <a:lnTo>
                    <a:pt x="300686" y="315813"/>
                  </a:lnTo>
                  <a:lnTo>
                    <a:pt x="244602" y="320039"/>
                  </a:lnTo>
                  <a:lnTo>
                    <a:pt x="188517" y="315813"/>
                  </a:lnTo>
                  <a:lnTo>
                    <a:pt x="137032" y="303775"/>
                  </a:lnTo>
                  <a:lnTo>
                    <a:pt x="91615" y="284886"/>
                  </a:lnTo>
                  <a:lnTo>
                    <a:pt x="53736" y="260105"/>
                  </a:lnTo>
                  <a:lnTo>
                    <a:pt x="24861" y="230393"/>
                  </a:lnTo>
                  <a:lnTo>
                    <a:pt x="6460" y="196711"/>
                  </a:lnTo>
                  <a:lnTo>
                    <a:pt x="0" y="160019"/>
                  </a:lnTo>
                  <a:close/>
                </a:path>
              </a:pathLst>
            </a:custGeom>
            <a:ln w="12699">
              <a:solidFill>
                <a:srgbClr val="E7E6E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5137935" y="3976321"/>
            <a:ext cx="36322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solidFill>
                  <a:srgbClr val="E7E6E6"/>
                </a:solidFill>
                <a:latin typeface="Calibri"/>
                <a:cs typeface="Calibri"/>
              </a:rPr>
              <a:t>Load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-4762" y="201167"/>
            <a:ext cx="9153525" cy="913130"/>
            <a:chOff x="-4762" y="201167"/>
            <a:chExt cx="9153525" cy="913130"/>
          </a:xfrm>
        </p:grpSpPr>
        <p:sp>
          <p:nvSpPr>
            <p:cNvPr id="67" name="object 67"/>
            <p:cNvSpPr/>
            <p:nvPr/>
          </p:nvSpPr>
          <p:spPr>
            <a:xfrm>
              <a:off x="3557015" y="1107947"/>
              <a:ext cx="248920" cy="0"/>
            </a:xfrm>
            <a:custGeom>
              <a:avLst/>
              <a:gdLst/>
              <a:ahLst/>
              <a:cxnLst/>
              <a:rect l="l" t="t" r="r" b="b"/>
              <a:pathLst>
                <a:path w="248920">
                  <a:moveTo>
                    <a:pt x="0" y="0"/>
                  </a:moveTo>
                  <a:lnTo>
                    <a:pt x="248411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4800600" y="1107947"/>
              <a:ext cx="226060" cy="0"/>
            </a:xfrm>
            <a:custGeom>
              <a:avLst/>
              <a:gdLst/>
              <a:ahLst/>
              <a:cxnLst/>
              <a:rect l="l" t="t" r="r" b="b"/>
              <a:pathLst>
                <a:path w="226060">
                  <a:moveTo>
                    <a:pt x="0" y="0"/>
                  </a:moveTo>
                  <a:lnTo>
                    <a:pt x="225552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8327" y="201167"/>
              <a:ext cx="4489703" cy="902207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533667" y="1144118"/>
            <a:ext cx="6578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00CC"/>
                </a:solidFill>
                <a:latin typeface="Times New Roman"/>
                <a:cs typeface="Times New Roman"/>
              </a:rPr>
              <a:t>Sockets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18589" y="2181001"/>
            <a:ext cx="6794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00CC"/>
                </a:solidFill>
                <a:latin typeface="Times New Roman"/>
                <a:cs typeface="Times New Roman"/>
              </a:rPr>
              <a:t>Threads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42101" y="3303104"/>
            <a:ext cx="86804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0000CC"/>
                </a:solidFill>
                <a:latin typeface="Times New Roman"/>
                <a:cs typeface="Times New Roman"/>
              </a:rPr>
              <a:t>Compilers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693382" y="4051443"/>
            <a:ext cx="4203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0000CC"/>
                </a:solidFill>
                <a:latin typeface="Times New Roman"/>
                <a:cs typeface="Times New Roman"/>
              </a:rPr>
              <a:t>CPU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5" dirty="0"/>
              <a:t>Levels</a:t>
            </a:r>
            <a:r>
              <a:rPr sz="3200" spc="-130" dirty="0"/>
              <a:t> </a:t>
            </a:r>
            <a:r>
              <a:rPr sz="3200" spc="-60" dirty="0"/>
              <a:t>of</a:t>
            </a:r>
            <a:r>
              <a:rPr sz="3200" spc="-150" dirty="0"/>
              <a:t> </a:t>
            </a:r>
            <a:r>
              <a:rPr sz="3200" spc="-65" dirty="0"/>
              <a:t>parallelism</a:t>
            </a:r>
            <a:endParaRPr sz="3200"/>
          </a:p>
        </p:txBody>
      </p:sp>
      <p:grpSp>
        <p:nvGrpSpPr>
          <p:cNvPr id="76" name="object 76"/>
          <p:cNvGrpSpPr/>
          <p:nvPr/>
        </p:nvGrpSpPr>
        <p:grpSpPr>
          <a:xfrm>
            <a:off x="76200" y="318515"/>
            <a:ext cx="5340350" cy="3632200"/>
            <a:chOff x="76200" y="318515"/>
            <a:chExt cx="5340350" cy="3632200"/>
          </a:xfrm>
        </p:grpSpPr>
        <p:pic>
          <p:nvPicPr>
            <p:cNvPr id="77" name="object 7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224528" y="2572511"/>
              <a:ext cx="17145" cy="428625"/>
            </a:xfrm>
            <a:custGeom>
              <a:avLst/>
              <a:gdLst/>
              <a:ahLst/>
              <a:cxnLst/>
              <a:rect l="l" t="t" r="r" b="b"/>
              <a:pathLst>
                <a:path w="17145" h="428625">
                  <a:moveTo>
                    <a:pt x="0" y="0"/>
                  </a:moveTo>
                  <a:lnTo>
                    <a:pt x="16764" y="42824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3153155" y="2572511"/>
              <a:ext cx="1047115" cy="337185"/>
            </a:xfrm>
            <a:custGeom>
              <a:avLst/>
              <a:gdLst/>
              <a:ahLst/>
              <a:cxnLst/>
              <a:rect l="l" t="t" r="r" b="b"/>
              <a:pathLst>
                <a:path w="1047114" h="337185">
                  <a:moveTo>
                    <a:pt x="1046988" y="0"/>
                  </a:moveTo>
                  <a:lnTo>
                    <a:pt x="0" y="336804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241291" y="2572511"/>
              <a:ext cx="1169035" cy="337185"/>
            </a:xfrm>
            <a:custGeom>
              <a:avLst/>
              <a:gdLst/>
              <a:ahLst/>
              <a:cxnLst/>
              <a:rect l="l" t="t" r="r" b="b"/>
              <a:pathLst>
                <a:path w="1169035" h="337185">
                  <a:moveTo>
                    <a:pt x="0" y="0"/>
                  </a:moveTo>
                  <a:lnTo>
                    <a:pt x="1168908" y="33680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4224528" y="3514344"/>
              <a:ext cx="17145" cy="429895"/>
            </a:xfrm>
            <a:custGeom>
              <a:avLst/>
              <a:gdLst/>
              <a:ahLst/>
              <a:cxnLst/>
              <a:rect l="l" t="t" r="r" b="b"/>
              <a:pathLst>
                <a:path w="17145" h="429895">
                  <a:moveTo>
                    <a:pt x="0" y="0"/>
                  </a:moveTo>
                  <a:lnTo>
                    <a:pt x="16764" y="429767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153155" y="3514344"/>
              <a:ext cx="1047115" cy="337185"/>
            </a:xfrm>
            <a:custGeom>
              <a:avLst/>
              <a:gdLst/>
              <a:ahLst/>
              <a:cxnLst/>
              <a:rect l="l" t="t" r="r" b="b"/>
              <a:pathLst>
                <a:path w="1047114" h="337185">
                  <a:moveTo>
                    <a:pt x="1046988" y="0"/>
                  </a:moveTo>
                  <a:lnTo>
                    <a:pt x="0" y="336803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241291" y="3514344"/>
              <a:ext cx="1169035" cy="337185"/>
            </a:xfrm>
            <a:custGeom>
              <a:avLst/>
              <a:gdLst/>
              <a:ahLst/>
              <a:cxnLst/>
              <a:rect l="l" t="t" r="r" b="b"/>
              <a:pathLst>
                <a:path w="1169035" h="337185">
                  <a:moveTo>
                    <a:pt x="0" y="0"/>
                  </a:moveTo>
                  <a:lnTo>
                    <a:pt x="1168908" y="336803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88894" y="1628901"/>
            <a:ext cx="1425575" cy="1330960"/>
            <a:chOff x="3088894" y="1628901"/>
            <a:chExt cx="1425575" cy="1330960"/>
          </a:xfrm>
        </p:grpSpPr>
        <p:sp>
          <p:nvSpPr>
            <p:cNvPr id="3" name="object 3"/>
            <p:cNvSpPr/>
            <p:nvPr/>
          </p:nvSpPr>
          <p:spPr>
            <a:xfrm>
              <a:off x="3095244" y="1635251"/>
              <a:ext cx="1412875" cy="1318260"/>
            </a:xfrm>
            <a:custGeom>
              <a:avLst/>
              <a:gdLst/>
              <a:ahLst/>
              <a:cxnLst/>
              <a:rect l="l" t="t" r="r" b="b"/>
              <a:pathLst>
                <a:path w="1412875" h="1318260">
                  <a:moveTo>
                    <a:pt x="1412747" y="0"/>
                  </a:moveTo>
                  <a:lnTo>
                    <a:pt x="0" y="0"/>
                  </a:lnTo>
                  <a:lnTo>
                    <a:pt x="0" y="1318260"/>
                  </a:lnTo>
                  <a:lnTo>
                    <a:pt x="1412747" y="1318260"/>
                  </a:lnTo>
                  <a:lnTo>
                    <a:pt x="1412747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095244" y="1635251"/>
              <a:ext cx="1412875" cy="1318260"/>
            </a:xfrm>
            <a:custGeom>
              <a:avLst/>
              <a:gdLst/>
              <a:ahLst/>
              <a:cxnLst/>
              <a:rect l="l" t="t" r="r" b="b"/>
              <a:pathLst>
                <a:path w="1412875" h="1318260">
                  <a:moveTo>
                    <a:pt x="0" y="0"/>
                  </a:moveTo>
                  <a:lnTo>
                    <a:pt x="1412747" y="0"/>
                  </a:lnTo>
                  <a:lnTo>
                    <a:pt x="1412747" y="1318260"/>
                  </a:lnTo>
                  <a:lnTo>
                    <a:pt x="0" y="131826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802382" y="2202179"/>
              <a:ext cx="50800" cy="304165"/>
            </a:xfrm>
            <a:custGeom>
              <a:avLst/>
              <a:gdLst/>
              <a:ahLst/>
              <a:cxnLst/>
              <a:rect l="l" t="t" r="r" b="b"/>
              <a:pathLst>
                <a:path w="50800" h="304164">
                  <a:moveTo>
                    <a:pt x="28917" y="0"/>
                  </a:moveTo>
                  <a:lnTo>
                    <a:pt x="16865" y="32016"/>
                  </a:lnTo>
                  <a:lnTo>
                    <a:pt x="0" y="56921"/>
                  </a:lnTo>
                  <a:lnTo>
                    <a:pt x="16865" y="88950"/>
                  </a:lnTo>
                  <a:lnTo>
                    <a:pt x="42176" y="113855"/>
                  </a:lnTo>
                  <a:lnTo>
                    <a:pt x="50609" y="138760"/>
                  </a:lnTo>
                  <a:lnTo>
                    <a:pt x="33743" y="163664"/>
                  </a:lnTo>
                  <a:lnTo>
                    <a:pt x="25298" y="188569"/>
                  </a:lnTo>
                  <a:lnTo>
                    <a:pt x="16865" y="221780"/>
                  </a:lnTo>
                  <a:lnTo>
                    <a:pt x="16865" y="254990"/>
                  </a:lnTo>
                  <a:lnTo>
                    <a:pt x="42176" y="278714"/>
                  </a:lnTo>
                  <a:lnTo>
                    <a:pt x="50609" y="30361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64052" y="2258567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67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3029" y="22204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613892" y="1289367"/>
            <a:ext cx="2216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Times New Roman"/>
                <a:cs typeface="Times New Roman"/>
              </a:rPr>
              <a:t>Single-</a:t>
            </a:r>
            <a:r>
              <a:rPr sz="1800" dirty="0">
                <a:latin typeface="Times New Roman"/>
                <a:cs typeface="Times New Roman"/>
              </a:rPr>
              <a:t>threaded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60266" y="3188873"/>
            <a:ext cx="21196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90099"/>
                </a:solidFill>
                <a:latin typeface="Arial MT"/>
                <a:cs typeface="Arial MT"/>
              </a:rPr>
              <a:t>Single</a:t>
            </a:r>
            <a:r>
              <a:rPr sz="1500" spc="-30" dirty="0">
                <a:solidFill>
                  <a:srgbClr val="99009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90099"/>
                </a:solidFill>
                <a:latin typeface="Arial MT"/>
                <a:cs typeface="Arial MT"/>
              </a:rPr>
              <a:t>instruction</a:t>
            </a:r>
            <a:r>
              <a:rPr sz="1500" spc="-50" dirty="0">
                <a:solidFill>
                  <a:srgbClr val="99009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990099"/>
                </a:solidFill>
                <a:latin typeface="Arial MT"/>
                <a:cs typeface="Arial MT"/>
              </a:rPr>
              <a:t>stream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813550" y="1628901"/>
            <a:ext cx="1529080" cy="1294765"/>
            <a:chOff x="6813550" y="1628901"/>
            <a:chExt cx="1529080" cy="1294765"/>
          </a:xfrm>
        </p:grpSpPr>
        <p:sp>
          <p:nvSpPr>
            <p:cNvPr id="11" name="object 11"/>
            <p:cNvSpPr/>
            <p:nvPr/>
          </p:nvSpPr>
          <p:spPr>
            <a:xfrm>
              <a:off x="6819900" y="1635251"/>
              <a:ext cx="1516380" cy="1282065"/>
            </a:xfrm>
            <a:custGeom>
              <a:avLst/>
              <a:gdLst/>
              <a:ahLst/>
              <a:cxnLst/>
              <a:rect l="l" t="t" r="r" b="b"/>
              <a:pathLst>
                <a:path w="1516379" h="1282064">
                  <a:moveTo>
                    <a:pt x="1516379" y="0"/>
                  </a:moveTo>
                  <a:lnTo>
                    <a:pt x="0" y="0"/>
                  </a:lnTo>
                  <a:lnTo>
                    <a:pt x="0" y="1281684"/>
                  </a:lnTo>
                  <a:lnTo>
                    <a:pt x="1516379" y="1281684"/>
                  </a:lnTo>
                  <a:lnTo>
                    <a:pt x="1516379" y="0"/>
                  </a:lnTo>
                  <a:close/>
                </a:path>
              </a:pathLst>
            </a:custGeom>
            <a:solidFill>
              <a:srgbClr val="CC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819900" y="1635251"/>
              <a:ext cx="1516380" cy="1282065"/>
            </a:xfrm>
            <a:custGeom>
              <a:avLst/>
              <a:gdLst/>
              <a:ahLst/>
              <a:cxnLst/>
              <a:rect l="l" t="t" r="r" b="b"/>
              <a:pathLst>
                <a:path w="1516379" h="1282064">
                  <a:moveTo>
                    <a:pt x="0" y="0"/>
                  </a:moveTo>
                  <a:lnTo>
                    <a:pt x="1516379" y="0"/>
                  </a:lnTo>
                  <a:lnTo>
                    <a:pt x="1516379" y="1281684"/>
                  </a:lnTo>
                  <a:lnTo>
                    <a:pt x="0" y="1281684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08394" y="2144267"/>
              <a:ext cx="49530" cy="305435"/>
            </a:xfrm>
            <a:custGeom>
              <a:avLst/>
              <a:gdLst/>
              <a:ahLst/>
              <a:cxnLst/>
              <a:rect l="l" t="t" r="r" b="b"/>
              <a:pathLst>
                <a:path w="49529" h="305435">
                  <a:moveTo>
                    <a:pt x="28067" y="0"/>
                  </a:moveTo>
                  <a:lnTo>
                    <a:pt x="16370" y="32181"/>
                  </a:lnTo>
                  <a:lnTo>
                    <a:pt x="0" y="57213"/>
                  </a:lnTo>
                  <a:lnTo>
                    <a:pt x="16370" y="89395"/>
                  </a:lnTo>
                  <a:lnTo>
                    <a:pt x="40932" y="114427"/>
                  </a:lnTo>
                  <a:lnTo>
                    <a:pt x="49123" y="139458"/>
                  </a:lnTo>
                  <a:lnTo>
                    <a:pt x="32740" y="164490"/>
                  </a:lnTo>
                  <a:lnTo>
                    <a:pt x="24561" y="189509"/>
                  </a:lnTo>
                  <a:lnTo>
                    <a:pt x="16370" y="222885"/>
                  </a:lnTo>
                  <a:lnTo>
                    <a:pt x="16370" y="256260"/>
                  </a:lnTo>
                  <a:lnTo>
                    <a:pt x="40932" y="280098"/>
                  </a:lnTo>
                  <a:lnTo>
                    <a:pt x="49123" y="30513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368540" y="2202179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67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57517" y="216407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21982" y="2316479"/>
              <a:ext cx="50800" cy="304165"/>
            </a:xfrm>
            <a:custGeom>
              <a:avLst/>
              <a:gdLst/>
              <a:ahLst/>
              <a:cxnLst/>
              <a:rect l="l" t="t" r="r" b="b"/>
              <a:pathLst>
                <a:path w="50800" h="304164">
                  <a:moveTo>
                    <a:pt x="28917" y="0"/>
                  </a:moveTo>
                  <a:lnTo>
                    <a:pt x="16865" y="32016"/>
                  </a:lnTo>
                  <a:lnTo>
                    <a:pt x="0" y="56921"/>
                  </a:lnTo>
                  <a:lnTo>
                    <a:pt x="16865" y="88950"/>
                  </a:lnTo>
                  <a:lnTo>
                    <a:pt x="42176" y="113855"/>
                  </a:lnTo>
                  <a:lnTo>
                    <a:pt x="50609" y="138760"/>
                  </a:lnTo>
                  <a:lnTo>
                    <a:pt x="33743" y="163664"/>
                  </a:lnTo>
                  <a:lnTo>
                    <a:pt x="25298" y="188569"/>
                  </a:lnTo>
                  <a:lnTo>
                    <a:pt x="16865" y="221780"/>
                  </a:lnTo>
                  <a:lnTo>
                    <a:pt x="16865" y="254990"/>
                  </a:lnTo>
                  <a:lnTo>
                    <a:pt x="42176" y="278714"/>
                  </a:lnTo>
                  <a:lnTo>
                    <a:pt x="50609" y="30361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940039" y="2487167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67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129017" y="244906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307582" y="2342387"/>
              <a:ext cx="50800" cy="305435"/>
            </a:xfrm>
            <a:custGeom>
              <a:avLst/>
              <a:gdLst/>
              <a:ahLst/>
              <a:cxnLst/>
              <a:rect l="l" t="t" r="r" b="b"/>
              <a:pathLst>
                <a:path w="50800" h="305435">
                  <a:moveTo>
                    <a:pt x="28917" y="0"/>
                  </a:moveTo>
                  <a:lnTo>
                    <a:pt x="16865" y="32181"/>
                  </a:lnTo>
                  <a:lnTo>
                    <a:pt x="0" y="57213"/>
                  </a:lnTo>
                  <a:lnTo>
                    <a:pt x="16865" y="89395"/>
                  </a:lnTo>
                  <a:lnTo>
                    <a:pt x="42176" y="114427"/>
                  </a:lnTo>
                  <a:lnTo>
                    <a:pt x="50609" y="139458"/>
                  </a:lnTo>
                  <a:lnTo>
                    <a:pt x="33743" y="164490"/>
                  </a:lnTo>
                  <a:lnTo>
                    <a:pt x="25298" y="189509"/>
                  </a:lnTo>
                  <a:lnTo>
                    <a:pt x="16865" y="222885"/>
                  </a:lnTo>
                  <a:lnTo>
                    <a:pt x="16865" y="256260"/>
                  </a:lnTo>
                  <a:lnTo>
                    <a:pt x="42176" y="280098"/>
                  </a:lnTo>
                  <a:lnTo>
                    <a:pt x="50609" y="30513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025640" y="2570987"/>
              <a:ext cx="201930" cy="0"/>
            </a:xfrm>
            <a:custGeom>
              <a:avLst/>
              <a:gdLst/>
              <a:ahLst/>
              <a:cxnLst/>
              <a:rect l="l" t="t" r="r" b="b"/>
              <a:pathLst>
                <a:path w="201929">
                  <a:moveTo>
                    <a:pt x="0" y="0"/>
                  </a:moveTo>
                  <a:lnTo>
                    <a:pt x="201676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214617" y="253288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500018" y="3189147"/>
            <a:ext cx="224599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990099"/>
                </a:solidFill>
                <a:latin typeface="Arial MT"/>
                <a:cs typeface="Arial MT"/>
              </a:rPr>
              <a:t>Multiple</a:t>
            </a:r>
            <a:r>
              <a:rPr sz="1500" spc="-35" dirty="0">
                <a:solidFill>
                  <a:srgbClr val="990099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990099"/>
                </a:solidFill>
                <a:latin typeface="Arial MT"/>
                <a:cs typeface="Arial MT"/>
              </a:rPr>
              <a:t>instruction</a:t>
            </a:r>
            <a:r>
              <a:rPr sz="1500" spc="-65" dirty="0">
                <a:solidFill>
                  <a:srgbClr val="990099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990099"/>
                </a:solidFill>
                <a:latin typeface="Arial MT"/>
                <a:cs typeface="Arial MT"/>
              </a:rPr>
              <a:t>stream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14343" y="1301274"/>
            <a:ext cx="23444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Multiplethreaded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14193" y="1575137"/>
            <a:ext cx="1010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Threads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of </a:t>
            </a:r>
            <a:r>
              <a:rPr sz="1800" spc="-10" dirty="0">
                <a:latin typeface="Times New Roman"/>
                <a:cs typeface="Times New Roman"/>
              </a:rPr>
              <a:t>execution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70607" y="3482804"/>
            <a:ext cx="167576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302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336600"/>
                </a:solidFill>
                <a:latin typeface="Arial"/>
                <a:cs typeface="Arial"/>
              </a:rPr>
              <a:t>Common </a:t>
            </a:r>
            <a:r>
              <a:rPr sz="1800" b="1" dirty="0">
                <a:solidFill>
                  <a:srgbClr val="336600"/>
                </a:solidFill>
                <a:latin typeface="Arial"/>
                <a:cs typeface="Arial"/>
              </a:rPr>
              <a:t>Address</a:t>
            </a:r>
            <a:r>
              <a:rPr sz="1800" b="1" spc="-60" dirty="0">
                <a:solidFill>
                  <a:srgbClr val="3366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336600"/>
                </a:solidFill>
                <a:latin typeface="Arial"/>
                <a:cs typeface="Arial"/>
              </a:rPr>
              <a:t>Space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218427" y="1805685"/>
            <a:ext cx="881380" cy="1669414"/>
            <a:chOff x="4218427" y="1805685"/>
            <a:chExt cx="881380" cy="1669414"/>
          </a:xfrm>
        </p:grpSpPr>
        <p:sp>
          <p:nvSpPr>
            <p:cNvPr id="27" name="object 27"/>
            <p:cNvSpPr/>
            <p:nvPr/>
          </p:nvSpPr>
          <p:spPr>
            <a:xfrm>
              <a:off x="4326140" y="2861843"/>
              <a:ext cx="767080" cy="607060"/>
            </a:xfrm>
            <a:custGeom>
              <a:avLst/>
              <a:gdLst/>
              <a:ahLst/>
              <a:cxnLst/>
              <a:rect l="l" t="t" r="r" b="b"/>
              <a:pathLst>
                <a:path w="767079" h="607060">
                  <a:moveTo>
                    <a:pt x="767067" y="606780"/>
                  </a:moveTo>
                  <a:lnTo>
                    <a:pt x="0" y="0"/>
                  </a:lnTo>
                </a:path>
              </a:pathLst>
            </a:custGeom>
            <a:ln w="126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76346" y="2822453"/>
              <a:ext cx="83820" cy="77470"/>
            </a:xfrm>
            <a:custGeom>
              <a:avLst/>
              <a:gdLst/>
              <a:ahLst/>
              <a:cxnLst/>
              <a:rect l="l" t="t" r="r" b="b"/>
              <a:pathLst>
                <a:path w="83820" h="77469">
                  <a:moveTo>
                    <a:pt x="0" y="0"/>
                  </a:moveTo>
                  <a:lnTo>
                    <a:pt x="36118" y="77152"/>
                  </a:lnTo>
                  <a:lnTo>
                    <a:pt x="83400" y="173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270425" y="1812035"/>
              <a:ext cx="652145" cy="457834"/>
            </a:xfrm>
            <a:custGeom>
              <a:avLst/>
              <a:gdLst/>
              <a:ahLst/>
              <a:cxnLst/>
              <a:rect l="l" t="t" r="r" b="b"/>
              <a:pathLst>
                <a:path w="652145" h="457835">
                  <a:moveTo>
                    <a:pt x="652094" y="0"/>
                  </a:moveTo>
                  <a:lnTo>
                    <a:pt x="0" y="45731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218427" y="2230864"/>
              <a:ext cx="84455" cy="75565"/>
            </a:xfrm>
            <a:custGeom>
              <a:avLst/>
              <a:gdLst/>
              <a:ahLst/>
              <a:cxnLst/>
              <a:rect l="l" t="t" r="r" b="b"/>
              <a:pathLst>
                <a:path w="84454" h="75564">
                  <a:moveTo>
                    <a:pt x="40512" y="0"/>
                  </a:moveTo>
                  <a:lnTo>
                    <a:pt x="0" y="74942"/>
                  </a:lnTo>
                  <a:lnTo>
                    <a:pt x="84264" y="62382"/>
                  </a:lnTo>
                  <a:lnTo>
                    <a:pt x="405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5832094" y="2593844"/>
            <a:ext cx="843280" cy="881380"/>
            <a:chOff x="5832094" y="2593844"/>
            <a:chExt cx="843280" cy="881380"/>
          </a:xfrm>
        </p:grpSpPr>
        <p:sp>
          <p:nvSpPr>
            <p:cNvPr id="32" name="object 32"/>
            <p:cNvSpPr/>
            <p:nvPr/>
          </p:nvSpPr>
          <p:spPr>
            <a:xfrm>
              <a:off x="5838444" y="2639733"/>
              <a:ext cx="793115" cy="829310"/>
            </a:xfrm>
            <a:custGeom>
              <a:avLst/>
              <a:gdLst/>
              <a:ahLst/>
              <a:cxnLst/>
              <a:rect l="l" t="t" r="r" b="b"/>
              <a:pathLst>
                <a:path w="793115" h="829310">
                  <a:moveTo>
                    <a:pt x="0" y="828890"/>
                  </a:moveTo>
                  <a:lnTo>
                    <a:pt x="792784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594922" y="2593844"/>
              <a:ext cx="80645" cy="81915"/>
            </a:xfrm>
            <a:custGeom>
              <a:avLst/>
              <a:gdLst/>
              <a:ahLst/>
              <a:cxnLst/>
              <a:rect l="l" t="t" r="r" b="b"/>
              <a:pathLst>
                <a:path w="80645" h="81914">
                  <a:moveTo>
                    <a:pt x="80200" y="0"/>
                  </a:moveTo>
                  <a:lnTo>
                    <a:pt x="0" y="28740"/>
                  </a:lnTo>
                  <a:lnTo>
                    <a:pt x="55067" y="81406"/>
                  </a:lnTo>
                  <a:lnTo>
                    <a:pt x="80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6069835" y="1758445"/>
            <a:ext cx="681990" cy="339725"/>
            <a:chOff x="6069835" y="1758445"/>
            <a:chExt cx="681990" cy="339725"/>
          </a:xfrm>
        </p:grpSpPr>
        <p:sp>
          <p:nvSpPr>
            <p:cNvPr id="35" name="object 35"/>
            <p:cNvSpPr/>
            <p:nvPr/>
          </p:nvSpPr>
          <p:spPr>
            <a:xfrm>
              <a:off x="6076185" y="1764795"/>
              <a:ext cx="618490" cy="304800"/>
            </a:xfrm>
            <a:custGeom>
              <a:avLst/>
              <a:gdLst/>
              <a:ahLst/>
              <a:cxnLst/>
              <a:rect l="l" t="t" r="r" b="b"/>
              <a:pathLst>
                <a:path w="618490" h="304800">
                  <a:moveTo>
                    <a:pt x="618159" y="30419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666125" y="2029197"/>
              <a:ext cx="85725" cy="68580"/>
            </a:xfrm>
            <a:custGeom>
              <a:avLst/>
              <a:gdLst/>
              <a:ahLst/>
              <a:cxnLst/>
              <a:rect l="l" t="t" r="r" b="b"/>
              <a:pathLst>
                <a:path w="85725" h="68580">
                  <a:moveTo>
                    <a:pt x="33642" y="0"/>
                  </a:moveTo>
                  <a:lnTo>
                    <a:pt x="0" y="68376"/>
                  </a:lnTo>
                  <a:lnTo>
                    <a:pt x="85191" y="67830"/>
                  </a:lnTo>
                  <a:lnTo>
                    <a:pt x="336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173736" y="1697735"/>
            <a:ext cx="2131060" cy="1135380"/>
            <a:chOff x="173736" y="1697735"/>
            <a:chExt cx="2131060" cy="113538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696" y="1725168"/>
              <a:ext cx="2007107" cy="101955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736" y="1697735"/>
              <a:ext cx="2130552" cy="113537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321563" y="1812035"/>
            <a:ext cx="1888489" cy="901065"/>
          </a:xfrm>
          <a:prstGeom prst="rect">
            <a:avLst/>
          </a:prstGeom>
          <a:solidFill>
            <a:srgbClr val="FFFFFF"/>
          </a:solidFill>
          <a:ln w="12700">
            <a:solidFill>
              <a:srgbClr val="EC7C30"/>
            </a:solidFill>
          </a:ln>
        </p:spPr>
        <p:txBody>
          <a:bodyPr vert="horz" wrap="square" lIns="0" tIns="26670" rIns="0" bIns="0" rtlCol="0">
            <a:spAutoFit/>
          </a:bodyPr>
          <a:lstStyle/>
          <a:p>
            <a:pPr marL="69215" marR="60960" indent="-635" algn="just">
              <a:lnSpc>
                <a:spcPct val="100000"/>
              </a:lnSpc>
              <a:spcBef>
                <a:spcPts val="210"/>
              </a:spcBef>
            </a:pP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Threads</a:t>
            </a:r>
            <a:r>
              <a:rPr sz="1800" spc="45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are</a:t>
            </a:r>
            <a:r>
              <a:rPr sz="1800" spc="465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Times New Roman"/>
                <a:cs typeface="Times New Roman"/>
              </a:rPr>
              <a:t>light- 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weight</a:t>
            </a:r>
            <a:r>
              <a:rPr sz="1800" spc="200" dirty="0">
                <a:solidFill>
                  <a:srgbClr val="006FC0"/>
                </a:solidFill>
                <a:latin typeface="Times New Roman"/>
                <a:cs typeface="Times New Roman"/>
              </a:rPr>
              <a:t>   </a:t>
            </a:r>
            <a:r>
              <a:rPr sz="1800" spc="-10" dirty="0">
                <a:solidFill>
                  <a:srgbClr val="006FC0"/>
                </a:solidFill>
                <a:latin typeface="Times New Roman"/>
                <a:cs typeface="Times New Roman"/>
              </a:rPr>
              <a:t>processes 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within</a:t>
            </a:r>
            <a:r>
              <a:rPr sz="18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1800" spc="-20" dirty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Times New Roman"/>
                <a:cs typeface="Times New Roman"/>
              </a:rPr>
              <a:t>process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-4762" y="201168"/>
            <a:ext cx="9153525" cy="902335"/>
            <a:chOff x="-4762" y="201168"/>
            <a:chExt cx="9153525" cy="902335"/>
          </a:xfrm>
        </p:grpSpPr>
        <p:sp>
          <p:nvSpPr>
            <p:cNvPr id="42" name="object 42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3" name="object 4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327" y="201168"/>
              <a:ext cx="7578851" cy="902207"/>
            </a:xfrm>
            <a:prstGeom prst="rect">
              <a:avLst/>
            </a:prstGeom>
          </p:spPr>
        </p:pic>
      </p:grp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5" dirty="0"/>
              <a:t>Single</a:t>
            </a:r>
            <a:r>
              <a:rPr sz="3200" spc="-20" dirty="0"/>
              <a:t> </a:t>
            </a:r>
            <a:r>
              <a:rPr sz="3200" dirty="0"/>
              <a:t>and</a:t>
            </a:r>
            <a:r>
              <a:rPr sz="3200" spc="5" dirty="0"/>
              <a:t> </a:t>
            </a:r>
            <a:r>
              <a:rPr sz="3200" spc="-95" dirty="0"/>
              <a:t>multithreaded</a:t>
            </a:r>
            <a:r>
              <a:rPr sz="3200" spc="-5" dirty="0"/>
              <a:t> </a:t>
            </a:r>
            <a:r>
              <a:rPr sz="3200" spc="-10" dirty="0"/>
              <a:t>processes</a:t>
            </a:r>
            <a:endParaRPr sz="3200"/>
          </a:p>
        </p:txBody>
      </p:sp>
      <p:pic>
        <p:nvPicPr>
          <p:cNvPr id="45" name="object 4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190499"/>
            <a:ext cx="8071484" cy="2735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4785" algn="l"/>
              </a:tabLst>
            </a:pP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piece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runs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concurrently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with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other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threads.</a:t>
            </a:r>
            <a:endParaRPr sz="22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184785" algn="l"/>
              </a:tabLst>
            </a:pP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thread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statically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sequence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instructions.</a:t>
            </a:r>
            <a:endParaRPr sz="2200">
              <a:latin typeface="Times New Roman"/>
              <a:cs typeface="Times New Roman"/>
            </a:endParaRPr>
          </a:p>
          <a:p>
            <a:pPr marL="184150" marR="5080" indent="-172085">
              <a:lnSpc>
                <a:spcPts val="2380"/>
              </a:lnSpc>
              <a:spcBef>
                <a:spcPts val="2310"/>
              </a:spcBef>
              <a:buFont typeface="Arial MT"/>
              <a:buChar char="•"/>
              <a:tabLst>
                <a:tab pos="184150" algn="l"/>
                <a:tab pos="1464310" algn="l"/>
              </a:tabLst>
            </a:pPr>
            <a:r>
              <a:rPr sz="2200" dirty="0">
                <a:latin typeface="Times New Roman"/>
                <a:cs typeface="Times New Roman"/>
              </a:rPr>
              <a:t>Threads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being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extensively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used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express</a:t>
            </a:r>
            <a:r>
              <a:rPr sz="2200" spc="2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concurrency</a:t>
            </a:r>
            <a:r>
              <a:rPr sz="2200" spc="3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</a:t>
            </a:r>
            <a:r>
              <a:rPr sz="2200" spc="29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both </a:t>
            </a:r>
            <a:r>
              <a:rPr sz="2200" dirty="0">
                <a:latin typeface="Times New Roman"/>
                <a:cs typeface="Times New Roman"/>
              </a:rPr>
              <a:t>single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</a:t>
            </a:r>
            <a:r>
              <a:rPr sz="2200" dirty="0">
                <a:latin typeface="Times New Roman"/>
                <a:cs typeface="Times New Roman"/>
              </a:rPr>
              <a:t>	multiprocessor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machines.</a:t>
            </a:r>
            <a:endParaRPr sz="2200">
              <a:latin typeface="Times New Roman"/>
              <a:cs typeface="Times New Roman"/>
            </a:endParaRPr>
          </a:p>
          <a:p>
            <a:pPr marL="184785" indent="-172085">
              <a:lnSpc>
                <a:spcPct val="100000"/>
              </a:lnSpc>
              <a:spcBef>
                <a:spcPts val="1980"/>
              </a:spcBef>
              <a:buFont typeface="Arial MT"/>
              <a:buChar char="•"/>
              <a:tabLst>
                <a:tab pos="184785" algn="l"/>
              </a:tabLst>
            </a:pPr>
            <a:r>
              <a:rPr sz="2200" dirty="0">
                <a:latin typeface="Times New Roman"/>
                <a:cs typeface="Times New Roman"/>
              </a:rPr>
              <a:t>Programming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task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having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multiple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threads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control</a:t>
            </a:r>
            <a:endParaRPr sz="2200">
              <a:latin typeface="Times New Roman"/>
              <a:cs typeface="Times New Roman"/>
            </a:endParaRPr>
          </a:p>
          <a:p>
            <a:pPr marL="536575" lvl="1" indent="-184150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Multithreading</a:t>
            </a:r>
            <a:r>
              <a:rPr sz="1800" spc="-6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1800" spc="-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000FF"/>
                </a:solidFill>
                <a:latin typeface="Times New Roman"/>
                <a:cs typeface="Times New Roman"/>
              </a:rPr>
              <a:t>multithreaded</a:t>
            </a:r>
            <a:r>
              <a:rPr sz="1800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1800" spc="-10" dirty="0">
                <a:solidFill>
                  <a:srgbClr val="006FC0"/>
                </a:solidFill>
                <a:latin typeface="Times New Roman"/>
                <a:cs typeface="Times New Roman"/>
              </a:rPr>
              <a:t>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01168"/>
            <a:ext cx="9153525" cy="902335"/>
            <a:chOff x="-4762" y="201168"/>
            <a:chExt cx="9153525" cy="902335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8"/>
              <a:ext cx="3156203" cy="90220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75" dirty="0"/>
              <a:t>A</a:t>
            </a:r>
            <a:r>
              <a:rPr sz="3200" spc="-110" dirty="0"/>
              <a:t> </a:t>
            </a:r>
            <a:r>
              <a:rPr sz="3200" spc="-65" dirty="0"/>
              <a:t>thread</a:t>
            </a:r>
            <a:r>
              <a:rPr sz="3200" spc="-60" dirty="0"/>
              <a:t> </a:t>
            </a:r>
            <a:r>
              <a:rPr sz="3200" spc="-235" dirty="0"/>
              <a:t>is</a:t>
            </a:r>
            <a:r>
              <a:rPr sz="3200" spc="-45" dirty="0"/>
              <a:t> </a:t>
            </a:r>
            <a:r>
              <a:rPr sz="3200" spc="-50" dirty="0"/>
              <a:t>…</a:t>
            </a:r>
            <a:endParaRPr sz="320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7800" y="1118628"/>
            <a:ext cx="6937375" cy="2362200"/>
            <a:chOff x="1447800" y="1118628"/>
            <a:chExt cx="6937375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7800" y="1118628"/>
              <a:ext cx="2362187" cy="23621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13988" y="1953768"/>
              <a:ext cx="3854195" cy="899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34784" y="1953768"/>
              <a:ext cx="696467" cy="89915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97852" y="1953768"/>
              <a:ext cx="1187195" cy="89915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953306" y="2037842"/>
            <a:ext cx="41636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Multithreading</a:t>
            </a:r>
            <a:r>
              <a:rPr sz="3200" b="0" spc="-6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in</a:t>
            </a:r>
            <a:r>
              <a:rPr sz="3200" b="0" spc="-5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20" dirty="0">
                <a:solidFill>
                  <a:srgbClr val="C00000"/>
                </a:solidFill>
                <a:latin typeface="Yu Gothic"/>
                <a:cs typeface="Yu Gothic"/>
              </a:rPr>
              <a:t>J</a:t>
            </a:r>
            <a:r>
              <a:rPr sz="3200" b="0" spc="-20" dirty="0">
                <a:solidFill>
                  <a:srgbClr val="0000FF"/>
                </a:solidFill>
                <a:latin typeface="Yu Gothic"/>
                <a:cs typeface="Yu Gothic"/>
              </a:rPr>
              <a:t>ava</a:t>
            </a:r>
            <a:endParaRPr sz="32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65758"/>
            <a:ext cx="50965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Arial MT"/>
              <a:buChar char="•"/>
              <a:tabLst>
                <a:tab pos="184785" algn="l"/>
              </a:tabLst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J</a:t>
            </a:r>
            <a:r>
              <a:rPr sz="2200" dirty="0">
                <a:latin typeface="Times New Roman"/>
                <a:cs typeface="Times New Roman"/>
              </a:rPr>
              <a:t>ava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built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support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multithreading.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9" y="1702562"/>
            <a:ext cx="2826385" cy="918844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93675" indent="-184150">
              <a:lnSpc>
                <a:spcPct val="100000"/>
              </a:lnSpc>
              <a:spcBef>
                <a:spcPts val="28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spc="-10" dirty="0">
                <a:latin typeface="Times New Roman"/>
                <a:cs typeface="Times New Roman"/>
              </a:rPr>
              <a:t>Synchronization</a:t>
            </a:r>
            <a:endParaRPr sz="1800">
              <a:latin typeface="Times New Roman"/>
              <a:cs typeface="Times New Roman"/>
            </a:endParaRPr>
          </a:p>
          <a:p>
            <a:pPr marL="193675" indent="-184150">
              <a:lnSpc>
                <a:spcPct val="100000"/>
              </a:lnSpc>
              <a:spcBef>
                <a:spcPts val="18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dirty="0">
                <a:latin typeface="Times New Roman"/>
                <a:cs typeface="Times New Roman"/>
              </a:rPr>
              <a:t>Thread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scheduling</a:t>
            </a:r>
            <a:endParaRPr sz="1800">
              <a:latin typeface="Times New Roman"/>
              <a:cs typeface="Times New Roman"/>
            </a:endParaRPr>
          </a:p>
          <a:p>
            <a:pPr marL="193675" indent="-184150">
              <a:lnSpc>
                <a:spcPct val="100000"/>
              </a:lnSpc>
              <a:spcBef>
                <a:spcPts val="19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spc="-20" dirty="0">
                <a:latin typeface="Times New Roman"/>
                <a:cs typeface="Times New Roman"/>
              </a:rPr>
              <a:t>Inter-</a:t>
            </a:r>
            <a:r>
              <a:rPr sz="1800" dirty="0">
                <a:latin typeface="Times New Roman"/>
                <a:cs typeface="Times New Roman"/>
              </a:rPr>
              <a:t>thread </a:t>
            </a:r>
            <a:r>
              <a:rPr sz="1800" spc="-10" dirty="0">
                <a:latin typeface="Times New Roman"/>
                <a:cs typeface="Times New Roman"/>
              </a:rPr>
              <a:t>communication: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468877"/>
            <a:ext cx="55987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184785" algn="l"/>
                <a:tab pos="819785" algn="l"/>
              </a:tabLst>
            </a:pPr>
            <a:r>
              <a:rPr sz="2200" spc="-20" dirty="0">
                <a:solidFill>
                  <a:srgbClr val="C00000"/>
                </a:solidFill>
                <a:latin typeface="Times New Roman"/>
                <a:cs typeface="Times New Roman"/>
              </a:rPr>
              <a:t>J</a:t>
            </a:r>
            <a:r>
              <a:rPr sz="2200" spc="-20" dirty="0">
                <a:latin typeface="Times New Roman"/>
                <a:cs typeface="Times New Roman"/>
              </a:rPr>
              <a:t>ava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Garbage</a:t>
            </a:r>
            <a:r>
              <a:rPr sz="2200" spc="-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FF"/>
                </a:solidFill>
                <a:latin typeface="Times New Roman"/>
                <a:cs typeface="Times New Roman"/>
              </a:rPr>
              <a:t>Collector</a:t>
            </a:r>
            <a:r>
              <a:rPr sz="2200" spc="-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low-</a:t>
            </a:r>
            <a:r>
              <a:rPr sz="2200" dirty="0">
                <a:latin typeface="Times New Roman"/>
                <a:cs typeface="Times New Roman"/>
              </a:rPr>
              <a:t>priority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thread.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4762" y="201167"/>
            <a:ext cx="9153525" cy="902335"/>
            <a:chOff x="-4762" y="201167"/>
            <a:chExt cx="9153525" cy="902335"/>
          </a:xfrm>
        </p:grpSpPr>
        <p:sp>
          <p:nvSpPr>
            <p:cNvPr id="6" name="object 6"/>
            <p:cNvSpPr/>
            <p:nvPr/>
          </p:nvSpPr>
          <p:spPr>
            <a:xfrm>
              <a:off x="0" y="286511"/>
              <a:ext cx="9144000" cy="584200"/>
            </a:xfrm>
            <a:custGeom>
              <a:avLst/>
              <a:gdLst/>
              <a:ahLst/>
              <a:cxnLst/>
              <a:rect l="l" t="t" r="r" b="b"/>
              <a:pathLst>
                <a:path w="9144000" h="584200">
                  <a:moveTo>
                    <a:pt x="0" y="0"/>
                  </a:moveTo>
                  <a:lnTo>
                    <a:pt x="9144000" y="0"/>
                  </a:lnTo>
                  <a:lnTo>
                    <a:pt x="9144000" y="583691"/>
                  </a:lnTo>
                  <a:lnTo>
                    <a:pt x="0" y="58369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8327" y="201167"/>
              <a:ext cx="731519" cy="90220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3400" y="201167"/>
              <a:ext cx="2884931" cy="902207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78612" y="311150"/>
            <a:ext cx="256921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5" dirty="0">
                <a:solidFill>
                  <a:srgbClr val="C00000"/>
                </a:solidFill>
              </a:rPr>
              <a:t>J</a:t>
            </a:r>
            <a:r>
              <a:rPr sz="3200" spc="55" dirty="0"/>
              <a:t>ava</a:t>
            </a:r>
            <a:r>
              <a:rPr sz="3200" spc="-40" dirty="0"/>
              <a:t> </a:t>
            </a:r>
            <a:r>
              <a:rPr sz="3200" spc="-85" dirty="0"/>
              <a:t>threads</a:t>
            </a:r>
            <a:endParaRPr sz="3200"/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308347" y="1825752"/>
            <a:ext cx="4032885" cy="1239520"/>
            <a:chOff x="4308347" y="1825752"/>
            <a:chExt cx="4032885" cy="123952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08347" y="1825752"/>
              <a:ext cx="4032503" cy="1239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419599" y="1937003"/>
              <a:ext cx="3810000" cy="1016635"/>
            </a:xfrm>
            <a:custGeom>
              <a:avLst/>
              <a:gdLst/>
              <a:ahLst/>
              <a:cxnLst/>
              <a:rect l="l" t="t" r="r" b="b"/>
              <a:pathLst>
                <a:path w="3810000" h="1016635">
                  <a:moveTo>
                    <a:pt x="3810000" y="0"/>
                  </a:moveTo>
                  <a:lnTo>
                    <a:pt x="0" y="0"/>
                  </a:lnTo>
                  <a:lnTo>
                    <a:pt x="0" y="1016507"/>
                  </a:lnTo>
                  <a:lnTo>
                    <a:pt x="3810000" y="1016507"/>
                  </a:lnTo>
                  <a:lnTo>
                    <a:pt x="3810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419599" y="1937003"/>
              <a:ext cx="3810000" cy="1016635"/>
            </a:xfrm>
            <a:custGeom>
              <a:avLst/>
              <a:gdLst/>
              <a:ahLst/>
              <a:cxnLst/>
              <a:rect l="l" t="t" r="r" b="b"/>
              <a:pathLst>
                <a:path w="3810000" h="1016635">
                  <a:moveTo>
                    <a:pt x="0" y="0"/>
                  </a:moveTo>
                  <a:lnTo>
                    <a:pt x="3810000" y="0"/>
                  </a:lnTo>
                  <a:lnTo>
                    <a:pt x="3810000" y="1016507"/>
                  </a:lnTo>
                  <a:lnTo>
                    <a:pt x="0" y="1016507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275323" y="1964010"/>
            <a:ext cx="39751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 marR="5080" indent="-52069" algn="just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6FC0"/>
                </a:solidFill>
                <a:latin typeface="Times New Roman"/>
                <a:cs typeface="Times New Roman"/>
              </a:rPr>
              <a:t>start </a:t>
            </a:r>
            <a:r>
              <a:rPr sz="1500" spc="-25" dirty="0">
                <a:solidFill>
                  <a:srgbClr val="006FC0"/>
                </a:solidFill>
                <a:latin typeface="Times New Roman"/>
                <a:cs typeface="Times New Roman"/>
              </a:rPr>
              <a:t>run </a:t>
            </a:r>
            <a:r>
              <a:rPr sz="1500" spc="-20" dirty="0">
                <a:solidFill>
                  <a:srgbClr val="006FC0"/>
                </a:solidFill>
                <a:latin typeface="Times New Roman"/>
                <a:cs typeface="Times New Roman"/>
              </a:rPr>
              <a:t>stop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83980" y="1964010"/>
            <a:ext cx="8693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5080" indent="-26034" algn="just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6FC0"/>
                </a:solidFill>
                <a:latin typeface="Times New Roman"/>
                <a:cs typeface="Times New Roman"/>
              </a:rPr>
              <a:t>setPriority getPriority suspend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71135" y="1964010"/>
            <a:ext cx="110490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 indent="-47625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006FC0"/>
                </a:solidFill>
                <a:latin typeface="Times New Roman"/>
                <a:cs typeface="Times New Roman"/>
              </a:rPr>
              <a:t>currentThread yield</a:t>
            </a:r>
            <a:endParaRPr sz="1500">
              <a:latin typeface="Times New Roman"/>
              <a:cs typeface="Times New Roman"/>
            </a:endParaRPr>
          </a:p>
          <a:p>
            <a:pPr marL="59690" marR="487045">
              <a:lnSpc>
                <a:spcPct val="100000"/>
              </a:lnSpc>
            </a:pPr>
            <a:r>
              <a:rPr sz="1500" spc="-20" dirty="0">
                <a:solidFill>
                  <a:srgbClr val="006FC0"/>
                </a:solidFill>
                <a:latin typeface="Times New Roman"/>
                <a:cs typeface="Times New Roman"/>
              </a:rPr>
              <a:t>sleep </a:t>
            </a:r>
            <a:r>
              <a:rPr sz="1500" spc="-10" dirty="0">
                <a:solidFill>
                  <a:srgbClr val="006FC0"/>
                </a:solidFill>
                <a:latin typeface="Times New Roman"/>
                <a:cs typeface="Times New Roman"/>
              </a:rPr>
              <a:t>resume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07795" y="3526790"/>
            <a:ext cx="9144000" cy="873760"/>
            <a:chOff x="0" y="3575303"/>
            <a:chExt cx="9144000" cy="87376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3599687"/>
              <a:ext cx="9144000" cy="76352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3575303"/>
              <a:ext cx="9144000" cy="87325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3639311"/>
              <a:ext cx="9144000" cy="646176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8511" y="3663950"/>
            <a:ext cx="89865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Everything</a:t>
            </a:r>
            <a:r>
              <a:rPr sz="18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about</a:t>
            </a:r>
            <a:r>
              <a:rPr sz="18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thread</a:t>
            </a:r>
            <a:r>
              <a:rPr sz="18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sz="18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readily</a:t>
            </a:r>
            <a:r>
              <a:rPr sz="1800" spc="2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defined</a:t>
            </a:r>
            <a:r>
              <a:rPr sz="18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sz="1800" spc="21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package</a:t>
            </a:r>
            <a:r>
              <a:rPr sz="18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C00000"/>
                </a:solidFill>
                <a:latin typeface="Times New Roman"/>
                <a:cs typeface="Times New Roman"/>
              </a:rPr>
              <a:t>java.lang</a:t>
            </a:r>
            <a:r>
              <a:rPr sz="1800" i="1" spc="21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sz="1800" spc="20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19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sz="1800" spc="2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00"/>
                </a:solidFill>
                <a:latin typeface="Times New Roman"/>
                <a:cs typeface="Times New Roman"/>
              </a:rPr>
              <a:t>class</a:t>
            </a:r>
            <a:r>
              <a:rPr sz="1800" spc="20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00"/>
                </a:solidFill>
                <a:latin typeface="Times New Roman"/>
                <a:cs typeface="Times New Roman"/>
              </a:rPr>
              <a:t>Thread</a:t>
            </a:r>
            <a:r>
              <a:rPr sz="1800" spc="19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sz="1800" dirty="0">
                <a:solidFill>
                  <a:srgbClr val="CC3300"/>
                </a:solidFill>
                <a:latin typeface="Times New Roman"/>
                <a:cs typeface="Times New Roman"/>
              </a:rPr>
              <a:t>interface</a:t>
            </a:r>
            <a:r>
              <a:rPr sz="1800" spc="-55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CC3300"/>
                </a:solidFill>
                <a:latin typeface="Times New Roman"/>
                <a:cs typeface="Times New Roman"/>
              </a:rPr>
              <a:t>Runnable</a:t>
            </a:r>
            <a:r>
              <a:rPr sz="1800" spc="-3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800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Times New Roman"/>
                <a:cs typeface="Times New Roman"/>
              </a:rPr>
              <a:t>it.</a:t>
            </a:r>
            <a:endParaRPr sz="1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38" y="954619"/>
            <a:ext cx="4762500" cy="67310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2100" i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Note:</a:t>
            </a:r>
            <a:endParaRPr sz="2100">
              <a:latin typeface="Times New Roman"/>
              <a:cs typeface="Times New Roman"/>
            </a:endParaRPr>
          </a:p>
          <a:p>
            <a:pPr marL="536575" indent="-184150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Thread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starts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executing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only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start()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called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2282951" cy="7894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3892" y="217944"/>
              <a:ext cx="1600199" cy="7894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3759" y="217931"/>
              <a:ext cx="867155" cy="78943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1523" y="217944"/>
              <a:ext cx="640079" cy="7894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2211" y="217944"/>
              <a:ext cx="1136903" cy="78941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0" dirty="0">
                <a:solidFill>
                  <a:srgbClr val="943735"/>
                </a:solidFill>
              </a:rPr>
              <a:t>Running</a:t>
            </a:r>
            <a:r>
              <a:rPr spc="-50" dirty="0">
                <a:solidFill>
                  <a:srgbClr val="943735"/>
                </a:solidFill>
              </a:rPr>
              <a:t> </a:t>
            </a:r>
            <a:r>
              <a:rPr spc="165" dirty="0">
                <a:solidFill>
                  <a:srgbClr val="943735"/>
                </a:solidFill>
              </a:rPr>
              <a:t>a</a:t>
            </a:r>
            <a:r>
              <a:rPr spc="-45" dirty="0">
                <a:solidFill>
                  <a:srgbClr val="943735"/>
                </a:solidFill>
              </a:rPr>
              <a:t> </a:t>
            </a:r>
            <a:r>
              <a:rPr spc="-60" dirty="0">
                <a:solidFill>
                  <a:srgbClr val="0000FF"/>
                </a:solidFill>
              </a:rPr>
              <a:t>thread</a:t>
            </a:r>
            <a:r>
              <a:rPr spc="-50" dirty="0">
                <a:solidFill>
                  <a:srgbClr val="0000FF"/>
                </a:solidFill>
              </a:rPr>
              <a:t> </a:t>
            </a:r>
            <a:r>
              <a:rPr spc="-155" dirty="0">
                <a:solidFill>
                  <a:srgbClr val="943735"/>
                </a:solidFill>
              </a:rPr>
              <a:t>in</a:t>
            </a:r>
            <a:r>
              <a:rPr spc="-50" dirty="0">
                <a:solidFill>
                  <a:srgbClr val="943735"/>
                </a:solidFill>
              </a:rPr>
              <a:t> </a:t>
            </a:r>
            <a:r>
              <a:rPr spc="-20" dirty="0">
                <a:solidFill>
                  <a:srgbClr val="C00000"/>
                </a:solidFill>
              </a:rPr>
              <a:t>J</a:t>
            </a:r>
            <a:r>
              <a:rPr spc="-20" dirty="0">
                <a:solidFill>
                  <a:srgbClr val="943735"/>
                </a:solidFill>
              </a:rPr>
              <a:t>ava</a:t>
            </a:r>
          </a:p>
        </p:txBody>
      </p:sp>
      <p:pic>
        <p:nvPicPr>
          <p:cNvPr id="11" name="object 1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600200" y="1860804"/>
            <a:ext cx="1754505" cy="407034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511809">
              <a:lnSpc>
                <a:spcPct val="100000"/>
              </a:lnSpc>
              <a:spcBef>
                <a:spcPts val="39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Inactive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46876" y="1860804"/>
            <a:ext cx="1754505" cy="405765"/>
          </a:xfrm>
          <a:prstGeom prst="rect">
            <a:avLst/>
          </a:prstGeom>
          <a:solidFill>
            <a:srgbClr val="4471C4"/>
          </a:solidFill>
          <a:ln w="12700">
            <a:solidFill>
              <a:srgbClr val="2E528F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95"/>
              </a:spcBef>
            </a:pP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Dead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471672" y="2259838"/>
            <a:ext cx="1468755" cy="863600"/>
            <a:chOff x="2471672" y="2259838"/>
            <a:chExt cx="1468755" cy="863600"/>
          </a:xfrm>
        </p:grpSpPr>
        <p:sp>
          <p:nvSpPr>
            <p:cNvPr id="15" name="object 15"/>
            <p:cNvSpPr/>
            <p:nvPr/>
          </p:nvSpPr>
          <p:spPr>
            <a:xfrm>
              <a:off x="2478022" y="2266188"/>
              <a:ext cx="1398905" cy="819150"/>
            </a:xfrm>
            <a:custGeom>
              <a:avLst/>
              <a:gdLst/>
              <a:ahLst/>
              <a:cxnLst/>
              <a:rect l="l" t="t" r="r" b="b"/>
              <a:pathLst>
                <a:path w="1398904" h="819150">
                  <a:moveTo>
                    <a:pt x="0" y="0"/>
                  </a:moveTo>
                  <a:lnTo>
                    <a:pt x="0" y="818553"/>
                  </a:lnTo>
                  <a:lnTo>
                    <a:pt x="1398892" y="818553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64220" y="304664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7072996" y="2266193"/>
            <a:ext cx="76200" cy="77470"/>
          </a:xfrm>
          <a:custGeom>
            <a:avLst/>
            <a:gdLst/>
            <a:ahLst/>
            <a:cxnLst/>
            <a:rect l="l" t="t" r="r" b="b"/>
            <a:pathLst>
              <a:path w="76200" h="77469">
                <a:moveTo>
                  <a:pt x="35839" y="0"/>
                </a:moveTo>
                <a:lnTo>
                  <a:pt x="0" y="77279"/>
                </a:lnTo>
                <a:lnTo>
                  <a:pt x="76161" y="75044"/>
                </a:lnTo>
                <a:lnTo>
                  <a:pt x="35839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78838" y="2604224"/>
            <a:ext cx="5018405" cy="153987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R="503555" algn="ctr">
              <a:lnSpc>
                <a:spcPct val="100000"/>
              </a:lnSpc>
              <a:spcBef>
                <a:spcPts val="1025"/>
              </a:spcBef>
            </a:pPr>
            <a:r>
              <a:rPr sz="1800" spc="-10" dirty="0">
                <a:latin typeface="Courier New"/>
                <a:cs typeface="Courier New"/>
              </a:rPr>
              <a:t>Start()</a:t>
            </a:r>
            <a:endParaRPr sz="1800">
              <a:latin typeface="Courier New"/>
              <a:cs typeface="Courier New"/>
            </a:endParaRPr>
          </a:p>
          <a:p>
            <a:pPr marL="193675" indent="-184150">
              <a:lnSpc>
                <a:spcPct val="100000"/>
              </a:lnSpc>
              <a:spcBef>
                <a:spcPts val="925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dirty="0">
                <a:latin typeface="Times New Roman"/>
                <a:cs typeface="Times New Roman"/>
              </a:rPr>
              <a:t>Runnable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interface</a:t>
            </a:r>
            <a:endParaRPr sz="1800">
              <a:latin typeface="Times New Roman"/>
              <a:cs typeface="Times New Roman"/>
            </a:endParaRPr>
          </a:p>
          <a:p>
            <a:pPr marL="527050" lvl="1" indent="-17145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527050" algn="l"/>
              </a:tabLst>
            </a:pPr>
            <a:r>
              <a:rPr sz="2300" dirty="0">
                <a:latin typeface="Times New Roman"/>
                <a:cs typeface="Times New Roman"/>
              </a:rPr>
              <a:t>So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multiply</a:t>
            </a:r>
            <a:r>
              <a:rPr sz="2300" spc="-10" dirty="0">
                <a:latin typeface="Times New Roman"/>
                <a:cs typeface="Times New Roman"/>
              </a:rPr>
              <a:t> inherited</a:t>
            </a:r>
            <a:endParaRPr sz="2300">
              <a:latin typeface="Times New Roman"/>
              <a:cs typeface="Times New Roman"/>
            </a:endParaRPr>
          </a:p>
          <a:p>
            <a:pPr marL="527050" lvl="1" indent="-171450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527050" algn="l"/>
              </a:tabLst>
            </a:pPr>
            <a:r>
              <a:rPr sz="2300" dirty="0">
                <a:latin typeface="Times New Roman"/>
                <a:cs typeface="Times New Roman"/>
              </a:rPr>
              <a:t>Required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for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multithreading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applets</a:t>
            </a:r>
            <a:endParaRPr sz="2300">
              <a:latin typeface="Times New Roman"/>
              <a:cs typeface="Times New Roman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/>
        </p:nvGraphicFramePr>
        <p:xfrm>
          <a:off x="3983482" y="2323310"/>
          <a:ext cx="3121659" cy="9582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5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1815">
                <a:tc gridSpan="3">
                  <a:txBody>
                    <a:bodyPr/>
                    <a:lstStyle/>
                    <a:p>
                      <a:pPr marR="94615" algn="r">
                        <a:lnSpc>
                          <a:spcPct val="100000"/>
                        </a:lnSpc>
                        <a:spcBef>
                          <a:spcPts val="1250"/>
                        </a:spcBef>
                      </a:pPr>
                      <a:r>
                        <a:rPr sz="1500" spc="-10" dirty="0">
                          <a:latin typeface="Times New Roman"/>
                          <a:cs typeface="Times New Roman"/>
                        </a:rPr>
                        <a:t>terminates</a:t>
                      </a: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158750" marB="0">
                    <a:lnR w="12700">
                      <a:solidFill>
                        <a:srgbClr val="4471C4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729">
                <a:tc rowSpan="2"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Alive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2E528F"/>
                      </a:solidFill>
                      <a:prstDash val="solid"/>
                    </a:lnL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2E528F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ts val="1250"/>
                        </a:lnSpc>
                      </a:pPr>
                      <a:r>
                        <a:rPr sz="1800" spc="-10" dirty="0">
                          <a:latin typeface="Courier New"/>
                          <a:cs typeface="Courier New"/>
                        </a:rPr>
                        <a:t>run()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7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0" marB="0">
                    <a:lnL w="12700">
                      <a:solidFill>
                        <a:srgbClr val="2E528F"/>
                      </a:solidFill>
                      <a:prstDash val="solid"/>
                    </a:lnL>
                    <a:lnT w="12700">
                      <a:solidFill>
                        <a:srgbClr val="2E528F"/>
                      </a:solidFill>
                      <a:prstDash val="solid"/>
                    </a:lnT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2E528F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2E528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E528F"/>
                      </a:solidFill>
                      <a:prstDash val="solid"/>
                    </a:lnL>
                    <a:lnT w="12700">
                      <a:solidFill>
                        <a:srgbClr val="4471C4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2282951" cy="7894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3892" y="217944"/>
              <a:ext cx="1600199" cy="7894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3759" y="217931"/>
              <a:ext cx="867155" cy="78943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11523" y="217944"/>
              <a:ext cx="640079" cy="78941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82211" y="217944"/>
              <a:ext cx="1136903" cy="78941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0" dirty="0">
                <a:solidFill>
                  <a:srgbClr val="943735"/>
                </a:solidFill>
              </a:rPr>
              <a:t>Running</a:t>
            </a:r>
            <a:r>
              <a:rPr spc="-50" dirty="0">
                <a:solidFill>
                  <a:srgbClr val="943735"/>
                </a:solidFill>
              </a:rPr>
              <a:t> </a:t>
            </a:r>
            <a:r>
              <a:rPr spc="165" dirty="0">
                <a:solidFill>
                  <a:srgbClr val="943735"/>
                </a:solidFill>
              </a:rPr>
              <a:t>a</a:t>
            </a:r>
            <a:r>
              <a:rPr spc="-45" dirty="0">
                <a:solidFill>
                  <a:srgbClr val="943735"/>
                </a:solidFill>
              </a:rPr>
              <a:t> </a:t>
            </a:r>
            <a:r>
              <a:rPr spc="-60" dirty="0">
                <a:solidFill>
                  <a:srgbClr val="0000FF"/>
                </a:solidFill>
              </a:rPr>
              <a:t>thread</a:t>
            </a:r>
            <a:r>
              <a:rPr spc="-50" dirty="0">
                <a:solidFill>
                  <a:srgbClr val="0000FF"/>
                </a:solidFill>
              </a:rPr>
              <a:t> </a:t>
            </a:r>
            <a:r>
              <a:rPr spc="-155" dirty="0">
                <a:solidFill>
                  <a:srgbClr val="943735"/>
                </a:solidFill>
              </a:rPr>
              <a:t>in</a:t>
            </a:r>
            <a:r>
              <a:rPr spc="-50" dirty="0">
                <a:solidFill>
                  <a:srgbClr val="943735"/>
                </a:solidFill>
              </a:rPr>
              <a:t> </a:t>
            </a:r>
            <a:r>
              <a:rPr spc="-20" dirty="0">
                <a:solidFill>
                  <a:srgbClr val="C00000"/>
                </a:solidFill>
              </a:rPr>
              <a:t>J</a:t>
            </a:r>
            <a:r>
              <a:rPr spc="-20" dirty="0">
                <a:solidFill>
                  <a:srgbClr val="943735"/>
                </a:solidFill>
              </a:rPr>
              <a:t>ava</a:t>
            </a: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2221992" y="1136903"/>
            <a:ext cx="4145279" cy="2854960"/>
            <a:chOff x="2221992" y="1136903"/>
            <a:chExt cx="4145279" cy="2854960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21992" y="1136903"/>
              <a:ext cx="4145279" cy="285445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86000" y="1200911"/>
              <a:ext cx="3962399" cy="2671559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266950" y="1181861"/>
              <a:ext cx="4000500" cy="2710180"/>
            </a:xfrm>
            <a:custGeom>
              <a:avLst/>
              <a:gdLst/>
              <a:ahLst/>
              <a:cxnLst/>
              <a:rect l="l" t="t" r="r" b="b"/>
              <a:pathLst>
                <a:path w="4000500" h="2710179">
                  <a:moveTo>
                    <a:pt x="0" y="0"/>
                  </a:moveTo>
                  <a:lnTo>
                    <a:pt x="4000500" y="0"/>
                  </a:lnTo>
                  <a:lnTo>
                    <a:pt x="4000500" y="2709672"/>
                  </a:lnTo>
                  <a:lnTo>
                    <a:pt x="0" y="2709672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912AA-0042-E24A-44D3-385B371A8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612" y="311150"/>
            <a:ext cx="7067550" cy="430887"/>
          </a:xfrm>
        </p:spPr>
        <p:txBody>
          <a:bodyPr/>
          <a:lstStyle/>
          <a:p>
            <a:r>
              <a:rPr lang="en-US" dirty="0"/>
              <a:t>Life cycle of Java threads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CCBB59-9532-3559-6AF5-FA45D2605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71550"/>
            <a:ext cx="6137413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84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00" y="1118628"/>
            <a:ext cx="7924800" cy="2362200"/>
            <a:chOff x="1219200" y="1118628"/>
            <a:chExt cx="7924800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1118628"/>
              <a:ext cx="2362187" cy="23621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19855" y="1943100"/>
              <a:ext cx="4805171" cy="899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1628" y="1958340"/>
              <a:ext cx="1452371" cy="8991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60140" y="2027174"/>
            <a:ext cx="551624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Creating</a:t>
            </a:r>
            <a:r>
              <a:rPr sz="3200" b="0" spc="-3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Threads</a:t>
            </a:r>
            <a:r>
              <a:rPr sz="3200" b="0" spc="-35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with</a:t>
            </a:r>
            <a:r>
              <a:rPr sz="3200" b="0" spc="-25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Courier New"/>
                <a:cs typeface="Courier New"/>
              </a:rPr>
              <a:t>Threa</a:t>
            </a:r>
            <a:endParaRPr sz="3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3849623" cy="7894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0564" y="217944"/>
              <a:ext cx="640079" cy="7894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1252" y="217944"/>
              <a:ext cx="1136891" cy="78941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Creating</a:t>
            </a:r>
            <a:r>
              <a:rPr spc="-130" dirty="0"/>
              <a:t> </a:t>
            </a:r>
            <a:r>
              <a:rPr spc="-85" dirty="0"/>
              <a:t>threads</a:t>
            </a:r>
            <a:r>
              <a:rPr spc="-100" dirty="0"/>
              <a:t> </a:t>
            </a:r>
            <a:r>
              <a:rPr spc="-145" dirty="0"/>
              <a:t>in</a:t>
            </a:r>
            <a:r>
              <a:rPr spc="-60" dirty="0"/>
              <a:t> </a:t>
            </a:r>
            <a:r>
              <a:rPr spc="-20" dirty="0">
                <a:solidFill>
                  <a:srgbClr val="C00000"/>
                </a:solidFill>
              </a:rPr>
              <a:t>J</a:t>
            </a:r>
            <a:r>
              <a:rPr spc="-20" dirty="0"/>
              <a:t>ava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98548" y="3035807"/>
            <a:ext cx="6216395" cy="1168907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235584" y="3553565"/>
            <a:ext cx="62039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5739" y="3157227"/>
            <a:ext cx="3420110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interface</a:t>
            </a:r>
            <a:r>
              <a:rPr sz="13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Runnable</a:t>
            </a:r>
            <a:endParaRPr sz="1300">
              <a:latin typeface="Courier New"/>
              <a:cs typeface="Courier New"/>
            </a:endParaRPr>
          </a:p>
          <a:p>
            <a:pPr marL="111125">
              <a:lnSpc>
                <a:spcPct val="100000"/>
              </a:lnSpc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701040">
              <a:lnSpc>
                <a:spcPct val="100000"/>
              </a:lnSpc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3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run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r>
              <a:rPr sz="13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//work</a:t>
            </a:r>
            <a:r>
              <a:rPr sz="1300" spc="-10" dirty="0">
                <a:solidFill>
                  <a:srgbClr val="008000"/>
                </a:solidFill>
                <a:latin typeface="Cambria Math"/>
                <a:cs typeface="Cambria Math"/>
              </a:rPr>
              <a:t>⇒</a:t>
            </a:r>
            <a:endParaRPr sz="1300">
              <a:latin typeface="Cambria Math"/>
              <a:cs typeface="Cambria Math"/>
            </a:endParaRPr>
          </a:p>
          <a:p>
            <a:pPr marL="111125">
              <a:lnSpc>
                <a:spcPct val="100000"/>
              </a:lnSpc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8548" y="1895855"/>
            <a:ext cx="4718303" cy="771143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5940" y="957326"/>
            <a:ext cx="5977890" cy="1843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ways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create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thread:</a:t>
            </a:r>
            <a:endParaRPr sz="2400">
              <a:latin typeface="Times New Roman"/>
              <a:cs typeface="Times New Roman"/>
            </a:endParaRPr>
          </a:p>
          <a:p>
            <a:pPr marL="547370" indent="-193675">
              <a:lnSpc>
                <a:spcPct val="100000"/>
              </a:lnSpc>
              <a:spcBef>
                <a:spcPts val="1795"/>
              </a:spcBef>
              <a:buSzPct val="94736"/>
              <a:buFont typeface="Wingdings"/>
              <a:buChar char=""/>
              <a:tabLst>
                <a:tab pos="547370" algn="l"/>
              </a:tabLst>
            </a:pPr>
            <a:r>
              <a:rPr sz="1900" dirty="0">
                <a:latin typeface="Times New Roman"/>
                <a:cs typeface="Times New Roman"/>
              </a:rPr>
              <a:t>Thread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class</a:t>
            </a:r>
            <a:endParaRPr sz="1900">
              <a:latin typeface="Times New Roman"/>
              <a:cs typeface="Times New Roman"/>
            </a:endParaRPr>
          </a:p>
          <a:p>
            <a:pPr marL="2222500">
              <a:lnSpc>
                <a:spcPct val="100000"/>
              </a:lnSpc>
              <a:spcBef>
                <a:spcPts val="1360"/>
              </a:spcBef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3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spc="-3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3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Object</a:t>
            </a:r>
            <a:r>
              <a:rPr sz="1300" spc="-3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13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spc="-50" dirty="0">
                <a:latin typeface="Courier New"/>
                <a:cs typeface="Courier New"/>
              </a:rPr>
              <a:t>…</a:t>
            </a:r>
            <a:endParaRPr sz="1300">
              <a:latin typeface="Courier New"/>
              <a:cs typeface="Courier New"/>
            </a:endParaRPr>
          </a:p>
          <a:p>
            <a:pPr marL="2221865">
              <a:lnSpc>
                <a:spcPct val="100000"/>
              </a:lnSpc>
              <a:spcBef>
                <a:spcPts val="20"/>
              </a:spcBef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547370" indent="-193675">
              <a:lnSpc>
                <a:spcPct val="100000"/>
              </a:lnSpc>
              <a:spcBef>
                <a:spcPts val="575"/>
              </a:spcBef>
              <a:buSzPct val="94736"/>
              <a:buFont typeface="Wingdings"/>
              <a:buChar char=""/>
              <a:tabLst>
                <a:tab pos="547370" algn="l"/>
              </a:tabLst>
            </a:pPr>
            <a:r>
              <a:rPr sz="1900" dirty="0">
                <a:latin typeface="Times New Roman"/>
                <a:cs typeface="Times New Roman"/>
              </a:rPr>
              <a:t>Runnable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interface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2" y="217931"/>
              <a:ext cx="2604515" cy="7894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 </a:t>
            </a:r>
            <a:r>
              <a:rPr spc="-20" dirty="0"/>
              <a:t>class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1747" y="1254252"/>
            <a:ext cx="7080503" cy="216255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678939" y="1379491"/>
            <a:ext cx="553910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3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3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Object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13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Runnable</a:t>
            </a:r>
            <a:r>
              <a:rPr sz="1300" spc="-30" dirty="0"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07034">
              <a:lnSpc>
                <a:spcPct val="100000"/>
              </a:lnSpc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Thread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300">
              <a:latin typeface="Courier New"/>
              <a:cs typeface="Courier New"/>
            </a:endParaRPr>
          </a:p>
          <a:p>
            <a:pPr marL="407034" marR="694690">
              <a:lnSpc>
                <a:spcPct val="100000"/>
              </a:lnSpc>
              <a:tabLst>
                <a:tab pos="3260725" algn="l"/>
              </a:tabLst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spc="-4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latin typeface="Courier New"/>
                <a:cs typeface="Courier New"/>
              </a:rPr>
              <a:t>String</a:t>
            </a:r>
            <a:r>
              <a:rPr sz="1300" spc="-3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name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r>
              <a:rPr sz="13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//Thread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 name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spc="-4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latin typeface="Courier New"/>
                <a:cs typeface="Courier New"/>
              </a:rPr>
              <a:t>Runnable</a:t>
            </a:r>
            <a:r>
              <a:rPr sz="1300" spc="-30" dirty="0"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R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//Thread</a:t>
            </a:r>
            <a:r>
              <a:rPr sz="1300" spc="-4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R.run()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4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spc="-3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latin typeface="Courier New"/>
                <a:cs typeface="Courier New"/>
              </a:rPr>
              <a:t>Runnable</a:t>
            </a:r>
            <a:r>
              <a:rPr sz="1300" spc="-2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R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r>
              <a:rPr sz="13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String</a:t>
            </a:r>
            <a:r>
              <a:rPr sz="1300" spc="-25" dirty="0"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name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60236" y="2370335"/>
            <a:ext cx="25863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//if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no</a:t>
            </a:r>
            <a:r>
              <a:rPr sz="13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R,</a:t>
            </a:r>
            <a:r>
              <a:rPr sz="13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work</a:t>
            </a:r>
            <a:r>
              <a:rPr sz="13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3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39004" y="2568504"/>
            <a:ext cx="23895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//begin</a:t>
            </a:r>
            <a:r>
              <a:rPr sz="13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r>
              <a:rPr sz="13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execution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73302" y="2370335"/>
            <a:ext cx="1994535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3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run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3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start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...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8775" y="2964841"/>
            <a:ext cx="12446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32"/>
              <a:ext cx="1607819" cy="7894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08760" y="217931"/>
              <a:ext cx="4055363" cy="78943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More</a:t>
            </a:r>
            <a:r>
              <a:rPr spc="-190" dirty="0"/>
              <a:t> </a:t>
            </a:r>
            <a:r>
              <a:rPr spc="-100" dirty="0"/>
              <a:t>Thread</a:t>
            </a:r>
            <a:r>
              <a:rPr spc="-105" dirty="0"/>
              <a:t> </a:t>
            </a:r>
            <a:r>
              <a:rPr dirty="0"/>
              <a:t>class</a:t>
            </a:r>
            <a:r>
              <a:rPr spc="-140" dirty="0"/>
              <a:t> </a:t>
            </a:r>
            <a:r>
              <a:rPr spc="-35" dirty="0"/>
              <a:t>methods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6200" y="318515"/>
            <a:ext cx="8036559" cy="4005579"/>
            <a:chOff x="76200" y="318515"/>
            <a:chExt cx="8036559" cy="4005579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1747" y="949452"/>
              <a:ext cx="7080503" cy="337413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678939" y="1077448"/>
            <a:ext cx="4711700" cy="299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5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Thread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Object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500">
              <a:latin typeface="Courier New"/>
              <a:cs typeface="Courier New"/>
            </a:endParaRPr>
          </a:p>
          <a:p>
            <a:pPr marL="927100">
              <a:lnSpc>
                <a:spcPct val="100000"/>
              </a:lnSpc>
            </a:pPr>
            <a:r>
              <a:rPr sz="1500" spc="-50" dirty="0">
                <a:latin typeface="Courier New"/>
                <a:cs typeface="Courier New"/>
              </a:rPr>
              <a:t>…</a:t>
            </a:r>
            <a:endParaRPr sz="1500">
              <a:latin typeface="Courier New"/>
              <a:cs typeface="Courier New"/>
            </a:endParaRPr>
          </a:p>
          <a:p>
            <a:pPr marL="469900" marR="5080">
              <a:lnSpc>
                <a:spcPct val="100000"/>
              </a:lnSpc>
            </a:pP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5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Thread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currentThread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String</a:t>
            </a:r>
            <a:r>
              <a:rPr sz="1500" spc="-30" dirty="0"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getName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500">
              <a:latin typeface="Courier New"/>
              <a:cs typeface="Courier New"/>
            </a:endParaRPr>
          </a:p>
          <a:p>
            <a:pPr marL="469900" marR="1376680">
              <a:lnSpc>
                <a:spcPct val="100000"/>
              </a:lnSpc>
            </a:pP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interrupt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boolean</a:t>
            </a:r>
            <a:r>
              <a:rPr sz="15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isAlive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join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setDaemon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setName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500">
              <a:latin typeface="Courier New"/>
              <a:cs typeface="Courier New"/>
            </a:endParaRPr>
          </a:p>
          <a:p>
            <a:pPr marL="469900" marR="1148080">
              <a:lnSpc>
                <a:spcPct val="100000"/>
              </a:lnSpc>
            </a:pP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setPriority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sleep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yield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62643"/>
            <a:ext cx="5302250" cy="97409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275"/>
              </a:spcBef>
              <a:buFont typeface="Times New Roman"/>
              <a:buAutoNum type="arabicPeriod"/>
              <a:tabLst>
                <a:tab pos="413384" algn="l"/>
              </a:tabLst>
            </a:pPr>
            <a:r>
              <a:rPr sz="2200" dirty="0">
                <a:latin typeface="Times New Roman"/>
                <a:cs typeface="Times New Roman"/>
              </a:rPr>
              <a:t>Thread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class</a:t>
            </a:r>
            <a:endParaRPr sz="2200">
              <a:latin typeface="Times New Roman"/>
              <a:cs typeface="Times New Roman"/>
            </a:endParaRPr>
          </a:p>
          <a:p>
            <a:pPr marL="355600" marR="5080" lvl="1" indent="342265">
              <a:lnSpc>
                <a:spcPts val="2340"/>
              </a:lnSpc>
              <a:spcBef>
                <a:spcPts val="70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Extend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Thread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override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run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method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Example: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2" y="217931"/>
              <a:ext cx="3692651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3591" y="217944"/>
              <a:ext cx="640079" cy="7894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4279" y="217932"/>
              <a:ext cx="2887979" cy="78943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Creating</a:t>
            </a:r>
            <a:r>
              <a:rPr spc="-35" dirty="0"/>
              <a:t> </a:t>
            </a:r>
            <a:r>
              <a:rPr spc="-60" dirty="0"/>
              <a:t>thread</a:t>
            </a:r>
            <a:r>
              <a:rPr spc="-40" dirty="0"/>
              <a:t> </a:t>
            </a:r>
            <a:r>
              <a:rPr spc="-145" dirty="0"/>
              <a:t>in</a:t>
            </a:r>
            <a:r>
              <a:rPr spc="-30" dirty="0"/>
              <a:t> </a:t>
            </a:r>
            <a:r>
              <a:rPr dirty="0">
                <a:solidFill>
                  <a:srgbClr val="C00000"/>
                </a:solidFill>
              </a:rPr>
              <a:t>J</a:t>
            </a:r>
            <a:r>
              <a:rPr dirty="0"/>
              <a:t>ava</a:t>
            </a:r>
            <a:r>
              <a:rPr spc="-30" dirty="0"/>
              <a:t> </a:t>
            </a:r>
            <a:r>
              <a:rPr spc="-35" dirty="0"/>
              <a:t>programs</a:t>
            </a: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1560" y="2276856"/>
            <a:ext cx="7766303" cy="183337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98818" y="2400795"/>
            <a:ext cx="39681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MyT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Thread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run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932815">
              <a:lnSpc>
                <a:spcPct val="100000"/>
              </a:lnSpc>
              <a:tabLst>
                <a:tab pos="2298065" algn="l"/>
              </a:tabLst>
            </a:pPr>
            <a:r>
              <a:rPr sz="1200" spc="-50" dirty="0">
                <a:latin typeface="Courier New"/>
                <a:cs typeface="Courier New"/>
              </a:rPr>
              <a:t>…</a:t>
            </a:r>
            <a:r>
              <a:rPr sz="1200" dirty="0">
                <a:latin typeface="Courier New"/>
                <a:cs typeface="Courier New"/>
              </a:rPr>
              <a:t>	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work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98818" y="3315195"/>
            <a:ext cx="1866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MyT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MyT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latin typeface="Courier New"/>
                <a:cs typeface="Courier New"/>
              </a:rPr>
              <a:t>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spc="-10" dirty="0">
                <a:latin typeface="Courier New"/>
                <a:cs typeface="Courier New"/>
              </a:rPr>
              <a:t>start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Courier New"/>
                <a:cs typeface="Courier New"/>
              </a:rPr>
              <a:t>…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984818" y="3315195"/>
            <a:ext cx="2878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create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begin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running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executing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in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parallel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4348" y="762000"/>
            <a:ext cx="6359651" cy="35661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431540" y="898722"/>
            <a:ext cx="21590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0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ThreadC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0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Thread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9852" y="1508414"/>
            <a:ext cx="16262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C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k</a:t>
            </a:r>
            <a:r>
              <a:rPr sz="1000" spc="-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000" b="1" spc="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000" spc="-10" dirty="0">
                <a:latin typeface="Courier New"/>
                <a:cs typeface="Courier New"/>
              </a:rPr>
              <a:t>k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783198" y="1813260"/>
            <a:ext cx="10153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read</a:t>
            </a:r>
            <a:r>
              <a:rPr sz="10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C</a:t>
            </a:r>
            <a:r>
              <a:rPr sz="10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82945" y="3642334"/>
            <a:ext cx="469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ing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55" dirty="0">
                <a:solidFill>
                  <a:srgbClr val="808080"/>
                </a:solidFill>
                <a:latin typeface="Courier New"/>
                <a:cs typeface="Courier New"/>
              </a:rPr>
              <a:t>i</a:t>
            </a:r>
            <a:r>
              <a:rPr sz="1000" spc="-650" dirty="0">
                <a:solidFill>
                  <a:srgbClr val="808080"/>
                </a:solidFill>
                <a:latin typeface="Courier New"/>
                <a:cs typeface="Courier New"/>
              </a:rPr>
              <a:t>s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28682" y="3676219"/>
            <a:ext cx="609600" cy="143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30"/>
              </a:lnSpc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over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"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9" name="object 9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331" y="217944"/>
              <a:ext cx="5611367" cy="78941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Creating</a:t>
            </a:r>
            <a:r>
              <a:rPr spc="-105" dirty="0"/>
              <a:t> </a:t>
            </a:r>
            <a:r>
              <a:rPr spc="-60" dirty="0"/>
              <a:t>thread</a:t>
            </a:r>
            <a:r>
              <a:rPr spc="-75" dirty="0"/>
              <a:t> </a:t>
            </a:r>
            <a:r>
              <a:rPr spc="-235" dirty="0"/>
              <a:t>:</a:t>
            </a:r>
            <a:r>
              <a:rPr spc="-20" dirty="0"/>
              <a:t> </a:t>
            </a:r>
            <a:r>
              <a:rPr dirty="0"/>
              <a:t>An</a:t>
            </a:r>
            <a:r>
              <a:rPr spc="-6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0" y="318515"/>
            <a:ext cx="2836545" cy="1993900"/>
            <a:chOff x="0" y="318515"/>
            <a:chExt cx="2836545" cy="199390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762000"/>
              <a:ext cx="2836163" cy="154990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71667" y="895145"/>
            <a:ext cx="1092200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ThreadA</a:t>
            </a:r>
            <a:r>
              <a:rPr sz="500" spc="-3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4111" y="1070904"/>
            <a:ext cx="6612890" cy="30537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0">
              <a:lnSpc>
                <a:spcPts val="570"/>
              </a:lnSpc>
              <a:tabLst>
                <a:tab pos="3259454" algn="l"/>
              </a:tabLst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run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500" b="1" spc="-75" baseline="-27777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500" baseline="-27777" dirty="0">
              <a:latin typeface="Courier New"/>
              <a:cs typeface="Courier New"/>
            </a:endParaRPr>
          </a:p>
          <a:p>
            <a:pPr marL="304800">
              <a:lnSpc>
                <a:spcPts val="300"/>
              </a:lnSpc>
            </a:pP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i</a:t>
            </a:r>
            <a:r>
              <a:rPr sz="500" spc="-1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i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i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 dirty="0">
              <a:latin typeface="Courier New"/>
              <a:cs typeface="Courier New"/>
            </a:endParaRPr>
          </a:p>
          <a:p>
            <a:pPr marL="419100">
              <a:lnSpc>
                <a:spcPts val="900"/>
              </a:lnSpc>
              <a:tabLst>
                <a:tab pos="3640454" algn="l"/>
              </a:tabLst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"From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A</a:t>
            </a:r>
            <a:r>
              <a:rPr sz="5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i</a:t>
            </a:r>
            <a:r>
              <a:rPr sz="5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b="1" spc="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500" spc="-2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500" spc="-20" dirty="0">
                <a:latin typeface="Courier New"/>
                <a:cs typeface="Courier New"/>
              </a:rPr>
              <a:t>i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500" baseline="-27777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52" baseline="-27777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baseline="-27777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30" baseline="-27777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baseline="-27777" dirty="0">
                <a:latin typeface="Courier New"/>
                <a:cs typeface="Courier New"/>
              </a:rPr>
              <a:t>run</a:t>
            </a:r>
            <a:r>
              <a:rPr sz="1500" b="1" baseline="-27777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500" b="1" spc="-37" baseline="-27777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="1" baseline="-27777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500" b="1" spc="-30" baseline="-27777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="1" spc="-75" baseline="-27777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500" baseline="-27777" dirty="0">
              <a:latin typeface="Courier New"/>
              <a:cs typeface="Courier New"/>
            </a:endParaRPr>
          </a:p>
          <a:p>
            <a:pPr marL="304165">
              <a:lnSpc>
                <a:spcPts val="3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 dirty="0">
              <a:latin typeface="Courier New"/>
              <a:cs typeface="Courier New"/>
            </a:endParaRPr>
          </a:p>
          <a:p>
            <a:pPr marL="266065">
              <a:lnSpc>
                <a:spcPts val="900"/>
              </a:lnSpc>
              <a:tabLst>
                <a:tab pos="3945254" algn="l"/>
              </a:tabLst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A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500" b="1" baseline="-27777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500" b="1" baseline="-27777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500" baseline="-27777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500" spc="-22" baseline="-27777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baseline="-27777" dirty="0">
                <a:latin typeface="Courier New"/>
                <a:cs typeface="Courier New"/>
              </a:rPr>
              <a:t>k</a:t>
            </a:r>
            <a:r>
              <a:rPr sz="1500" spc="-22" baseline="-27777" dirty="0">
                <a:latin typeface="Courier New"/>
                <a:cs typeface="Courier New"/>
              </a:rPr>
              <a:t> </a:t>
            </a:r>
            <a:r>
              <a:rPr sz="1500" b="1" baseline="-27777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500" b="1" spc="-22" baseline="-27777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aseline="-27777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500" b="1" baseline="-27777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500" b="1" spc="-22" baseline="-27777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aseline="-27777" dirty="0">
                <a:latin typeface="Courier New"/>
                <a:cs typeface="Courier New"/>
              </a:rPr>
              <a:t>k</a:t>
            </a:r>
            <a:r>
              <a:rPr sz="1500" spc="-22" baseline="-27777" dirty="0">
                <a:latin typeface="Courier New"/>
                <a:cs typeface="Courier New"/>
              </a:rPr>
              <a:t> </a:t>
            </a:r>
            <a:r>
              <a:rPr sz="1500" b="1" baseline="-27777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1500" b="1" spc="-22" baseline="-27777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aseline="-27777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1500" b="1" baseline="-27777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500" b="1" spc="-22" baseline="-27777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aseline="-27777" dirty="0">
                <a:latin typeface="Courier New"/>
                <a:cs typeface="Courier New"/>
              </a:rPr>
              <a:t>k</a:t>
            </a:r>
            <a:r>
              <a:rPr sz="1500" b="1" baseline="-27777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1500" b="1" spc="-22" baseline="-27777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="1" spc="-75" baseline="-27777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500" baseline="-27777" dirty="0">
              <a:latin typeface="Courier New"/>
              <a:cs typeface="Courier New"/>
            </a:endParaRPr>
          </a:p>
          <a:p>
            <a:pPr marL="189865">
              <a:lnSpc>
                <a:spcPts val="55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 dirty="0">
              <a:latin typeface="Courier New"/>
              <a:cs typeface="Courier New"/>
            </a:endParaRPr>
          </a:p>
          <a:p>
            <a:pPr>
              <a:lnSpc>
                <a:spcPts val="890"/>
              </a:lnSpc>
              <a:spcBef>
                <a:spcPts val="20"/>
              </a:spcBef>
              <a:tabLst>
                <a:tab pos="4250055" algn="l"/>
              </a:tabLst>
            </a:pPr>
            <a:r>
              <a:rPr sz="750" b="1" spc="-75" baseline="55555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r>
              <a:rPr sz="750" b="1" baseline="55555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dirty="0">
                <a:latin typeface="Courier New"/>
                <a:cs typeface="Courier New"/>
              </a:rPr>
              <a:t>System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out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println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"From</a:t>
            </a:r>
            <a:r>
              <a:rPr sz="1000" spc="-1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ts val="4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ThreadB</a:t>
            </a:r>
            <a:r>
              <a:rPr sz="500" spc="-3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endParaRPr sz="500" dirty="0">
              <a:latin typeface="Courier New"/>
              <a:cs typeface="Courier New"/>
            </a:endParaRPr>
          </a:p>
          <a:p>
            <a:pPr>
              <a:lnSpc>
                <a:spcPts val="900"/>
              </a:lnSpc>
              <a:tabLst>
                <a:tab pos="3945254" algn="l"/>
              </a:tabLst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500" b="1" spc="-75" baseline="-27777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500" baseline="-27777" dirty="0">
              <a:latin typeface="Courier New"/>
              <a:cs typeface="Courier New"/>
            </a:endParaRPr>
          </a:p>
          <a:p>
            <a:pPr marL="189865">
              <a:lnSpc>
                <a:spcPts val="55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run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 dirty="0">
              <a:latin typeface="Courier New"/>
              <a:cs typeface="Courier New"/>
            </a:endParaRPr>
          </a:p>
          <a:p>
            <a:pPr marL="342265">
              <a:lnSpc>
                <a:spcPts val="890"/>
              </a:lnSpc>
              <a:spcBef>
                <a:spcPts val="25"/>
              </a:spcBef>
              <a:tabLst>
                <a:tab pos="3945254" algn="l"/>
              </a:tabLst>
            </a:pPr>
            <a:r>
              <a:rPr sz="750" b="1" baseline="55555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750" b="1" baseline="5555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750" baseline="55555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750" spc="-22" baseline="5555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750" baseline="55555" dirty="0">
                <a:latin typeface="Courier New"/>
                <a:cs typeface="Courier New"/>
              </a:rPr>
              <a:t>j</a:t>
            </a:r>
            <a:r>
              <a:rPr sz="750" spc="-15" baseline="55555" dirty="0">
                <a:latin typeface="Courier New"/>
                <a:cs typeface="Courier New"/>
              </a:rPr>
              <a:t> </a:t>
            </a:r>
            <a:r>
              <a:rPr sz="750" b="1" baseline="55555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750" b="1" spc="-22" baseline="5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aseline="5555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750" b="1" baseline="5555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750" b="1" spc="-15" baseline="5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aseline="55555" dirty="0">
                <a:latin typeface="Courier New"/>
                <a:cs typeface="Courier New"/>
              </a:rPr>
              <a:t>j</a:t>
            </a:r>
            <a:r>
              <a:rPr sz="750" spc="-22" baseline="55555" dirty="0">
                <a:latin typeface="Courier New"/>
                <a:cs typeface="Courier New"/>
              </a:rPr>
              <a:t> </a:t>
            </a:r>
            <a:r>
              <a:rPr sz="750" b="1" baseline="55555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750" b="1" spc="-15" baseline="5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aseline="55555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750" b="1" baseline="5555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750" b="1" spc="-22" baseline="5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aseline="55555" dirty="0">
                <a:latin typeface="Courier New"/>
                <a:cs typeface="Courier New"/>
              </a:rPr>
              <a:t>j</a:t>
            </a:r>
            <a:r>
              <a:rPr sz="750" b="1" baseline="55555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750" b="1" spc="-15" baseline="5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="1" spc="-75" baseline="5555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750" b="1" baseline="55555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System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out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println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1000" spc="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000" spc="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Th</a:t>
            </a:r>
            <a:endParaRPr sz="1000" dirty="0">
              <a:latin typeface="Courier New"/>
              <a:cs typeface="Courier New"/>
            </a:endParaRPr>
          </a:p>
          <a:p>
            <a:pPr marL="494665">
              <a:lnSpc>
                <a:spcPts val="4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"From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B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j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500" b="1" spc="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spc="-25" dirty="0">
                <a:latin typeface="Courier New"/>
                <a:cs typeface="Courier New"/>
              </a:rPr>
              <a:t>j</a:t>
            </a:r>
            <a:r>
              <a:rPr sz="5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 dirty="0">
              <a:latin typeface="Courier New"/>
              <a:cs typeface="Courier New"/>
            </a:endParaRPr>
          </a:p>
          <a:p>
            <a:pPr marL="342265">
              <a:lnSpc>
                <a:spcPts val="900"/>
              </a:lnSpc>
              <a:tabLst>
                <a:tab pos="3640454" algn="l"/>
              </a:tabLst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500" b="1" spc="-75" baseline="-27777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500" baseline="-27777" dirty="0">
              <a:latin typeface="Courier New"/>
              <a:cs typeface="Courier New"/>
            </a:endParaRPr>
          </a:p>
          <a:p>
            <a:pPr marL="304165">
              <a:lnSpc>
                <a:spcPts val="550"/>
              </a:lnSpc>
              <a:tabLst>
                <a:tab pos="2323465" algn="l"/>
              </a:tabLst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B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 dirty="0">
              <a:latin typeface="Courier New"/>
              <a:cs typeface="Courier New"/>
            </a:endParaRPr>
          </a:p>
          <a:p>
            <a:pPr marL="3259454">
              <a:lnSpc>
                <a:spcPct val="100000"/>
              </a:lnSpc>
              <a:spcBef>
                <a:spcPts val="25"/>
              </a:spcBef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 dirty="0">
              <a:latin typeface="Courier New"/>
              <a:cs typeface="Courier New"/>
            </a:endParaRPr>
          </a:p>
          <a:p>
            <a:pPr marL="3259454">
              <a:lnSpc>
                <a:spcPct val="100000"/>
              </a:lnSpc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0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MultiThreadClass</a:t>
            </a:r>
            <a:endParaRPr sz="1000" dirty="0">
              <a:latin typeface="Courier New"/>
              <a:cs typeface="Courier New"/>
            </a:endParaRPr>
          </a:p>
          <a:p>
            <a:pPr marL="3259454">
              <a:lnSpc>
                <a:spcPct val="100000"/>
              </a:lnSpc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 dirty="0">
              <a:latin typeface="Courier New"/>
              <a:cs typeface="Courier New"/>
            </a:endParaRPr>
          </a:p>
          <a:p>
            <a:pPr marL="3564254">
              <a:lnSpc>
                <a:spcPct val="100000"/>
              </a:lnSpc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000" spc="-4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0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0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main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args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[])</a:t>
            </a:r>
            <a:r>
              <a:rPr sz="10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 dirty="0">
              <a:latin typeface="Courier New"/>
              <a:cs typeface="Courier New"/>
            </a:endParaRPr>
          </a:p>
          <a:p>
            <a:pPr marL="3945254" marR="678180" algn="just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ThreadA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ThreadA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000" dirty="0">
                <a:latin typeface="Courier New"/>
                <a:cs typeface="Courier New"/>
              </a:rPr>
              <a:t>ThreadB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ThreadB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000" dirty="0">
                <a:latin typeface="Courier New"/>
                <a:cs typeface="Courier New"/>
              </a:rPr>
              <a:t>ThreadC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ThreadC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000" spc="-10" dirty="0">
                <a:latin typeface="Courier New"/>
                <a:cs typeface="Courier New"/>
              </a:rPr>
              <a:t>a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start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000" dirty="0">
              <a:latin typeface="Courier New"/>
              <a:cs typeface="Courier New"/>
            </a:endParaRPr>
          </a:p>
          <a:p>
            <a:pPr marL="3945254"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b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start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000" dirty="0">
              <a:latin typeface="Courier New"/>
              <a:cs typeface="Courier New"/>
            </a:endParaRPr>
          </a:p>
          <a:p>
            <a:pPr marL="3945254"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c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start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000" dirty="0">
              <a:latin typeface="Courier New"/>
              <a:cs typeface="Courier New"/>
            </a:endParaRPr>
          </a:p>
          <a:p>
            <a:pPr marL="3945254">
              <a:lnSpc>
                <a:spcPts val="1190"/>
              </a:lnSpc>
            </a:pPr>
            <a:r>
              <a:rPr sz="1000" dirty="0">
                <a:latin typeface="Courier New"/>
                <a:cs typeface="Courier New"/>
              </a:rPr>
              <a:t>System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out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println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"...</a:t>
            </a:r>
            <a:r>
              <a:rPr sz="1000" spc="-1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Multithread</a:t>
            </a:r>
            <a:endParaRPr sz="1000" dirty="0">
              <a:latin typeface="Courier New"/>
              <a:cs typeface="Courier New"/>
            </a:endParaRPr>
          </a:p>
          <a:p>
            <a:pPr marL="3564254">
              <a:lnSpc>
                <a:spcPts val="1190"/>
              </a:lnSpc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 dirty="0">
              <a:latin typeface="Courier New"/>
              <a:cs typeface="Courier New"/>
            </a:endParaRPr>
          </a:p>
          <a:p>
            <a:pPr marL="3259454">
              <a:lnSpc>
                <a:spcPct val="100000"/>
              </a:lnSpc>
              <a:spcBef>
                <a:spcPts val="25"/>
              </a:spcBef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 dirty="0">
              <a:latin typeface="Courier New"/>
              <a:cs typeface="Courier New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24371" y="2281427"/>
            <a:ext cx="3119627" cy="208787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670650" y="2416815"/>
            <a:ext cx="2235835" cy="124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ThreadC</a:t>
            </a:r>
            <a:r>
              <a:rPr sz="500" spc="-3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2032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run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355600">
              <a:lnSpc>
                <a:spcPts val="595"/>
              </a:lnSpc>
            </a:pP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k</a:t>
            </a:r>
            <a:r>
              <a:rPr sz="500" spc="-1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k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k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08000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"From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C</a:t>
            </a:r>
            <a:r>
              <a:rPr sz="5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5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k</a:t>
            </a:r>
            <a:r>
              <a:rPr sz="5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5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5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spc="-25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500" spc="-2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54965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507365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500" spc="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50" dirty="0">
                <a:solidFill>
                  <a:srgbClr val="808080"/>
                </a:solidFill>
                <a:latin typeface="Courier New"/>
                <a:cs typeface="Courier New"/>
              </a:rPr>
              <a:t>C</a:t>
            </a:r>
            <a:endParaRPr sz="500">
              <a:latin typeface="Courier New"/>
              <a:cs typeface="Courier New"/>
            </a:endParaRPr>
          </a:p>
          <a:p>
            <a:pPr marR="1986280" algn="r">
              <a:lnSpc>
                <a:spcPct val="100000"/>
              </a:lnSpc>
              <a:spcBef>
                <a:spcPts val="10"/>
              </a:spcBef>
            </a:pP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R="1985645" algn="r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MultiThreadClass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main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latin typeface="Courier New"/>
                <a:cs typeface="Courier New"/>
              </a:rPr>
              <a:t>String</a:t>
            </a:r>
            <a:r>
              <a:rPr sz="500" spc="-3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args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[])</a:t>
            </a:r>
            <a:r>
              <a:rPr sz="5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354965" marR="881380">
              <a:lnSpc>
                <a:spcPct val="100000"/>
              </a:lnSpc>
            </a:pPr>
            <a:r>
              <a:rPr sz="500" dirty="0">
                <a:latin typeface="Courier New"/>
                <a:cs typeface="Courier New"/>
              </a:rPr>
              <a:t>ThreadA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a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ThreadA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500" dirty="0">
                <a:latin typeface="Courier New"/>
                <a:cs typeface="Courier New"/>
              </a:rPr>
              <a:t>ThreadB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b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ThreadB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013477" y="3635655"/>
            <a:ext cx="10160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latin typeface="Courier New"/>
                <a:cs typeface="Courier New"/>
              </a:rPr>
              <a:t>ThreadC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c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ThreadC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13413" y="3711824"/>
            <a:ext cx="406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Courier New"/>
                <a:cs typeface="Courier New"/>
              </a:rPr>
              <a:t>a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start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013413" y="3787994"/>
            <a:ext cx="406400" cy="102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Courier New"/>
                <a:cs typeface="Courier New"/>
              </a:rPr>
              <a:t>b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start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13413" y="3864164"/>
            <a:ext cx="1930400" cy="178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spc="-10" dirty="0">
                <a:latin typeface="Courier New"/>
                <a:cs typeface="Courier New"/>
              </a:rPr>
              <a:t>c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start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"...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 Multithreading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is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over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5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70523" y="4015030"/>
            <a:ext cx="216535" cy="1803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039367"/>
            <a:ext cx="6816851" cy="3121151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535940" y="1170442"/>
            <a:ext cx="5826125" cy="2768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1170" marR="3136265" indent="-45910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ThreadA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2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Thread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{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1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run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 dirty="0">
              <a:latin typeface="Courier New"/>
              <a:cs typeface="Courier New"/>
            </a:endParaRPr>
          </a:p>
          <a:p>
            <a:pPr marL="748665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200" spc="-1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 dirty="0">
              <a:latin typeface="Courier New"/>
              <a:cs typeface="Courier New"/>
            </a:endParaRPr>
          </a:p>
          <a:p>
            <a:pPr marL="1024255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"From</a:t>
            </a:r>
            <a:r>
              <a:rPr sz="12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2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A</a:t>
            </a:r>
            <a:r>
              <a:rPr sz="12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12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i</a:t>
            </a:r>
            <a:r>
              <a:rPr sz="12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12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C000"/>
                </a:solidFill>
                <a:latin typeface="Courier New"/>
                <a:cs typeface="Courier New"/>
              </a:rPr>
              <a:t>-</a:t>
            </a: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200" spc="-10" dirty="0">
                <a:latin typeface="Courier New"/>
                <a:cs typeface="Courier New"/>
              </a:rPr>
              <a:t>i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 dirty="0">
              <a:latin typeface="Courier New"/>
              <a:cs typeface="Courier New"/>
            </a:endParaRPr>
          </a:p>
          <a:p>
            <a:pPr marL="748665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 dirty="0">
              <a:latin typeface="Courier New"/>
              <a:cs typeface="Courier New"/>
            </a:endParaRPr>
          </a:p>
          <a:p>
            <a:pPr marL="748665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12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2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2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A</a:t>
            </a:r>
            <a:r>
              <a:rPr sz="1200" spc="-6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 dirty="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5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ThreadB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2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Thread</a:t>
            </a:r>
            <a:r>
              <a:rPr sz="1200" spc="-385" dirty="0"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 dirty="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run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2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 dirty="0">
              <a:latin typeface="Courier New"/>
              <a:cs typeface="Courier New"/>
            </a:endParaRPr>
          </a:p>
          <a:p>
            <a:pPr marL="65532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2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j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j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j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12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 dirty="0">
              <a:latin typeface="Courier New"/>
              <a:cs typeface="Courier New"/>
            </a:endParaRPr>
          </a:p>
          <a:p>
            <a:pPr marL="840105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"From</a:t>
            </a:r>
            <a:r>
              <a:rPr sz="12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2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B</a:t>
            </a:r>
            <a:r>
              <a:rPr sz="12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12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j=</a:t>
            </a:r>
            <a:r>
              <a:rPr sz="12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20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2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j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 dirty="0">
              <a:latin typeface="Courier New"/>
              <a:cs typeface="Courier New"/>
            </a:endParaRPr>
          </a:p>
          <a:p>
            <a:pPr marL="655320">
              <a:lnSpc>
                <a:spcPts val="143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 dirty="0">
              <a:latin typeface="Courier New"/>
              <a:cs typeface="Courier New"/>
            </a:endParaRPr>
          </a:p>
          <a:p>
            <a:pPr marL="655320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12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200" spc="-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200" spc="-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B</a:t>
            </a:r>
            <a:r>
              <a:rPr sz="1200" spc="-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4884" y="1149095"/>
            <a:ext cx="8929370" cy="2362200"/>
            <a:chOff x="214884" y="1149095"/>
            <a:chExt cx="8929370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884" y="1149095"/>
              <a:ext cx="2362199" cy="23621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14016" y="1943100"/>
              <a:ext cx="4805171" cy="899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85787" y="1958340"/>
              <a:ext cx="2458211" cy="89915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53682" y="2027172"/>
            <a:ext cx="62471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Creating</a:t>
            </a:r>
            <a:r>
              <a:rPr sz="3200" b="0" spc="-3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Threads</a:t>
            </a:r>
            <a:r>
              <a:rPr sz="3200" b="0" spc="-35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with</a:t>
            </a:r>
            <a:r>
              <a:rPr sz="3200" b="0" spc="-25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Courier New"/>
                <a:cs typeface="Courier New"/>
              </a:rPr>
              <a:t>Runnable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29013"/>
            <a:ext cx="5045710" cy="12858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335"/>
              </a:spcBef>
              <a:buFont typeface="Times New Roman"/>
              <a:buAutoNum type="arabicPeriod" startAt="2"/>
              <a:tabLst>
                <a:tab pos="413384" algn="l"/>
              </a:tabLst>
            </a:pPr>
            <a:r>
              <a:rPr sz="2200" dirty="0">
                <a:latin typeface="Times New Roman"/>
                <a:cs typeface="Times New Roman"/>
              </a:rPr>
              <a:t>Runnable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interface</a:t>
            </a:r>
            <a:endParaRPr sz="2200">
              <a:latin typeface="Times New Roman"/>
              <a:cs typeface="Times New Roman"/>
            </a:endParaRPr>
          </a:p>
          <a:p>
            <a:pPr marL="697865" lvl="1" indent="-342265">
              <a:lnSpc>
                <a:spcPct val="100000"/>
              </a:lnSpc>
              <a:spcBef>
                <a:spcPts val="195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Times New Roman"/>
                <a:cs typeface="Times New Roman"/>
              </a:rPr>
              <a:t>Create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implementing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Runnable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interface</a:t>
            </a:r>
            <a:endParaRPr sz="1800">
              <a:latin typeface="Times New Roman"/>
              <a:cs typeface="Times New Roman"/>
            </a:endParaRPr>
          </a:p>
          <a:p>
            <a:pPr marL="355600" marR="71120" lvl="1" indent="342265">
              <a:lnSpc>
                <a:spcPct val="108300"/>
              </a:lnSpc>
              <a:spcBef>
                <a:spcPts val="15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latin typeface="Times New Roman"/>
                <a:cs typeface="Times New Roman"/>
              </a:rPr>
              <a:t>Pass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Thread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via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Thread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constructor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Example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2" y="217931"/>
              <a:ext cx="3692651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93591" y="217944"/>
              <a:ext cx="640079" cy="78941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64279" y="217944"/>
              <a:ext cx="1136903" cy="789419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Creating</a:t>
            </a:r>
            <a:r>
              <a:rPr spc="-125" dirty="0"/>
              <a:t> </a:t>
            </a:r>
            <a:r>
              <a:rPr spc="-60" dirty="0"/>
              <a:t>thread</a:t>
            </a:r>
            <a:r>
              <a:rPr spc="-105" dirty="0"/>
              <a:t> </a:t>
            </a:r>
            <a:r>
              <a:rPr spc="-145" dirty="0"/>
              <a:t>in</a:t>
            </a:r>
            <a:r>
              <a:rPr spc="-60" dirty="0"/>
              <a:t> </a:t>
            </a:r>
            <a:r>
              <a:rPr spc="-20" dirty="0">
                <a:solidFill>
                  <a:srgbClr val="C00000"/>
                </a:solidFill>
              </a:rPr>
              <a:t>J</a:t>
            </a:r>
            <a:r>
              <a:rPr spc="-20" dirty="0"/>
              <a:t>ava</a:t>
            </a: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8700" y="2468880"/>
            <a:ext cx="7918703" cy="183184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75626" y="2590446"/>
            <a:ext cx="470408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MyT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1200" b="1" spc="-4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Runnable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run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840105">
              <a:lnSpc>
                <a:spcPct val="100000"/>
              </a:lnSpc>
              <a:tabLst>
                <a:tab pos="3034665" algn="l"/>
              </a:tabLst>
            </a:pPr>
            <a:r>
              <a:rPr sz="1200" spc="-50" dirty="0">
                <a:latin typeface="Courier New"/>
                <a:cs typeface="Courier New"/>
              </a:rPr>
              <a:t>…</a:t>
            </a:r>
            <a:r>
              <a:rPr sz="1200" dirty="0">
                <a:latin typeface="Courier New"/>
                <a:cs typeface="Courier New"/>
              </a:rPr>
              <a:t>	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work</a:t>
            </a:r>
            <a:r>
              <a:rPr sz="1200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75626" y="3504846"/>
            <a:ext cx="2878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Thread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Thread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MyT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200" spc="-10" dirty="0">
                <a:latin typeface="Courier New"/>
                <a:cs typeface="Courier New"/>
              </a:rPr>
              <a:t>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spc="-10" dirty="0">
                <a:latin typeface="Courier New"/>
                <a:cs typeface="Courier New"/>
              </a:rPr>
              <a:t>start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50" dirty="0">
                <a:latin typeface="Courier New"/>
                <a:cs typeface="Courier New"/>
              </a:rPr>
              <a:t>…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76026" y="3504846"/>
            <a:ext cx="28784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create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begin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running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executing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in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parallel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6748" y="731520"/>
            <a:ext cx="6089903" cy="371855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793375" y="868927"/>
            <a:ext cx="3302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Courier New"/>
                <a:cs typeface="Courier New"/>
              </a:rPr>
              <a:t>able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93502" y="1326196"/>
            <a:ext cx="24638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1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ln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Z</a:t>
            </a:r>
            <a:r>
              <a:rPr sz="10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10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k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10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0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000" spc="-10" dirty="0">
                <a:latin typeface="Courier New"/>
                <a:cs typeface="Courier New"/>
              </a:rPr>
              <a:t>k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1000" spc="-2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93375" y="1783464"/>
            <a:ext cx="2082164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ourier New"/>
                <a:cs typeface="Courier New"/>
              </a:rPr>
              <a:t>ln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Z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7480" y="3764962"/>
            <a:ext cx="101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29927" y="2427041"/>
            <a:ext cx="2360930" cy="1515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030"/>
              </a:lnSpc>
            </a:pPr>
            <a:r>
              <a:rPr sz="1000" dirty="0">
                <a:latin typeface="Courier New"/>
                <a:cs typeface="Courier New"/>
              </a:rPr>
              <a:t>tring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args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[])</a:t>
            </a:r>
            <a:r>
              <a:rPr sz="10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adX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ad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spc="-10" dirty="0">
                <a:latin typeface="Courier New"/>
                <a:cs typeface="Courier New"/>
              </a:rPr>
              <a:t>x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adY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ad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spc="-10" dirty="0">
                <a:latin typeface="Courier New"/>
                <a:cs typeface="Courier New"/>
              </a:rPr>
              <a:t>y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ad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ThreadZ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1000">
              <a:latin typeface="Courier New"/>
              <a:cs typeface="Courier New"/>
            </a:endParaRPr>
          </a:p>
          <a:p>
            <a:pPr marL="76200">
              <a:lnSpc>
                <a:spcPct val="100000"/>
              </a:lnSpc>
            </a:pP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...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Multithreading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is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over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83813" y="4069807"/>
            <a:ext cx="101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10" name="object 10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331" y="217944"/>
              <a:ext cx="4992623" cy="78941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78612" y="312673"/>
            <a:ext cx="4549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Creating</a:t>
            </a:r>
            <a:r>
              <a:rPr spc="-140" dirty="0"/>
              <a:t> </a:t>
            </a:r>
            <a:r>
              <a:rPr spc="-60" dirty="0"/>
              <a:t>thread</a:t>
            </a:r>
            <a:r>
              <a:rPr spc="-95" dirty="0"/>
              <a:t> </a:t>
            </a:r>
            <a:r>
              <a:rPr spc="-235" dirty="0"/>
              <a:t>:</a:t>
            </a:r>
            <a:r>
              <a:rPr spc="-2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19847" y="902812"/>
            <a:ext cx="5486400" cy="31889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r">
              <a:lnSpc>
                <a:spcPts val="969"/>
              </a:lnSpc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000" spc="-4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ThreadZ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10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Runn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ts val="3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ThreadX</a:t>
            </a:r>
            <a:r>
              <a:rPr sz="500" spc="-3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5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Runnable</a:t>
            </a:r>
            <a:endParaRPr sz="500">
              <a:latin typeface="Courier New"/>
              <a:cs typeface="Courier New"/>
            </a:endParaRPr>
          </a:p>
          <a:p>
            <a:pPr>
              <a:lnSpc>
                <a:spcPts val="900"/>
              </a:lnSpc>
              <a:tabLst>
                <a:tab pos="3276600" algn="l"/>
              </a:tabLst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90500">
              <a:lnSpc>
                <a:spcPts val="3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run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304800">
              <a:lnSpc>
                <a:spcPts val="900"/>
              </a:lnSpc>
              <a:tabLst>
                <a:tab pos="3657600" algn="l"/>
              </a:tabLst>
            </a:pP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i</a:t>
            </a:r>
            <a:r>
              <a:rPr sz="500" spc="-1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i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i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0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0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run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R="3268979" algn="r">
              <a:lnSpc>
                <a:spcPts val="3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X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i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b="1" spc="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500" spc="-2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500" spc="-20" dirty="0">
                <a:latin typeface="Courier New"/>
                <a:cs typeface="Courier New"/>
              </a:rPr>
              <a:t>i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04165">
              <a:lnSpc>
                <a:spcPts val="900"/>
              </a:lnSpc>
              <a:tabLst>
                <a:tab pos="3962400" algn="l"/>
              </a:tabLst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0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k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endParaRPr sz="1000">
              <a:latin typeface="Courier New"/>
              <a:cs typeface="Courier New"/>
            </a:endParaRPr>
          </a:p>
          <a:p>
            <a:pPr marL="266065">
              <a:lnSpc>
                <a:spcPts val="3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500" spc="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X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algn="r">
              <a:lnSpc>
                <a:spcPts val="900"/>
              </a:lnSpc>
              <a:tabLst>
                <a:tab pos="4076700" algn="l"/>
              </a:tabLst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System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out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print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ts val="3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>
              <a:lnSpc>
                <a:spcPts val="900"/>
              </a:lnSpc>
              <a:tabLst>
                <a:tab pos="3961765" algn="l"/>
              </a:tabLst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ThreadY</a:t>
            </a:r>
            <a:r>
              <a:rPr sz="500" spc="-3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5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Runnable</a:t>
            </a:r>
            <a:r>
              <a:rPr sz="500" spc="-35" dirty="0"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89865">
              <a:lnSpc>
                <a:spcPts val="3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run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342265">
              <a:lnSpc>
                <a:spcPts val="900"/>
              </a:lnSpc>
              <a:tabLst>
                <a:tab pos="4266565" algn="l"/>
              </a:tabLst>
            </a:pPr>
            <a:r>
              <a:rPr sz="750" b="1" baseline="5555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750" baseline="5555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750" spc="-22" baseline="555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750" baseline="5555" dirty="0">
                <a:latin typeface="Courier New"/>
                <a:cs typeface="Courier New"/>
              </a:rPr>
              <a:t>j</a:t>
            </a:r>
            <a:r>
              <a:rPr sz="750" spc="-15" baseline="5555" dirty="0">
                <a:latin typeface="Courier New"/>
                <a:cs typeface="Courier New"/>
              </a:rPr>
              <a:t> 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750" b="1" spc="-22" baseline="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aseline="555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750" b="1" spc="-15" baseline="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aseline="5555" dirty="0">
                <a:latin typeface="Courier New"/>
                <a:cs typeface="Courier New"/>
              </a:rPr>
              <a:t>j</a:t>
            </a:r>
            <a:r>
              <a:rPr sz="750" spc="-22" baseline="5555" dirty="0">
                <a:latin typeface="Courier New"/>
                <a:cs typeface="Courier New"/>
              </a:rPr>
              <a:t> 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750" b="1" spc="-15" baseline="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aseline="5555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750" b="1" spc="-22" baseline="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aseline="5555" dirty="0">
                <a:latin typeface="Courier New"/>
                <a:cs typeface="Courier New"/>
              </a:rPr>
              <a:t>j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750" b="1" spc="-15" baseline="555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750" b="1" spc="-75" baseline="5555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latin typeface="Courier New"/>
                <a:cs typeface="Courier New"/>
              </a:rPr>
              <a:t>System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out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print</a:t>
            </a:r>
            <a:endParaRPr sz="1000">
              <a:latin typeface="Courier New"/>
              <a:cs typeface="Courier New"/>
            </a:endParaRPr>
          </a:p>
          <a:p>
            <a:pPr marR="3230880" algn="r">
              <a:lnSpc>
                <a:spcPts val="3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500" spc="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Y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j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b="1" spc="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500" spc="-20" dirty="0">
                <a:latin typeface="Courier New"/>
                <a:cs typeface="Courier New"/>
              </a:rPr>
              <a:t>j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42265">
              <a:lnSpc>
                <a:spcPts val="900"/>
              </a:lnSpc>
              <a:tabLst>
                <a:tab pos="3657600" algn="l"/>
              </a:tabLst>
            </a:pPr>
            <a:r>
              <a:rPr sz="750" b="1" spc="-75" baseline="5555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04165">
              <a:lnSpc>
                <a:spcPts val="3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500" spc="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Y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189865">
              <a:lnSpc>
                <a:spcPts val="965"/>
              </a:lnSpc>
              <a:tabLst>
                <a:tab pos="3276600" algn="l"/>
              </a:tabLst>
            </a:pPr>
            <a:r>
              <a:rPr sz="750" b="1" spc="-37" baseline="5555" dirty="0">
                <a:solidFill>
                  <a:srgbClr val="000080"/>
                </a:solidFill>
                <a:latin typeface="Courier New"/>
                <a:cs typeface="Courier New"/>
              </a:rPr>
              <a:t>}}</a:t>
            </a:r>
            <a:r>
              <a:rPr sz="750" b="1" baseline="5555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276600">
              <a:lnSpc>
                <a:spcPct val="100000"/>
              </a:lnSpc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000" spc="-7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MultiThreadRunnable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886200" indent="-305435">
              <a:lnSpc>
                <a:spcPct val="100000"/>
              </a:lnSpc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0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0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0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main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spc="-10" dirty="0">
                <a:latin typeface="Courier New"/>
                <a:cs typeface="Courier New"/>
              </a:rPr>
              <a:t>S </a:t>
            </a:r>
            <a:r>
              <a:rPr sz="1000" dirty="0">
                <a:latin typeface="Courier New"/>
                <a:cs typeface="Courier New"/>
              </a:rPr>
              <a:t>ThreadX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x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Thre </a:t>
            </a:r>
            <a:r>
              <a:rPr sz="1000" dirty="0">
                <a:latin typeface="Courier New"/>
                <a:cs typeface="Courier New"/>
              </a:rPr>
              <a:t>Thread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t1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Thre </a:t>
            </a:r>
            <a:r>
              <a:rPr sz="1000" dirty="0">
                <a:latin typeface="Courier New"/>
                <a:cs typeface="Courier New"/>
              </a:rPr>
              <a:t>ThreadY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y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Thre </a:t>
            </a:r>
            <a:r>
              <a:rPr sz="1000" dirty="0">
                <a:latin typeface="Courier New"/>
                <a:cs typeface="Courier New"/>
              </a:rPr>
              <a:t>Thread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t2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Thre </a:t>
            </a:r>
            <a:r>
              <a:rPr sz="1000" dirty="0">
                <a:latin typeface="Courier New"/>
                <a:cs typeface="Courier New"/>
              </a:rPr>
              <a:t>Thread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t3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Thre</a:t>
            </a:r>
            <a:endParaRPr sz="1000">
              <a:latin typeface="Courier New"/>
              <a:cs typeface="Courier New"/>
            </a:endParaRPr>
          </a:p>
          <a:p>
            <a:pPr marL="3962400"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t1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start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000">
              <a:latin typeface="Courier New"/>
              <a:cs typeface="Courier New"/>
            </a:endParaRPr>
          </a:p>
          <a:p>
            <a:pPr marL="3962400"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t2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start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000">
              <a:latin typeface="Courier New"/>
              <a:cs typeface="Courier New"/>
            </a:endParaRPr>
          </a:p>
          <a:p>
            <a:pPr marL="3962400" marR="68580">
              <a:lnSpc>
                <a:spcPct val="100000"/>
              </a:lnSpc>
            </a:pPr>
            <a:r>
              <a:rPr sz="1000" spc="-10" dirty="0">
                <a:latin typeface="Courier New"/>
                <a:cs typeface="Courier New"/>
              </a:rPr>
              <a:t>t3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start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000" spc="-10" dirty="0">
                <a:latin typeface="Courier New"/>
                <a:cs typeface="Courier New"/>
              </a:rPr>
              <a:t>System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out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println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endParaRPr sz="1000">
              <a:latin typeface="Courier New"/>
              <a:cs typeface="Courier New"/>
            </a:endParaRPr>
          </a:p>
          <a:p>
            <a:pPr marL="3581400">
              <a:lnSpc>
                <a:spcPts val="1175"/>
              </a:lnSpc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6200" y="318515"/>
            <a:ext cx="2931160" cy="2103120"/>
            <a:chOff x="76200" y="318515"/>
            <a:chExt cx="2931160" cy="210312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7348" y="873252"/>
              <a:ext cx="2889503" cy="1548383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56148" y="2362200"/>
            <a:ext cx="3270503" cy="2011679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6403083" y="2496703"/>
            <a:ext cx="2349500" cy="1702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ThreadZ</a:t>
            </a:r>
            <a:r>
              <a:rPr sz="500" spc="-3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5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Runnable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2032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run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k</a:t>
            </a:r>
            <a:r>
              <a:rPr sz="500" spc="-1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k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k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07365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Z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k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b="1" spc="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500" spc="-2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54965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507365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500" spc="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Z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202565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MultiThreadRunnable</a:t>
            </a:r>
            <a:r>
              <a:rPr sz="500" spc="35" dirty="0"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1651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main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latin typeface="Courier New"/>
                <a:cs typeface="Courier New"/>
              </a:rPr>
              <a:t>String</a:t>
            </a:r>
            <a:r>
              <a:rPr sz="500" spc="-3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args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[])</a:t>
            </a:r>
            <a:r>
              <a:rPr sz="5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316865" marR="1033144" algn="just">
              <a:lnSpc>
                <a:spcPct val="100000"/>
              </a:lnSpc>
            </a:pPr>
            <a:r>
              <a:rPr sz="500" dirty="0">
                <a:latin typeface="Courier New"/>
                <a:cs typeface="Courier New"/>
              </a:rPr>
              <a:t>ThreadX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x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ThreadX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500" dirty="0">
                <a:latin typeface="Courier New"/>
                <a:cs typeface="Courier New"/>
              </a:rPr>
              <a:t>Thread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t1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latin typeface="Courier New"/>
                <a:cs typeface="Courier New"/>
              </a:rPr>
              <a:t>x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500" dirty="0">
                <a:latin typeface="Courier New"/>
                <a:cs typeface="Courier New"/>
              </a:rPr>
              <a:t>ThreadY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y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ThreadY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500" dirty="0">
                <a:latin typeface="Courier New"/>
                <a:cs typeface="Courier New"/>
              </a:rPr>
              <a:t>Thread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t2</a:t>
            </a:r>
            <a:r>
              <a:rPr sz="500" spc="-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latin typeface="Courier New"/>
                <a:cs typeface="Courier New"/>
              </a:rPr>
              <a:t>y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54965" marR="614680" indent="-38735">
              <a:lnSpc>
                <a:spcPct val="100000"/>
              </a:lnSpc>
            </a:pPr>
            <a:r>
              <a:rPr sz="500" dirty="0">
                <a:latin typeface="Courier New"/>
                <a:cs typeface="Courier New"/>
              </a:rPr>
              <a:t>Thread</a:t>
            </a:r>
            <a:r>
              <a:rPr sz="500" spc="-20" dirty="0"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t3</a:t>
            </a:r>
            <a:r>
              <a:rPr sz="500" spc="-2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Thread</a:t>
            </a:r>
            <a:r>
              <a:rPr sz="500" spc="-2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5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ThreadZ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500" spc="-10" dirty="0">
                <a:latin typeface="Courier New"/>
                <a:cs typeface="Courier New"/>
              </a:rPr>
              <a:t>t1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start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  <a:p>
            <a:pPr marL="354965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t2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start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  <a:p>
            <a:pPr marL="354965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t3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start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500">
              <a:latin typeface="Courier New"/>
              <a:cs typeface="Courier New"/>
            </a:endParaRPr>
          </a:p>
          <a:p>
            <a:pPr marL="354965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"...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 Multithreading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is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over</a:t>
            </a:r>
            <a:r>
              <a:rPr sz="500" spc="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5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1651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74775"/>
            <a:ext cx="5849111" cy="3220211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34442" y="1007177"/>
            <a:ext cx="4990465" cy="2876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1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ThreadX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11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Runnable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431165">
              <a:lnSpc>
                <a:spcPct val="100000"/>
              </a:lnSpc>
            </a:pP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1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100" spc="-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run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684530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int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1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++) </a:t>
            </a: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935990">
              <a:lnSpc>
                <a:spcPct val="100000"/>
              </a:lnSpc>
            </a:pP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println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11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X</a:t>
            </a:r>
            <a:r>
              <a:rPr sz="11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11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i</a:t>
            </a:r>
            <a:r>
              <a:rPr sz="11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1100" spc="-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1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11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100" spc="-10" dirty="0">
                <a:latin typeface="Courier New"/>
                <a:cs typeface="Courier New"/>
              </a:rPr>
              <a:t>i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684530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600710">
              <a:lnSpc>
                <a:spcPct val="100000"/>
              </a:lnSpc>
            </a:pP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println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11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1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X</a:t>
            </a:r>
            <a:r>
              <a:rPr sz="11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431800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1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ThreadY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11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Runnable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431800">
              <a:lnSpc>
                <a:spcPct val="100000"/>
              </a:lnSpc>
            </a:pP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1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100" spc="-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run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768985">
              <a:lnSpc>
                <a:spcPct val="100000"/>
              </a:lnSpc>
            </a:pP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100" spc="-1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1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FF8000"/>
                </a:solidFill>
                <a:latin typeface="Courier New"/>
                <a:cs typeface="Courier New"/>
              </a:rPr>
              <a:t>5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1100" b="1" spc="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1106170">
              <a:lnSpc>
                <a:spcPct val="100000"/>
              </a:lnSpc>
            </a:pP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println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11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Y</a:t>
            </a:r>
            <a:r>
              <a:rPr sz="11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with</a:t>
            </a:r>
            <a:r>
              <a:rPr sz="11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j</a:t>
            </a:r>
            <a:r>
              <a:rPr sz="1100" spc="-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=</a:t>
            </a:r>
            <a:r>
              <a:rPr sz="11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1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100" spc="-10" dirty="0">
                <a:latin typeface="Courier New"/>
                <a:cs typeface="Courier New"/>
              </a:rPr>
              <a:t>j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769620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685800">
              <a:lnSpc>
                <a:spcPts val="1310"/>
              </a:lnSpc>
              <a:spcBef>
                <a:spcPts val="5"/>
              </a:spcBef>
            </a:pP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println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"Exiting</a:t>
            </a:r>
            <a:r>
              <a:rPr sz="11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1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Y</a:t>
            </a:r>
            <a:r>
              <a:rPr sz="11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808080"/>
                </a:solidFill>
                <a:latin typeface="Courier New"/>
                <a:cs typeface="Courier New"/>
              </a:rPr>
              <a:t>..."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432434">
              <a:lnSpc>
                <a:spcPts val="131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13335">
              <a:lnSpc>
                <a:spcPct val="100000"/>
              </a:lnSpc>
              <a:spcBef>
                <a:spcPts val="20"/>
              </a:spcBef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3600" y="1118628"/>
            <a:ext cx="6207760" cy="2362200"/>
            <a:chOff x="2133600" y="1118628"/>
            <a:chExt cx="6207760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3600" y="1118628"/>
              <a:ext cx="2362187" cy="23621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4255" y="1943100"/>
              <a:ext cx="4006595" cy="8991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4540" y="2027174"/>
            <a:ext cx="34994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States</a:t>
            </a:r>
            <a:r>
              <a:rPr sz="3200" b="0" spc="-3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of</a:t>
            </a:r>
            <a:r>
              <a:rPr sz="3200" b="0" spc="-3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a</a:t>
            </a:r>
            <a:r>
              <a:rPr sz="3200" b="0" spc="-15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Yu Gothic"/>
                <a:cs typeface="Yu Gothic"/>
              </a:rPr>
              <a:t>Thread</a:t>
            </a:r>
            <a:endParaRPr sz="32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7485" y="878078"/>
            <a:ext cx="5673090" cy="701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80"/>
              </a:lnSpc>
              <a:spcBef>
                <a:spcPts val="100"/>
              </a:spcBef>
            </a:pPr>
            <a:r>
              <a:rPr sz="2700" dirty="0">
                <a:solidFill>
                  <a:srgbClr val="C00000"/>
                </a:solidFill>
                <a:latin typeface="Times New Roman"/>
                <a:cs typeface="Times New Roman"/>
              </a:rPr>
              <a:t>J</a:t>
            </a:r>
            <a:r>
              <a:rPr sz="2700" dirty="0">
                <a:latin typeface="Times New Roman"/>
                <a:cs typeface="Times New Roman"/>
              </a:rPr>
              <a:t>ava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thread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can</a:t>
            </a:r>
            <a:r>
              <a:rPr sz="2700" spc="-2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be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in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one</a:t>
            </a:r>
            <a:r>
              <a:rPr sz="2700" spc="-45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of</a:t>
            </a:r>
            <a:r>
              <a:rPr sz="2700" spc="-3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these</a:t>
            </a:r>
            <a:r>
              <a:rPr sz="2700" spc="-40" dirty="0">
                <a:latin typeface="Times New Roman"/>
                <a:cs typeface="Times New Roman"/>
              </a:rPr>
              <a:t> </a:t>
            </a:r>
            <a:r>
              <a:rPr sz="2700" dirty="0">
                <a:latin typeface="Times New Roman"/>
                <a:cs typeface="Times New Roman"/>
              </a:rPr>
              <a:t>states</a:t>
            </a:r>
            <a:r>
              <a:rPr sz="2700" spc="-50" dirty="0">
                <a:latin typeface="Times New Roman"/>
                <a:cs typeface="Times New Roman"/>
              </a:rPr>
              <a:t> :</a:t>
            </a:r>
            <a:endParaRPr sz="2700">
              <a:latin typeface="Times New Roman"/>
              <a:cs typeface="Times New Roman"/>
            </a:endParaRPr>
          </a:p>
          <a:p>
            <a:pPr marL="555625" indent="-205104">
              <a:lnSpc>
                <a:spcPts val="2240"/>
              </a:lnSpc>
              <a:buSzPct val="95000"/>
              <a:buFont typeface="Wingdings"/>
              <a:buChar char=""/>
              <a:tabLst>
                <a:tab pos="555625" algn="l"/>
                <a:tab pos="1384300" algn="l"/>
              </a:tabLst>
            </a:pPr>
            <a:r>
              <a:rPr sz="2000" spc="-25" dirty="0">
                <a:latin typeface="Times New Roman"/>
                <a:cs typeface="Times New Roman"/>
              </a:rPr>
              <a:t>New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thread</a:t>
            </a:r>
            <a:r>
              <a:rPr sz="2000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allocated</a:t>
            </a:r>
            <a:r>
              <a:rPr sz="2000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&amp;</a:t>
            </a:r>
            <a:r>
              <a:rPr sz="2000" spc="-1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waiting</a:t>
            </a:r>
            <a:r>
              <a:rPr sz="2000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for</a:t>
            </a:r>
            <a:r>
              <a:rPr sz="2000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start()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40385" y="1513586"/>
            <a:ext cx="1203960" cy="594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13360" indent="-205104">
              <a:lnSpc>
                <a:spcPts val="2240"/>
              </a:lnSpc>
              <a:spcBef>
                <a:spcPts val="105"/>
              </a:spcBef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10" dirty="0">
                <a:latin typeface="Times New Roman"/>
                <a:cs typeface="Times New Roman"/>
              </a:rPr>
              <a:t>Runnable</a:t>
            </a:r>
            <a:endParaRPr sz="2000">
              <a:latin typeface="Times New Roman"/>
              <a:cs typeface="Times New Roman"/>
            </a:endParaRPr>
          </a:p>
          <a:p>
            <a:pPr marL="213360" indent="-205104">
              <a:lnSpc>
                <a:spcPts val="2240"/>
              </a:lnSpc>
              <a:buSzPct val="95000"/>
              <a:buFont typeface="Wingdings"/>
              <a:buChar char=""/>
              <a:tabLst>
                <a:tab pos="213360" algn="l"/>
              </a:tabLst>
            </a:pPr>
            <a:r>
              <a:rPr sz="2000" spc="-10" dirty="0">
                <a:latin typeface="Times New Roman"/>
                <a:cs typeface="Times New Roman"/>
              </a:rPr>
              <a:t>Running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54858" y="1513586"/>
            <a:ext cx="2947670" cy="594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2565" indent="-189865">
              <a:lnSpc>
                <a:spcPts val="2240"/>
              </a:lnSpc>
              <a:spcBef>
                <a:spcPts val="105"/>
              </a:spcBef>
              <a:buChar char="–"/>
              <a:tabLst>
                <a:tab pos="202565" algn="l"/>
              </a:tabLst>
            </a:pP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thread</a:t>
            </a:r>
            <a:r>
              <a:rPr sz="2000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can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begin</a:t>
            </a:r>
            <a:r>
              <a:rPr sz="2000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execution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ts val="2240"/>
              </a:lnSpc>
              <a:buChar char="–"/>
              <a:tabLst>
                <a:tab pos="202565" algn="l"/>
              </a:tabLst>
            </a:pP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thread</a:t>
            </a:r>
            <a:r>
              <a:rPr sz="2000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currently</a:t>
            </a:r>
            <a:r>
              <a:rPr sz="2000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executing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0385" y="2040890"/>
            <a:ext cx="5417185" cy="596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3360" indent="-205104">
              <a:lnSpc>
                <a:spcPts val="2245"/>
              </a:lnSpc>
              <a:spcBef>
                <a:spcPts val="100"/>
              </a:spcBef>
              <a:buSzPct val="95000"/>
              <a:buFont typeface="Wingdings"/>
              <a:buChar char=""/>
              <a:tabLst>
                <a:tab pos="213360" algn="l"/>
                <a:tab pos="1726564" algn="l"/>
              </a:tabLst>
            </a:pPr>
            <a:r>
              <a:rPr sz="2000" spc="-10" dirty="0">
                <a:latin typeface="Times New Roman"/>
                <a:cs typeface="Times New Roman"/>
              </a:rPr>
              <a:t>Blocked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thread</a:t>
            </a:r>
            <a:r>
              <a:rPr sz="2000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waiting</a:t>
            </a:r>
            <a:r>
              <a:rPr sz="2000" spc="-2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for</a:t>
            </a:r>
            <a:r>
              <a:rPr sz="2000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event</a:t>
            </a:r>
            <a:r>
              <a:rPr sz="2000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(I/O,</a:t>
            </a:r>
            <a:r>
              <a:rPr sz="2000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etc.)</a:t>
            </a:r>
            <a:endParaRPr sz="2000">
              <a:latin typeface="Times New Roman"/>
              <a:cs typeface="Times New Roman"/>
            </a:endParaRPr>
          </a:p>
          <a:p>
            <a:pPr marL="213360" indent="-205104">
              <a:lnSpc>
                <a:spcPts val="2245"/>
              </a:lnSpc>
              <a:buSzPct val="95000"/>
              <a:buFont typeface="Wingdings"/>
              <a:buChar char=""/>
              <a:tabLst>
                <a:tab pos="213360" algn="l"/>
                <a:tab pos="1041400" algn="l"/>
              </a:tabLst>
            </a:pPr>
            <a:r>
              <a:rPr sz="2000" spc="-20" dirty="0">
                <a:latin typeface="Times New Roman"/>
                <a:cs typeface="Times New Roman"/>
              </a:rPr>
              <a:t>Dead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–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538235"/>
                </a:solidFill>
                <a:latin typeface="Times New Roman"/>
                <a:cs typeface="Times New Roman"/>
              </a:rPr>
              <a:t>thread</a:t>
            </a:r>
            <a:r>
              <a:rPr sz="2000" spc="-3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538235"/>
                </a:solidFill>
                <a:latin typeface="Times New Roman"/>
                <a:cs typeface="Times New Roman"/>
              </a:rPr>
              <a:t>finished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7" name="object 7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6355079" cy="789419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Threads</a:t>
            </a:r>
            <a:r>
              <a:rPr spc="-80" dirty="0"/>
              <a:t> </a:t>
            </a:r>
            <a:r>
              <a:rPr spc="-240" dirty="0"/>
              <a:t>:</a:t>
            </a:r>
            <a:r>
              <a:rPr spc="-35" dirty="0"/>
              <a:t> </a:t>
            </a:r>
            <a:r>
              <a:rPr spc="-100" dirty="0"/>
              <a:t>Thread</a:t>
            </a:r>
            <a:r>
              <a:rPr spc="-70" dirty="0"/>
              <a:t> </a:t>
            </a:r>
            <a:r>
              <a:rPr spc="-130" dirty="0"/>
              <a:t>states</a:t>
            </a:r>
            <a:r>
              <a:rPr spc="-50" dirty="0"/>
              <a:t> </a:t>
            </a:r>
            <a:r>
              <a:rPr spc="-90" dirty="0"/>
              <a:t>of</a:t>
            </a:r>
            <a:r>
              <a:rPr spc="-60" dirty="0"/>
              <a:t> </a:t>
            </a:r>
            <a:r>
              <a:rPr spc="165" dirty="0"/>
              <a:t>a</a:t>
            </a:r>
            <a:r>
              <a:rPr spc="-60" dirty="0"/>
              <a:t> </a:t>
            </a:r>
            <a:r>
              <a:rPr spc="-20" dirty="0"/>
              <a:t>thread</a:t>
            </a: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828800" y="2755392"/>
            <a:ext cx="5943600" cy="1493520"/>
          </a:xfrm>
          <a:prstGeom prst="rect">
            <a:avLst/>
          </a:prstGeom>
          <a:ln w="12700">
            <a:solidFill>
              <a:srgbClr val="EC7C30"/>
            </a:solidFill>
          </a:ln>
        </p:spPr>
        <p:txBody>
          <a:bodyPr vert="horz" wrap="square" lIns="0" tIns="3619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84"/>
              </a:spcBef>
            </a:pPr>
            <a:r>
              <a:rPr sz="2200" spc="-10" dirty="0">
                <a:latin typeface="Times New Roman"/>
                <a:cs typeface="Times New Roman"/>
              </a:rPr>
              <a:t>Transitions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between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caused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by</a:t>
            </a:r>
            <a:endParaRPr sz="2200">
              <a:latin typeface="Times New Roman"/>
              <a:cs typeface="Times New Roman"/>
            </a:endParaRPr>
          </a:p>
          <a:p>
            <a:pPr marL="728980" indent="-184150">
              <a:lnSpc>
                <a:spcPct val="100000"/>
              </a:lnSpc>
              <a:spcBef>
                <a:spcPts val="15"/>
              </a:spcBef>
              <a:buSzPct val="94444"/>
              <a:buFont typeface="Wingdings"/>
              <a:buChar char=""/>
              <a:tabLst>
                <a:tab pos="728980" algn="l"/>
              </a:tabLst>
            </a:pPr>
            <a:r>
              <a:rPr sz="1800" dirty="0">
                <a:latin typeface="Times New Roman"/>
                <a:cs typeface="Times New Roman"/>
              </a:rPr>
              <a:t>Invoking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class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Thread</a:t>
            </a:r>
            <a:endParaRPr sz="1800">
              <a:latin typeface="Times New Roman"/>
              <a:cs typeface="Times New Roman"/>
            </a:endParaRPr>
          </a:p>
          <a:p>
            <a:pPr marL="2205990" lvl="1" indent="-285750">
              <a:lnSpc>
                <a:spcPts val="1795"/>
              </a:lnSpc>
              <a:spcBef>
                <a:spcPts val="10"/>
              </a:spcBef>
              <a:buFont typeface="Wingdings"/>
              <a:buChar char=""/>
              <a:tabLst>
                <a:tab pos="2205990" algn="l"/>
              </a:tabLst>
            </a:pPr>
            <a:r>
              <a:rPr sz="1500" dirty="0">
                <a:solidFill>
                  <a:srgbClr val="538235"/>
                </a:solidFill>
                <a:latin typeface="Times New Roman"/>
                <a:cs typeface="Times New Roman"/>
              </a:rPr>
              <a:t>new(),</a:t>
            </a:r>
            <a:r>
              <a:rPr sz="1500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38235"/>
                </a:solidFill>
                <a:latin typeface="Times New Roman"/>
                <a:cs typeface="Times New Roman"/>
              </a:rPr>
              <a:t>start(),</a:t>
            </a:r>
            <a:r>
              <a:rPr sz="1500" spc="-5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38235"/>
                </a:solidFill>
                <a:latin typeface="Times New Roman"/>
                <a:cs typeface="Times New Roman"/>
              </a:rPr>
              <a:t>yield(),</a:t>
            </a:r>
            <a:r>
              <a:rPr sz="1500" spc="-6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38235"/>
                </a:solidFill>
                <a:latin typeface="Times New Roman"/>
                <a:cs typeface="Times New Roman"/>
              </a:rPr>
              <a:t>sleep(),</a:t>
            </a:r>
            <a:r>
              <a:rPr sz="1500" spc="-5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38235"/>
                </a:solidFill>
                <a:latin typeface="Times New Roman"/>
                <a:cs typeface="Times New Roman"/>
              </a:rPr>
              <a:t>wait(),</a:t>
            </a:r>
            <a:r>
              <a:rPr sz="1500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38235"/>
                </a:solidFill>
                <a:latin typeface="Times New Roman"/>
                <a:cs typeface="Times New Roman"/>
              </a:rPr>
              <a:t>notify()…</a:t>
            </a:r>
            <a:endParaRPr sz="1500">
              <a:latin typeface="Times New Roman"/>
              <a:cs typeface="Times New Roman"/>
            </a:endParaRPr>
          </a:p>
          <a:p>
            <a:pPr marL="728980" indent="-184150">
              <a:lnSpc>
                <a:spcPts val="2155"/>
              </a:lnSpc>
              <a:buSzPct val="94444"/>
              <a:buFont typeface="Wingdings"/>
              <a:buChar char=""/>
              <a:tabLst>
                <a:tab pos="728980" algn="l"/>
              </a:tabLst>
            </a:pPr>
            <a:r>
              <a:rPr sz="1800" dirty="0">
                <a:latin typeface="Times New Roman"/>
                <a:cs typeface="Times New Roman"/>
              </a:rPr>
              <a:t>Other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(external)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events</a:t>
            </a:r>
            <a:endParaRPr sz="1800">
              <a:latin typeface="Times New Roman"/>
              <a:cs typeface="Times New Roman"/>
            </a:endParaRPr>
          </a:p>
          <a:p>
            <a:pPr marL="2205990" lvl="1" indent="-285750">
              <a:lnSpc>
                <a:spcPct val="100000"/>
              </a:lnSpc>
              <a:spcBef>
                <a:spcPts val="15"/>
              </a:spcBef>
              <a:buFont typeface="Wingdings"/>
              <a:buChar char=""/>
              <a:tabLst>
                <a:tab pos="2205990" algn="l"/>
              </a:tabLst>
            </a:pPr>
            <a:r>
              <a:rPr sz="1500" spc="-10" dirty="0">
                <a:solidFill>
                  <a:srgbClr val="538235"/>
                </a:solidFill>
                <a:latin typeface="Times New Roman"/>
                <a:cs typeface="Times New Roman"/>
              </a:rPr>
              <a:t>Scheduler,</a:t>
            </a:r>
            <a:r>
              <a:rPr sz="1500" spc="-3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38235"/>
                </a:solidFill>
                <a:latin typeface="Times New Roman"/>
                <a:cs typeface="Times New Roman"/>
              </a:rPr>
              <a:t>I/O,</a:t>
            </a:r>
            <a:r>
              <a:rPr sz="1500" spc="-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38235"/>
                </a:solidFill>
                <a:latin typeface="Times New Roman"/>
                <a:cs typeface="Times New Roman"/>
              </a:rPr>
              <a:t>returning</a:t>
            </a:r>
            <a:r>
              <a:rPr sz="1500" spc="-40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538235"/>
                </a:solidFill>
                <a:latin typeface="Times New Roman"/>
                <a:cs typeface="Times New Roman"/>
              </a:rPr>
              <a:t>from</a:t>
            </a:r>
            <a:r>
              <a:rPr sz="1500" spc="-25" dirty="0">
                <a:solidFill>
                  <a:srgbClr val="538235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solidFill>
                  <a:srgbClr val="538235"/>
                </a:solidFill>
                <a:latin typeface="Times New Roman"/>
                <a:cs typeface="Times New Roman"/>
              </a:rPr>
              <a:t>run()…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77055" y="1316736"/>
            <a:ext cx="1152525" cy="576580"/>
            <a:chOff x="3877055" y="1316736"/>
            <a:chExt cx="1152525" cy="5765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8579" y="1316736"/>
              <a:ext cx="1147571" cy="57607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7055" y="1374647"/>
              <a:ext cx="1152143" cy="51815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8015" y="1357884"/>
              <a:ext cx="1028700" cy="4572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037536" y="1454340"/>
            <a:ext cx="8293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/>
                <a:cs typeface="Arial"/>
              </a:rPr>
              <a:t>runnable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034539" y="1309116"/>
            <a:ext cx="1896745" cy="576580"/>
            <a:chOff x="2034539" y="1309116"/>
            <a:chExt cx="1896745" cy="576580"/>
          </a:xfrm>
        </p:grpSpPr>
        <p:sp>
          <p:nvSpPr>
            <p:cNvPr id="8" name="object 8"/>
            <p:cNvSpPr/>
            <p:nvPr/>
          </p:nvSpPr>
          <p:spPr>
            <a:xfrm>
              <a:off x="3131057" y="1579626"/>
              <a:ext cx="704850" cy="6350"/>
            </a:xfrm>
            <a:custGeom>
              <a:avLst/>
              <a:gdLst/>
              <a:ahLst/>
              <a:cxnLst/>
              <a:rect l="l" t="t" r="r" b="b"/>
              <a:pathLst>
                <a:path w="704850" h="6350">
                  <a:moveTo>
                    <a:pt x="0" y="0"/>
                  </a:moveTo>
                  <a:lnTo>
                    <a:pt x="704850" y="6299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16346" y="1528596"/>
              <a:ext cx="114935" cy="114300"/>
            </a:xfrm>
            <a:custGeom>
              <a:avLst/>
              <a:gdLst/>
              <a:ahLst/>
              <a:cxnLst/>
              <a:rect l="l" t="t" r="r" b="b"/>
              <a:pathLst>
                <a:path w="114935" h="114300">
                  <a:moveTo>
                    <a:pt x="1028" y="0"/>
                  </a:moveTo>
                  <a:lnTo>
                    <a:pt x="0" y="114300"/>
                  </a:lnTo>
                  <a:lnTo>
                    <a:pt x="114808" y="58178"/>
                  </a:lnTo>
                  <a:lnTo>
                    <a:pt x="10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4539" y="1309116"/>
              <a:ext cx="1147571" cy="57607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6376" y="1367028"/>
              <a:ext cx="722375" cy="51815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3975" y="1350264"/>
              <a:ext cx="1028700" cy="4572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3340770" y="2034147"/>
            <a:ext cx="92836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7B7B7B"/>
                </a:solidFill>
                <a:latin typeface="Arial"/>
                <a:cs typeface="Arial"/>
              </a:rPr>
              <a:t>scheduler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07841" y="1447196"/>
            <a:ext cx="3962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latin typeface="Arial"/>
                <a:cs typeface="Arial"/>
              </a:rPr>
              <a:t>new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878579" y="3660647"/>
            <a:ext cx="1148080" cy="576580"/>
            <a:chOff x="3878579" y="3660647"/>
            <a:chExt cx="1148080" cy="57658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8579" y="3660647"/>
              <a:ext cx="1147571" cy="5745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055364" y="3717035"/>
              <a:ext cx="792479" cy="51968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938015" y="3700271"/>
              <a:ext cx="1028700" cy="45720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215843" y="3797490"/>
            <a:ext cx="4724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latin typeface="Arial"/>
                <a:cs typeface="Arial"/>
              </a:rPr>
              <a:t>dead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878579" y="2575560"/>
            <a:ext cx="1148080" cy="574675"/>
            <a:chOff x="3878579" y="2575560"/>
            <a:chExt cx="1148080" cy="574675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78579" y="2575560"/>
              <a:ext cx="1147571" cy="57454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24299" y="2631947"/>
              <a:ext cx="1054607" cy="51815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38015" y="2615184"/>
              <a:ext cx="1028700" cy="45720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084811" y="2711640"/>
            <a:ext cx="7327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/>
                <a:cs typeface="Arial"/>
              </a:rPr>
              <a:t>running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5888735" y="2575560"/>
            <a:ext cx="1148080" cy="574675"/>
            <a:chOff x="5888735" y="2575560"/>
            <a:chExt cx="1148080" cy="574675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888735" y="2575560"/>
              <a:ext cx="1147571" cy="57454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28359" y="2631948"/>
              <a:ext cx="1068323" cy="51815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8171" y="2615184"/>
              <a:ext cx="1028700" cy="457200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6089681" y="2711640"/>
            <a:ext cx="7480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/>
                <a:cs typeface="Arial"/>
              </a:rPr>
              <a:t>blocked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523238" y="1522470"/>
            <a:ext cx="4777105" cy="2178685"/>
            <a:chOff x="1523238" y="1522470"/>
            <a:chExt cx="4777105" cy="2178685"/>
          </a:xfrm>
        </p:grpSpPr>
        <p:sp>
          <p:nvSpPr>
            <p:cNvPr id="31" name="object 31"/>
            <p:cNvSpPr/>
            <p:nvPr/>
          </p:nvSpPr>
          <p:spPr>
            <a:xfrm>
              <a:off x="4452366" y="1821942"/>
              <a:ext cx="0" cy="722630"/>
            </a:xfrm>
            <a:custGeom>
              <a:avLst/>
              <a:gdLst/>
              <a:ahLst/>
              <a:cxnLst/>
              <a:rect l="l" t="t" r="r" b="b"/>
              <a:pathLst>
                <a:path h="722630">
                  <a:moveTo>
                    <a:pt x="0" y="0"/>
                  </a:moveTo>
                  <a:lnTo>
                    <a:pt x="0" y="722312"/>
                  </a:lnTo>
                </a:path>
              </a:pathLst>
            </a:custGeom>
            <a:ln w="190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14269" y="253155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67478" y="2844546"/>
              <a:ext cx="886460" cy="0"/>
            </a:xfrm>
            <a:custGeom>
              <a:avLst/>
              <a:gdLst/>
              <a:ahLst/>
              <a:cxnLst/>
              <a:rect l="l" t="t" r="r" b="b"/>
              <a:pathLst>
                <a:path w="886460">
                  <a:moveTo>
                    <a:pt x="0" y="0"/>
                  </a:moveTo>
                  <a:lnTo>
                    <a:pt x="886206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34636" y="278739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52366" y="3073146"/>
              <a:ext cx="0" cy="532765"/>
            </a:xfrm>
            <a:custGeom>
              <a:avLst/>
              <a:gdLst/>
              <a:ahLst/>
              <a:cxnLst/>
              <a:rect l="l" t="t" r="r" b="b"/>
              <a:pathLst>
                <a:path h="532764">
                  <a:moveTo>
                    <a:pt x="0" y="0"/>
                  </a:moveTo>
                  <a:lnTo>
                    <a:pt x="0" y="532638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95221" y="3586736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0"/>
                  </a:lnTo>
                  <a:lnTo>
                    <a:pt x="57150" y="114299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80966" y="1909051"/>
              <a:ext cx="58419" cy="707390"/>
            </a:xfrm>
            <a:custGeom>
              <a:avLst/>
              <a:gdLst/>
              <a:ahLst/>
              <a:cxnLst/>
              <a:rect l="l" t="t" r="r" b="b"/>
              <a:pathLst>
                <a:path w="58420" h="707389">
                  <a:moveTo>
                    <a:pt x="0" y="706894"/>
                  </a:moveTo>
                  <a:lnTo>
                    <a:pt x="10801" y="656888"/>
                  </a:lnTo>
                  <a:lnTo>
                    <a:pt x="21264" y="606882"/>
                  </a:lnTo>
                  <a:lnTo>
                    <a:pt x="31048" y="556875"/>
                  </a:lnTo>
                  <a:lnTo>
                    <a:pt x="39814" y="506869"/>
                  </a:lnTo>
                  <a:lnTo>
                    <a:pt x="47223" y="456863"/>
                  </a:lnTo>
                  <a:lnTo>
                    <a:pt x="52935" y="406857"/>
                  </a:lnTo>
                  <a:lnTo>
                    <a:pt x="56611" y="356850"/>
                  </a:lnTo>
                  <a:lnTo>
                    <a:pt x="57912" y="306844"/>
                  </a:lnTo>
                  <a:lnTo>
                    <a:pt x="56553" y="255702"/>
                  </a:lnTo>
                  <a:lnTo>
                    <a:pt x="52718" y="204562"/>
                  </a:lnTo>
                  <a:lnTo>
                    <a:pt x="46770" y="153422"/>
                  </a:lnTo>
                  <a:lnTo>
                    <a:pt x="39072" y="102282"/>
                  </a:lnTo>
                  <a:lnTo>
                    <a:pt x="29986" y="51141"/>
                  </a:lnTo>
                  <a:lnTo>
                    <a:pt x="19875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48912" y="1815840"/>
              <a:ext cx="112395" cy="123825"/>
            </a:xfrm>
            <a:custGeom>
              <a:avLst/>
              <a:gdLst/>
              <a:ahLst/>
              <a:cxnLst/>
              <a:rect l="l" t="t" r="r" b="b"/>
              <a:pathLst>
                <a:path w="112395" h="123825">
                  <a:moveTo>
                    <a:pt x="32054" y="0"/>
                  </a:moveTo>
                  <a:lnTo>
                    <a:pt x="0" y="123710"/>
                  </a:lnTo>
                  <a:lnTo>
                    <a:pt x="111785" y="99872"/>
                  </a:lnTo>
                  <a:lnTo>
                    <a:pt x="3205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53507" y="1742694"/>
              <a:ext cx="1228090" cy="873760"/>
            </a:xfrm>
            <a:custGeom>
              <a:avLst/>
              <a:gdLst/>
              <a:ahLst/>
              <a:cxnLst/>
              <a:rect l="l" t="t" r="r" b="b"/>
              <a:pathLst>
                <a:path w="1228089" h="873760">
                  <a:moveTo>
                    <a:pt x="1227658" y="873252"/>
                  </a:moveTo>
                  <a:lnTo>
                    <a:pt x="1200151" y="838082"/>
                  </a:lnTo>
                  <a:lnTo>
                    <a:pt x="1172372" y="802913"/>
                  </a:lnTo>
                  <a:lnTo>
                    <a:pt x="1144047" y="767744"/>
                  </a:lnTo>
                  <a:lnTo>
                    <a:pt x="1114904" y="732575"/>
                  </a:lnTo>
                  <a:lnTo>
                    <a:pt x="1084669" y="697405"/>
                  </a:lnTo>
                  <a:lnTo>
                    <a:pt x="1053069" y="662236"/>
                  </a:lnTo>
                  <a:lnTo>
                    <a:pt x="1019831" y="627067"/>
                  </a:lnTo>
                  <a:lnTo>
                    <a:pt x="984683" y="591898"/>
                  </a:lnTo>
                  <a:lnTo>
                    <a:pt x="947351" y="556728"/>
                  </a:lnTo>
                  <a:lnTo>
                    <a:pt x="907562" y="521559"/>
                  </a:lnTo>
                  <a:lnTo>
                    <a:pt x="865043" y="486390"/>
                  </a:lnTo>
                  <a:lnTo>
                    <a:pt x="819522" y="451221"/>
                  </a:lnTo>
                  <a:lnTo>
                    <a:pt x="770724" y="416052"/>
                  </a:lnTo>
                  <a:lnTo>
                    <a:pt x="734719" y="391578"/>
                  </a:lnTo>
                  <a:lnTo>
                    <a:pt x="697087" y="367104"/>
                  </a:lnTo>
                  <a:lnTo>
                    <a:pt x="657920" y="342631"/>
                  </a:lnTo>
                  <a:lnTo>
                    <a:pt x="617312" y="318157"/>
                  </a:lnTo>
                  <a:lnTo>
                    <a:pt x="575353" y="293683"/>
                  </a:lnTo>
                  <a:lnTo>
                    <a:pt x="532135" y="269210"/>
                  </a:lnTo>
                  <a:lnTo>
                    <a:pt x="487751" y="244736"/>
                  </a:lnTo>
                  <a:lnTo>
                    <a:pt x="442293" y="220262"/>
                  </a:lnTo>
                  <a:lnTo>
                    <a:pt x="395853" y="195789"/>
                  </a:lnTo>
                  <a:lnTo>
                    <a:pt x="348522" y="171315"/>
                  </a:lnTo>
                  <a:lnTo>
                    <a:pt x="300392" y="146841"/>
                  </a:lnTo>
                  <a:lnTo>
                    <a:pt x="251556" y="122368"/>
                  </a:lnTo>
                  <a:lnTo>
                    <a:pt x="202106" y="97894"/>
                  </a:lnTo>
                  <a:lnTo>
                    <a:pt x="152133" y="73420"/>
                  </a:lnTo>
                  <a:lnTo>
                    <a:pt x="101730" y="48947"/>
                  </a:lnTo>
                  <a:lnTo>
                    <a:pt x="50988" y="24473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967475" y="1699305"/>
              <a:ext cx="128270" cy="103505"/>
            </a:xfrm>
            <a:custGeom>
              <a:avLst/>
              <a:gdLst/>
              <a:ahLst/>
              <a:cxnLst/>
              <a:rect l="l" t="t" r="r" b="b"/>
              <a:pathLst>
                <a:path w="128270" h="103505">
                  <a:moveTo>
                    <a:pt x="127774" y="0"/>
                  </a:moveTo>
                  <a:lnTo>
                    <a:pt x="0" y="2235"/>
                  </a:lnTo>
                  <a:lnTo>
                    <a:pt x="78460" y="103111"/>
                  </a:lnTo>
                  <a:lnTo>
                    <a:pt x="1277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23238" y="1579626"/>
              <a:ext cx="476250" cy="0"/>
            </a:xfrm>
            <a:custGeom>
              <a:avLst/>
              <a:gdLst/>
              <a:ahLst/>
              <a:cxnLst/>
              <a:rect l="l" t="t" r="r" b="b"/>
              <a:pathLst>
                <a:path w="476250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80440" y="152247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0" y="114300"/>
                  </a:lnTo>
                  <a:lnTo>
                    <a:pt x="114300" y="57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40978" y="809497"/>
            <a:ext cx="1514475" cy="678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00FF"/>
                </a:solidFill>
                <a:latin typeface="Calibri"/>
                <a:cs typeface="Calibri"/>
              </a:rPr>
              <a:t>State</a:t>
            </a:r>
            <a:r>
              <a:rPr sz="1800" b="1" spc="-8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00FF"/>
                </a:solidFill>
                <a:latin typeface="Calibri"/>
                <a:cs typeface="Calibri"/>
              </a:rPr>
              <a:t>diagram</a:t>
            </a:r>
            <a:endParaRPr sz="18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175"/>
              </a:spcBef>
            </a:pPr>
            <a:r>
              <a:rPr sz="1500" b="1" spc="-25" dirty="0">
                <a:solidFill>
                  <a:srgbClr val="538235"/>
                </a:solidFill>
                <a:latin typeface="Arial"/>
                <a:cs typeface="Arial"/>
              </a:rPr>
              <a:t>new</a:t>
            </a:r>
            <a:endParaRPr sz="15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346353" y="1227073"/>
            <a:ext cx="4318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538235"/>
                </a:solidFill>
                <a:latin typeface="Times New Roman"/>
                <a:cs typeface="Times New Roman"/>
              </a:rPr>
              <a:t>start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340568" y="3177651"/>
            <a:ext cx="8864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terminate</a:t>
            </a:r>
            <a:endParaRPr sz="1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159462" y="3000677"/>
            <a:ext cx="89090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890" algn="just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538235"/>
                </a:solidFill>
                <a:latin typeface="Arial"/>
                <a:cs typeface="Arial"/>
              </a:rPr>
              <a:t>IO,</a:t>
            </a:r>
            <a:r>
              <a:rPr sz="1500" b="1" spc="-2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sleep, </a:t>
            </a:r>
            <a:r>
              <a:rPr sz="1500" b="1" dirty="0">
                <a:solidFill>
                  <a:srgbClr val="538235"/>
                </a:solidFill>
                <a:latin typeface="Arial"/>
                <a:cs typeface="Arial"/>
              </a:rPr>
              <a:t>wait,</a:t>
            </a:r>
            <a:r>
              <a:rPr sz="1500" b="1" spc="-4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join, suspend</a:t>
            </a:r>
            <a:endParaRPr sz="15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883047" y="1900158"/>
            <a:ext cx="50673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 marR="5080" indent="-27940" algn="just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538235"/>
                </a:solidFill>
                <a:latin typeface="Arial"/>
                <a:cs typeface="Arial"/>
              </a:rPr>
              <a:t>yield, time </a:t>
            </a: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slice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218642" y="1271508"/>
            <a:ext cx="1440815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notify,</a:t>
            </a:r>
            <a:r>
              <a:rPr sz="1500" b="1" spc="-8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notifyAll, </a:t>
            </a:r>
            <a:r>
              <a:rPr sz="1500" b="1" dirty="0">
                <a:solidFill>
                  <a:srgbClr val="538235"/>
                </a:solidFill>
                <a:latin typeface="Arial"/>
                <a:cs typeface="Arial"/>
              </a:rPr>
              <a:t>IO</a:t>
            </a:r>
            <a:r>
              <a:rPr sz="1500" b="1" spc="-1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complete, </a:t>
            </a:r>
            <a:r>
              <a:rPr sz="1500" b="1" dirty="0">
                <a:solidFill>
                  <a:srgbClr val="538235"/>
                </a:solidFill>
                <a:latin typeface="Arial"/>
                <a:cs typeface="Arial"/>
              </a:rPr>
              <a:t>sleep</a:t>
            </a:r>
            <a:r>
              <a:rPr sz="1500" b="1" spc="-45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expired, </a:t>
            </a:r>
            <a:r>
              <a:rPr sz="1500" b="1" dirty="0">
                <a:solidFill>
                  <a:srgbClr val="538235"/>
                </a:solidFill>
                <a:latin typeface="Arial"/>
                <a:cs typeface="Arial"/>
              </a:rPr>
              <a:t>join</a:t>
            </a:r>
            <a:r>
              <a:rPr sz="1500" b="1" spc="-30" dirty="0">
                <a:solidFill>
                  <a:srgbClr val="538235"/>
                </a:solidFill>
                <a:latin typeface="Arial"/>
                <a:cs typeface="Arial"/>
              </a:rPr>
              <a:t> </a:t>
            </a:r>
            <a:r>
              <a:rPr sz="1500" b="1" spc="-10" dirty="0">
                <a:solidFill>
                  <a:srgbClr val="538235"/>
                </a:solidFill>
                <a:latin typeface="Arial"/>
                <a:cs typeface="Arial"/>
              </a:rPr>
              <a:t>complete resume</a:t>
            </a:r>
            <a:endParaRPr sz="150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50" name="object 50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5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0332" y="217931"/>
              <a:ext cx="2759963" cy="789431"/>
            </a:xfrm>
            <a:prstGeom prst="rect">
              <a:avLst/>
            </a:prstGeom>
          </p:spPr>
        </p:pic>
      </p:grpSp>
      <p:sp>
        <p:nvSpPr>
          <p:cNvPr id="52" name="object 52"/>
          <p:cNvSpPr txBox="1">
            <a:spLocks noGrp="1"/>
          </p:cNvSpPr>
          <p:nvPr>
            <p:ph type="title"/>
          </p:nvPr>
        </p:nvSpPr>
        <p:spPr>
          <a:xfrm>
            <a:off x="578612" y="312673"/>
            <a:ext cx="23158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 </a:t>
            </a:r>
            <a:r>
              <a:rPr spc="-135" dirty="0"/>
              <a:t>States</a:t>
            </a:r>
          </a:p>
        </p:txBody>
      </p:sp>
      <p:pic>
        <p:nvPicPr>
          <p:cNvPr id="53" name="object 5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873300"/>
            <a:ext cx="5283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7B7B7B"/>
                </a:solidFill>
                <a:latin typeface="Times New Roman"/>
                <a:cs typeface="Times New Roman"/>
              </a:rPr>
              <a:t>start</a:t>
            </a:r>
            <a:r>
              <a:rPr sz="1500" spc="-25" dirty="0">
                <a:solidFill>
                  <a:srgbClr val="7B7B7B"/>
                </a:solidFill>
                <a:latin typeface="Times New Roman"/>
                <a:cs typeface="Times New Roman"/>
              </a:rPr>
              <a:t> ()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36980" y="885492"/>
            <a:ext cx="7672070" cy="4489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-635">
              <a:lnSpc>
                <a:spcPct val="101499"/>
              </a:lnSpc>
              <a:spcBef>
                <a:spcPts val="75"/>
              </a:spcBef>
            </a:pPr>
            <a:r>
              <a:rPr sz="1400" dirty="0">
                <a:solidFill>
                  <a:srgbClr val="7B7B7B"/>
                </a:solidFill>
                <a:latin typeface="Times New Roman"/>
                <a:cs typeface="Times New Roman"/>
              </a:rPr>
              <a:t>:</a:t>
            </a:r>
            <a:r>
              <a:rPr sz="1400" dirty="0">
                <a:solidFill>
                  <a:srgbClr val="7B7B7B"/>
                </a:solidFill>
                <a:latin typeface="Cambria Math"/>
                <a:cs typeface="Cambria Math"/>
              </a:rPr>
              <a:t>→</a:t>
            </a:r>
            <a:r>
              <a:rPr sz="1400" spc="-10" dirty="0">
                <a:solidFill>
                  <a:srgbClr val="7B7B7B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</a:t>
            </a:r>
            <a:r>
              <a:rPr sz="1350" spc="10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newborn</a:t>
            </a:r>
            <a:r>
              <a:rPr sz="1350" spc="17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thread</a:t>
            </a:r>
            <a:r>
              <a:rPr sz="1350" spc="17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with</a:t>
            </a:r>
            <a:r>
              <a:rPr sz="1350" spc="17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this</a:t>
            </a:r>
            <a:r>
              <a:rPr sz="1350" spc="16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method</a:t>
            </a:r>
            <a:r>
              <a:rPr sz="1350" spc="17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enter</a:t>
            </a:r>
            <a:r>
              <a:rPr sz="1350" spc="16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into</a:t>
            </a:r>
            <a:r>
              <a:rPr sz="1350" spc="170" dirty="0"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Runnable</a:t>
            </a:r>
            <a:r>
              <a:rPr sz="1350" spc="17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state</a:t>
            </a:r>
            <a:r>
              <a:rPr sz="1350" spc="17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and</a:t>
            </a:r>
            <a:r>
              <a:rPr sz="1350" spc="17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Java</a:t>
            </a:r>
            <a:r>
              <a:rPr sz="1350" spc="1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run</a:t>
            </a:r>
            <a:r>
              <a:rPr sz="1350" spc="17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time</a:t>
            </a:r>
            <a:r>
              <a:rPr sz="1350" spc="16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create</a:t>
            </a:r>
            <a:r>
              <a:rPr sz="1350" spc="17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</a:t>
            </a:r>
            <a:r>
              <a:rPr sz="1350" spc="17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system</a:t>
            </a:r>
            <a:r>
              <a:rPr sz="1350" spc="160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thread </a:t>
            </a:r>
            <a:r>
              <a:rPr sz="1350" dirty="0">
                <a:latin typeface="Times New Roman"/>
                <a:cs typeface="Times New Roman"/>
              </a:rPr>
              <a:t>context</a:t>
            </a:r>
            <a:r>
              <a:rPr sz="1350" spc="-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and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starts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it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running.</a:t>
            </a:r>
            <a:r>
              <a:rPr sz="1350" spc="-65" dirty="0"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This</a:t>
            </a:r>
            <a:r>
              <a:rPr sz="135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method</a:t>
            </a:r>
            <a:r>
              <a:rPr sz="135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for</a:t>
            </a:r>
            <a:r>
              <a:rPr sz="1350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a</a:t>
            </a:r>
            <a:r>
              <a:rPr sz="135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thread</a:t>
            </a:r>
            <a:r>
              <a:rPr sz="135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object</a:t>
            </a:r>
            <a:r>
              <a:rPr sz="135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can</a:t>
            </a:r>
            <a:r>
              <a:rPr sz="1350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be</a:t>
            </a:r>
            <a:r>
              <a:rPr sz="135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called</a:t>
            </a:r>
            <a:r>
              <a:rPr sz="135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once</a:t>
            </a:r>
            <a:r>
              <a:rPr sz="135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spc="-20" dirty="0">
                <a:solidFill>
                  <a:srgbClr val="FF3300"/>
                </a:solidFill>
                <a:latin typeface="Times New Roman"/>
                <a:cs typeface="Times New Roman"/>
              </a:rPr>
              <a:t>only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3540" y="1716072"/>
            <a:ext cx="8529320" cy="4610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5505" marR="5080" indent="-85344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7B7B7B"/>
                </a:solidFill>
                <a:latin typeface="Times New Roman"/>
                <a:cs typeface="Times New Roman"/>
              </a:rPr>
              <a:t>suspend()</a:t>
            </a:r>
            <a:r>
              <a:rPr sz="1500" spc="455" dirty="0">
                <a:solidFill>
                  <a:srgbClr val="7B7B7B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7B7B7B"/>
                </a:solidFill>
                <a:latin typeface="Times New Roman"/>
                <a:cs typeface="Times New Roman"/>
              </a:rPr>
              <a:t>:</a:t>
            </a:r>
            <a:r>
              <a:rPr sz="1400" dirty="0">
                <a:solidFill>
                  <a:srgbClr val="7B7B7B"/>
                </a:solidFill>
                <a:latin typeface="Cambria Math"/>
                <a:cs typeface="Cambria Math"/>
              </a:rPr>
              <a:t>→</a:t>
            </a:r>
            <a:r>
              <a:rPr sz="1400" spc="-10" dirty="0">
                <a:solidFill>
                  <a:srgbClr val="7B7B7B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This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method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is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different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from</a:t>
            </a:r>
            <a:r>
              <a:rPr sz="1350" spc="20" dirty="0"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stop(</a:t>
            </a:r>
            <a:r>
              <a:rPr sz="1350" spc="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)</a:t>
            </a:r>
            <a:r>
              <a:rPr sz="1350" spc="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method.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It</a:t>
            </a:r>
            <a:r>
              <a:rPr sz="1350" spc="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takes</a:t>
            </a:r>
            <a:r>
              <a:rPr sz="1350" spc="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thread</a:t>
            </a:r>
            <a:r>
              <a:rPr sz="1350" spc="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and</a:t>
            </a:r>
            <a:r>
              <a:rPr sz="1350" spc="40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causes</a:t>
            </a:r>
            <a:r>
              <a:rPr sz="1350" spc="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it</a:t>
            </a:r>
            <a:r>
              <a:rPr sz="1350" spc="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to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stop</a:t>
            </a:r>
            <a:r>
              <a:rPr sz="1350" spc="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running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and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later</a:t>
            </a:r>
            <a:r>
              <a:rPr sz="1350" spc="35" dirty="0">
                <a:latin typeface="Times New Roman"/>
                <a:cs typeface="Times New Roman"/>
              </a:rPr>
              <a:t> </a:t>
            </a:r>
            <a:r>
              <a:rPr sz="1350" spc="-25" dirty="0">
                <a:latin typeface="Times New Roman"/>
                <a:cs typeface="Times New Roman"/>
              </a:rPr>
              <a:t>on </a:t>
            </a:r>
            <a:r>
              <a:rPr sz="1350" dirty="0">
                <a:latin typeface="Times New Roman"/>
                <a:cs typeface="Times New Roman"/>
              </a:rPr>
              <a:t>can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be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restored</a:t>
            </a:r>
            <a:r>
              <a:rPr sz="1350" spc="-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(by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resume()</a:t>
            </a:r>
            <a:r>
              <a:rPr sz="135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spc="-50" dirty="0">
                <a:solidFill>
                  <a:srgbClr val="FF3300"/>
                </a:solidFill>
                <a:latin typeface="Times New Roman"/>
                <a:cs typeface="Times New Roman"/>
              </a:rPr>
              <a:t>)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2458260"/>
            <a:ext cx="6578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7B7B7B"/>
                </a:solidFill>
                <a:latin typeface="Times New Roman"/>
                <a:cs typeface="Times New Roman"/>
              </a:rPr>
              <a:t>resume()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36899" y="2458260"/>
            <a:ext cx="7674609" cy="651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7B7B7B"/>
                </a:solidFill>
                <a:latin typeface="Times New Roman"/>
                <a:cs typeface="Times New Roman"/>
              </a:rPr>
              <a:t>:</a:t>
            </a:r>
            <a:r>
              <a:rPr sz="1400" dirty="0">
                <a:solidFill>
                  <a:srgbClr val="7B7B7B"/>
                </a:solidFill>
                <a:latin typeface="Cambria Math"/>
                <a:cs typeface="Cambria Math"/>
              </a:rPr>
              <a:t>→</a:t>
            </a:r>
            <a:r>
              <a:rPr sz="1400" spc="-10" dirty="0">
                <a:solidFill>
                  <a:srgbClr val="7B7B7B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This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method</a:t>
            </a:r>
            <a:r>
              <a:rPr sz="1350" spc="10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is</a:t>
            </a:r>
            <a:r>
              <a:rPr sz="1350" spc="7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used</a:t>
            </a:r>
            <a:r>
              <a:rPr sz="1350" spc="90" dirty="0">
                <a:latin typeface="Times New Roman"/>
                <a:cs typeface="Times New Roman"/>
              </a:rPr>
              <a:t>  </a:t>
            </a:r>
            <a:r>
              <a:rPr sz="1350" dirty="0">
                <a:latin typeface="Times New Roman"/>
                <a:cs typeface="Times New Roman"/>
              </a:rPr>
              <a:t>to</a:t>
            </a:r>
            <a:r>
              <a:rPr sz="1350" spc="9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revive</a:t>
            </a:r>
            <a:r>
              <a:rPr sz="1350" spc="9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</a:t>
            </a:r>
            <a:r>
              <a:rPr sz="1350" spc="7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suspended</a:t>
            </a:r>
            <a:r>
              <a:rPr sz="1350" spc="10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thread.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There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is</a:t>
            </a:r>
            <a:r>
              <a:rPr sz="1350" spc="7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no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gurantee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that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thread</a:t>
            </a:r>
            <a:r>
              <a:rPr sz="1350" spc="10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will</a:t>
            </a:r>
            <a:r>
              <a:rPr sz="1350" spc="8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start</a:t>
            </a:r>
            <a:r>
              <a:rPr sz="1350" spc="90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running </a:t>
            </a:r>
            <a:r>
              <a:rPr sz="1350" dirty="0">
                <a:latin typeface="Times New Roman"/>
                <a:cs typeface="Times New Roman"/>
              </a:rPr>
              <a:t>right</a:t>
            </a:r>
            <a:r>
              <a:rPr sz="1350" spc="1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way,</a:t>
            </a:r>
            <a:r>
              <a:rPr sz="1350" spc="1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since</a:t>
            </a:r>
            <a:r>
              <a:rPr sz="1350" spc="1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there</a:t>
            </a:r>
            <a:r>
              <a:rPr sz="1350" spc="1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might</a:t>
            </a:r>
            <a:r>
              <a:rPr sz="1350" spc="1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be</a:t>
            </a:r>
            <a:r>
              <a:rPr sz="1350" spc="1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</a:t>
            </a:r>
            <a:r>
              <a:rPr sz="1350" spc="14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higher</a:t>
            </a:r>
            <a:r>
              <a:rPr sz="1350" spc="15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priority</a:t>
            </a:r>
            <a:r>
              <a:rPr sz="1350" spc="15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thread</a:t>
            </a:r>
            <a:r>
              <a:rPr sz="1350" spc="15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running</a:t>
            </a:r>
            <a:r>
              <a:rPr sz="1350" spc="1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already,</a:t>
            </a:r>
            <a:r>
              <a:rPr sz="1350" spc="1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but,</a:t>
            </a:r>
            <a:r>
              <a:rPr sz="1350" spc="1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resume()</a:t>
            </a:r>
            <a:r>
              <a:rPr sz="1350" spc="15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causes</a:t>
            </a:r>
            <a:r>
              <a:rPr sz="1350" spc="15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14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thread</a:t>
            </a:r>
            <a:r>
              <a:rPr sz="1350" spc="155" dirty="0">
                <a:latin typeface="Times New Roman"/>
                <a:cs typeface="Times New Roman"/>
              </a:rPr>
              <a:t> </a:t>
            </a:r>
            <a:r>
              <a:rPr sz="1350" spc="-25" dirty="0">
                <a:latin typeface="Times New Roman"/>
                <a:cs typeface="Times New Roman"/>
              </a:rPr>
              <a:t>to </a:t>
            </a:r>
            <a:r>
              <a:rPr sz="1350" dirty="0">
                <a:latin typeface="Times New Roman"/>
                <a:cs typeface="Times New Roman"/>
              </a:rPr>
              <a:t>become</a:t>
            </a:r>
            <a:r>
              <a:rPr sz="1350" spc="-3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eligible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for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spc="-10" dirty="0">
                <a:latin typeface="Times New Roman"/>
                <a:cs typeface="Times New Roman"/>
              </a:rPr>
              <a:t>running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540" y="3265980"/>
            <a:ext cx="69094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7B7B7B"/>
                </a:solidFill>
                <a:latin typeface="Times New Roman"/>
                <a:cs typeface="Times New Roman"/>
              </a:rPr>
              <a:t>sleep(int</a:t>
            </a:r>
            <a:r>
              <a:rPr sz="1500" spc="-50" dirty="0">
                <a:solidFill>
                  <a:srgbClr val="7B7B7B"/>
                </a:solidFill>
                <a:latin typeface="Times New Roman"/>
                <a:cs typeface="Times New Roman"/>
              </a:rPr>
              <a:t> </a:t>
            </a:r>
            <a:r>
              <a:rPr sz="1500" dirty="0">
                <a:solidFill>
                  <a:srgbClr val="7B7B7B"/>
                </a:solidFill>
                <a:latin typeface="Times New Roman"/>
                <a:cs typeface="Times New Roman"/>
              </a:rPr>
              <a:t>n):</a:t>
            </a:r>
            <a:r>
              <a:rPr sz="1500" dirty="0">
                <a:solidFill>
                  <a:srgbClr val="7B7B7B"/>
                </a:solidFill>
                <a:latin typeface="Cambria Math"/>
                <a:cs typeface="Cambria Math"/>
              </a:rPr>
              <a:t>→</a:t>
            </a:r>
            <a:r>
              <a:rPr sz="1500" spc="-10" dirty="0">
                <a:solidFill>
                  <a:srgbClr val="7B7B7B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This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method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causes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run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time</a:t>
            </a:r>
            <a:r>
              <a:rPr sz="1350" spc="-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to put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current</a:t>
            </a:r>
            <a:r>
              <a:rPr sz="1350" spc="-5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thread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to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sleep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for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n</a:t>
            </a:r>
            <a:r>
              <a:rPr sz="1350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spc="-10" dirty="0">
                <a:solidFill>
                  <a:srgbClr val="FF3300"/>
                </a:solidFill>
                <a:latin typeface="Times New Roman"/>
                <a:cs typeface="Times New Roman"/>
              </a:rPr>
              <a:t>milliseconds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3540" y="3678984"/>
            <a:ext cx="534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7B7B7B"/>
                </a:solidFill>
                <a:latin typeface="Times New Roman"/>
                <a:cs typeface="Times New Roman"/>
              </a:rPr>
              <a:t>yield()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36554" y="3691176"/>
            <a:ext cx="7675880" cy="4489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75"/>
              </a:spcBef>
            </a:pPr>
            <a:r>
              <a:rPr sz="1400" dirty="0">
                <a:solidFill>
                  <a:srgbClr val="7B7B7B"/>
                </a:solidFill>
                <a:latin typeface="Times New Roman"/>
                <a:cs typeface="Times New Roman"/>
              </a:rPr>
              <a:t>:</a:t>
            </a:r>
            <a:r>
              <a:rPr sz="1400" dirty="0">
                <a:solidFill>
                  <a:srgbClr val="7B7B7B"/>
                </a:solidFill>
                <a:latin typeface="Cambria Math"/>
                <a:cs typeface="Cambria Math"/>
              </a:rPr>
              <a:t>→</a:t>
            </a:r>
            <a:r>
              <a:rPr sz="1400" spc="-30" dirty="0">
                <a:solidFill>
                  <a:srgbClr val="7B7B7B"/>
                </a:solidFill>
                <a:latin typeface="Cambria Math"/>
                <a:cs typeface="Cambria Math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This</a:t>
            </a:r>
            <a:r>
              <a:rPr sz="1350" spc="-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method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causes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run</a:t>
            </a:r>
            <a:r>
              <a:rPr sz="1350" spc="-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time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to</a:t>
            </a:r>
            <a:r>
              <a:rPr sz="1350" spc="-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switch the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context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from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the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current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thread</a:t>
            </a:r>
            <a:r>
              <a:rPr sz="1350" spc="-2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to the</a:t>
            </a:r>
            <a:r>
              <a:rPr sz="1350" spc="-2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next</a:t>
            </a:r>
            <a:r>
              <a:rPr sz="1350" spc="-1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available</a:t>
            </a:r>
            <a:r>
              <a:rPr sz="1350" spc="-10" dirty="0">
                <a:latin typeface="Times New Roman"/>
                <a:cs typeface="Times New Roman"/>
              </a:rPr>
              <a:t> runnable </a:t>
            </a:r>
            <a:r>
              <a:rPr sz="1350" dirty="0">
                <a:latin typeface="Times New Roman"/>
                <a:cs typeface="Times New Roman"/>
              </a:rPr>
              <a:t>thread.</a:t>
            </a:r>
            <a:r>
              <a:rPr sz="1350" spc="-7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This</a:t>
            </a:r>
            <a:r>
              <a:rPr sz="1350" spc="-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is</a:t>
            </a:r>
            <a:r>
              <a:rPr sz="1350" spc="-5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one</a:t>
            </a:r>
            <a:r>
              <a:rPr sz="1350" spc="-30" dirty="0">
                <a:latin typeface="Times New Roman"/>
                <a:cs typeface="Times New Roman"/>
              </a:rPr>
              <a:t> </a:t>
            </a:r>
            <a:r>
              <a:rPr sz="1350" dirty="0">
                <a:latin typeface="Times New Roman"/>
                <a:cs typeface="Times New Roman"/>
              </a:rPr>
              <a:t>way</a:t>
            </a:r>
            <a:r>
              <a:rPr sz="1350" spc="-10" dirty="0"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to ensure</a:t>
            </a:r>
            <a:r>
              <a:rPr sz="1350" spc="-4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that</a:t>
            </a:r>
            <a:r>
              <a:rPr sz="135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the</a:t>
            </a:r>
            <a:r>
              <a:rPr sz="1350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threads</a:t>
            </a:r>
            <a:r>
              <a:rPr sz="135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at</a:t>
            </a:r>
            <a:r>
              <a:rPr sz="135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lower</a:t>
            </a:r>
            <a:r>
              <a:rPr sz="135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priority</a:t>
            </a:r>
            <a:r>
              <a:rPr sz="1350" spc="-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do</a:t>
            </a:r>
            <a:r>
              <a:rPr sz="135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not</a:t>
            </a:r>
            <a:r>
              <a:rPr sz="135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350" dirty="0">
                <a:solidFill>
                  <a:srgbClr val="FF3300"/>
                </a:solidFill>
                <a:latin typeface="Times New Roman"/>
                <a:cs typeface="Times New Roman"/>
              </a:rPr>
              <a:t>get</a:t>
            </a:r>
            <a:r>
              <a:rPr sz="1350" spc="-10" dirty="0">
                <a:solidFill>
                  <a:srgbClr val="FF3300"/>
                </a:solidFill>
                <a:latin typeface="Times New Roman"/>
                <a:cs typeface="Times New Roman"/>
              </a:rPr>
              <a:t> started</a:t>
            </a:r>
            <a:endParaRPr sz="13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11" name="object 11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2" y="217931"/>
              <a:ext cx="4543043" cy="789431"/>
            </a:xfrm>
            <a:prstGeom prst="rect">
              <a:avLst/>
            </a:prstGeom>
          </p:spPr>
        </p:pic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</a:t>
            </a:r>
            <a:r>
              <a:rPr spc="-114" dirty="0"/>
              <a:t> </a:t>
            </a:r>
            <a:r>
              <a:rPr spc="-65" dirty="0"/>
              <a:t>control</a:t>
            </a:r>
            <a:r>
              <a:rPr spc="-120" dirty="0"/>
              <a:t> </a:t>
            </a:r>
            <a:r>
              <a:rPr spc="-40" dirty="0"/>
              <a:t>methods</a:t>
            </a:r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3600" y="1118628"/>
            <a:ext cx="6941820" cy="2362200"/>
            <a:chOff x="2133600" y="1118628"/>
            <a:chExt cx="6941820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3600" y="1118628"/>
              <a:ext cx="2362187" cy="23621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4255" y="1943100"/>
              <a:ext cx="4741163" cy="8991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4540" y="2027174"/>
            <a:ext cx="42329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Scheduling</a:t>
            </a:r>
            <a:r>
              <a:rPr sz="3200" b="0" spc="-9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of</a:t>
            </a:r>
            <a:r>
              <a:rPr sz="3200" b="0" spc="-7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Yu Gothic"/>
                <a:cs typeface="Yu Gothic"/>
              </a:rPr>
              <a:t>Threads</a:t>
            </a:r>
            <a:endParaRPr sz="32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55206"/>
            <a:ext cx="4431030" cy="309499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J</a:t>
            </a:r>
            <a:r>
              <a:rPr sz="2200" dirty="0">
                <a:latin typeface="Times New Roman"/>
                <a:cs typeface="Times New Roman"/>
              </a:rPr>
              <a:t>ava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threads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types</a:t>
            </a:r>
            <a:endParaRPr sz="2200">
              <a:latin typeface="Times New Roman"/>
              <a:cs typeface="Times New Roman"/>
            </a:endParaRPr>
          </a:p>
          <a:p>
            <a:pPr marL="812165" indent="-456565">
              <a:lnSpc>
                <a:spcPct val="100000"/>
              </a:lnSpc>
              <a:spcBef>
                <a:spcPts val="195"/>
              </a:spcBef>
              <a:buFont typeface="Wingdings"/>
              <a:buChar char=""/>
              <a:tabLst>
                <a:tab pos="812165" algn="l"/>
              </a:tabLst>
            </a:pPr>
            <a:r>
              <a:rPr sz="1800" spc="-20" dirty="0">
                <a:solidFill>
                  <a:srgbClr val="FF3300"/>
                </a:solidFill>
                <a:latin typeface="Times New Roman"/>
                <a:cs typeface="Times New Roman"/>
              </a:rPr>
              <a:t>User</a:t>
            </a:r>
            <a:endParaRPr sz="1800">
              <a:latin typeface="Times New Roman"/>
              <a:cs typeface="Times New Roman"/>
            </a:endParaRPr>
          </a:p>
          <a:p>
            <a:pPr marL="812165" indent="-456565">
              <a:lnSpc>
                <a:spcPct val="100000"/>
              </a:lnSpc>
              <a:spcBef>
                <a:spcPts val="195"/>
              </a:spcBef>
              <a:buFont typeface="Wingdings"/>
              <a:buChar char=""/>
              <a:tabLst>
                <a:tab pos="812165" algn="l"/>
              </a:tabLst>
            </a:pP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Daemon</a:t>
            </a:r>
            <a:endParaRPr sz="18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210"/>
              </a:spcBef>
              <a:tabLst>
                <a:tab pos="1040765" algn="l"/>
              </a:tabLst>
            </a:pPr>
            <a:r>
              <a:rPr sz="1600" spc="-50" dirty="0">
                <a:latin typeface="Times New Roman"/>
                <a:cs typeface="Times New Roman"/>
              </a:rPr>
              <a:t>−</a:t>
            </a:r>
            <a:r>
              <a:rPr sz="1600" dirty="0">
                <a:latin typeface="Times New Roman"/>
                <a:cs typeface="Times New Roman"/>
              </a:rPr>
              <a:t>	Provide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general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services.</a:t>
            </a:r>
            <a:endParaRPr sz="16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204"/>
              </a:spcBef>
              <a:tabLst>
                <a:tab pos="1040765" algn="l"/>
              </a:tabLst>
            </a:pPr>
            <a:r>
              <a:rPr sz="1600" spc="-50" dirty="0">
                <a:latin typeface="Times New Roman"/>
                <a:cs typeface="Times New Roman"/>
              </a:rPr>
              <a:t>−</a:t>
            </a:r>
            <a:r>
              <a:rPr sz="1600" dirty="0">
                <a:latin typeface="Times New Roman"/>
                <a:cs typeface="Times New Roman"/>
              </a:rPr>
              <a:t>	</a:t>
            </a:r>
            <a:r>
              <a:rPr sz="1600" spc="-10" dirty="0">
                <a:latin typeface="Times New Roman"/>
                <a:cs typeface="Times New Roman"/>
              </a:rPr>
              <a:t>Typically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never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terminate.</a:t>
            </a:r>
            <a:endParaRPr sz="16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  <a:spcBef>
                <a:spcPts val="204"/>
              </a:spcBef>
              <a:tabLst>
                <a:tab pos="1040765" algn="l"/>
              </a:tabLst>
            </a:pPr>
            <a:r>
              <a:rPr sz="1600" spc="-50" dirty="0">
                <a:latin typeface="Times New Roman"/>
                <a:cs typeface="Times New Roman"/>
              </a:rPr>
              <a:t>−</a:t>
            </a:r>
            <a:r>
              <a:rPr sz="1600" dirty="0">
                <a:latin typeface="Times New Roman"/>
                <a:cs typeface="Times New Roman"/>
              </a:rPr>
              <a:t>	Call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FF"/>
                </a:solidFill>
                <a:latin typeface="Times New Roman"/>
                <a:cs typeface="Times New Roman"/>
              </a:rPr>
              <a:t>setDaemon()</a:t>
            </a:r>
            <a:r>
              <a:rPr sz="1600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before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FF"/>
                </a:solidFill>
                <a:latin typeface="Times New Roman"/>
                <a:cs typeface="Times New Roman"/>
              </a:rPr>
              <a:t>start()</a:t>
            </a:r>
            <a:r>
              <a:rPr sz="1600" spc="-10" dirty="0">
                <a:latin typeface="Times New Roman"/>
                <a:cs typeface="Times New Roman"/>
              </a:rPr>
              <a:t>.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2200" dirty="0">
                <a:latin typeface="Times New Roman"/>
                <a:cs typeface="Times New Roman"/>
              </a:rPr>
              <a:t>Program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termination</a:t>
            </a:r>
            <a:endParaRPr sz="2200">
              <a:latin typeface="Times New Roman"/>
              <a:cs typeface="Times New Roman"/>
            </a:endParaRPr>
          </a:p>
          <a:p>
            <a:pPr marL="697865" indent="-342265">
              <a:lnSpc>
                <a:spcPct val="100000"/>
              </a:lnSpc>
              <a:spcBef>
                <a:spcPts val="204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All</a:t>
            </a:r>
            <a:r>
              <a:rPr sz="18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user</a:t>
            </a: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threads</a:t>
            </a:r>
            <a:r>
              <a:rPr sz="1800" spc="-4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finish.</a:t>
            </a:r>
            <a:endParaRPr sz="1800">
              <a:latin typeface="Times New Roman"/>
              <a:cs typeface="Times New Roman"/>
            </a:endParaRPr>
          </a:p>
          <a:p>
            <a:pPr marL="697865" indent="-342265">
              <a:lnSpc>
                <a:spcPct val="100000"/>
              </a:lnSpc>
              <a:spcBef>
                <a:spcPts val="180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Daemon</a:t>
            </a:r>
            <a:r>
              <a:rPr sz="18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threads</a:t>
            </a:r>
            <a:r>
              <a:rPr sz="1800" spc="-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are</a:t>
            </a:r>
            <a:r>
              <a:rPr sz="18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terminated</a:t>
            </a:r>
            <a:r>
              <a:rPr sz="1800" spc="-4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by</a:t>
            </a:r>
            <a:r>
              <a:rPr sz="1800" spc="-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FF3300"/>
                </a:solidFill>
                <a:latin typeface="Times New Roman"/>
                <a:cs typeface="Times New Roman"/>
              </a:rPr>
              <a:t>JVM.</a:t>
            </a:r>
            <a:endParaRPr sz="1800">
              <a:latin typeface="Times New Roman"/>
              <a:cs typeface="Times New Roman"/>
            </a:endParaRPr>
          </a:p>
          <a:p>
            <a:pPr marL="697865" indent="-342265">
              <a:lnSpc>
                <a:spcPct val="100000"/>
              </a:lnSpc>
              <a:spcBef>
                <a:spcPts val="180"/>
              </a:spcBef>
              <a:buFont typeface="Wingdings"/>
              <a:buChar char=""/>
              <a:tabLst>
                <a:tab pos="697865" algn="l"/>
              </a:tabLst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Main</a:t>
            </a:r>
            <a:r>
              <a:rPr sz="1800" spc="-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program</a:t>
            </a:r>
            <a:r>
              <a:rPr sz="18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finishes.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3343655" cy="78941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Daemon</a:t>
            </a:r>
            <a:r>
              <a:rPr spc="-65" dirty="0"/>
              <a:t> </a:t>
            </a:r>
            <a:r>
              <a:rPr spc="-70" dirty="0"/>
              <a:t>threads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934715"/>
            <a:ext cx="4780915" cy="26346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2200" spc="-10" dirty="0">
                <a:latin typeface="Times New Roman"/>
                <a:cs typeface="Times New Roman"/>
              </a:rPr>
              <a:t>Scheduler</a:t>
            </a:r>
            <a:endParaRPr sz="2200">
              <a:latin typeface="Times New Roman"/>
              <a:cs typeface="Times New Roman"/>
            </a:endParaRPr>
          </a:p>
          <a:p>
            <a:pPr marL="547370" indent="-205104">
              <a:lnSpc>
                <a:spcPct val="100000"/>
              </a:lnSpc>
              <a:spcBef>
                <a:spcPts val="180"/>
              </a:spcBef>
              <a:buSzPct val="94736"/>
              <a:buFont typeface="Wingdings"/>
              <a:buChar char=""/>
              <a:tabLst>
                <a:tab pos="547370" algn="l"/>
              </a:tabLst>
            </a:pPr>
            <a:r>
              <a:rPr sz="1900" dirty="0">
                <a:latin typeface="Times New Roman"/>
                <a:cs typeface="Times New Roman"/>
              </a:rPr>
              <a:t>Determines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which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runnable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threads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run.</a:t>
            </a:r>
            <a:endParaRPr sz="1900">
              <a:latin typeface="Times New Roman"/>
              <a:cs typeface="Times New Roman"/>
            </a:endParaRPr>
          </a:p>
          <a:p>
            <a:pPr marL="547370" indent="-205104">
              <a:lnSpc>
                <a:spcPct val="100000"/>
              </a:lnSpc>
              <a:spcBef>
                <a:spcPts val="180"/>
              </a:spcBef>
              <a:buSzPct val="94736"/>
              <a:buFont typeface="Wingdings"/>
              <a:buChar char=""/>
              <a:tabLst>
                <a:tab pos="547370" algn="l"/>
              </a:tabLst>
            </a:pPr>
            <a:r>
              <a:rPr sz="1900" dirty="0">
                <a:latin typeface="Times New Roman"/>
                <a:cs typeface="Times New Roman"/>
              </a:rPr>
              <a:t>Can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based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thread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solidFill>
                  <a:srgbClr val="FF3300"/>
                </a:solidFill>
                <a:latin typeface="Times New Roman"/>
                <a:cs typeface="Times New Roman"/>
              </a:rPr>
              <a:t>priority.</a:t>
            </a:r>
            <a:endParaRPr sz="1900">
              <a:latin typeface="Times New Roman"/>
              <a:cs typeface="Times New Roman"/>
            </a:endParaRPr>
          </a:p>
          <a:p>
            <a:pPr marL="547370" indent="-205104">
              <a:lnSpc>
                <a:spcPct val="100000"/>
              </a:lnSpc>
              <a:spcBef>
                <a:spcPts val="165"/>
              </a:spcBef>
              <a:buSzPct val="94736"/>
              <a:buFont typeface="Wingdings"/>
              <a:buChar char=""/>
              <a:tabLst>
                <a:tab pos="547370" algn="l"/>
              </a:tabLst>
            </a:pPr>
            <a:r>
              <a:rPr sz="1900" dirty="0">
                <a:latin typeface="Times New Roman"/>
                <a:cs typeface="Times New Roman"/>
              </a:rPr>
              <a:t>Part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or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Java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Virtual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Machine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(JVM)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5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Font typeface="Wingdings"/>
              <a:buChar char=""/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Scheduling</a:t>
            </a:r>
            <a:r>
              <a:rPr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policy</a:t>
            </a:r>
            <a:endParaRPr sz="2200">
              <a:latin typeface="Times New Roman"/>
              <a:cs typeface="Times New Roman"/>
            </a:endParaRPr>
          </a:p>
          <a:p>
            <a:pPr marL="536575" indent="-193675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Nonpreemptive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(cooperative)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scheduling.</a:t>
            </a:r>
            <a:endParaRPr sz="1800">
              <a:latin typeface="Times New Roman"/>
              <a:cs typeface="Times New Roman"/>
            </a:endParaRPr>
          </a:p>
          <a:p>
            <a:pPr marL="536575" indent="-193675">
              <a:lnSpc>
                <a:spcPct val="100000"/>
              </a:lnSpc>
              <a:spcBef>
                <a:spcPts val="190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Preemptive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scheduling.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2" y="217931"/>
              <a:ext cx="4018787" cy="78943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20" dirty="0"/>
              <a:t>Threads</a:t>
            </a:r>
            <a:r>
              <a:rPr spc="-55" dirty="0"/>
              <a:t> </a:t>
            </a:r>
            <a:r>
              <a:rPr spc="-240" dirty="0"/>
              <a:t>:</a:t>
            </a:r>
            <a:r>
              <a:rPr spc="-35" dirty="0"/>
              <a:t> </a:t>
            </a:r>
            <a:r>
              <a:rPr spc="-30" dirty="0"/>
              <a:t>Scheduling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9740" y="832608"/>
            <a:ext cx="5453380" cy="12858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dirty="0">
                <a:latin typeface="Times New Roman"/>
                <a:cs typeface="Times New Roman"/>
              </a:rPr>
              <a:t>Threads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continue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execution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until</a:t>
            </a:r>
            <a:endParaRPr sz="2200">
              <a:latin typeface="Times New Roman"/>
              <a:cs typeface="Times New Roman"/>
            </a:endParaRPr>
          </a:p>
          <a:p>
            <a:pPr marL="536575" indent="-193675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Thread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terminates.</a:t>
            </a:r>
            <a:endParaRPr sz="1800">
              <a:latin typeface="Times New Roman"/>
              <a:cs typeface="Times New Roman"/>
            </a:endParaRPr>
          </a:p>
          <a:p>
            <a:pPr marL="536575" indent="-193675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Executes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instruction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causing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(e.g.,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IO).</a:t>
            </a:r>
            <a:endParaRPr sz="1800">
              <a:latin typeface="Times New Roman"/>
              <a:cs typeface="Times New Roman"/>
            </a:endParaRPr>
          </a:p>
          <a:p>
            <a:pPr marL="536575" indent="-193675">
              <a:lnSpc>
                <a:spcPct val="100000"/>
              </a:lnSpc>
              <a:spcBef>
                <a:spcPts val="180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</a:t>
            </a:r>
            <a:r>
              <a:rPr sz="18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volunteering</a:t>
            </a:r>
            <a:r>
              <a:rPr sz="18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to</a:t>
            </a:r>
            <a:r>
              <a:rPr sz="1800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stop</a:t>
            </a:r>
            <a:r>
              <a:rPr sz="18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(invoking</a:t>
            </a:r>
            <a:r>
              <a:rPr sz="18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yield</a:t>
            </a:r>
            <a:r>
              <a:rPr sz="1800" spc="-5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or</a:t>
            </a:r>
            <a:r>
              <a:rPr sz="1800" spc="-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sleep).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24075" y="2361819"/>
            <a:ext cx="4667250" cy="1884680"/>
            <a:chOff x="2124075" y="2361819"/>
            <a:chExt cx="4667250" cy="18846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3600" y="2371344"/>
              <a:ext cx="4648199" cy="186537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28837" y="2366581"/>
              <a:ext cx="4657725" cy="1875155"/>
            </a:xfrm>
            <a:custGeom>
              <a:avLst/>
              <a:gdLst/>
              <a:ahLst/>
              <a:cxnLst/>
              <a:rect l="l" t="t" r="r" b="b"/>
              <a:pathLst>
                <a:path w="4657725" h="1875154">
                  <a:moveTo>
                    <a:pt x="0" y="0"/>
                  </a:moveTo>
                  <a:lnTo>
                    <a:pt x="4657725" y="0"/>
                  </a:lnTo>
                  <a:lnTo>
                    <a:pt x="4657725" y="1874901"/>
                  </a:lnTo>
                  <a:lnTo>
                    <a:pt x="0" y="187490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4762" y="217932"/>
            <a:ext cx="9153525" cy="789940"/>
            <a:chOff x="-4762" y="217932"/>
            <a:chExt cx="9153525" cy="789940"/>
          </a:xfrm>
        </p:grpSpPr>
        <p:sp>
          <p:nvSpPr>
            <p:cNvPr id="7" name="object 7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331" y="217932"/>
              <a:ext cx="2702051" cy="78943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02992" y="217944"/>
              <a:ext cx="618743" cy="7894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52344" y="217944"/>
              <a:ext cx="4453127" cy="789419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Threads:</a:t>
            </a:r>
            <a:r>
              <a:rPr spc="-70" dirty="0"/>
              <a:t> Non-</a:t>
            </a:r>
            <a:r>
              <a:rPr spc="-35" dirty="0"/>
              <a:t>preemptive</a:t>
            </a:r>
            <a:r>
              <a:rPr spc="-50" dirty="0"/>
              <a:t> </a:t>
            </a:r>
            <a:r>
              <a:rPr spc="-10" dirty="0"/>
              <a:t>scheduling</a:t>
            </a: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849789"/>
            <a:ext cx="4658995" cy="98869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dirty="0">
                <a:latin typeface="Times New Roman"/>
                <a:cs typeface="Times New Roman"/>
              </a:rPr>
              <a:t>Threads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continue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execution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until</a:t>
            </a:r>
            <a:endParaRPr sz="2200">
              <a:latin typeface="Times New Roman"/>
              <a:cs typeface="Times New Roman"/>
            </a:endParaRPr>
          </a:p>
          <a:p>
            <a:pPr marL="536575" indent="-193675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reasons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non-</a:t>
            </a:r>
            <a:r>
              <a:rPr sz="1800" dirty="0">
                <a:latin typeface="Times New Roman"/>
                <a:cs typeface="Times New Roman"/>
              </a:rPr>
              <a:t>preemptive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scheduling.</a:t>
            </a:r>
            <a:endParaRPr sz="1800">
              <a:latin typeface="Times New Roman"/>
              <a:cs typeface="Times New Roman"/>
            </a:endParaRPr>
          </a:p>
          <a:p>
            <a:pPr marL="536575" indent="-193675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Preempted</a:t>
            </a:r>
            <a:r>
              <a:rPr sz="1800" spc="-4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by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scheduler.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179320" y="2014728"/>
            <a:ext cx="4685030" cy="2085339"/>
            <a:chOff x="2179320" y="2014728"/>
            <a:chExt cx="4685030" cy="208533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9320" y="2014728"/>
              <a:ext cx="4684763" cy="208483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370070" y="3263646"/>
              <a:ext cx="1574800" cy="0"/>
            </a:xfrm>
            <a:custGeom>
              <a:avLst/>
              <a:gdLst/>
              <a:ahLst/>
              <a:cxnLst/>
              <a:rect l="l" t="t" r="r" b="b"/>
              <a:pathLst>
                <a:path w="1574800">
                  <a:moveTo>
                    <a:pt x="157429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70070" y="2687193"/>
              <a:ext cx="0" cy="561340"/>
            </a:xfrm>
            <a:custGeom>
              <a:avLst/>
              <a:gdLst/>
              <a:ahLst/>
              <a:cxnLst/>
              <a:rect l="l" t="t" r="r" b="b"/>
              <a:pathLst>
                <a:path h="561339">
                  <a:moveTo>
                    <a:pt x="0" y="0"/>
                  </a:moveTo>
                  <a:lnTo>
                    <a:pt x="0" y="561213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303387" y="2687195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133350" y="114300"/>
                  </a:moveTo>
                  <a:lnTo>
                    <a:pt x="66675" y="0"/>
                  </a:lnTo>
                  <a:lnTo>
                    <a:pt x="0" y="114287"/>
                  </a:lnTo>
                </a:path>
              </a:pathLst>
            </a:custGeom>
            <a:ln w="381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-4762" y="217932"/>
            <a:ext cx="9153525" cy="789940"/>
            <a:chOff x="-4762" y="217932"/>
            <a:chExt cx="9153525" cy="789940"/>
          </a:xfrm>
        </p:grpSpPr>
        <p:sp>
          <p:nvSpPr>
            <p:cNvPr id="9" name="object 9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332" y="217932"/>
              <a:ext cx="5945123" cy="789431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Threads:</a:t>
            </a:r>
            <a:r>
              <a:rPr spc="-70" dirty="0"/>
              <a:t> </a:t>
            </a:r>
            <a:r>
              <a:rPr spc="-75" dirty="0"/>
              <a:t>Preemptive</a:t>
            </a:r>
            <a:r>
              <a:rPr spc="-70" dirty="0"/>
              <a:t> </a:t>
            </a:r>
            <a:r>
              <a:rPr spc="-10" dirty="0"/>
              <a:t>scheduling</a:t>
            </a: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640079" cy="7894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1019" y="217944"/>
              <a:ext cx="4785359" cy="78941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C00000"/>
                </a:solidFill>
              </a:rPr>
              <a:t>J</a:t>
            </a:r>
            <a:r>
              <a:rPr dirty="0"/>
              <a:t>ava</a:t>
            </a:r>
            <a:r>
              <a:rPr spc="25" dirty="0"/>
              <a:t> </a:t>
            </a:r>
            <a:r>
              <a:rPr spc="-60" dirty="0"/>
              <a:t>thread</a:t>
            </a:r>
            <a:r>
              <a:rPr spc="-5" dirty="0"/>
              <a:t> </a:t>
            </a:r>
            <a:r>
              <a:rPr spc="-240" dirty="0"/>
              <a:t>:</a:t>
            </a:r>
            <a:r>
              <a:rPr spc="5" dirty="0"/>
              <a:t> </a:t>
            </a:r>
            <a:r>
              <a:rPr dirty="0"/>
              <a:t>An</a:t>
            </a:r>
            <a:r>
              <a:rPr spc="1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76200" y="318515"/>
            <a:ext cx="8379459" cy="3935095"/>
            <a:chOff x="76200" y="318515"/>
            <a:chExt cx="8379459" cy="393509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848" y="947928"/>
              <a:ext cx="7766303" cy="330555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6308852" y="1811343"/>
            <a:ext cx="853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5</a:t>
            </a:r>
            <a:r>
              <a:rPr sz="1200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secs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6039" y="1079824"/>
            <a:ext cx="4813935" cy="295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ThreadExample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2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Thread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run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1115695" marR="1386840" indent="-367665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2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 </a:t>
            </a:r>
            <a:r>
              <a:rPr sz="1200" dirty="0">
                <a:latin typeface="Courier New"/>
                <a:cs typeface="Courier New"/>
              </a:rPr>
              <a:t>i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8000"/>
                </a:solidFill>
                <a:latin typeface="Courier New"/>
                <a:cs typeface="Courier New"/>
              </a:rPr>
              <a:t>0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200" dirty="0">
                <a:latin typeface="Courier New"/>
                <a:cs typeface="Courier New"/>
              </a:rPr>
              <a:t>i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&lt;</a:t>
            </a:r>
            <a:r>
              <a:rPr sz="12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FF8000"/>
                </a:solidFill>
                <a:latin typeface="Courier New"/>
                <a:cs typeface="Courier New"/>
              </a:rPr>
              <a:t>3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200" dirty="0">
                <a:latin typeface="Courier New"/>
                <a:cs typeface="Courier New"/>
              </a:rPr>
              <a:t>i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++)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try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1485900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sleep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((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)(</a:t>
            </a:r>
            <a:r>
              <a:rPr sz="1200" dirty="0">
                <a:latin typeface="Courier New"/>
                <a:cs typeface="Courier New"/>
              </a:rPr>
              <a:t>Math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random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r>
              <a:rPr sz="1200" b="1" spc="-4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*</a:t>
            </a:r>
            <a:r>
              <a:rPr sz="1200" b="1" spc="-4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5000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));</a:t>
            </a:r>
            <a:endParaRPr sz="1200">
              <a:latin typeface="Courier New"/>
              <a:cs typeface="Courier New"/>
            </a:endParaRPr>
          </a:p>
          <a:p>
            <a:pPr marL="1115695">
              <a:lnSpc>
                <a:spcPts val="143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05865">
              <a:lnSpc>
                <a:spcPct val="100000"/>
              </a:lnSpc>
              <a:spcBef>
                <a:spcPts val="20"/>
              </a:spcBef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catch</a:t>
            </a:r>
            <a:r>
              <a:rPr sz="1200" b="1" spc="-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latin typeface="Courier New"/>
                <a:cs typeface="Courier New"/>
              </a:rPr>
              <a:t>InterruptedException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 {</a:t>
            </a:r>
            <a:endParaRPr sz="1200">
              <a:latin typeface="Courier New"/>
              <a:cs typeface="Courier New"/>
            </a:endParaRPr>
          </a:p>
          <a:p>
            <a:pPr marL="1567180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spc="-20" dirty="0">
                <a:latin typeface="Courier New"/>
                <a:cs typeface="Courier New"/>
              </a:rPr>
              <a:t>i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1205865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748665" marR="650875" indent="-368935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2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main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latin typeface="Courier New"/>
                <a:cs typeface="Courier New"/>
              </a:rPr>
              <a:t>String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[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args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2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ThreadExample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().</a:t>
            </a:r>
            <a:r>
              <a:rPr sz="1200" spc="-10" dirty="0">
                <a:latin typeface="Courier New"/>
                <a:cs typeface="Courier New"/>
              </a:rPr>
              <a:t>start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200">
              <a:latin typeface="Courier New"/>
              <a:cs typeface="Courier New"/>
            </a:endParaRPr>
          </a:p>
          <a:p>
            <a:pPr marL="748665" marR="147701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ThreadExample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().</a:t>
            </a:r>
            <a:r>
              <a:rPr sz="1200" spc="-10" dirty="0">
                <a:latin typeface="Courier New"/>
                <a:cs typeface="Courier New"/>
              </a:rPr>
              <a:t>start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105" dirty="0"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"Done"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37973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3540" y="832327"/>
            <a:ext cx="185102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Possible</a:t>
            </a:r>
            <a:r>
              <a:rPr sz="2200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outputs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6440" y="1408399"/>
            <a:ext cx="1735455" cy="1216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93675" indent="-184150">
              <a:lnSpc>
                <a:spcPct val="100000"/>
              </a:lnSpc>
              <a:spcBef>
                <a:spcPts val="28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spc="-10" dirty="0">
                <a:latin typeface="Times New Roman"/>
                <a:cs typeface="Times New Roman"/>
              </a:rPr>
              <a:t>0,1,2,0,1,2,Done</a:t>
            </a:r>
            <a:endParaRPr sz="1800">
              <a:latin typeface="Times New Roman"/>
              <a:cs typeface="Times New Roman"/>
            </a:endParaRPr>
          </a:p>
          <a:p>
            <a:pPr marL="193675" indent="-184150">
              <a:lnSpc>
                <a:spcPct val="100000"/>
              </a:lnSpc>
              <a:spcBef>
                <a:spcPts val="18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spc="-10" dirty="0">
                <a:latin typeface="Times New Roman"/>
                <a:cs typeface="Times New Roman"/>
              </a:rPr>
              <a:t>0,1,2,Done,0,1,2</a:t>
            </a:r>
            <a:endParaRPr sz="1800">
              <a:latin typeface="Times New Roman"/>
              <a:cs typeface="Times New Roman"/>
            </a:endParaRPr>
          </a:p>
          <a:p>
            <a:pPr marL="193675" indent="-184150">
              <a:lnSpc>
                <a:spcPct val="100000"/>
              </a:lnSpc>
              <a:spcBef>
                <a:spcPts val="19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spc="-10" dirty="0">
                <a:latin typeface="Times New Roman"/>
                <a:cs typeface="Times New Roman"/>
              </a:rPr>
              <a:t>Done,0,1,2,0,1,2</a:t>
            </a:r>
            <a:endParaRPr sz="1800">
              <a:latin typeface="Times New Roman"/>
              <a:cs typeface="Times New Roman"/>
            </a:endParaRPr>
          </a:p>
          <a:p>
            <a:pPr marL="193675" indent="-184150">
              <a:lnSpc>
                <a:spcPct val="100000"/>
              </a:lnSpc>
              <a:spcBef>
                <a:spcPts val="18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spc="-10" dirty="0">
                <a:latin typeface="Times New Roman"/>
                <a:cs typeface="Times New Roman"/>
              </a:rPr>
              <a:t>0,0,1,1,2,Done,2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6816" y="1408399"/>
            <a:ext cx="2848610" cy="121602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//</a:t>
            </a:r>
            <a:r>
              <a:rPr sz="18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</a:t>
            </a:r>
            <a:r>
              <a:rPr sz="18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1,</a:t>
            </a: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</a:t>
            </a:r>
            <a:r>
              <a:rPr sz="18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2,</a:t>
            </a: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 main()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//</a:t>
            </a:r>
            <a:r>
              <a:rPr sz="18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</a:t>
            </a:r>
            <a:r>
              <a:rPr sz="1800" spc="-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1,</a:t>
            </a:r>
            <a:r>
              <a:rPr sz="18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main(),</a:t>
            </a:r>
            <a:r>
              <a:rPr sz="18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</a:t>
            </a:r>
            <a:r>
              <a:rPr sz="18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//</a:t>
            </a:r>
            <a:r>
              <a:rPr sz="18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main(),</a:t>
            </a:r>
            <a:r>
              <a:rPr sz="18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</a:t>
            </a:r>
            <a:r>
              <a:rPr sz="1800" spc="-3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1,</a:t>
            </a:r>
            <a:r>
              <a:rPr sz="1800" spc="-1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</a:t>
            </a:r>
            <a:r>
              <a:rPr sz="1800" spc="-3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spc="-50" dirty="0">
                <a:solidFill>
                  <a:srgbClr val="FF3300"/>
                </a:solidFill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//</a:t>
            </a:r>
            <a:r>
              <a:rPr sz="18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main()</a:t>
            </a:r>
            <a:r>
              <a:rPr sz="18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&amp;</a:t>
            </a:r>
            <a:r>
              <a:rPr sz="1800" spc="-25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threads</a:t>
            </a:r>
            <a:r>
              <a:rPr sz="1800" spc="-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interleaved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6" name="object 6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2" y="217931"/>
              <a:ext cx="4180331" cy="789431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/>
              <a:t>Java</a:t>
            </a:r>
            <a:r>
              <a:rPr spc="-30" dirty="0"/>
              <a:t> </a:t>
            </a:r>
            <a:r>
              <a:rPr spc="-100" dirty="0"/>
              <a:t>Thread</a:t>
            </a:r>
            <a:r>
              <a:rPr spc="-55" dirty="0"/>
              <a:t> </a:t>
            </a:r>
            <a:r>
              <a:rPr spc="-25" dirty="0"/>
              <a:t>Example</a:t>
            </a: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76400" y="2724911"/>
            <a:ext cx="5257799" cy="163220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32"/>
            <a:ext cx="9153525" cy="789940"/>
            <a:chOff x="-4762" y="217932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32"/>
              <a:ext cx="2354579" cy="7894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Data</a:t>
            </a:r>
            <a:r>
              <a:rPr spc="-170" dirty="0"/>
              <a:t> </a:t>
            </a:r>
            <a:r>
              <a:rPr spc="-10" dirty="0"/>
              <a:t>races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6200" y="318515"/>
            <a:ext cx="8379459" cy="3965575"/>
            <a:chOff x="76200" y="318515"/>
            <a:chExt cx="8379459" cy="39655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8848" y="925068"/>
              <a:ext cx="7766303" cy="335889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34723" y="1056963"/>
            <a:ext cx="5000625" cy="2997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3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DataRace</a:t>
            </a:r>
            <a:r>
              <a:rPr sz="1300" spc="-2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3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spc="-20" dirty="0"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08305" marR="2712720">
              <a:lnSpc>
                <a:spcPct val="100000"/>
              </a:lnSpc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3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3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latin typeface="Courier New"/>
                <a:cs typeface="Courier New"/>
              </a:rPr>
              <a:t>x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3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run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r>
              <a:rPr sz="13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01370">
              <a:lnSpc>
                <a:spcPct val="100000"/>
              </a:lnSpc>
            </a:pP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3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300" spc="-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</a:t>
            </a:r>
            <a:r>
              <a:rPr sz="1300" spc="-2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3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8000"/>
                </a:solidFill>
                <a:latin typeface="Courier New"/>
                <a:cs typeface="Courier New"/>
              </a:rPr>
              <a:t>0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3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</a:t>
            </a:r>
            <a:r>
              <a:rPr sz="1300" spc="-2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&lt;</a:t>
            </a:r>
            <a:r>
              <a:rPr sz="13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8000"/>
                </a:solidFill>
                <a:latin typeface="Courier New"/>
                <a:cs typeface="Courier New"/>
              </a:rPr>
              <a:t>100000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3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r>
              <a:rPr sz="13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1195070" marR="2812415">
              <a:lnSpc>
                <a:spcPct val="100000"/>
              </a:lnSpc>
            </a:pPr>
            <a:r>
              <a:rPr sz="1300" dirty="0">
                <a:latin typeface="Courier New"/>
                <a:cs typeface="Courier New"/>
              </a:rPr>
              <a:t>x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3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x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3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300" dirty="0">
                <a:latin typeface="Courier New"/>
                <a:cs typeface="Courier New"/>
              </a:rPr>
              <a:t>x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3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x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–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  <a:p>
            <a:pPr marL="800100">
              <a:lnSpc>
                <a:spcPct val="100000"/>
              </a:lnSpc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407034">
              <a:lnSpc>
                <a:spcPct val="100000"/>
              </a:lnSpc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407034">
              <a:lnSpc>
                <a:spcPct val="100000"/>
              </a:lnSpc>
              <a:spcBef>
                <a:spcPts val="5"/>
              </a:spcBef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3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3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main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latin typeface="Courier New"/>
                <a:cs typeface="Courier New"/>
              </a:rPr>
              <a:t>String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[]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args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3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899160">
              <a:lnSpc>
                <a:spcPct val="100000"/>
              </a:lnSpc>
            </a:pPr>
            <a:r>
              <a:rPr sz="1300" dirty="0">
                <a:latin typeface="Courier New"/>
                <a:cs typeface="Courier New"/>
              </a:rPr>
              <a:t>x</a:t>
            </a:r>
            <a:r>
              <a:rPr sz="1300" spc="-1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3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FF8000"/>
                </a:solidFill>
                <a:latin typeface="Courier New"/>
                <a:cs typeface="Courier New"/>
              </a:rPr>
              <a:t>0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300">
              <a:latin typeface="Courier New"/>
              <a:cs typeface="Courier New"/>
            </a:endParaRPr>
          </a:p>
          <a:p>
            <a:pPr marL="1292225" marR="943610" indent="-393700">
              <a:lnSpc>
                <a:spcPct val="100000"/>
              </a:lnSpc>
            </a:pP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3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3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</a:t>
            </a:r>
            <a:r>
              <a:rPr sz="1300" spc="-2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8000"/>
                </a:solidFill>
                <a:latin typeface="Courier New"/>
                <a:cs typeface="Courier New"/>
              </a:rPr>
              <a:t>0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i</a:t>
            </a:r>
            <a:r>
              <a:rPr sz="1300" spc="-5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&lt;</a:t>
            </a:r>
            <a:r>
              <a:rPr sz="13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FF8000"/>
                </a:solidFill>
                <a:latin typeface="Courier New"/>
                <a:cs typeface="Courier New"/>
              </a:rPr>
              <a:t>100000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300" b="1" spc="-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spc="-20" dirty="0">
                <a:latin typeface="Courier New"/>
                <a:cs typeface="Courier New"/>
              </a:rPr>
              <a:t>i</a:t>
            </a:r>
            <a:r>
              <a:rPr sz="1300" b="1" spc="-20" dirty="0">
                <a:solidFill>
                  <a:srgbClr val="000080"/>
                </a:solidFill>
                <a:latin typeface="Courier New"/>
                <a:cs typeface="Courier New"/>
              </a:rPr>
              <a:t>++) 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3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DataRace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().</a:t>
            </a:r>
            <a:r>
              <a:rPr sz="1300" spc="-10" dirty="0">
                <a:latin typeface="Courier New"/>
                <a:cs typeface="Courier New"/>
              </a:rPr>
              <a:t>start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300">
              <a:latin typeface="Courier New"/>
              <a:cs typeface="Courier New"/>
            </a:endParaRPr>
          </a:p>
          <a:p>
            <a:pPr marL="899160">
              <a:lnSpc>
                <a:spcPct val="100000"/>
              </a:lnSpc>
            </a:pPr>
            <a:r>
              <a:rPr sz="1300" dirty="0">
                <a:latin typeface="Courier New"/>
                <a:cs typeface="Courier New"/>
              </a:rPr>
              <a:t>System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300" dirty="0">
                <a:latin typeface="Courier New"/>
                <a:cs typeface="Courier New"/>
              </a:rPr>
              <a:t>out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300" dirty="0">
                <a:latin typeface="Courier New"/>
                <a:cs typeface="Courier New"/>
              </a:rPr>
              <a:t>println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latin typeface="Courier New"/>
                <a:cs typeface="Courier New"/>
              </a:rPr>
              <a:t>x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r>
              <a:rPr sz="1300" b="1" spc="35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3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x</a:t>
            </a:r>
            <a:r>
              <a:rPr sz="13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not</a:t>
            </a:r>
            <a:r>
              <a:rPr sz="13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always</a:t>
            </a:r>
            <a:r>
              <a:rPr sz="13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spc="-25" dirty="0">
                <a:solidFill>
                  <a:srgbClr val="008000"/>
                </a:solidFill>
                <a:latin typeface="Courier New"/>
                <a:cs typeface="Courier New"/>
              </a:rPr>
              <a:t>0!</a:t>
            </a:r>
            <a:endParaRPr sz="1300">
              <a:latin typeface="Courier New"/>
              <a:cs typeface="Courier New"/>
            </a:endParaRPr>
          </a:p>
          <a:p>
            <a:pPr marL="407034">
              <a:lnSpc>
                <a:spcPct val="100000"/>
              </a:lnSpc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47" y="1821179"/>
            <a:ext cx="1964689" cy="607060"/>
          </a:xfrm>
          <a:custGeom>
            <a:avLst/>
            <a:gdLst/>
            <a:ahLst/>
            <a:cxnLst/>
            <a:rect l="l" t="t" r="r" b="b"/>
            <a:pathLst>
              <a:path w="1964689" h="607060">
                <a:moveTo>
                  <a:pt x="0" y="0"/>
                </a:moveTo>
                <a:lnTo>
                  <a:pt x="1964436" y="0"/>
                </a:lnTo>
                <a:lnTo>
                  <a:pt x="1964436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5297" y="1814829"/>
            <a:ext cx="1977389" cy="61976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50800" rIns="0" bIns="0" rtlCol="0">
            <a:spAutoFit/>
          </a:bodyPr>
          <a:lstStyle/>
          <a:p>
            <a:pPr marL="123825" marR="116205" indent="1905" algn="ctr">
              <a:lnSpc>
                <a:spcPts val="1320"/>
              </a:lnSpc>
              <a:spcBef>
                <a:spcPts val="4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threads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 selected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execution</a:t>
            </a:r>
            <a:r>
              <a:rPr sz="12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is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indeterminate.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5297" y="2434082"/>
            <a:ext cx="1977389" cy="873760"/>
          </a:xfrm>
          <a:prstGeom prst="rect">
            <a:avLst/>
          </a:prstGeom>
          <a:solidFill>
            <a:srgbClr val="CFD4EA">
              <a:alpha val="90194"/>
            </a:srgbClr>
          </a:solidFill>
          <a:ln w="3175">
            <a:solidFill>
              <a:srgbClr val="CFD4E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84785" indent="-114300">
              <a:lnSpc>
                <a:spcPct val="100000"/>
              </a:lnSpc>
              <a:spcBef>
                <a:spcPts val="250"/>
              </a:spcBef>
              <a:buChar char="•"/>
              <a:tabLst>
                <a:tab pos="184785" algn="l"/>
              </a:tabLst>
            </a:pPr>
            <a:r>
              <a:rPr sz="1200" dirty="0">
                <a:latin typeface="Calibri"/>
                <a:cs typeface="Calibri"/>
              </a:rPr>
              <a:t>Depends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scheduler.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70404" y="1821179"/>
            <a:ext cx="1964689" cy="607060"/>
          </a:xfrm>
          <a:custGeom>
            <a:avLst/>
            <a:gdLst/>
            <a:ahLst/>
            <a:cxnLst/>
            <a:rect l="l" t="t" r="r" b="b"/>
            <a:pathLst>
              <a:path w="1964689" h="607060">
                <a:moveTo>
                  <a:pt x="0" y="0"/>
                </a:moveTo>
                <a:lnTo>
                  <a:pt x="1964436" y="0"/>
                </a:lnTo>
                <a:lnTo>
                  <a:pt x="1964436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64054" y="1814829"/>
            <a:ext cx="1977389" cy="61976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134620" rIns="0" bIns="0" rtlCol="0">
            <a:spAutoFit/>
          </a:bodyPr>
          <a:lstStyle/>
          <a:p>
            <a:pPr marL="611505" marR="88900" indent="-515620">
              <a:lnSpc>
                <a:spcPts val="1320"/>
              </a:lnSpc>
              <a:spcBef>
                <a:spcPts val="106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Thread</a:t>
            </a:r>
            <a:r>
              <a:rPr sz="1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block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indefinitely (starvation).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4054" y="2421382"/>
            <a:ext cx="1977389" cy="886460"/>
          </a:xfrm>
          <a:prstGeom prst="rect">
            <a:avLst/>
          </a:prstGeom>
          <a:solidFill>
            <a:srgbClr val="CFD4EA">
              <a:alpha val="90194"/>
            </a:srgbClr>
          </a:solidFill>
          <a:ln w="3175">
            <a:solidFill>
              <a:srgbClr val="CFD4EA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184785" marR="372745" indent="-114300">
              <a:lnSpc>
                <a:spcPts val="1320"/>
              </a:lnSpc>
              <a:spcBef>
                <a:spcPts val="495"/>
              </a:spcBef>
              <a:buChar char="•"/>
              <a:tabLst>
                <a:tab pos="184785" algn="l"/>
              </a:tabLst>
            </a:pPr>
            <a:r>
              <a:rPr sz="1200" dirty="0">
                <a:latin typeface="Calibri"/>
                <a:cs typeface="Calibri"/>
              </a:rPr>
              <a:t>If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other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threads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always execute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first.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09159" y="1821179"/>
            <a:ext cx="1964689" cy="607060"/>
          </a:xfrm>
          <a:custGeom>
            <a:avLst/>
            <a:gdLst/>
            <a:ahLst/>
            <a:cxnLst/>
            <a:rect l="l" t="t" r="r" b="b"/>
            <a:pathLst>
              <a:path w="1964690" h="607060">
                <a:moveTo>
                  <a:pt x="0" y="0"/>
                </a:moveTo>
                <a:lnTo>
                  <a:pt x="1964436" y="0"/>
                </a:lnTo>
                <a:lnTo>
                  <a:pt x="1964436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02809" y="1814829"/>
            <a:ext cx="1977389" cy="61976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134620" rIns="0" bIns="0" rtlCol="0">
            <a:spAutoFit/>
          </a:bodyPr>
          <a:lstStyle/>
          <a:p>
            <a:pPr marL="460375" marR="267335" indent="-186055">
              <a:lnSpc>
                <a:spcPts val="1320"/>
              </a:lnSpc>
              <a:spcBef>
                <a:spcPts val="106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Thread</a:t>
            </a:r>
            <a:r>
              <a:rPr sz="1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scheduling</a:t>
            </a:r>
            <a:r>
              <a:rPr sz="12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Calibri"/>
                <a:cs typeface="Calibri"/>
              </a:rPr>
              <a:t>may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cause</a:t>
            </a:r>
            <a:r>
              <a:rPr sz="1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r>
              <a:rPr sz="1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races.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2809" y="2434082"/>
            <a:ext cx="1977389" cy="873760"/>
          </a:xfrm>
          <a:prstGeom prst="rect">
            <a:avLst/>
          </a:prstGeom>
          <a:solidFill>
            <a:srgbClr val="CFD4EA">
              <a:alpha val="90194"/>
            </a:srgbClr>
          </a:solidFill>
          <a:ln w="3175">
            <a:solidFill>
              <a:srgbClr val="CFD4EA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184785" marR="147320" indent="-114300">
              <a:lnSpc>
                <a:spcPts val="1320"/>
              </a:lnSpc>
              <a:spcBef>
                <a:spcPts val="395"/>
              </a:spcBef>
              <a:buChar char="•"/>
              <a:tabLst>
                <a:tab pos="184785" algn="l"/>
              </a:tabLst>
            </a:pPr>
            <a:r>
              <a:rPr sz="1200" dirty="0">
                <a:latin typeface="Calibri"/>
                <a:cs typeface="Calibri"/>
              </a:rPr>
              <a:t>Modifying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same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from </a:t>
            </a:r>
            <a:r>
              <a:rPr sz="1200" dirty="0">
                <a:latin typeface="Calibri"/>
                <a:cs typeface="Calibri"/>
              </a:rPr>
              <a:t>multiple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threads.</a:t>
            </a:r>
            <a:endParaRPr sz="1200">
              <a:latin typeface="Calibri"/>
              <a:cs typeface="Calibri"/>
            </a:endParaRPr>
          </a:p>
          <a:p>
            <a:pPr marL="184785" marR="193675" indent="-114300">
              <a:lnSpc>
                <a:spcPts val="1320"/>
              </a:lnSpc>
              <a:spcBef>
                <a:spcPts val="215"/>
              </a:spcBef>
              <a:buChar char="•"/>
              <a:tabLst>
                <a:tab pos="184785" algn="l"/>
              </a:tabLst>
            </a:pPr>
            <a:r>
              <a:rPr sz="1200" dirty="0">
                <a:latin typeface="Calibri"/>
                <a:cs typeface="Calibri"/>
              </a:rPr>
              <a:t>Result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depends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on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thread execution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order.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947916" y="1821179"/>
            <a:ext cx="1964689" cy="607060"/>
          </a:xfrm>
          <a:custGeom>
            <a:avLst/>
            <a:gdLst/>
            <a:ahLst/>
            <a:cxnLst/>
            <a:rect l="l" t="t" r="r" b="b"/>
            <a:pathLst>
              <a:path w="1964690" h="607060">
                <a:moveTo>
                  <a:pt x="0" y="0"/>
                </a:moveTo>
                <a:lnTo>
                  <a:pt x="1964435" y="0"/>
                </a:lnTo>
                <a:lnTo>
                  <a:pt x="1964435" y="606551"/>
                </a:lnTo>
                <a:lnTo>
                  <a:pt x="0" y="606551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941566" y="1814829"/>
            <a:ext cx="1977389" cy="61976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247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95"/>
              </a:spcBef>
            </a:pPr>
            <a:endParaRPr sz="1200">
              <a:latin typeface="Times New Roman"/>
              <a:cs typeface="Times New Roman"/>
            </a:endParaRPr>
          </a:p>
          <a:p>
            <a:pPr marL="494030">
              <a:lnSpc>
                <a:spcPct val="100000"/>
              </a:lnSpc>
            </a:pP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Synchronization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41566" y="2434082"/>
            <a:ext cx="1977389" cy="873760"/>
          </a:xfrm>
          <a:prstGeom prst="rect">
            <a:avLst/>
          </a:prstGeom>
          <a:solidFill>
            <a:srgbClr val="CFD4EA">
              <a:alpha val="90194"/>
            </a:srgbClr>
          </a:solidFill>
          <a:ln w="3175">
            <a:solidFill>
              <a:srgbClr val="CFD4EA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 marL="184785" marR="242570" indent="-114300">
              <a:lnSpc>
                <a:spcPts val="1320"/>
              </a:lnSpc>
              <a:spcBef>
                <a:spcPts val="395"/>
              </a:spcBef>
              <a:buChar char="•"/>
              <a:tabLst>
                <a:tab pos="184785" algn="l"/>
              </a:tabLst>
            </a:pPr>
            <a:r>
              <a:rPr sz="1200" dirty="0">
                <a:latin typeface="Calibri"/>
                <a:cs typeface="Calibri"/>
              </a:rPr>
              <a:t>Control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thread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execution order.</a:t>
            </a:r>
            <a:endParaRPr sz="1200">
              <a:latin typeface="Calibri"/>
              <a:cs typeface="Calibri"/>
            </a:endParaRPr>
          </a:p>
          <a:p>
            <a:pPr marL="184785" indent="-114300">
              <a:lnSpc>
                <a:spcPct val="100000"/>
              </a:lnSpc>
              <a:spcBef>
                <a:spcPts val="75"/>
              </a:spcBef>
              <a:buChar char="•"/>
              <a:tabLst>
                <a:tab pos="184785" algn="l"/>
              </a:tabLst>
            </a:pPr>
            <a:r>
              <a:rPr sz="1200" dirty="0">
                <a:latin typeface="Calibri"/>
                <a:cs typeface="Calibri"/>
              </a:rPr>
              <a:t>Eliminate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races.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15" name="object 15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5916167" cy="789419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</a:t>
            </a:r>
            <a:r>
              <a:rPr spc="-114" dirty="0"/>
              <a:t> </a:t>
            </a:r>
            <a:r>
              <a:rPr spc="-25" dirty="0"/>
              <a:t>scheduling</a:t>
            </a:r>
            <a:r>
              <a:rPr spc="-125" dirty="0"/>
              <a:t> </a:t>
            </a:r>
            <a:r>
              <a:rPr spc="-65" dirty="0"/>
              <a:t>observations</a:t>
            </a: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133600" y="1118628"/>
            <a:ext cx="6217920" cy="2362200"/>
            <a:chOff x="2133600" y="1118628"/>
            <a:chExt cx="6217920" cy="23622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33600" y="1118628"/>
              <a:ext cx="2362187" cy="236218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34255" y="1943100"/>
              <a:ext cx="4017263" cy="89915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4540" y="2027174"/>
            <a:ext cx="35090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Priority</a:t>
            </a:r>
            <a:r>
              <a:rPr sz="3200" b="0" spc="-5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of</a:t>
            </a:r>
            <a:r>
              <a:rPr sz="3200" b="0" spc="-25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Yu Gothic"/>
                <a:cs typeface="Yu Gothic"/>
              </a:rPr>
              <a:t>Threads</a:t>
            </a:r>
            <a:endParaRPr sz="32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961898"/>
            <a:ext cx="8453120" cy="289814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84150" marR="5715" indent="-172085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184150" algn="l"/>
              </a:tabLst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J</a:t>
            </a:r>
            <a:r>
              <a:rPr sz="2200" dirty="0">
                <a:latin typeface="Times New Roman"/>
                <a:cs typeface="Times New Roman"/>
              </a:rPr>
              <a:t>ava,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each</a:t>
            </a:r>
            <a:r>
              <a:rPr sz="2200" spc="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thread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assigned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priority,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affects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order</a:t>
            </a:r>
            <a:r>
              <a:rPr sz="2200" spc="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which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scheduled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running.</a:t>
            </a:r>
            <a:endParaRPr sz="2200">
              <a:latin typeface="Times New Roman"/>
              <a:cs typeface="Times New Roman"/>
            </a:endParaRPr>
          </a:p>
          <a:p>
            <a:pPr marL="184785" marR="5080" indent="-172720">
              <a:lnSpc>
                <a:spcPts val="2380"/>
              </a:lnSpc>
              <a:spcBef>
                <a:spcPts val="795"/>
              </a:spcBef>
              <a:buFont typeface="Arial MT"/>
              <a:buChar char="•"/>
              <a:tabLst>
                <a:tab pos="184785" algn="l"/>
              </a:tabLst>
            </a:pP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threads</a:t>
            </a:r>
            <a:r>
              <a:rPr sz="2200" spc="2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so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far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had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same</a:t>
            </a:r>
            <a:r>
              <a:rPr sz="2200" spc="2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default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priority</a:t>
            </a:r>
            <a:r>
              <a:rPr sz="2200" spc="2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(NORM_PRIORITY)</a:t>
            </a:r>
            <a:r>
              <a:rPr sz="2200" spc="28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and </a:t>
            </a:r>
            <a:r>
              <a:rPr sz="2200" dirty="0">
                <a:latin typeface="Times New Roman"/>
                <a:cs typeface="Times New Roman"/>
              </a:rPr>
              <a:t>they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served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using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FCFS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policy.</a:t>
            </a:r>
            <a:endParaRPr sz="2200">
              <a:latin typeface="Times New Roman"/>
              <a:cs typeface="Times New Roman"/>
            </a:endParaRPr>
          </a:p>
          <a:p>
            <a:pPr marL="556260" lvl="1" indent="-205104">
              <a:lnSpc>
                <a:spcPct val="100000"/>
              </a:lnSpc>
              <a:spcBef>
                <a:spcPts val="125"/>
              </a:spcBef>
              <a:buSzPct val="95000"/>
              <a:buFont typeface="Wingdings"/>
              <a:buChar char=""/>
              <a:tabLst>
                <a:tab pos="556260" algn="l"/>
              </a:tabLst>
            </a:pPr>
            <a:r>
              <a:rPr sz="2000" dirty="0">
                <a:solidFill>
                  <a:srgbClr val="C00000"/>
                </a:solidFill>
                <a:latin typeface="Times New Roman"/>
                <a:cs typeface="Times New Roman"/>
              </a:rPr>
              <a:t>J</a:t>
            </a:r>
            <a:r>
              <a:rPr sz="2000" dirty="0">
                <a:latin typeface="Times New Roman"/>
                <a:cs typeface="Times New Roman"/>
              </a:rPr>
              <a:t>ava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change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priority:</a:t>
            </a:r>
            <a:endParaRPr sz="2000">
              <a:latin typeface="Times New Roman"/>
              <a:cs typeface="Times New Roman"/>
            </a:endParaRPr>
          </a:p>
          <a:p>
            <a:pPr marL="988060">
              <a:lnSpc>
                <a:spcPct val="100000"/>
              </a:lnSpc>
              <a:spcBef>
                <a:spcPts val="190"/>
              </a:spcBef>
            </a:pP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ThreadName.setPriority</a:t>
            </a:r>
            <a:r>
              <a:rPr sz="1800" spc="2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(int</a:t>
            </a:r>
            <a:r>
              <a:rPr sz="1800" spc="4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3300"/>
                </a:solidFill>
                <a:latin typeface="Times New Roman"/>
                <a:cs typeface="Times New Roman"/>
              </a:rPr>
              <a:t>Number)</a:t>
            </a:r>
            <a:endParaRPr sz="1800">
              <a:latin typeface="Times New Roman"/>
              <a:cs typeface="Times New Roman"/>
            </a:endParaRPr>
          </a:p>
          <a:p>
            <a:pPr marL="1243330" lvl="2" indent="-204470">
              <a:lnSpc>
                <a:spcPct val="100000"/>
              </a:lnSpc>
              <a:spcBef>
                <a:spcPts val="300"/>
              </a:spcBef>
              <a:buSzPct val="94444"/>
              <a:buFont typeface="Wingdings"/>
              <a:buChar char=""/>
              <a:tabLst>
                <a:tab pos="1243330" algn="l"/>
                <a:tab pos="3497579" algn="l"/>
              </a:tabLst>
            </a:pPr>
            <a:r>
              <a:rPr sz="1800" spc="-10" dirty="0">
                <a:latin typeface="Times New Roman"/>
                <a:cs typeface="Times New Roman"/>
              </a:rPr>
              <a:t>MIN_PRIORITY</a:t>
            </a:r>
            <a:r>
              <a:rPr sz="1800" dirty="0">
                <a:latin typeface="Times New Roman"/>
                <a:cs typeface="Times New Roman"/>
              </a:rPr>
              <a:t>	= </a:t>
            </a:r>
            <a:r>
              <a:rPr sz="1800" spc="-50" dirty="0">
                <a:latin typeface="Times New Roman"/>
                <a:cs typeface="Times New Roman"/>
              </a:rPr>
              <a:t>1</a:t>
            </a:r>
            <a:endParaRPr sz="1800">
              <a:latin typeface="Times New Roman"/>
              <a:cs typeface="Times New Roman"/>
            </a:endParaRPr>
          </a:p>
          <a:p>
            <a:pPr marL="1243330" lvl="2" indent="-204470">
              <a:lnSpc>
                <a:spcPct val="100000"/>
              </a:lnSpc>
              <a:spcBef>
                <a:spcPts val="180"/>
              </a:spcBef>
              <a:buSzPct val="94444"/>
              <a:buFont typeface="Wingdings"/>
              <a:buChar char=""/>
              <a:tabLst>
                <a:tab pos="1243330" algn="l"/>
              </a:tabLst>
            </a:pPr>
            <a:r>
              <a:rPr sz="1800" spc="-10" dirty="0">
                <a:latin typeface="Times New Roman"/>
                <a:cs typeface="Times New Roman"/>
              </a:rPr>
              <a:t>NORM_PRIORITY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5</a:t>
            </a:r>
            <a:endParaRPr sz="1800">
              <a:latin typeface="Times New Roman"/>
              <a:cs typeface="Times New Roman"/>
            </a:endParaRPr>
          </a:p>
          <a:p>
            <a:pPr marL="1243330" lvl="2" indent="-204470">
              <a:lnSpc>
                <a:spcPct val="100000"/>
              </a:lnSpc>
              <a:spcBef>
                <a:spcPts val="180"/>
              </a:spcBef>
              <a:buSzPct val="94444"/>
              <a:buFont typeface="Wingdings"/>
              <a:buChar char=""/>
              <a:tabLst>
                <a:tab pos="1243330" algn="l"/>
                <a:tab pos="3165475" algn="l"/>
              </a:tabLst>
            </a:pPr>
            <a:r>
              <a:rPr sz="1800" spc="-10" dirty="0">
                <a:latin typeface="Times New Roman"/>
                <a:cs typeface="Times New Roman"/>
              </a:rPr>
              <a:t>MAX_PRIORITY</a:t>
            </a:r>
            <a:r>
              <a:rPr sz="1800" dirty="0">
                <a:latin typeface="Times New Roman"/>
                <a:cs typeface="Times New Roman"/>
              </a:rPr>
              <a:t>	=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10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4" name="object 4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2916935" cy="78941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 </a:t>
            </a:r>
            <a:r>
              <a:rPr spc="-135" dirty="0"/>
              <a:t>priority</a:t>
            </a: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746759"/>
            <a:ext cx="2868167" cy="147218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40097" y="901637"/>
            <a:ext cx="1981200" cy="11391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A</a:t>
            </a:r>
            <a:r>
              <a:rPr sz="500" spc="-2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5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endParaRPr sz="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2667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run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endParaRPr sz="500">
              <a:latin typeface="Courier New"/>
              <a:cs typeface="Courier New"/>
            </a:endParaRPr>
          </a:p>
          <a:p>
            <a:pPr marL="3429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33400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2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500" spc="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50" dirty="0">
                <a:solidFill>
                  <a:srgbClr val="808080"/>
                </a:solidFill>
                <a:latin typeface="Courier New"/>
                <a:cs typeface="Courier New"/>
              </a:rPr>
              <a:t>A</a:t>
            </a:r>
            <a:endParaRPr sz="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started"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533400">
              <a:lnSpc>
                <a:spcPct val="100000"/>
              </a:lnSpc>
            </a:pP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i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i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i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endParaRPr sz="500">
              <a:latin typeface="Courier New"/>
              <a:cs typeface="Courier New"/>
            </a:endParaRPr>
          </a:p>
          <a:p>
            <a:pPr marL="6096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838200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3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"\t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endParaRPr sz="500">
              <a:latin typeface="Courier New"/>
              <a:cs typeface="Courier New"/>
            </a:endParaRPr>
          </a:p>
          <a:p>
            <a:pPr marR="1325245" algn="r">
              <a:lnSpc>
                <a:spcPct val="100000"/>
              </a:lnSpc>
              <a:spcBef>
                <a:spcPts val="10"/>
              </a:spcBef>
            </a:pP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ThreadA:</a:t>
            </a:r>
            <a:r>
              <a:rPr sz="5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i=</a:t>
            </a:r>
            <a:r>
              <a:rPr sz="5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spc="-10" dirty="0">
                <a:latin typeface="Courier New"/>
                <a:cs typeface="Courier New"/>
              </a:rPr>
              <a:t>i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R="1325245" algn="r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647065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"Exit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808080"/>
                </a:solidFill>
                <a:latin typeface="Courier New"/>
                <a:cs typeface="Courier New"/>
              </a:rPr>
              <a:t>A"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42265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5" name="object 5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0331" y="217944"/>
              <a:ext cx="5333999" cy="78941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</a:t>
            </a:r>
            <a:r>
              <a:rPr spc="-35" dirty="0"/>
              <a:t> </a:t>
            </a:r>
            <a:r>
              <a:rPr spc="-155" dirty="0"/>
              <a:t>priority</a:t>
            </a:r>
            <a:r>
              <a:rPr spc="-35" dirty="0"/>
              <a:t> </a:t>
            </a:r>
            <a:r>
              <a:rPr spc="-240" dirty="0"/>
              <a:t>:</a:t>
            </a:r>
            <a:r>
              <a:rPr spc="-35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76200" y="318515"/>
            <a:ext cx="5788660" cy="1811020"/>
            <a:chOff x="76200" y="318515"/>
            <a:chExt cx="5788660" cy="181102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84348" y="733044"/>
              <a:ext cx="3080003" cy="1395983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431347" y="865151"/>
            <a:ext cx="2082800" cy="1015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B</a:t>
            </a:r>
            <a:r>
              <a:rPr sz="500" spc="-2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5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2794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run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endParaRPr sz="5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46100" marR="5080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B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started"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j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j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j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endParaRPr sz="500">
              <a:latin typeface="Courier New"/>
              <a:cs typeface="Courier New"/>
            </a:endParaRPr>
          </a:p>
          <a:p>
            <a:pPr marL="6223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850900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3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"\t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endParaRPr sz="500">
              <a:latin typeface="Courier New"/>
              <a:cs typeface="Courier New"/>
            </a:endParaRPr>
          </a:p>
          <a:p>
            <a:pPr marR="1414145" algn="r">
              <a:lnSpc>
                <a:spcPct val="100000"/>
              </a:lnSpc>
              <a:spcBef>
                <a:spcPts val="10"/>
              </a:spcBef>
            </a:pP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ThreadB:</a:t>
            </a:r>
            <a:r>
              <a:rPr sz="5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j=</a:t>
            </a:r>
            <a:r>
              <a:rPr sz="5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spc="-10" dirty="0">
                <a:latin typeface="Courier New"/>
                <a:cs typeface="Courier New"/>
              </a:rPr>
              <a:t>j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R="1414145" algn="r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659765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"Exit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808080"/>
                </a:solidFill>
                <a:latin typeface="Courier New"/>
                <a:cs typeface="Courier New"/>
              </a:rPr>
              <a:t>B"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54965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7772" y="888572"/>
            <a:ext cx="2248535" cy="9855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C</a:t>
            </a:r>
            <a:r>
              <a:rPr sz="500" spc="-2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5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endParaRPr sz="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2667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run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endParaRPr sz="500">
              <a:latin typeface="Courier New"/>
              <a:cs typeface="Courier New"/>
            </a:endParaRPr>
          </a:p>
          <a:p>
            <a:pPr marL="3429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33400" marR="182880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C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started"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endParaRPr sz="500">
              <a:latin typeface="Courier New"/>
              <a:cs typeface="Courier New"/>
            </a:endParaRPr>
          </a:p>
          <a:p>
            <a:pPr marL="6096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838200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"\t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ThreadC:</a:t>
            </a:r>
            <a:endParaRPr sz="5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k=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 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6096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647065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"Exit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808080"/>
                </a:solidFill>
                <a:latin typeface="Courier New"/>
                <a:cs typeface="Courier New"/>
              </a:rPr>
              <a:t>C"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42265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711708"/>
            <a:ext cx="9112250" cy="1472565"/>
            <a:chOff x="0" y="711708"/>
            <a:chExt cx="9112250" cy="147256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0" y="711708"/>
              <a:ext cx="2883407" cy="147218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08547" y="720852"/>
              <a:ext cx="3203447" cy="1408175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641749" y="844217"/>
            <a:ext cx="2006600" cy="1015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A</a:t>
            </a:r>
            <a:r>
              <a:rPr sz="500" spc="-2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5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2794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run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endParaRPr sz="500">
              <a:latin typeface="Courier New"/>
              <a:cs typeface="Courier New"/>
            </a:endParaRPr>
          </a:p>
          <a:p>
            <a:pPr marL="3556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46100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2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500" spc="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50" dirty="0">
                <a:solidFill>
                  <a:srgbClr val="808080"/>
                </a:solidFill>
                <a:latin typeface="Courier New"/>
                <a:cs typeface="Courier New"/>
              </a:rPr>
              <a:t>A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started"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546100">
              <a:lnSpc>
                <a:spcPct val="100000"/>
              </a:lnSpc>
            </a:pP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i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i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i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endParaRPr sz="500">
              <a:latin typeface="Courier New"/>
              <a:cs typeface="Courier New"/>
            </a:endParaRPr>
          </a:p>
          <a:p>
            <a:pPr marL="6223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850265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3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"\t</a:t>
            </a:r>
            <a:r>
              <a:rPr sz="500" spc="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endParaRPr sz="500">
              <a:latin typeface="Courier New"/>
              <a:cs typeface="Courier New"/>
            </a:endParaRPr>
          </a:p>
          <a:p>
            <a:pPr marR="1337945" algn="r">
              <a:lnSpc>
                <a:spcPct val="100000"/>
              </a:lnSpc>
              <a:spcBef>
                <a:spcPts val="10"/>
              </a:spcBef>
            </a:pP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ThreadA:</a:t>
            </a:r>
            <a:r>
              <a:rPr sz="5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i=</a:t>
            </a:r>
            <a:r>
              <a:rPr sz="5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spc="-10" dirty="0">
                <a:latin typeface="Courier New"/>
                <a:cs typeface="Courier New"/>
              </a:rPr>
              <a:t>i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R="1337945" algn="r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659765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"Exit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808080"/>
                </a:solidFill>
                <a:latin typeface="Courier New"/>
                <a:cs typeface="Courier New"/>
              </a:rPr>
              <a:t>A"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54965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4385" y="1934266"/>
            <a:ext cx="38735" cy="730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2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55547" y="851738"/>
            <a:ext cx="2273935" cy="1015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latin typeface="Courier New"/>
                <a:cs typeface="Courier New"/>
              </a:rPr>
              <a:t>C</a:t>
            </a:r>
            <a:r>
              <a:rPr sz="500" spc="-2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5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Thread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279400">
              <a:lnSpc>
                <a:spcPct val="100000"/>
              </a:lnSpc>
            </a:pP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5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run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endParaRPr sz="5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546100" marR="195580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C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started"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5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5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5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500" spc="-10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endParaRPr sz="500">
              <a:latin typeface="Courier New"/>
              <a:cs typeface="Courier New"/>
            </a:endParaRPr>
          </a:p>
          <a:p>
            <a:pPr marL="6223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500">
              <a:latin typeface="Courier New"/>
              <a:cs typeface="Courier New"/>
            </a:endParaRPr>
          </a:p>
          <a:p>
            <a:pPr marL="850900">
              <a:lnSpc>
                <a:spcPts val="595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spc="15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"\t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ThreadC: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k=</a:t>
            </a:r>
            <a:r>
              <a:rPr sz="500" spc="-10" dirty="0">
                <a:solidFill>
                  <a:srgbClr val="808080"/>
                </a:solidFill>
                <a:latin typeface="Courier New"/>
                <a:cs typeface="Courier New"/>
              </a:rPr>
              <a:t> "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500" spc="-10" dirty="0">
                <a:latin typeface="Courier New"/>
                <a:cs typeface="Courier New"/>
              </a:rPr>
              <a:t>k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659765">
              <a:lnSpc>
                <a:spcPct val="100000"/>
              </a:lnSpc>
            </a:pPr>
            <a:r>
              <a:rPr sz="500" spc="-10" dirty="0">
                <a:latin typeface="Courier New"/>
                <a:cs typeface="Courier New"/>
              </a:rPr>
              <a:t>System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out</a:t>
            </a:r>
            <a:r>
              <a:rPr sz="5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500" spc="-10" dirty="0">
                <a:latin typeface="Courier New"/>
                <a:cs typeface="Courier New"/>
              </a:rPr>
              <a:t>println</a:t>
            </a:r>
            <a:r>
              <a:rPr sz="500" dirty="0">
                <a:latin typeface="Courier New"/>
                <a:cs typeface="Courier New"/>
              </a:rPr>
              <a:t> </a:t>
            </a:r>
            <a:r>
              <a:rPr sz="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"Exit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500" spc="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500" spc="-20" dirty="0">
                <a:solidFill>
                  <a:srgbClr val="808080"/>
                </a:solidFill>
                <a:latin typeface="Courier New"/>
                <a:cs typeface="Courier New"/>
              </a:rPr>
              <a:t>C"</a:t>
            </a:r>
            <a:r>
              <a:rPr sz="5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500">
              <a:latin typeface="Courier New"/>
              <a:cs typeface="Courier New"/>
            </a:endParaRPr>
          </a:p>
          <a:p>
            <a:pPr marL="354965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  <a:p>
            <a:pPr marL="12700">
              <a:lnSpc>
                <a:spcPts val="595"/>
              </a:lnSpc>
            </a:pPr>
            <a:r>
              <a:rPr sz="5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500">
              <a:latin typeface="Courier New"/>
              <a:cs typeface="Courier New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1787651"/>
            <a:ext cx="8058911" cy="275234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654577" y="1954019"/>
            <a:ext cx="6263640" cy="23672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2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642620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run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endParaRPr sz="1200">
              <a:latin typeface="Courier New"/>
              <a:cs typeface="Courier New"/>
            </a:endParaRPr>
          </a:p>
          <a:p>
            <a:pPr marL="827405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1287780" marR="1284605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12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A</a:t>
            </a:r>
            <a:r>
              <a:rPr sz="1200" spc="-5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started"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200" spc="-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spc="-10" dirty="0">
                <a:latin typeface="Courier New"/>
                <a:cs typeface="Courier New"/>
              </a:rPr>
              <a:t>i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spc="-10" dirty="0">
                <a:latin typeface="Courier New"/>
                <a:cs typeface="Courier New"/>
              </a:rPr>
              <a:t>i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endParaRPr sz="1200">
              <a:latin typeface="Courier New"/>
              <a:cs typeface="Courier New"/>
            </a:endParaRPr>
          </a:p>
          <a:p>
            <a:pPr marL="14732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2025014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"\t</a:t>
            </a:r>
            <a:r>
              <a:rPr sz="12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2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ThreadA:</a:t>
            </a:r>
            <a:r>
              <a:rPr sz="1200" spc="-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i=</a:t>
            </a:r>
            <a:r>
              <a:rPr sz="12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200" spc="-10" dirty="0">
                <a:latin typeface="Courier New"/>
                <a:cs typeface="Courier New"/>
              </a:rPr>
              <a:t>i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14732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564640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"Exit</a:t>
            </a:r>
            <a:r>
              <a:rPr sz="12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2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808080"/>
                </a:solidFill>
                <a:latin typeface="Courier New"/>
                <a:cs typeface="Courier New"/>
              </a:rPr>
              <a:t>A"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827405">
              <a:lnSpc>
                <a:spcPts val="143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73479" y="1960841"/>
            <a:ext cx="6263640" cy="21818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4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2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642620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run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endParaRPr sz="1200">
              <a:latin typeface="Courier New"/>
              <a:cs typeface="Courier New"/>
            </a:endParaRPr>
          </a:p>
          <a:p>
            <a:pPr marL="827405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1287780" marR="1284605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12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C</a:t>
            </a:r>
            <a:r>
              <a:rPr sz="1200" spc="-5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started"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200" spc="-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k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spc="-10" dirty="0">
                <a:latin typeface="Courier New"/>
                <a:cs typeface="Courier New"/>
              </a:rPr>
              <a:t>k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spc="-10" dirty="0">
                <a:latin typeface="Courier New"/>
                <a:cs typeface="Courier New"/>
              </a:rPr>
              <a:t>k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endParaRPr sz="1200">
              <a:latin typeface="Courier New"/>
              <a:cs typeface="Courier New"/>
            </a:endParaRPr>
          </a:p>
          <a:p>
            <a:pPr marL="14732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2025014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"\t</a:t>
            </a:r>
            <a:r>
              <a:rPr sz="12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2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ThreadC:</a:t>
            </a:r>
            <a:r>
              <a:rPr sz="1200" spc="-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k=</a:t>
            </a:r>
            <a:r>
              <a:rPr sz="12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200" spc="-10" dirty="0">
                <a:latin typeface="Courier New"/>
                <a:cs typeface="Courier New"/>
              </a:rPr>
              <a:t>k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14732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564640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"Exit</a:t>
            </a:r>
            <a:r>
              <a:rPr sz="12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2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808080"/>
                </a:solidFill>
                <a:latin typeface="Courier New"/>
                <a:cs typeface="Courier New"/>
              </a:rPr>
              <a:t>C"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827405">
              <a:lnSpc>
                <a:spcPts val="143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ts val="143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620" y="1793748"/>
            <a:ext cx="8069580" cy="272643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655217" y="1929441"/>
            <a:ext cx="6289040" cy="2217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extends</a:t>
            </a:r>
            <a:r>
              <a:rPr sz="12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Thread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655320">
              <a:lnSpc>
                <a:spcPct val="10000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run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endParaRPr sz="1200">
              <a:latin typeface="Courier New"/>
              <a:cs typeface="Courier New"/>
            </a:endParaRPr>
          </a:p>
          <a:p>
            <a:pPr marL="840105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1300480" marR="1297305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"Thread</a:t>
            </a:r>
            <a:r>
              <a:rPr sz="12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B</a:t>
            </a:r>
            <a:r>
              <a:rPr sz="1200" spc="-5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started"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for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200" spc="-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j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spc="-10" dirty="0">
                <a:latin typeface="Courier New"/>
                <a:cs typeface="Courier New"/>
              </a:rPr>
              <a:t>j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&lt;=</a:t>
            </a: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4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r>
              <a:rPr sz="1200" spc="-10" dirty="0">
                <a:latin typeface="Courier New"/>
                <a:cs typeface="Courier New"/>
              </a:rPr>
              <a:t>j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++)</a:t>
            </a:r>
            <a:endParaRPr sz="1200">
              <a:latin typeface="Courier New"/>
              <a:cs typeface="Courier New"/>
            </a:endParaRPr>
          </a:p>
          <a:p>
            <a:pPr marL="14859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2037714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3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"\t</a:t>
            </a:r>
            <a:r>
              <a:rPr sz="12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2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ThreadB:</a:t>
            </a:r>
            <a:r>
              <a:rPr sz="1200" spc="-4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j=</a:t>
            </a:r>
            <a:r>
              <a:rPr sz="12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200" spc="-10" dirty="0">
                <a:latin typeface="Courier New"/>
                <a:cs typeface="Courier New"/>
              </a:rPr>
              <a:t>j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14859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577340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System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out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println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"Exit</a:t>
            </a:r>
            <a:r>
              <a:rPr sz="1200" spc="-5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8080"/>
                </a:solidFill>
                <a:latin typeface="Courier New"/>
                <a:cs typeface="Courier New"/>
              </a:rPr>
              <a:t>from</a:t>
            </a:r>
            <a:r>
              <a:rPr sz="12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808080"/>
                </a:solidFill>
                <a:latin typeface="Courier New"/>
                <a:cs typeface="Courier New"/>
              </a:rPr>
              <a:t>B"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840105">
              <a:lnSpc>
                <a:spcPts val="143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5333999" cy="78941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</a:t>
            </a:r>
            <a:r>
              <a:rPr spc="-35" dirty="0"/>
              <a:t> </a:t>
            </a:r>
            <a:r>
              <a:rPr spc="-155" dirty="0"/>
              <a:t>priority</a:t>
            </a:r>
            <a:r>
              <a:rPr spc="-35" dirty="0"/>
              <a:t> </a:t>
            </a:r>
            <a:r>
              <a:rPr spc="-240" dirty="0"/>
              <a:t>:</a:t>
            </a:r>
            <a:r>
              <a:rPr spc="-35" dirty="0"/>
              <a:t> </a:t>
            </a:r>
            <a:r>
              <a:rPr dirty="0"/>
              <a:t>An</a:t>
            </a:r>
            <a:r>
              <a:rPr spc="-30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6200" y="318515"/>
            <a:ext cx="8525510" cy="4000500"/>
            <a:chOff x="76200" y="318515"/>
            <a:chExt cx="8525510" cy="400050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6948" y="762000"/>
              <a:ext cx="7874508" cy="355701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374139" y="896755"/>
            <a:ext cx="5577840" cy="32124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1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ThreadPriority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852169">
              <a:lnSpc>
                <a:spcPct val="100000"/>
              </a:lnSpc>
            </a:pP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100" spc="-1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1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1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main</a:t>
            </a:r>
            <a:r>
              <a:rPr sz="1100" spc="-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latin typeface="Courier New"/>
                <a:cs typeface="Courier New"/>
              </a:rPr>
              <a:t>String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args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[])</a:t>
            </a:r>
            <a:endParaRPr sz="1100">
              <a:latin typeface="Courier New"/>
              <a:cs typeface="Courier New"/>
            </a:endParaRPr>
          </a:p>
          <a:p>
            <a:pPr marL="935990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1694814">
              <a:lnSpc>
                <a:spcPct val="100000"/>
              </a:lnSpc>
            </a:pP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threadA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100" b="1" spc="-1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A</a:t>
            </a:r>
            <a:r>
              <a:rPr sz="1100" b="1" spc="-2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100">
              <a:latin typeface="Courier New"/>
              <a:cs typeface="Courier New"/>
            </a:endParaRPr>
          </a:p>
          <a:p>
            <a:pPr marL="1862455" indent="-167640">
              <a:lnSpc>
                <a:spcPct val="100000"/>
              </a:lnSpc>
              <a:buAutoNum type="alphaUcPeriod" startAt="2"/>
              <a:tabLst>
                <a:tab pos="1862455" algn="l"/>
              </a:tabLst>
            </a:pPr>
            <a:r>
              <a:rPr sz="1100" dirty="0">
                <a:latin typeface="Courier New"/>
                <a:cs typeface="Courier New"/>
              </a:rPr>
              <a:t>threadB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1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B</a:t>
            </a:r>
            <a:r>
              <a:rPr sz="1100" b="1" spc="-2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100">
              <a:latin typeface="Courier New"/>
              <a:cs typeface="Courier New"/>
            </a:endParaRPr>
          </a:p>
          <a:p>
            <a:pPr marL="1862455" indent="-167640">
              <a:lnSpc>
                <a:spcPct val="100000"/>
              </a:lnSpc>
              <a:buAutoNum type="alphaUcPeriod" startAt="2"/>
              <a:tabLst>
                <a:tab pos="1862455" algn="l"/>
              </a:tabLst>
            </a:pPr>
            <a:r>
              <a:rPr sz="1100" dirty="0">
                <a:latin typeface="Courier New"/>
                <a:cs typeface="Courier New"/>
              </a:rPr>
              <a:t>threadC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1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1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</a:t>
            </a:r>
            <a:r>
              <a:rPr sz="1100" b="1" spc="-2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100">
              <a:latin typeface="Courier New"/>
              <a:cs typeface="Courier New"/>
            </a:endParaRPr>
          </a:p>
          <a:p>
            <a:pPr marL="1695450" marR="5080" indent="-635">
              <a:lnSpc>
                <a:spcPct val="100000"/>
              </a:lnSpc>
            </a:pPr>
            <a:r>
              <a:rPr sz="1100" dirty="0">
                <a:latin typeface="Courier New"/>
                <a:cs typeface="Courier New"/>
              </a:rPr>
              <a:t>threadC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setPriority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latin typeface="Courier New"/>
                <a:cs typeface="Courier New"/>
              </a:rPr>
              <a:t>Thread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spc="-10" dirty="0">
                <a:latin typeface="Courier New"/>
                <a:cs typeface="Courier New"/>
              </a:rPr>
              <a:t>MAX_PRIORITY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100" dirty="0">
                <a:latin typeface="Courier New"/>
                <a:cs typeface="Courier New"/>
              </a:rPr>
              <a:t>threadB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setPriority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latin typeface="Courier New"/>
                <a:cs typeface="Courier New"/>
              </a:rPr>
              <a:t>threadA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spc="-10" dirty="0">
                <a:latin typeface="Courier New"/>
                <a:cs typeface="Courier New"/>
              </a:rPr>
              <a:t>getPriority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()+</a:t>
            </a:r>
            <a:r>
              <a:rPr sz="11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100" dirty="0">
                <a:latin typeface="Courier New"/>
                <a:cs typeface="Courier New"/>
              </a:rPr>
              <a:t>threadA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setPriority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latin typeface="Courier New"/>
                <a:cs typeface="Courier New"/>
              </a:rPr>
              <a:t>Thread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spc="-10" dirty="0">
                <a:latin typeface="Courier New"/>
                <a:cs typeface="Courier New"/>
              </a:rPr>
              <a:t>MIN_PRIORITY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println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"Started</a:t>
            </a:r>
            <a:r>
              <a:rPr sz="11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1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808080"/>
                </a:solidFill>
                <a:latin typeface="Courier New"/>
                <a:cs typeface="Courier New"/>
              </a:rPr>
              <a:t>A"</a:t>
            </a:r>
            <a:r>
              <a:rPr sz="1100" b="1" spc="-2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1779270">
              <a:lnSpc>
                <a:spcPct val="100000"/>
              </a:lnSpc>
            </a:pPr>
            <a:r>
              <a:rPr sz="1100" spc="-10" dirty="0">
                <a:latin typeface="Courier New"/>
                <a:cs typeface="Courier New"/>
              </a:rPr>
              <a:t>threadA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spc="-10" dirty="0">
                <a:latin typeface="Courier New"/>
                <a:cs typeface="Courier New"/>
              </a:rPr>
              <a:t>start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100">
              <a:latin typeface="Courier New"/>
              <a:cs typeface="Courier New"/>
            </a:endParaRPr>
          </a:p>
          <a:p>
            <a:pPr marL="1779270" marR="508634" indent="-84455">
              <a:lnSpc>
                <a:spcPct val="100000"/>
              </a:lnSpc>
            </a:pP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println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"Started</a:t>
            </a:r>
            <a:r>
              <a:rPr sz="11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1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808080"/>
                </a:solidFill>
                <a:latin typeface="Courier New"/>
                <a:cs typeface="Courier New"/>
              </a:rPr>
              <a:t>B"</a:t>
            </a:r>
            <a:r>
              <a:rPr sz="1100" b="1" spc="-2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100" spc="-10" dirty="0">
                <a:latin typeface="Courier New"/>
                <a:cs typeface="Courier New"/>
              </a:rPr>
              <a:t>threadB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spc="-10" dirty="0">
                <a:latin typeface="Courier New"/>
                <a:cs typeface="Courier New"/>
              </a:rPr>
              <a:t>start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100">
              <a:latin typeface="Courier New"/>
              <a:cs typeface="Courier New"/>
            </a:endParaRPr>
          </a:p>
          <a:p>
            <a:pPr marL="1779270" marR="508634" indent="-84455">
              <a:lnSpc>
                <a:spcPct val="100000"/>
              </a:lnSpc>
              <a:spcBef>
                <a:spcPts val="5"/>
              </a:spcBef>
            </a:pP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println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"Started</a:t>
            </a:r>
            <a:r>
              <a:rPr sz="11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Thread</a:t>
            </a:r>
            <a:r>
              <a:rPr sz="11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808080"/>
                </a:solidFill>
                <a:latin typeface="Courier New"/>
                <a:cs typeface="Courier New"/>
              </a:rPr>
              <a:t>C"</a:t>
            </a:r>
            <a:r>
              <a:rPr sz="1100" b="1" spc="-20" dirty="0">
                <a:solidFill>
                  <a:srgbClr val="000080"/>
                </a:solidFill>
                <a:latin typeface="Courier New"/>
                <a:cs typeface="Courier New"/>
              </a:rPr>
              <a:t>); </a:t>
            </a:r>
            <a:r>
              <a:rPr sz="1100" spc="-10" dirty="0">
                <a:latin typeface="Courier New"/>
                <a:cs typeface="Courier New"/>
              </a:rPr>
              <a:t>threadC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spc="-10" dirty="0">
                <a:latin typeface="Courier New"/>
                <a:cs typeface="Courier New"/>
              </a:rPr>
              <a:t>start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100">
              <a:latin typeface="Courier New"/>
              <a:cs typeface="Courier New"/>
            </a:endParaRPr>
          </a:p>
          <a:p>
            <a:pPr marL="1779270">
              <a:lnSpc>
                <a:spcPct val="100000"/>
              </a:lnSpc>
            </a:pP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100" dirty="0">
                <a:latin typeface="Courier New"/>
                <a:cs typeface="Courier New"/>
              </a:rPr>
              <a:t>println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"End</a:t>
            </a:r>
            <a:r>
              <a:rPr sz="11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of</a:t>
            </a:r>
            <a:r>
              <a:rPr sz="1100" spc="-1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808080"/>
                </a:solidFill>
                <a:latin typeface="Courier New"/>
                <a:cs typeface="Courier New"/>
              </a:rPr>
              <a:t>main</a:t>
            </a:r>
            <a:r>
              <a:rPr sz="1100" spc="-10" dirty="0">
                <a:solidFill>
                  <a:srgbClr val="808080"/>
                </a:solidFill>
                <a:latin typeface="Courier New"/>
                <a:cs typeface="Courier New"/>
              </a:rPr>
              <a:t> thread"</a:t>
            </a:r>
            <a:r>
              <a:rPr sz="11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100">
              <a:latin typeface="Courier New"/>
              <a:cs typeface="Courier New"/>
            </a:endParaRPr>
          </a:p>
          <a:p>
            <a:pPr marL="936625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2904743" cy="78941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5684" y="217931"/>
              <a:ext cx="1165859" cy="789431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8612" y="312673"/>
            <a:ext cx="3157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</a:t>
            </a:r>
            <a:r>
              <a:rPr spc="-114" dirty="0"/>
              <a:t> </a:t>
            </a:r>
            <a:r>
              <a:rPr dirty="0"/>
              <a:t>class</a:t>
            </a:r>
            <a:r>
              <a:rPr spc="-155" dirty="0"/>
              <a:t> </a:t>
            </a:r>
            <a:r>
              <a:rPr spc="-240" dirty="0"/>
              <a:t>:</a:t>
            </a:r>
            <a:r>
              <a:rPr spc="-35" dirty="0"/>
              <a:t> </a:t>
            </a:r>
            <a:r>
              <a:rPr spc="-35" dirty="0">
                <a:solidFill>
                  <a:srgbClr val="0000FF"/>
                </a:solidFill>
              </a:rPr>
              <a:t>Join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4944" y="1117091"/>
            <a:ext cx="7950708" cy="318973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42389" y="1278261"/>
            <a:ext cx="4648200" cy="1412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3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3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Test1</a:t>
            </a:r>
            <a:r>
              <a:rPr sz="1300" spc="-25" dirty="0"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  <a:p>
            <a:pPr marL="469265" algn="just">
              <a:lnSpc>
                <a:spcPct val="100000"/>
              </a:lnSpc>
            </a:pP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3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3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main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latin typeface="Courier New"/>
                <a:cs typeface="Courier New"/>
              </a:rPr>
              <a:t>String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[]</a:t>
            </a:r>
            <a:r>
              <a:rPr sz="1300" b="1" spc="-4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args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){</a:t>
            </a:r>
            <a:endParaRPr sz="1300">
              <a:latin typeface="Courier New"/>
              <a:cs typeface="Courier New"/>
            </a:endParaRPr>
          </a:p>
          <a:p>
            <a:pPr marL="1383665" marR="5080" indent="-635" algn="just">
              <a:lnSpc>
                <a:spcPct val="100000"/>
              </a:lnSpc>
            </a:pP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spc="-2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t1</a:t>
            </a:r>
            <a:r>
              <a:rPr sz="1300" spc="-3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3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3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3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spc="-10" dirty="0">
                <a:solidFill>
                  <a:srgbClr val="FF8000"/>
                </a:solidFill>
                <a:latin typeface="Courier New"/>
                <a:cs typeface="Courier New"/>
              </a:rPr>
              <a:t>1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));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spc="-2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t2</a:t>
            </a:r>
            <a:r>
              <a:rPr sz="1300" spc="-30" dirty="0"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3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300" b="1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Thread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3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latin typeface="Courier New"/>
                <a:cs typeface="Courier New"/>
              </a:rPr>
              <a:t>R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spc="-10" dirty="0">
                <a:solidFill>
                  <a:srgbClr val="FF8000"/>
                </a:solidFill>
                <a:latin typeface="Courier New"/>
                <a:cs typeface="Courier New"/>
              </a:rPr>
              <a:t>2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)); </a:t>
            </a:r>
            <a:r>
              <a:rPr sz="1300" spc="-10" dirty="0">
                <a:latin typeface="Courier New"/>
                <a:cs typeface="Courier New"/>
              </a:rPr>
              <a:t>t1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300" spc="-10" dirty="0">
                <a:latin typeface="Courier New"/>
                <a:cs typeface="Courier New"/>
              </a:rPr>
              <a:t>start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300">
              <a:latin typeface="Courier New"/>
              <a:cs typeface="Courier New"/>
            </a:endParaRPr>
          </a:p>
          <a:p>
            <a:pPr marL="1384300" marR="2172970" algn="just">
              <a:lnSpc>
                <a:spcPct val="100000"/>
              </a:lnSpc>
            </a:pPr>
            <a:r>
              <a:rPr sz="1300" spc="-10" dirty="0">
                <a:latin typeface="Courier New"/>
                <a:cs typeface="Courier New"/>
              </a:rPr>
              <a:t>t2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300" spc="-10" dirty="0">
                <a:latin typeface="Courier New"/>
                <a:cs typeface="Courier New"/>
              </a:rPr>
              <a:t>start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(); </a:t>
            </a: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try</a:t>
            </a:r>
            <a:r>
              <a:rPr sz="1300" b="1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628408" y="2665442"/>
            <a:ext cx="101155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latin typeface="Courier New"/>
                <a:cs typeface="Courier New"/>
              </a:rPr>
              <a:t>t1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300" spc="-10" dirty="0">
                <a:latin typeface="Courier New"/>
                <a:cs typeface="Courier New"/>
              </a:rPr>
              <a:t>join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Courier New"/>
                <a:cs typeface="Courier New"/>
              </a:rPr>
              <a:t>t2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300" spc="-10" dirty="0">
                <a:latin typeface="Courier New"/>
                <a:cs typeface="Courier New"/>
              </a:rPr>
              <a:t>join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();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5127" y="2665442"/>
            <a:ext cx="317817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waits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until</a:t>
            </a:r>
            <a:r>
              <a:rPr sz="13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t1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has</a:t>
            </a:r>
            <a:r>
              <a:rPr sz="1300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terminated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waits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until</a:t>
            </a:r>
            <a:r>
              <a:rPr sz="13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t2</a:t>
            </a:r>
            <a:r>
              <a:rPr sz="13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008000"/>
                </a:solidFill>
                <a:latin typeface="Courier New"/>
                <a:cs typeface="Courier New"/>
              </a:rPr>
              <a:t>has</a:t>
            </a:r>
            <a:r>
              <a:rPr sz="1300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008000"/>
                </a:solidFill>
                <a:latin typeface="Courier New"/>
                <a:cs typeface="Courier New"/>
              </a:rPr>
              <a:t>terminated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42389" y="3061780"/>
            <a:ext cx="4548505" cy="101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3665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1383665">
              <a:lnSpc>
                <a:spcPct val="100000"/>
              </a:lnSpc>
            </a:pPr>
            <a:r>
              <a:rPr sz="1300" b="1" dirty="0">
                <a:solidFill>
                  <a:srgbClr val="0000FF"/>
                </a:solidFill>
                <a:latin typeface="Courier New"/>
                <a:cs typeface="Courier New"/>
              </a:rPr>
              <a:t>catch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dirty="0">
                <a:latin typeface="Courier New"/>
                <a:cs typeface="Courier New"/>
              </a:rPr>
              <a:t>InterruptedException</a:t>
            </a:r>
            <a:r>
              <a:rPr sz="1300" spc="-60" dirty="0">
                <a:latin typeface="Courier New"/>
                <a:cs typeface="Courier New"/>
              </a:rPr>
              <a:t> </a:t>
            </a:r>
            <a:r>
              <a:rPr sz="1300" dirty="0">
                <a:latin typeface="Courier New"/>
                <a:cs typeface="Courier New"/>
              </a:rPr>
              <a:t>e</a:t>
            </a:r>
            <a:r>
              <a:rPr sz="1300" b="1" dirty="0">
                <a:solidFill>
                  <a:srgbClr val="000080"/>
                </a:solidFill>
                <a:latin typeface="Courier New"/>
                <a:cs typeface="Courier New"/>
              </a:rPr>
              <a:t>){</a:t>
            </a:r>
            <a:r>
              <a:rPr sz="1300" b="1" spc="-6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1384300">
              <a:lnSpc>
                <a:spcPct val="100000"/>
              </a:lnSpc>
            </a:pPr>
            <a:r>
              <a:rPr sz="1300" spc="-10" dirty="0">
                <a:latin typeface="Courier New"/>
                <a:cs typeface="Courier New"/>
              </a:rPr>
              <a:t>System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300" spc="-10" dirty="0">
                <a:latin typeface="Courier New"/>
                <a:cs typeface="Courier New"/>
              </a:rPr>
              <a:t>out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300" spc="-10" dirty="0">
                <a:latin typeface="Courier New"/>
                <a:cs typeface="Courier New"/>
              </a:rPr>
              <a:t>println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300" spc="-10" dirty="0">
                <a:solidFill>
                  <a:srgbClr val="808080"/>
                </a:solidFill>
                <a:latin typeface="Courier New"/>
                <a:cs typeface="Courier New"/>
              </a:rPr>
              <a:t>"done"</a:t>
            </a:r>
            <a:r>
              <a:rPr sz="13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3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3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3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1149095"/>
            <a:ext cx="2362199" cy="23621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5056" y="2019300"/>
            <a:ext cx="5655563" cy="89915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355340" y="2103374"/>
            <a:ext cx="514731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Synchronization</a:t>
            </a:r>
            <a:r>
              <a:rPr sz="3200" b="0" spc="-114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dirty="0">
                <a:solidFill>
                  <a:srgbClr val="0000FF"/>
                </a:solidFill>
                <a:latin typeface="Yu Gothic"/>
                <a:cs typeface="Yu Gothic"/>
              </a:rPr>
              <a:t>of</a:t>
            </a:r>
            <a:r>
              <a:rPr sz="3200" b="0" spc="-110" dirty="0">
                <a:solidFill>
                  <a:srgbClr val="0000FF"/>
                </a:solidFill>
                <a:latin typeface="Yu Gothic"/>
                <a:cs typeface="Yu Gothic"/>
              </a:rPr>
              <a:t> </a:t>
            </a:r>
            <a:r>
              <a:rPr sz="3200" b="0" spc="-10" dirty="0">
                <a:solidFill>
                  <a:srgbClr val="0000FF"/>
                </a:solidFill>
                <a:latin typeface="Yu Gothic"/>
                <a:cs typeface="Yu Gothic"/>
              </a:rPr>
              <a:t>Threads</a:t>
            </a:r>
            <a:endParaRPr sz="3200">
              <a:latin typeface="Yu Gothic"/>
              <a:cs typeface="Yu Gothi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2" y="217931"/>
              <a:ext cx="4430267" cy="789431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 </a:t>
            </a:r>
            <a:r>
              <a:rPr spc="-80" dirty="0"/>
              <a:t>synchronization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3748" y="3259836"/>
            <a:ext cx="5327904" cy="70408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06782" y="1019048"/>
            <a:ext cx="8605520" cy="268859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 marR="5080">
              <a:lnSpc>
                <a:spcPts val="2380"/>
              </a:lnSpc>
              <a:spcBef>
                <a:spcPts val="390"/>
              </a:spcBef>
            </a:pPr>
            <a:r>
              <a:rPr sz="2200" dirty="0">
                <a:latin typeface="Times New Roman"/>
                <a:cs typeface="Times New Roman"/>
              </a:rPr>
              <a:t>When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or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more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processes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attempts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access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shared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resource,</a:t>
            </a:r>
            <a:r>
              <a:rPr sz="2200" spc="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it</a:t>
            </a:r>
            <a:r>
              <a:rPr sz="2200" spc="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should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synchronized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avoid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conflicts.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435"/>
              </a:spcBef>
            </a:pPr>
            <a:r>
              <a:rPr sz="2200" dirty="0">
                <a:solidFill>
                  <a:srgbClr val="C00000"/>
                </a:solidFill>
                <a:latin typeface="Times New Roman"/>
                <a:cs typeface="Times New Roman"/>
              </a:rPr>
              <a:t>J</a:t>
            </a:r>
            <a:r>
              <a:rPr sz="2200" dirty="0">
                <a:latin typeface="Times New Roman"/>
                <a:cs typeface="Times New Roman"/>
              </a:rPr>
              <a:t>ava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supports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synchronized.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2200">
              <a:latin typeface="Times New Roman"/>
              <a:cs typeface="Times New Roman"/>
            </a:endParaRPr>
          </a:p>
          <a:p>
            <a:pPr marL="12700" marR="5715" indent="-635">
              <a:lnSpc>
                <a:spcPts val="2380"/>
              </a:lnSpc>
            </a:pPr>
            <a:r>
              <a:rPr sz="2200" dirty="0">
                <a:latin typeface="Times New Roman"/>
                <a:cs typeface="Times New Roman"/>
              </a:rPr>
              <a:t>Following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syntax</a:t>
            </a:r>
            <a:r>
              <a:rPr sz="2200" spc="3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by</a:t>
            </a:r>
            <a:r>
              <a:rPr sz="2200" spc="3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methods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can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be</a:t>
            </a:r>
            <a:r>
              <a:rPr sz="2200" spc="3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made</a:t>
            </a:r>
            <a:r>
              <a:rPr sz="2200" spc="3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38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protect</a:t>
            </a:r>
            <a:r>
              <a:rPr sz="2200" spc="37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from </a:t>
            </a:r>
            <a:r>
              <a:rPr sz="2200" dirty="0">
                <a:latin typeface="Times New Roman"/>
                <a:cs typeface="Times New Roman"/>
              </a:rPr>
              <a:t>simultaneous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access:</a:t>
            </a:r>
            <a:endParaRPr sz="2200">
              <a:latin typeface="Times New Roman"/>
              <a:cs typeface="Times New Roman"/>
            </a:endParaRPr>
          </a:p>
          <a:p>
            <a:pPr marR="306070" algn="ctr">
              <a:lnSpc>
                <a:spcPct val="100000"/>
              </a:lnSpc>
              <a:spcBef>
                <a:spcPts val="1160"/>
              </a:spcBef>
            </a:pPr>
            <a:r>
              <a:rPr sz="1800" i="1" spc="-10" dirty="0">
                <a:solidFill>
                  <a:srgbClr val="CC3300"/>
                </a:solidFill>
                <a:latin typeface="Times New Roman"/>
                <a:cs typeface="Times New Roman"/>
              </a:rPr>
              <a:t>synchronized</a:t>
            </a:r>
            <a:r>
              <a:rPr sz="1800" i="1" spc="-20" dirty="0">
                <a:solidFill>
                  <a:srgbClr val="CC3300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(object)</a:t>
            </a:r>
            <a:r>
              <a:rPr sz="1800" i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sz="18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block</a:t>
            </a:r>
            <a:r>
              <a:rPr sz="1800" i="1" spc="-3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sz="1800" i="1" spc="-2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FFFFFF"/>
                </a:solidFill>
                <a:latin typeface="Times New Roman"/>
                <a:cs typeface="Times New Roman"/>
              </a:rPr>
              <a:t>statement(s)</a:t>
            </a:r>
            <a:r>
              <a:rPr sz="1800" i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800" i="1" spc="-50" dirty="0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6845807" cy="78941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</a:t>
            </a:r>
            <a:r>
              <a:rPr spc="-85" dirty="0"/>
              <a:t> synchronization</a:t>
            </a:r>
            <a:r>
              <a:rPr spc="-65" dirty="0"/>
              <a:t> </a:t>
            </a:r>
            <a:r>
              <a:rPr spc="-240" dirty="0"/>
              <a:t>:</a:t>
            </a:r>
            <a:r>
              <a:rPr spc="-35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318515"/>
            <a:ext cx="5293360" cy="3854450"/>
            <a:chOff x="0" y="318515"/>
            <a:chExt cx="5293360" cy="385445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60476"/>
              <a:ext cx="5292851" cy="341223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35940" y="896266"/>
            <a:ext cx="4445000" cy="1397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0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Account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469265" marR="2138045">
              <a:lnSpc>
                <a:spcPct val="100000"/>
              </a:lnSpc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private</a:t>
            </a:r>
            <a:r>
              <a:rPr sz="10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0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balance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0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0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accountNo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0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displayBalance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0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774700">
              <a:lnSpc>
                <a:spcPts val="1175"/>
              </a:lnSpc>
            </a:pPr>
            <a:r>
              <a:rPr sz="1000" dirty="0">
                <a:latin typeface="Courier New"/>
                <a:cs typeface="Courier New"/>
              </a:rPr>
              <a:t>System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out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println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"Account</a:t>
            </a:r>
            <a:r>
              <a:rPr sz="10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No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:</a:t>
            </a:r>
            <a:r>
              <a:rPr sz="10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0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accountNo</a:t>
            </a:r>
            <a:endParaRPr sz="1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"Balance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:</a:t>
            </a:r>
            <a:r>
              <a:rPr sz="1000" spc="-2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000" spc="-1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balance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 marL="469900">
              <a:lnSpc>
                <a:spcPts val="1190"/>
              </a:lnSpc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469900">
              <a:lnSpc>
                <a:spcPts val="1190"/>
              </a:lnSpc>
              <a:tabLst>
                <a:tab pos="1536700" algn="l"/>
              </a:tabLst>
            </a:pPr>
            <a:r>
              <a:rPr sz="1000" spc="-10" dirty="0">
                <a:solidFill>
                  <a:srgbClr val="8000FF"/>
                </a:solidFill>
                <a:latin typeface="Courier New"/>
                <a:cs typeface="Courier New"/>
              </a:rPr>
              <a:t>synchronized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	void</a:t>
            </a:r>
            <a:r>
              <a:rPr sz="10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deposite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0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amount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5"/>
              </a:spcBef>
            </a:pP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Method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0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deposit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an</a:t>
            </a:r>
            <a:r>
              <a:rPr sz="10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ourier New"/>
                <a:cs typeface="Courier New"/>
              </a:rPr>
              <a:t>amount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98307" y="2268072"/>
            <a:ext cx="21583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97865" algn="l"/>
              </a:tabLst>
            </a:pPr>
            <a:r>
              <a:rPr sz="1000" spc="-10" dirty="0">
                <a:latin typeface="Courier New"/>
                <a:cs typeface="Courier New"/>
              </a:rPr>
              <a:t>balance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balance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0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amount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8180" y="2420495"/>
            <a:ext cx="353123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ourier New"/>
                <a:cs typeface="Courier New"/>
              </a:rPr>
              <a:t>System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out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print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amount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0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is</a:t>
            </a:r>
            <a:r>
              <a:rPr sz="1000" spc="-3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deposited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</a:t>
            </a:r>
            <a:r>
              <a:rPr sz="1000" spc="-2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displayBalance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spc="-4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 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3588" y="2725341"/>
            <a:ext cx="101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3588" y="2874728"/>
            <a:ext cx="3225800" cy="48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synchronized</a:t>
            </a:r>
            <a:r>
              <a:rPr sz="10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0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withdraw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0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amount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0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7500" marR="692150" indent="-228600">
              <a:lnSpc>
                <a:spcPct val="100000"/>
              </a:lnSpc>
              <a:spcBef>
                <a:spcPts val="25"/>
              </a:spcBef>
              <a:tabLst>
                <a:tab pos="2068195" algn="l"/>
              </a:tabLst>
            </a:pP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0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method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0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withdraw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an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	</a:t>
            </a:r>
            <a:r>
              <a:rPr sz="1000" spc="-10" dirty="0">
                <a:solidFill>
                  <a:srgbClr val="008000"/>
                </a:solidFill>
                <a:latin typeface="Courier New"/>
                <a:cs typeface="Courier New"/>
              </a:rPr>
              <a:t>amount </a:t>
            </a:r>
            <a:r>
              <a:rPr sz="1000" dirty="0">
                <a:latin typeface="Courier New"/>
                <a:cs typeface="Courier New"/>
              </a:rPr>
              <a:t>balance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balance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-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amount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8307" y="3335032"/>
            <a:ext cx="34544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46300" algn="l"/>
              </a:tabLst>
            </a:pPr>
            <a:r>
              <a:rPr sz="1000" dirty="0">
                <a:latin typeface="Courier New"/>
                <a:cs typeface="Courier New"/>
              </a:rPr>
              <a:t>System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out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print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latin typeface="Courier New"/>
                <a:cs typeface="Courier New"/>
              </a:rPr>
              <a:t>amount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+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"is</a:t>
            </a:r>
            <a:r>
              <a:rPr sz="1000" spc="-40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8080"/>
                </a:solidFill>
                <a:latin typeface="Courier New"/>
                <a:cs typeface="Courier New"/>
              </a:rPr>
              <a:t>withdrawn"</a:t>
            </a:r>
            <a:r>
              <a:rPr sz="1000" spc="-35" dirty="0">
                <a:solidFill>
                  <a:srgbClr val="808080"/>
                </a:solidFill>
                <a:latin typeface="Courier New"/>
                <a:cs typeface="Courier New"/>
              </a:rPr>
              <a:t> 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displayBalance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6319" y="3639878"/>
            <a:ext cx="55880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60264" y="1146060"/>
            <a:ext cx="3983735" cy="2645651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806747" y="1277266"/>
            <a:ext cx="2844800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383665" algn="l"/>
                <a:tab pos="2069464" algn="l"/>
              </a:tabLst>
            </a:pP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implement</a:t>
            </a:r>
            <a:r>
              <a:rPr sz="10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r>
              <a:rPr sz="10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ourier New"/>
                <a:cs typeface="Courier New"/>
              </a:rPr>
              <a:t>deposit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0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TransactionDeposite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10" dirty="0">
                <a:solidFill>
                  <a:srgbClr val="0000FF"/>
                </a:solidFill>
                <a:latin typeface="Courier New"/>
                <a:cs typeface="Courier New"/>
              </a:rPr>
              <a:t>implements </a:t>
            </a:r>
            <a:r>
              <a:rPr sz="1000" spc="-10" dirty="0">
                <a:latin typeface="Courier New"/>
                <a:cs typeface="Courier New"/>
              </a:rPr>
              <a:t>Runnable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68608" y="1734535"/>
            <a:ext cx="238696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Courier New"/>
                <a:cs typeface="Courier New"/>
              </a:rPr>
              <a:t>Account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accountX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000" dirty="0">
                <a:latin typeface="Courier New"/>
                <a:cs typeface="Courier New"/>
              </a:rPr>
              <a:t>TransactionDeposite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dirty="0">
                <a:latin typeface="Courier New"/>
                <a:cs typeface="Courier New"/>
              </a:rPr>
              <a:t>Account</a:t>
            </a:r>
            <a:r>
              <a:rPr sz="1000" spc="-80" dirty="0"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x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,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0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amount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000" b="1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882895" y="2191804"/>
            <a:ext cx="292100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74065" marR="6350" indent="-7620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0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Constructor</a:t>
            </a:r>
            <a:r>
              <a:rPr sz="10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0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initiate</a:t>
            </a:r>
            <a:r>
              <a:rPr sz="10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this</a:t>
            </a:r>
            <a:r>
              <a:rPr sz="10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8000"/>
                </a:solidFill>
                <a:latin typeface="Courier New"/>
                <a:cs typeface="Courier New"/>
              </a:rPr>
              <a:t>thread </a:t>
            </a:r>
            <a:r>
              <a:rPr sz="1000" dirty="0">
                <a:latin typeface="Courier New"/>
                <a:cs typeface="Courier New"/>
              </a:rPr>
              <a:t>accountX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latin typeface="Courier New"/>
                <a:cs typeface="Courier New"/>
              </a:rPr>
              <a:t>x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774065">
              <a:lnSpc>
                <a:spcPct val="100000"/>
              </a:lnSpc>
              <a:tabLst>
                <a:tab pos="1764664" algn="l"/>
              </a:tabLst>
            </a:pPr>
            <a:r>
              <a:rPr sz="1000" b="1" spc="-10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spc="-10" dirty="0">
                <a:latin typeface="Courier New"/>
                <a:cs typeface="Courier New"/>
              </a:rPr>
              <a:t>amount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amount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000">
              <a:latin typeface="Courier New"/>
              <a:cs typeface="Courier New"/>
            </a:endParaRPr>
          </a:p>
          <a:p>
            <a:pPr marL="774065">
              <a:lnSpc>
                <a:spcPct val="100000"/>
              </a:lnSpc>
            </a:pP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000" b="1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Thread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).</a:t>
            </a:r>
            <a:r>
              <a:rPr sz="1000" dirty="0">
                <a:latin typeface="Courier New"/>
                <a:cs typeface="Courier New"/>
              </a:rPr>
              <a:t>start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 marL="774065">
              <a:lnSpc>
                <a:spcPct val="100000"/>
              </a:lnSpc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R="462280" algn="r">
              <a:lnSpc>
                <a:spcPct val="100000"/>
              </a:lnSpc>
              <a:tabLst>
                <a:tab pos="1523365" algn="l"/>
              </a:tabLst>
            </a:pP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0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0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run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R="462280" algn="r">
              <a:lnSpc>
                <a:spcPct val="100000"/>
              </a:lnSpc>
            </a:pPr>
            <a:r>
              <a:rPr sz="1000" dirty="0">
                <a:latin typeface="Courier New"/>
                <a:cs typeface="Courier New"/>
              </a:rPr>
              <a:t>accountX</a:t>
            </a:r>
            <a:r>
              <a:rPr sz="10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000" dirty="0">
                <a:latin typeface="Courier New"/>
                <a:cs typeface="Courier New"/>
              </a:rPr>
              <a:t>deposite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000" spc="-10" dirty="0">
                <a:latin typeface="Courier New"/>
                <a:cs typeface="Courier New"/>
              </a:rPr>
              <a:t>amount</a:t>
            </a:r>
            <a:r>
              <a:rPr sz="10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000">
              <a:latin typeface="Courier New"/>
              <a:cs typeface="Courier New"/>
            </a:endParaRPr>
          </a:p>
          <a:p>
            <a:pPr marL="774065">
              <a:lnSpc>
                <a:spcPct val="100000"/>
              </a:lnSpc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806494" y="3411187"/>
            <a:ext cx="1016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6845807" cy="78941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</a:t>
            </a:r>
            <a:r>
              <a:rPr spc="-85" dirty="0"/>
              <a:t> synchronization</a:t>
            </a:r>
            <a:r>
              <a:rPr spc="-65" dirty="0"/>
              <a:t> </a:t>
            </a:r>
            <a:r>
              <a:rPr spc="-240" dirty="0"/>
              <a:t>:</a:t>
            </a:r>
            <a:r>
              <a:rPr spc="-35" dirty="0"/>
              <a:t> </a:t>
            </a:r>
            <a:r>
              <a:rPr dirty="0"/>
              <a:t>An</a:t>
            </a:r>
            <a:r>
              <a:rPr spc="-55" dirty="0"/>
              <a:t> </a:t>
            </a:r>
            <a:r>
              <a:rPr spc="-10" dirty="0"/>
              <a:t>example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0" y="318515"/>
            <a:ext cx="4531360" cy="3394075"/>
            <a:chOff x="0" y="318515"/>
            <a:chExt cx="4531360" cy="339407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775716"/>
              <a:ext cx="4530852" cy="293674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12140" y="905919"/>
            <a:ext cx="3431540" cy="38862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To</a:t>
            </a:r>
            <a:r>
              <a:rPr sz="12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implement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r>
              <a:rPr sz="12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withdraw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6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TransactionWithdraw</a:t>
            </a:r>
            <a:r>
              <a:rPr sz="1200" spc="-65" dirty="0"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2140" y="1271678"/>
            <a:ext cx="2962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3665" algn="l"/>
              </a:tabLst>
            </a:pPr>
            <a:r>
              <a:rPr sz="1200" dirty="0">
                <a:latin typeface="Courier New"/>
                <a:cs typeface="Courier New"/>
              </a:rPr>
              <a:t>Runnable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200" dirty="0">
                <a:latin typeface="Courier New"/>
                <a:cs typeface="Courier New"/>
              </a:rPr>
              <a:t>Account</a:t>
            </a:r>
            <a:r>
              <a:rPr sz="1200" spc="-4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accountY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339" y="1454558"/>
            <a:ext cx="10375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200" spc="-2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amount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9339" y="1634390"/>
            <a:ext cx="2878455" cy="57721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699"/>
              </a:lnSpc>
              <a:spcBef>
                <a:spcPts val="75"/>
              </a:spcBef>
            </a:pPr>
            <a:r>
              <a:rPr sz="1200" dirty="0">
                <a:latin typeface="Courier New"/>
                <a:cs typeface="Courier New"/>
              </a:rPr>
              <a:t>TransactionWithdraw</a:t>
            </a:r>
            <a:r>
              <a:rPr sz="1200" spc="-8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latin typeface="Courier New"/>
                <a:cs typeface="Courier New"/>
              </a:rPr>
              <a:t>Account</a:t>
            </a:r>
            <a:r>
              <a:rPr sz="1200" spc="-75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y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2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amount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200" b="1" spc="-1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471170">
              <a:lnSpc>
                <a:spcPct val="100000"/>
              </a:lnSpc>
            </a:pPr>
            <a:r>
              <a:rPr sz="1200" dirty="0">
                <a:latin typeface="Courier New"/>
                <a:cs typeface="Courier New"/>
              </a:rPr>
              <a:t>accountY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1200" dirty="0">
                <a:latin typeface="Courier New"/>
                <a:cs typeface="Courier New"/>
              </a:rPr>
              <a:t>y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28063" y="2186078"/>
            <a:ext cx="25146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10310" algn="l"/>
              </a:tabLst>
            </a:pPr>
            <a:r>
              <a:rPr sz="1200" b="1" spc="-10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spc="-10" dirty="0">
                <a:latin typeface="Courier New"/>
                <a:cs typeface="Courier New"/>
              </a:rPr>
              <a:t>amount</a:t>
            </a:r>
            <a:r>
              <a:rPr sz="1200" dirty="0">
                <a:latin typeface="Courier New"/>
                <a:cs typeface="Courier New"/>
              </a:rPr>
              <a:t>	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1200" spc="-10" dirty="0">
                <a:latin typeface="Courier New"/>
                <a:cs typeface="Courier New"/>
              </a:rPr>
              <a:t>amount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Thread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).</a:t>
            </a:r>
            <a:r>
              <a:rPr sz="1200" dirty="0">
                <a:latin typeface="Courier New"/>
                <a:cs typeface="Courier New"/>
              </a:rPr>
              <a:t>start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9339" y="2551839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9339" y="2734718"/>
            <a:ext cx="2860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55265" algn="l"/>
              </a:tabLst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run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b="1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	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21027" y="2917598"/>
            <a:ext cx="2514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ourier New"/>
                <a:cs typeface="Courier New"/>
              </a:rPr>
              <a:t>accountY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dirty="0">
                <a:latin typeface="Courier New"/>
                <a:cs typeface="Courier New"/>
              </a:rPr>
              <a:t>withdraw</a:t>
            </a:r>
            <a:r>
              <a:rPr sz="1200" spc="-90" dirty="0"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spc="-10" dirty="0">
                <a:latin typeface="Courier New"/>
                <a:cs typeface="Courier New"/>
              </a:rPr>
              <a:t>amount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69339" y="3100478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2140" y="3283358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384547" y="763523"/>
            <a:ext cx="4759451" cy="367283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5031740" y="896946"/>
            <a:ext cx="3797935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30"/>
              </a:lnSpc>
              <a:spcBef>
                <a:spcPts val="100"/>
              </a:spcBef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2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Transaction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836930">
              <a:lnSpc>
                <a:spcPts val="1430"/>
              </a:lnSpc>
            </a:pP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200" spc="-2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static</a:t>
            </a:r>
            <a:r>
              <a:rPr sz="1200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200" spc="-1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main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spc="-10" dirty="0">
                <a:latin typeface="Courier New"/>
                <a:cs typeface="Courier New"/>
              </a:rPr>
              <a:t>String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  <a:p>
            <a:pPr marL="469900">
              <a:lnSpc>
                <a:spcPts val="1430"/>
              </a:lnSpc>
              <a:spcBef>
                <a:spcPts val="20"/>
              </a:spcBef>
            </a:pPr>
            <a:r>
              <a:rPr sz="1200" dirty="0">
                <a:latin typeface="Courier New"/>
                <a:cs typeface="Courier New"/>
              </a:rPr>
              <a:t>args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[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469900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Account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ABC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Account</a:t>
            </a:r>
            <a:r>
              <a:rPr sz="1200" spc="-1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 );</a:t>
            </a:r>
            <a:endParaRPr sz="1200">
              <a:latin typeface="Courier New"/>
              <a:cs typeface="Courier New"/>
            </a:endParaRPr>
          </a:p>
          <a:p>
            <a:pPr marL="469265" marR="1478280">
              <a:lnSpc>
                <a:spcPts val="1420"/>
              </a:lnSpc>
              <a:spcBef>
                <a:spcPts val="90"/>
              </a:spcBef>
              <a:tabLst>
                <a:tab pos="1665605" algn="l"/>
              </a:tabLst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Create</a:t>
            </a:r>
            <a:r>
              <a:rPr sz="12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an</a:t>
            </a:r>
            <a:r>
              <a:rPr sz="12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account </a:t>
            </a:r>
            <a:r>
              <a:rPr sz="1200" spc="-10" dirty="0">
                <a:latin typeface="Courier New"/>
                <a:cs typeface="Courier New"/>
              </a:rPr>
              <a:t>ABC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.</a:t>
            </a:r>
            <a:r>
              <a:rPr sz="1200" spc="-10" dirty="0">
                <a:latin typeface="Courier New"/>
                <a:cs typeface="Courier New"/>
              </a:rPr>
              <a:t>balance</a:t>
            </a:r>
            <a:r>
              <a:rPr sz="1200" dirty="0">
                <a:latin typeface="Courier New"/>
                <a:cs typeface="Courier New"/>
              </a:rPr>
              <a:t>	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 </a:t>
            </a:r>
            <a:r>
              <a:rPr sz="1200" spc="-20" dirty="0">
                <a:solidFill>
                  <a:srgbClr val="FF8000"/>
                </a:solidFill>
                <a:latin typeface="Courier New"/>
                <a:cs typeface="Courier New"/>
              </a:rPr>
              <a:t>1000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88940" y="1994226"/>
            <a:ext cx="3345179" cy="2037080"/>
          </a:xfrm>
          <a:prstGeom prst="rect">
            <a:avLst/>
          </a:prstGeom>
        </p:spPr>
        <p:txBody>
          <a:bodyPr vert="horz" wrap="square" lIns="0" tIns="20320" rIns="0" bIns="0" rtlCol="0">
            <a:spAutoFit/>
          </a:bodyPr>
          <a:lstStyle/>
          <a:p>
            <a:pPr marL="13970" marR="5080">
              <a:lnSpc>
                <a:spcPts val="1420"/>
              </a:lnSpc>
              <a:spcBef>
                <a:spcPts val="160"/>
              </a:spcBef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initialize</a:t>
            </a:r>
            <a:r>
              <a:rPr sz="12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the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account</a:t>
            </a:r>
            <a:r>
              <a:rPr sz="1200" spc="-1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by</a:t>
            </a:r>
            <a:r>
              <a:rPr sz="1200" spc="-3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Rs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1000 </a:t>
            </a:r>
            <a:r>
              <a:rPr sz="1200" dirty="0">
                <a:latin typeface="Courier New"/>
                <a:cs typeface="Courier New"/>
              </a:rPr>
              <a:t>TransactionDeposite</a:t>
            </a:r>
            <a:r>
              <a:rPr sz="1200" spc="-100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t1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200">
              <a:latin typeface="Courier New"/>
              <a:cs typeface="Courier New"/>
            </a:endParaRPr>
          </a:p>
          <a:p>
            <a:pPr marL="12700" marR="1112520" indent="1270">
              <a:lnSpc>
                <a:spcPts val="1420"/>
              </a:lnSpc>
              <a:spcBef>
                <a:spcPts val="45"/>
              </a:spcBef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200" spc="-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deposite </a:t>
            </a:r>
            <a:r>
              <a:rPr sz="1200" dirty="0">
                <a:latin typeface="Courier New"/>
                <a:cs typeface="Courier New"/>
              </a:rPr>
              <a:t>TransactionWithdraw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t2</a:t>
            </a:r>
            <a:endParaRPr sz="1200">
              <a:latin typeface="Courier New"/>
              <a:cs typeface="Courier New"/>
            </a:endParaRPr>
          </a:p>
          <a:p>
            <a:pPr marL="13970">
              <a:lnSpc>
                <a:spcPts val="1405"/>
              </a:lnSpc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Another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thread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for</a:t>
            </a:r>
            <a:r>
              <a:rPr sz="1200" spc="-2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withdarw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t1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TransactionDeposite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dirty="0">
                <a:latin typeface="Courier New"/>
                <a:cs typeface="Courier New"/>
              </a:rPr>
              <a:t>ABC</a:t>
            </a:r>
            <a:r>
              <a:rPr sz="1200" spc="-40" dirty="0">
                <a:latin typeface="Courier New"/>
                <a:cs typeface="Courier New"/>
              </a:rPr>
              <a:t> </a:t>
            </a: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0"/>
              </a:lnSpc>
              <a:spcBef>
                <a:spcPts val="20"/>
              </a:spcBef>
            </a:pPr>
            <a:r>
              <a:rPr sz="1200" dirty="0">
                <a:solidFill>
                  <a:srgbClr val="FF8000"/>
                </a:solidFill>
                <a:latin typeface="Courier New"/>
                <a:cs typeface="Courier New"/>
              </a:rPr>
              <a:t>500</a:t>
            </a:r>
            <a:r>
              <a:rPr sz="1200" spc="-25" dirty="0">
                <a:solidFill>
                  <a:srgbClr val="FF8000"/>
                </a:solidFill>
                <a:latin typeface="Courier New"/>
                <a:cs typeface="Courier New"/>
              </a:rPr>
              <a:t> </a:t>
            </a:r>
            <a:r>
              <a:rPr sz="1200" b="1" spc="-25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t2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200" b="1" spc="-4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200" b="1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200" b="1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TransactionWithdraw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200" spc="-20" dirty="0">
                <a:latin typeface="Courier New"/>
                <a:cs typeface="Courier New"/>
              </a:rPr>
              <a:t>ABC</a:t>
            </a:r>
            <a:r>
              <a:rPr sz="1200" b="1" spc="-20" dirty="0">
                <a:solidFill>
                  <a:srgbClr val="000080"/>
                </a:solidFill>
                <a:latin typeface="Courier New"/>
                <a:cs typeface="Courier New"/>
              </a:rPr>
              <a:t>,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FF8000"/>
                </a:solidFill>
                <a:latin typeface="Courier New"/>
                <a:cs typeface="Courier New"/>
              </a:rPr>
              <a:t>900</a:t>
            </a:r>
            <a:r>
              <a:rPr sz="1200" b="1" spc="-10" dirty="0">
                <a:solidFill>
                  <a:srgbClr val="000080"/>
                </a:solidFill>
                <a:latin typeface="Courier New"/>
                <a:cs typeface="Courier New"/>
              </a:rPr>
              <a:t>);</a:t>
            </a:r>
            <a:endParaRPr sz="1200">
              <a:latin typeface="Courier New"/>
              <a:cs typeface="Courier New"/>
            </a:endParaRPr>
          </a:p>
          <a:p>
            <a:pPr marL="103505">
              <a:lnSpc>
                <a:spcPct val="100000"/>
              </a:lnSpc>
              <a:spcBef>
                <a:spcPts val="25"/>
              </a:spcBef>
            </a:pP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//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Two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threads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008000"/>
                </a:solidFill>
                <a:latin typeface="Courier New"/>
                <a:cs typeface="Courier New"/>
              </a:rPr>
              <a:t>are</a:t>
            </a:r>
            <a:r>
              <a:rPr sz="1200" spc="-2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008000"/>
                </a:solidFill>
                <a:latin typeface="Courier New"/>
                <a:cs typeface="Courier New"/>
              </a:rPr>
              <a:t>started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31740" y="4005906"/>
            <a:ext cx="1174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31"/>
            <a:ext cx="9153525" cy="789940"/>
            <a:chOff x="-4762" y="217931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32"/>
              <a:ext cx="4728971" cy="78943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29911" y="217931"/>
              <a:ext cx="1427987" cy="78943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89091" y="217932"/>
              <a:ext cx="2010155" cy="789431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Thread</a:t>
            </a:r>
            <a:r>
              <a:rPr spc="-114" dirty="0"/>
              <a:t> </a:t>
            </a:r>
            <a:r>
              <a:rPr spc="-85" dirty="0"/>
              <a:t>synchronization</a:t>
            </a:r>
            <a:r>
              <a:rPr spc="-120" dirty="0"/>
              <a:t> </a:t>
            </a:r>
            <a:r>
              <a:rPr spc="-240" dirty="0"/>
              <a:t>:</a:t>
            </a:r>
            <a:r>
              <a:rPr spc="-40" dirty="0"/>
              <a:t> </a:t>
            </a:r>
            <a:r>
              <a:rPr spc="-25" dirty="0">
                <a:solidFill>
                  <a:srgbClr val="0000FF"/>
                </a:solidFill>
              </a:rPr>
              <a:t>Stack</a:t>
            </a:r>
            <a:r>
              <a:rPr spc="-135" dirty="0">
                <a:solidFill>
                  <a:srgbClr val="0000FF"/>
                </a:solidFill>
              </a:rPr>
              <a:t> </a:t>
            </a:r>
            <a:r>
              <a:rPr spc="-10" dirty="0"/>
              <a:t>example</a:t>
            </a: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019800" y="1962911"/>
            <a:ext cx="1981200" cy="922019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90805" marR="82550" algn="just">
              <a:lnSpc>
                <a:spcPct val="100000"/>
              </a:lnSpc>
              <a:spcBef>
                <a:spcPts val="290"/>
              </a:spcBef>
            </a:pPr>
            <a:r>
              <a:rPr sz="1800" dirty="0">
                <a:solidFill>
                  <a:srgbClr val="7B7B7B"/>
                </a:solidFill>
                <a:latin typeface="Times New Roman"/>
                <a:cs typeface="Times New Roman"/>
              </a:rPr>
              <a:t>Two</a:t>
            </a:r>
            <a:r>
              <a:rPr sz="1800" spc="-15" dirty="0">
                <a:solidFill>
                  <a:srgbClr val="7B7B7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7B7B7B"/>
                </a:solidFill>
                <a:latin typeface="Times New Roman"/>
                <a:cs typeface="Times New Roman"/>
              </a:rPr>
              <a:t>threads,</a:t>
            </a:r>
            <a:r>
              <a:rPr sz="1800" spc="-15" dirty="0">
                <a:solidFill>
                  <a:srgbClr val="7B7B7B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7B7B7B"/>
                </a:solidFill>
                <a:latin typeface="Times New Roman"/>
                <a:cs typeface="Times New Roman"/>
              </a:rPr>
              <a:t>one</a:t>
            </a:r>
            <a:r>
              <a:rPr sz="1800" spc="-5" dirty="0">
                <a:solidFill>
                  <a:srgbClr val="7B7B7B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7B7B7B"/>
                </a:solidFill>
                <a:latin typeface="Times New Roman"/>
                <a:cs typeface="Times New Roman"/>
              </a:rPr>
              <a:t>is </a:t>
            </a:r>
            <a:r>
              <a:rPr sz="1800" dirty="0">
                <a:solidFill>
                  <a:srgbClr val="7B7B7B"/>
                </a:solidFill>
                <a:latin typeface="Times New Roman"/>
                <a:cs typeface="Times New Roman"/>
              </a:rPr>
              <a:t>pushing,</a:t>
            </a:r>
            <a:r>
              <a:rPr sz="1800" spc="65" dirty="0">
                <a:solidFill>
                  <a:srgbClr val="7B7B7B"/>
                </a:solidFill>
                <a:latin typeface="Times New Roman"/>
                <a:cs typeface="Times New Roman"/>
              </a:rPr>
              <a:t>  </a:t>
            </a:r>
            <a:r>
              <a:rPr sz="1800" dirty="0">
                <a:solidFill>
                  <a:srgbClr val="7B7B7B"/>
                </a:solidFill>
                <a:latin typeface="Times New Roman"/>
                <a:cs typeface="Times New Roman"/>
              </a:rPr>
              <a:t>the</a:t>
            </a:r>
            <a:r>
              <a:rPr sz="1800" spc="70" dirty="0">
                <a:solidFill>
                  <a:srgbClr val="7B7B7B"/>
                </a:solidFill>
                <a:latin typeface="Times New Roman"/>
                <a:cs typeface="Times New Roman"/>
              </a:rPr>
              <a:t>  </a:t>
            </a:r>
            <a:r>
              <a:rPr sz="1800" spc="-20" dirty="0">
                <a:solidFill>
                  <a:srgbClr val="7B7B7B"/>
                </a:solidFill>
                <a:latin typeface="Times New Roman"/>
                <a:cs typeface="Times New Roman"/>
              </a:rPr>
              <a:t>other </a:t>
            </a:r>
            <a:r>
              <a:rPr sz="1800" dirty="0">
                <a:solidFill>
                  <a:srgbClr val="7B7B7B"/>
                </a:solidFill>
                <a:latin typeface="Times New Roman"/>
                <a:cs typeface="Times New Roman"/>
              </a:rPr>
              <a:t>popping</a:t>
            </a:r>
            <a:r>
              <a:rPr sz="1800" spc="-10" dirty="0">
                <a:solidFill>
                  <a:srgbClr val="7B7B7B"/>
                </a:solidFill>
                <a:latin typeface="Times New Roman"/>
                <a:cs typeface="Times New Roman"/>
              </a:rPr>
              <a:t> objects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65048" y="1446276"/>
            <a:ext cx="4951475" cy="2951987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Example:</a:t>
            </a:r>
            <a:r>
              <a:rPr spc="-50" dirty="0"/>
              <a:t> </a:t>
            </a:r>
            <a:r>
              <a:rPr spc="-10" dirty="0"/>
              <a:t>Stack</a:t>
            </a:r>
          </a:p>
          <a:p>
            <a:pPr marL="889000">
              <a:lnSpc>
                <a:spcPct val="100000"/>
              </a:lnSpc>
              <a:spcBef>
                <a:spcPts val="1200"/>
              </a:spcBef>
            </a:pP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400" u="none" spc="-4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class</a:t>
            </a:r>
            <a:r>
              <a:rPr sz="1400" u="none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latin typeface="Courier New"/>
                <a:cs typeface="Courier New"/>
              </a:rPr>
              <a:t>Stack</a:t>
            </a:r>
            <a:r>
              <a:rPr sz="1400" u="none" spc="-30" dirty="0">
                <a:latin typeface="Courier New"/>
                <a:cs typeface="Courier New"/>
              </a:rPr>
              <a:t> </a:t>
            </a:r>
            <a:r>
              <a:rPr sz="1400" b="1" u="none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1345565">
              <a:lnSpc>
                <a:spcPct val="100000"/>
              </a:lnSpc>
            </a:pP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private</a:t>
            </a:r>
            <a:r>
              <a:rPr sz="1400" u="none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400" u="none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latin typeface="Courier New"/>
                <a:cs typeface="Courier New"/>
              </a:rPr>
              <a:t>top</a:t>
            </a:r>
            <a:r>
              <a:rPr sz="1400" u="none" spc="-20" dirty="0">
                <a:latin typeface="Courier New"/>
                <a:cs typeface="Courier New"/>
              </a:rPr>
              <a:t> 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u="none" spc="-2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u="none" spc="-25" dirty="0">
                <a:solidFill>
                  <a:srgbClr val="FF8000"/>
                </a:solidFill>
                <a:latin typeface="Courier New"/>
                <a:cs typeface="Courier New"/>
              </a:rPr>
              <a:t>0</a:t>
            </a:r>
            <a:r>
              <a:rPr sz="1400" b="1" u="none" spc="-25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1345565">
              <a:lnSpc>
                <a:spcPct val="100000"/>
              </a:lnSpc>
            </a:pP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private</a:t>
            </a:r>
            <a:r>
              <a:rPr sz="1400" u="none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[]</a:t>
            </a:r>
            <a:r>
              <a:rPr sz="1400" b="1" u="none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latin typeface="Courier New"/>
                <a:cs typeface="Courier New"/>
              </a:rPr>
              <a:t>data</a:t>
            </a:r>
            <a:r>
              <a:rPr sz="1400" u="none" spc="-20" dirty="0">
                <a:latin typeface="Courier New"/>
                <a:cs typeface="Courier New"/>
              </a:rPr>
              <a:t> 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u="none" spc="-3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u="none" dirty="0">
                <a:solidFill>
                  <a:srgbClr val="0000FF"/>
                </a:solidFill>
                <a:latin typeface="Courier New"/>
                <a:cs typeface="Courier New"/>
              </a:rPr>
              <a:t>new</a:t>
            </a:r>
            <a:r>
              <a:rPr sz="1400" b="1" u="none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400" u="none" spc="-3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b="1" u="none" spc="-20" dirty="0">
                <a:solidFill>
                  <a:srgbClr val="000080"/>
                </a:solidFill>
                <a:latin typeface="Courier New"/>
                <a:cs typeface="Courier New"/>
              </a:rPr>
              <a:t>[</a:t>
            </a:r>
            <a:r>
              <a:rPr sz="1400" u="none" spc="-20" dirty="0">
                <a:solidFill>
                  <a:srgbClr val="FF8000"/>
                </a:solidFill>
                <a:latin typeface="Courier New"/>
                <a:cs typeface="Courier New"/>
              </a:rPr>
              <a:t>10</a:t>
            </a:r>
            <a:r>
              <a:rPr sz="1400" b="1" u="none" spc="-20" dirty="0">
                <a:solidFill>
                  <a:srgbClr val="000080"/>
                </a:solidFill>
                <a:latin typeface="Courier New"/>
                <a:cs typeface="Courier New"/>
              </a:rPr>
              <a:t>];</a:t>
            </a:r>
            <a:endParaRPr sz="1400">
              <a:latin typeface="Courier New"/>
              <a:cs typeface="Courier New"/>
            </a:endParaRPr>
          </a:p>
          <a:p>
            <a:pPr marL="1345565">
              <a:lnSpc>
                <a:spcPct val="100000"/>
              </a:lnSpc>
            </a:pP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400" u="none" spc="-5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400" u="none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latin typeface="Courier New"/>
                <a:cs typeface="Courier New"/>
              </a:rPr>
              <a:t>push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400" u="none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latin typeface="Courier New"/>
                <a:cs typeface="Courier New"/>
              </a:rPr>
              <a:t>x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400" b="1" u="none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u="none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9965" marR="1217295">
              <a:lnSpc>
                <a:spcPct val="100000"/>
              </a:lnSpc>
              <a:spcBef>
                <a:spcPts val="5"/>
              </a:spcBef>
            </a:pPr>
            <a:r>
              <a:rPr sz="1400" u="none" dirty="0">
                <a:latin typeface="Courier New"/>
                <a:cs typeface="Courier New"/>
              </a:rPr>
              <a:t>data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[</a:t>
            </a:r>
            <a:r>
              <a:rPr sz="1400" u="none" dirty="0">
                <a:latin typeface="Courier New"/>
                <a:cs typeface="Courier New"/>
              </a:rPr>
              <a:t>top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400" b="1" u="none" spc="-4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u="none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u="none" spc="-25" dirty="0">
                <a:latin typeface="Courier New"/>
                <a:cs typeface="Courier New"/>
              </a:rPr>
              <a:t>x</a:t>
            </a:r>
            <a:r>
              <a:rPr sz="1400" b="1" u="none" spc="-2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400" u="none" spc="-10" dirty="0">
                <a:latin typeface="Courier New"/>
                <a:cs typeface="Courier New"/>
              </a:rPr>
              <a:t>top</a:t>
            </a:r>
            <a:r>
              <a:rPr sz="1400" b="1" u="none" spc="-10" dirty="0">
                <a:solidFill>
                  <a:srgbClr val="000080"/>
                </a:solidFill>
                <a:latin typeface="Courier New"/>
                <a:cs typeface="Courier New"/>
              </a:rPr>
              <a:t>++;</a:t>
            </a:r>
            <a:endParaRPr sz="1400">
              <a:latin typeface="Courier New"/>
              <a:cs typeface="Courier New"/>
            </a:endParaRPr>
          </a:p>
          <a:p>
            <a:pPr marL="1345565">
              <a:lnSpc>
                <a:spcPct val="100000"/>
              </a:lnSpc>
            </a:pPr>
            <a:r>
              <a:rPr sz="1400" b="1" u="none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1345565">
              <a:lnSpc>
                <a:spcPct val="100000"/>
              </a:lnSpc>
            </a:pP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400" u="none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400" u="none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u="none" dirty="0">
                <a:latin typeface="Courier New"/>
                <a:cs typeface="Courier New"/>
              </a:rPr>
              <a:t>pop</a:t>
            </a:r>
            <a:r>
              <a:rPr sz="1400" b="1" u="none" dirty="0">
                <a:solidFill>
                  <a:srgbClr val="000080"/>
                </a:solidFill>
                <a:latin typeface="Courier New"/>
                <a:cs typeface="Courier New"/>
              </a:rPr>
              <a:t>()</a:t>
            </a:r>
            <a:r>
              <a:rPr sz="1400" b="1" u="none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u="none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2259965">
              <a:lnSpc>
                <a:spcPct val="100000"/>
              </a:lnSpc>
            </a:pPr>
            <a:r>
              <a:rPr sz="1400" u="none" spc="-10" dirty="0">
                <a:latin typeface="Courier New"/>
                <a:cs typeface="Courier New"/>
              </a:rPr>
              <a:t>top</a:t>
            </a:r>
            <a:r>
              <a:rPr sz="1400" b="1" u="none" spc="-10" dirty="0">
                <a:solidFill>
                  <a:srgbClr val="000080"/>
                </a:solidFill>
                <a:latin typeface="Courier New"/>
                <a:cs typeface="Courier New"/>
              </a:rPr>
              <a:t>--</a:t>
            </a:r>
            <a:r>
              <a:rPr sz="1400" b="1" u="none" spc="-50" dirty="0">
                <a:solidFill>
                  <a:srgbClr val="000080"/>
                </a:solidFill>
                <a:latin typeface="Courier New"/>
                <a:cs typeface="Courier New"/>
              </a:rPr>
              <a:t>;</a:t>
            </a:r>
            <a:endParaRPr sz="1400">
              <a:latin typeface="Courier New"/>
              <a:cs typeface="Courier New"/>
            </a:endParaRPr>
          </a:p>
          <a:p>
            <a:pPr marL="2259965">
              <a:lnSpc>
                <a:spcPct val="100000"/>
              </a:lnSpc>
            </a:pPr>
            <a:r>
              <a:rPr sz="1400" b="1" u="none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sz="1400" b="1" u="none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400" u="none" spc="-10" dirty="0">
                <a:latin typeface="Courier New"/>
                <a:cs typeface="Courier New"/>
              </a:rPr>
              <a:t>data</a:t>
            </a:r>
            <a:r>
              <a:rPr sz="1400" b="1" u="none" spc="-10" dirty="0">
                <a:solidFill>
                  <a:srgbClr val="000080"/>
                </a:solidFill>
                <a:latin typeface="Courier New"/>
                <a:cs typeface="Courier New"/>
              </a:rPr>
              <a:t>[</a:t>
            </a:r>
            <a:r>
              <a:rPr sz="1400" u="none" spc="-10" dirty="0">
                <a:latin typeface="Courier New"/>
                <a:cs typeface="Courier New"/>
              </a:rPr>
              <a:t>top</a:t>
            </a:r>
            <a:r>
              <a:rPr sz="1400" b="1" u="none" spc="-10" dirty="0">
                <a:solidFill>
                  <a:srgbClr val="000080"/>
                </a:solidFill>
                <a:latin typeface="Courier New"/>
                <a:cs typeface="Courier New"/>
              </a:rPr>
              <a:t>];</a:t>
            </a:r>
            <a:endParaRPr sz="1400">
              <a:latin typeface="Courier New"/>
              <a:cs typeface="Courier New"/>
            </a:endParaRPr>
          </a:p>
          <a:p>
            <a:pPr marL="1345565">
              <a:lnSpc>
                <a:spcPct val="100000"/>
              </a:lnSpc>
            </a:pPr>
            <a:r>
              <a:rPr sz="1400" b="1" u="none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888365">
              <a:lnSpc>
                <a:spcPct val="100000"/>
              </a:lnSpc>
            </a:pPr>
            <a:r>
              <a:rPr sz="1400" b="1" u="none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2624327" cy="78941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8612" y="312673"/>
            <a:ext cx="21799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40" dirty="0"/>
              <a:t>Using</a:t>
            </a:r>
            <a:r>
              <a:rPr spc="-60" dirty="0"/>
              <a:t> </a:t>
            </a:r>
            <a:r>
              <a:rPr spc="-10" dirty="0"/>
              <a:t>blocks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98548" y="2735579"/>
            <a:ext cx="4946903" cy="166573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12140" y="768825"/>
            <a:ext cx="5998210" cy="339344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200" dirty="0">
                <a:latin typeface="Times New Roman"/>
                <a:cs typeface="Times New Roman"/>
              </a:rPr>
              <a:t>Synchronized</a:t>
            </a:r>
            <a:r>
              <a:rPr sz="2200" spc="-1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blocks</a:t>
            </a:r>
            <a:endParaRPr sz="2200">
              <a:latin typeface="Times New Roman"/>
              <a:cs typeface="Times New Roman"/>
            </a:endParaRPr>
          </a:p>
          <a:p>
            <a:pPr marL="536575" indent="-184150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every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object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contains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single</a:t>
            </a:r>
            <a:r>
              <a:rPr sz="1800" spc="-20" dirty="0">
                <a:latin typeface="Times New Roman"/>
                <a:cs typeface="Times New Roman"/>
              </a:rPr>
              <a:t> lock</a:t>
            </a:r>
            <a:endParaRPr sz="1800">
              <a:latin typeface="Times New Roman"/>
              <a:cs typeface="Times New Roman"/>
            </a:endParaRPr>
          </a:p>
          <a:p>
            <a:pPr marL="536575" indent="-184150">
              <a:lnSpc>
                <a:spcPct val="100000"/>
              </a:lnSpc>
              <a:spcBef>
                <a:spcPts val="195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lock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taken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when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3300"/>
                </a:solidFill>
                <a:latin typeface="Times New Roman"/>
                <a:cs typeface="Times New Roman"/>
              </a:rPr>
              <a:t>synchronized</a:t>
            </a:r>
            <a:r>
              <a:rPr sz="1800" spc="-5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section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entered</a:t>
            </a:r>
            <a:endParaRPr sz="1800">
              <a:latin typeface="Times New Roman"/>
              <a:cs typeface="Times New Roman"/>
            </a:endParaRPr>
          </a:p>
          <a:p>
            <a:pPr marL="536575" indent="-184150">
              <a:lnSpc>
                <a:spcPct val="100000"/>
              </a:lnSpc>
              <a:spcBef>
                <a:spcPts val="180"/>
              </a:spcBef>
              <a:buSzPct val="94444"/>
              <a:buFont typeface="Wingdings"/>
              <a:buChar char=""/>
              <a:tabLst>
                <a:tab pos="536575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lock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available,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thread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enters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waiting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queue</a:t>
            </a:r>
            <a:endParaRPr sz="1800">
              <a:latin typeface="Times New Roman"/>
              <a:cs typeface="Times New Roman"/>
            </a:endParaRPr>
          </a:p>
          <a:p>
            <a:pPr marL="593090" indent="-237490">
              <a:lnSpc>
                <a:spcPct val="100000"/>
              </a:lnSpc>
              <a:spcBef>
                <a:spcPts val="140"/>
              </a:spcBef>
              <a:buSzPct val="94444"/>
              <a:buFont typeface="Wingdings"/>
              <a:buChar char=""/>
              <a:tabLst>
                <a:tab pos="593090" algn="l"/>
              </a:tabLst>
            </a:pPr>
            <a:r>
              <a:rPr sz="1800" dirty="0">
                <a:latin typeface="Times New Roman"/>
                <a:cs typeface="Times New Roman"/>
              </a:rPr>
              <a:t>if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lock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returned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(longest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waiting?)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thread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resumed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800">
              <a:latin typeface="Times New Roman"/>
              <a:cs typeface="Times New Roman"/>
            </a:endParaRPr>
          </a:p>
          <a:p>
            <a:pPr marL="21463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400" spc="-5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4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push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4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latin typeface="Courier New"/>
                <a:cs typeface="Courier New"/>
              </a:rPr>
              <a:t>x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spc="-5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endParaRPr sz="1400">
              <a:latin typeface="Courier New"/>
              <a:cs typeface="Courier New"/>
            </a:endParaRPr>
          </a:p>
          <a:p>
            <a:pPr marL="3029585">
              <a:lnSpc>
                <a:spcPct val="100000"/>
              </a:lnSpc>
            </a:pPr>
            <a:r>
              <a:rPr sz="1400" spc="-10" dirty="0">
                <a:solidFill>
                  <a:srgbClr val="8000FF"/>
                </a:solidFill>
                <a:latin typeface="Courier New"/>
                <a:cs typeface="Courier New"/>
              </a:rPr>
              <a:t>synchronized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400" b="1" spc="-10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){</a:t>
            </a:r>
            <a:endParaRPr sz="1400">
              <a:latin typeface="Courier New"/>
              <a:cs typeface="Courier New"/>
            </a:endParaRPr>
          </a:p>
          <a:p>
            <a:pPr marL="4431665" marR="66675">
              <a:lnSpc>
                <a:spcPct val="100000"/>
              </a:lnSpc>
            </a:pPr>
            <a:r>
              <a:rPr sz="1400" dirty="0">
                <a:latin typeface="Courier New"/>
                <a:cs typeface="Courier New"/>
              </a:rPr>
              <a:t>data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[</a:t>
            </a:r>
            <a:r>
              <a:rPr sz="1400" dirty="0">
                <a:latin typeface="Courier New"/>
                <a:cs typeface="Courier New"/>
              </a:rPr>
              <a:t>top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]</a:t>
            </a:r>
            <a:r>
              <a:rPr sz="1400" b="1" spc="-4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000080"/>
                </a:solidFill>
                <a:latin typeface="Courier New"/>
                <a:cs typeface="Courier New"/>
              </a:rPr>
              <a:t>=</a:t>
            </a:r>
            <a:r>
              <a:rPr sz="14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400" spc="-25" dirty="0">
                <a:latin typeface="Courier New"/>
                <a:cs typeface="Courier New"/>
              </a:rPr>
              <a:t>x</a:t>
            </a:r>
            <a:r>
              <a:rPr sz="1400" b="1" spc="-25" dirty="0">
                <a:solidFill>
                  <a:srgbClr val="000080"/>
                </a:solidFill>
                <a:latin typeface="Courier New"/>
                <a:cs typeface="Courier New"/>
              </a:rPr>
              <a:t>; </a:t>
            </a:r>
            <a:r>
              <a:rPr sz="1400" spc="-10" dirty="0">
                <a:latin typeface="Courier New"/>
                <a:cs typeface="Courier New"/>
              </a:rPr>
              <a:t>top</a:t>
            </a:r>
            <a:r>
              <a:rPr sz="1400" b="1" spc="-10" dirty="0">
                <a:solidFill>
                  <a:srgbClr val="000080"/>
                </a:solidFill>
                <a:latin typeface="Courier New"/>
                <a:cs typeface="Courier New"/>
              </a:rPr>
              <a:t>++;</a:t>
            </a:r>
            <a:endParaRPr sz="1400">
              <a:latin typeface="Courier New"/>
              <a:cs typeface="Courier New"/>
            </a:endParaRPr>
          </a:p>
          <a:p>
            <a:pPr marL="3029585">
              <a:lnSpc>
                <a:spcPct val="100000"/>
              </a:lnSpc>
            </a:pPr>
            <a:r>
              <a:rPr sz="14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  <a:p>
            <a:pPr marL="2145665">
              <a:lnSpc>
                <a:spcPct val="100000"/>
              </a:lnSpc>
            </a:pPr>
            <a:r>
              <a:rPr sz="1400" b="1" spc="-5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4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4762" y="217944"/>
            <a:ext cx="9153525" cy="789940"/>
            <a:chOff x="-4762" y="217944"/>
            <a:chExt cx="9153525" cy="789940"/>
          </a:xfrm>
        </p:grpSpPr>
        <p:sp>
          <p:nvSpPr>
            <p:cNvPr id="3" name="object 3"/>
            <p:cNvSpPr/>
            <p:nvPr/>
          </p:nvSpPr>
          <p:spPr>
            <a:xfrm>
              <a:off x="0" y="286511"/>
              <a:ext cx="9144000" cy="523240"/>
            </a:xfrm>
            <a:custGeom>
              <a:avLst/>
              <a:gdLst/>
              <a:ahLst/>
              <a:cxnLst/>
              <a:rect l="l" t="t" r="r" b="b"/>
              <a:pathLst>
                <a:path w="9144000" h="523240">
                  <a:moveTo>
                    <a:pt x="0" y="0"/>
                  </a:moveTo>
                  <a:lnTo>
                    <a:pt x="9144000" y="0"/>
                  </a:lnTo>
                  <a:lnTo>
                    <a:pt x="9144000" y="522732"/>
                  </a:lnTo>
                  <a:lnTo>
                    <a:pt x="0" y="522732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77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331" y="217944"/>
              <a:ext cx="3547871" cy="78941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8612" y="312673"/>
            <a:ext cx="31038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95" dirty="0"/>
              <a:t>Instance</a:t>
            </a:r>
            <a:r>
              <a:rPr spc="-50" dirty="0"/>
              <a:t> </a:t>
            </a:r>
            <a:r>
              <a:rPr spc="-45" dirty="0"/>
              <a:t>methods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" y="318515"/>
            <a:ext cx="457199" cy="45719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1348" y="2916935"/>
            <a:ext cx="5530595" cy="62331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15439" y="1877567"/>
            <a:ext cx="6699503" cy="62331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78839" y="1342897"/>
            <a:ext cx="7010400" cy="19488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 indent="-184150">
              <a:lnSpc>
                <a:spcPct val="100000"/>
              </a:lnSpc>
              <a:spcBef>
                <a:spcPts val="100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dirty="0">
                <a:latin typeface="Times New Roman"/>
                <a:cs typeface="Times New Roman"/>
              </a:rPr>
              <a:t>Often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method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synchronized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“this”: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30"/>
              </a:spcBef>
              <a:buFont typeface="Wingdings"/>
              <a:buChar char=""/>
            </a:pPr>
            <a:endParaRPr sz="1800">
              <a:latin typeface="Times New Roman"/>
              <a:cs typeface="Times New Roman"/>
            </a:endParaRPr>
          </a:p>
          <a:p>
            <a:pPr marL="1396365">
              <a:lnSpc>
                <a:spcPct val="100000"/>
              </a:lnSpc>
            </a:pP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push</a:t>
            </a:r>
            <a:r>
              <a:rPr sz="1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5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x</a:t>
            </a:r>
            <a:r>
              <a:rPr sz="15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500" b="1" spc="-40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="1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synchronized</a:t>
            </a:r>
            <a:r>
              <a:rPr sz="1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500" b="1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1500" b="1" dirty="0">
                <a:solidFill>
                  <a:srgbClr val="000080"/>
                </a:solidFill>
                <a:latin typeface="Courier New"/>
                <a:cs typeface="Courier New"/>
              </a:rPr>
              <a:t>)</a:t>
            </a:r>
            <a:r>
              <a:rPr sz="1500" b="1" spc="-35" dirty="0">
                <a:solidFill>
                  <a:srgbClr val="000080"/>
                </a:solidFill>
                <a:latin typeface="Courier New"/>
                <a:cs typeface="Courier New"/>
              </a:rPr>
              <a:t> 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{</a:t>
            </a:r>
            <a:r>
              <a:rPr sz="1500" spc="-10" dirty="0">
                <a:latin typeface="Courier New"/>
                <a:cs typeface="Courier New"/>
              </a:rPr>
              <a:t>……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}}</a:t>
            </a:r>
            <a:endParaRPr sz="1500">
              <a:latin typeface="Courier New"/>
              <a:cs typeface="Courier New"/>
            </a:endParaRPr>
          </a:p>
          <a:p>
            <a:pPr marL="193675" indent="-184150">
              <a:lnSpc>
                <a:spcPct val="100000"/>
              </a:lnSpc>
              <a:spcBef>
                <a:spcPts val="935"/>
              </a:spcBef>
              <a:buSzPct val="94444"/>
              <a:buFont typeface="Wingdings"/>
              <a:buChar char=""/>
              <a:tabLst>
                <a:tab pos="193675" algn="l"/>
              </a:tabLst>
            </a:pPr>
            <a:r>
              <a:rPr sz="1800" dirty="0">
                <a:latin typeface="Times New Roman"/>
                <a:cs typeface="Times New Roman"/>
              </a:rPr>
              <a:t>Short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form: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15"/>
              </a:spcBef>
            </a:pPr>
            <a:endParaRPr sz="1800">
              <a:latin typeface="Times New Roman"/>
              <a:cs typeface="Times New Roman"/>
            </a:endParaRPr>
          </a:p>
          <a:p>
            <a:pPr marL="1421765">
              <a:lnSpc>
                <a:spcPct val="100000"/>
              </a:lnSpc>
            </a:pP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public</a:t>
            </a:r>
            <a:r>
              <a:rPr sz="1500" spc="-5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synchronized</a:t>
            </a:r>
            <a:r>
              <a:rPr sz="1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void</a:t>
            </a:r>
            <a:r>
              <a:rPr sz="1500" spc="-40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Courier New"/>
                <a:cs typeface="Courier New"/>
              </a:rPr>
              <a:t>push</a:t>
            </a:r>
            <a:r>
              <a:rPr sz="1500" b="1" dirty="0">
                <a:solidFill>
                  <a:srgbClr val="000080"/>
                </a:solidFill>
                <a:latin typeface="Courier New"/>
                <a:cs typeface="Courier New"/>
              </a:rPr>
              <a:t>(</a:t>
            </a:r>
            <a:r>
              <a:rPr sz="1500" dirty="0">
                <a:solidFill>
                  <a:srgbClr val="8000FF"/>
                </a:solidFill>
                <a:latin typeface="Courier New"/>
                <a:cs typeface="Courier New"/>
              </a:rPr>
              <a:t>int</a:t>
            </a:r>
            <a:r>
              <a:rPr sz="1500" spc="-35" dirty="0">
                <a:solidFill>
                  <a:srgbClr val="8000FF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Courier New"/>
                <a:cs typeface="Courier New"/>
              </a:rPr>
              <a:t>x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){</a:t>
            </a:r>
            <a:r>
              <a:rPr sz="1500" spc="-10" dirty="0">
                <a:latin typeface="Courier New"/>
                <a:cs typeface="Courier New"/>
              </a:rPr>
              <a:t>……</a:t>
            </a:r>
            <a:r>
              <a:rPr sz="1500" b="1" spc="-10" dirty="0">
                <a:solidFill>
                  <a:srgbClr val="000080"/>
                </a:solidFill>
                <a:latin typeface="Courier New"/>
                <a:cs typeface="Courier New"/>
              </a:rPr>
              <a:t>}</a:t>
            </a:r>
            <a:endParaRPr sz="15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331" y="217944"/>
            <a:ext cx="3709415" cy="78941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286511"/>
            <a:ext cx="9144000" cy="523240"/>
          </a:xfrm>
          <a:prstGeom prst="rect">
            <a:avLst/>
          </a:prstGeom>
          <a:ln w="9525">
            <a:solidFill>
              <a:srgbClr val="0077A1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591185">
              <a:lnSpc>
                <a:spcPct val="100000"/>
              </a:lnSpc>
              <a:spcBef>
                <a:spcPts val="300"/>
              </a:spcBef>
            </a:pPr>
            <a:r>
              <a:rPr spc="-75" dirty="0">
                <a:solidFill>
                  <a:srgbClr val="B33114"/>
                </a:solidFill>
              </a:rPr>
              <a:t>Question</a:t>
            </a:r>
            <a:r>
              <a:rPr spc="-85" dirty="0">
                <a:solidFill>
                  <a:srgbClr val="B33114"/>
                </a:solidFill>
              </a:rPr>
              <a:t> </a:t>
            </a:r>
            <a:r>
              <a:rPr spc="-114" dirty="0">
                <a:solidFill>
                  <a:srgbClr val="B33114"/>
                </a:solidFill>
              </a:rPr>
              <a:t>to</a:t>
            </a:r>
            <a:r>
              <a:rPr spc="-85" dirty="0">
                <a:solidFill>
                  <a:srgbClr val="B33114"/>
                </a:solidFill>
              </a:rPr>
              <a:t> </a:t>
            </a:r>
            <a:r>
              <a:rPr spc="-10" dirty="0">
                <a:solidFill>
                  <a:srgbClr val="B33114"/>
                </a:solidFill>
              </a:rPr>
              <a:t>think…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248411"/>
            <a:ext cx="576580" cy="576580"/>
            <a:chOff x="0" y="248411"/>
            <a:chExt cx="576580" cy="57658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200" y="318515"/>
              <a:ext cx="457199" cy="4571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248411"/>
              <a:ext cx="576071" cy="576071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3920" y="1165860"/>
            <a:ext cx="7488935" cy="310743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21024" y="1854109"/>
            <a:ext cx="6220460" cy="1610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935" marR="5080" indent="-3568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68935" algn="l"/>
              </a:tabLst>
            </a:pPr>
            <a:r>
              <a:rPr sz="2400" dirty="0">
                <a:solidFill>
                  <a:srgbClr val="FF0000"/>
                </a:solidFill>
                <a:latin typeface="Palatino Linotype"/>
                <a:cs typeface="Palatino Linotype"/>
              </a:rPr>
              <a:t>I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n</a:t>
            </a:r>
            <a:r>
              <a:rPr sz="2400" spc="-4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any</a:t>
            </a:r>
            <a:r>
              <a:rPr sz="2400" spc="-3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software,</a:t>
            </a:r>
            <a:r>
              <a:rPr sz="2400" spc="-4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spc="-20" dirty="0">
                <a:solidFill>
                  <a:srgbClr val="001F5F"/>
                </a:solidFill>
                <a:latin typeface="Palatino Linotype"/>
                <a:cs typeface="Palatino Linotype"/>
              </a:rPr>
              <a:t>Input-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Output</a:t>
            </a:r>
            <a:r>
              <a:rPr sz="2400" spc="-2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is</a:t>
            </a:r>
            <a:r>
              <a:rPr sz="2400" spc="-4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a</a:t>
            </a:r>
            <a:r>
              <a:rPr sz="2400" spc="-4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Palatino Linotype"/>
                <a:cs typeface="Palatino Linotype"/>
              </a:rPr>
              <a:t>great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concern.</a:t>
            </a:r>
            <a:r>
              <a:rPr sz="2400" spc="-4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How</a:t>
            </a:r>
            <a:r>
              <a:rPr sz="2400" spc="-4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C00000"/>
                </a:solidFill>
                <a:latin typeface="Palatino Linotype"/>
                <a:cs typeface="Palatino Linotype"/>
              </a:rPr>
              <a:t>J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ava</a:t>
            </a:r>
            <a:r>
              <a:rPr sz="2400" spc="-7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facilitates</a:t>
            </a:r>
            <a:r>
              <a:rPr sz="2400" spc="-4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spc="-20" dirty="0">
                <a:solidFill>
                  <a:srgbClr val="001F5F"/>
                </a:solidFill>
                <a:latin typeface="Palatino Linotype"/>
                <a:cs typeface="Palatino Linotype"/>
              </a:rPr>
              <a:t>I-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O</a:t>
            </a:r>
            <a:r>
              <a:rPr sz="2400" spc="-4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Palatino Linotype"/>
                <a:cs typeface="Palatino Linotype"/>
              </a:rPr>
              <a:t>handling?</a:t>
            </a:r>
            <a:endParaRPr sz="2400">
              <a:latin typeface="Palatino Linotype"/>
              <a:cs typeface="Palatino Linotype"/>
            </a:endParaRPr>
          </a:p>
          <a:p>
            <a:pPr marL="346075" marR="738505" indent="-33401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46075" algn="l"/>
              </a:tabLst>
            </a:pPr>
            <a:r>
              <a:rPr sz="2400" dirty="0">
                <a:solidFill>
                  <a:srgbClr val="FF0000"/>
                </a:solidFill>
                <a:latin typeface="Palatino Linotype"/>
                <a:cs typeface="Palatino Linotype"/>
              </a:rPr>
              <a:t>W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hat</a:t>
            </a:r>
            <a:r>
              <a:rPr sz="2400" spc="-5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makes</a:t>
            </a:r>
            <a:r>
              <a:rPr sz="2400" spc="-5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C00000"/>
                </a:solidFill>
                <a:latin typeface="Palatino Linotype"/>
                <a:cs typeface="Palatino Linotype"/>
              </a:rPr>
              <a:t>J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ava</a:t>
            </a:r>
            <a:r>
              <a:rPr sz="2400" spc="-65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suitable</a:t>
            </a:r>
            <a:r>
              <a:rPr sz="2400" spc="-5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dirty="0">
                <a:solidFill>
                  <a:srgbClr val="001F5F"/>
                </a:solidFill>
                <a:latin typeface="Palatino Linotype"/>
                <a:cs typeface="Palatino Linotype"/>
              </a:rPr>
              <a:t>for</a:t>
            </a:r>
            <a:r>
              <a:rPr sz="2400" spc="-50" dirty="0">
                <a:solidFill>
                  <a:srgbClr val="001F5F"/>
                </a:solidFill>
                <a:latin typeface="Palatino Linotype"/>
                <a:cs typeface="Palatino Linotype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Palatino Linotype"/>
                <a:cs typeface="Palatino Linotype"/>
              </a:rPr>
              <a:t>network programming?</a:t>
            </a:r>
            <a:endParaRPr sz="24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1906523"/>
            <a:ext cx="4607051" cy="70865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4252</Words>
  <Application>Microsoft Office PowerPoint</Application>
  <PresentationFormat>On-screen Show (16:9)</PresentationFormat>
  <Paragraphs>780</Paragraphs>
  <Slides>62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74" baseType="lpstr">
      <vt:lpstr>Yu Gothic</vt:lpstr>
      <vt:lpstr>Arial</vt:lpstr>
      <vt:lpstr>Arial MT</vt:lpstr>
      <vt:lpstr>Calibri</vt:lpstr>
      <vt:lpstr>Calibri Light</vt:lpstr>
      <vt:lpstr>Cambria Math</vt:lpstr>
      <vt:lpstr>Courier New</vt:lpstr>
      <vt:lpstr>Palatino Linotype</vt:lpstr>
      <vt:lpstr>Tahoma</vt:lpstr>
      <vt:lpstr>Times New Roman</vt:lpstr>
      <vt:lpstr>Wingdings</vt:lpstr>
      <vt:lpstr>Office Theme</vt:lpstr>
      <vt:lpstr>OBJECT ORIENTED PROGRAMMING WITH JAVA Multithreaded Programming in Java</vt:lpstr>
      <vt:lpstr>What is Multithreading?</vt:lpstr>
      <vt:lpstr>A single threaded program</vt:lpstr>
      <vt:lpstr>A multithreaded program</vt:lpstr>
      <vt:lpstr>A multithreaded program</vt:lpstr>
      <vt:lpstr>The concept</vt:lpstr>
      <vt:lpstr>Multitasking (time-sharing)</vt:lpstr>
      <vt:lpstr>Multitasking can improve performance</vt:lpstr>
      <vt:lpstr>Multiprocessing (multi-threading)</vt:lpstr>
      <vt:lpstr>Perform multiple tasks using…</vt:lpstr>
      <vt:lpstr>Why Multithreading?</vt:lpstr>
      <vt:lpstr>Motivation for multithreading</vt:lpstr>
      <vt:lpstr>Motivation for multithreading</vt:lpstr>
      <vt:lpstr>Web/ Internet applications</vt:lpstr>
      <vt:lpstr>Multithreaded server</vt:lpstr>
      <vt:lpstr>Modern applications need threads</vt:lpstr>
      <vt:lpstr>Multithreaded/ Parallel file copy</vt:lpstr>
      <vt:lpstr>How Multithreading?</vt:lpstr>
      <vt:lpstr>Levels of parallelism</vt:lpstr>
      <vt:lpstr>Single and multithreaded processes</vt:lpstr>
      <vt:lpstr>A thread is …</vt:lpstr>
      <vt:lpstr>Multithreading in Java</vt:lpstr>
      <vt:lpstr>Java threads</vt:lpstr>
      <vt:lpstr>Running a thread in Java</vt:lpstr>
      <vt:lpstr>Running a thread in Java</vt:lpstr>
      <vt:lpstr>Life cycle of Java threads</vt:lpstr>
      <vt:lpstr>Creating Threads with Threa</vt:lpstr>
      <vt:lpstr>Creating threads in Java</vt:lpstr>
      <vt:lpstr>Thread class</vt:lpstr>
      <vt:lpstr>More Thread class methods</vt:lpstr>
      <vt:lpstr>Creating thread in Java programs</vt:lpstr>
      <vt:lpstr>Creating thread : An example</vt:lpstr>
      <vt:lpstr>Creating Threads with Runnable</vt:lpstr>
      <vt:lpstr>Creating thread in Java</vt:lpstr>
      <vt:lpstr>Creating thread : Example</vt:lpstr>
      <vt:lpstr>States of a Thread</vt:lpstr>
      <vt:lpstr>Threads : Thread states of a thread</vt:lpstr>
      <vt:lpstr>Thread States</vt:lpstr>
      <vt:lpstr>Thread control methods</vt:lpstr>
      <vt:lpstr>Scheduling of Threads</vt:lpstr>
      <vt:lpstr>Daemon threads</vt:lpstr>
      <vt:lpstr>Threads : Scheduling</vt:lpstr>
      <vt:lpstr>Threads: Non-preemptive scheduling</vt:lpstr>
      <vt:lpstr>Threads: Preemptive scheduling</vt:lpstr>
      <vt:lpstr>Java thread : An example</vt:lpstr>
      <vt:lpstr>Java Thread Example</vt:lpstr>
      <vt:lpstr>Data races</vt:lpstr>
      <vt:lpstr>Thread scheduling observations</vt:lpstr>
      <vt:lpstr>Priority of Threads</vt:lpstr>
      <vt:lpstr>Thread priority</vt:lpstr>
      <vt:lpstr>Thread priority : An example</vt:lpstr>
      <vt:lpstr>Thread priority : An example</vt:lpstr>
      <vt:lpstr>Thread class : Join</vt:lpstr>
      <vt:lpstr>Synchronization of Threads</vt:lpstr>
      <vt:lpstr>Thread synchronization</vt:lpstr>
      <vt:lpstr>Thread synchronization : An example</vt:lpstr>
      <vt:lpstr>Thread synchronization : An example</vt:lpstr>
      <vt:lpstr>Thread synchronization : Stack example</vt:lpstr>
      <vt:lpstr>Using blocks</vt:lpstr>
      <vt:lpstr>Instance methods</vt:lpstr>
      <vt:lpstr>Question to think…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i4344 sushanta</dc:creator>
  <cp:lastModifiedBy>Priyanka C</cp:lastModifiedBy>
  <cp:revision>5</cp:revision>
  <dcterms:created xsi:type="dcterms:W3CDTF">2026-03-30T04:13:56Z</dcterms:created>
  <dcterms:modified xsi:type="dcterms:W3CDTF">2026-03-30T04:32:44Z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2022-04-16T00:00:00Z</vt:filetime>
  </property>
  <property fmtid="{D5CDD505-2E9C-101B-9397-08002B2CF9AE}" pid="3" name="Creator">
    <vt:lpwstr>Acrobat PDFMaker 20 for PowerPoint</vt:lpwstr>
  </property>
  <property fmtid="{D5CDD505-2E9C-101B-9397-08002B2CF9AE}" pid="4" name="LastSaved">
    <vt:filetime>2026-03-30T00:00:00Z</vt:filetime>
  </property>
  <property fmtid="{D5CDD505-2E9C-101B-9397-08002B2CF9AE}" pid="5" name="Producer">
    <vt:lpwstr>Adobe PDF Library 20.12.80</vt:lpwstr>
  </property>
</Properties>
</file>