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AF96-B3C8-58EC-3026-A5B7A291C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92877-B3F7-F20F-CFC3-8DA9E79C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7D79-7632-B624-61CE-8B5DCAEF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5FB3-95E1-7268-C386-EA4E2902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52AAC-5548-9828-8945-F4782B0F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66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A874-7382-8796-8662-091358F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39B2-195B-CA4F-A95D-5519D6D1C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93E7-88D8-AFB1-5F1D-87221627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4E1DF-3803-9442-45C1-1F4C1BA8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6CE70-3BE2-4E28-136E-8998E46E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7C887-E396-CE82-264C-B5E55ED0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D17E-C941-01BD-C609-480EFA33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DE3E6-7959-5A31-A069-B706DF87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4F98-6302-FDB6-6072-BE2AE4B2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D6803-E59D-0507-5324-A8CBCD9B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7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C81F-3FFE-77E8-3FCC-FE6ACD89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3B0C-2797-1932-D4F7-1656448FB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05072-AA89-34DB-2770-B18AF7BD1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7F03-1119-B4E6-DD00-E80ECE3A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BE72B-6730-846B-EFB6-A48FD585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60E36-1752-91A5-FF47-C20A7F65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7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6F31-A65F-0705-F02D-2FFCD139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6F29C-2F80-C327-979C-4D65CC511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51211-5587-441D-0853-A1A4EA5E3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E56CC-40B7-A909-B781-0390C0CA0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88157-53D7-ED54-1870-78254A36E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9F638-670B-7140-5F46-1C9571EB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D46A6-27B4-33CD-9E32-D2A55818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3CD77-E283-F929-8028-692460ED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76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C876-96DF-EB0D-F8E4-F8A57330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EB672-901D-699A-5DA4-73F3EFC7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DBA1E-5381-5F84-E5E4-A7C249AB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6B443-CDA5-2714-8986-067DFCAE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9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2CC35-ADBE-A3C5-2973-C5B3FFB6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54E33B-5F0E-CFC0-59D5-B51DB93E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883AB-9366-B3B4-0310-87348833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E532-BCA5-A6E9-A44F-7C74887D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7C85-7A0B-D7F1-069E-120EF584B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EABC7-7068-1678-0771-507F23A1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A7CE5-3F81-AAD5-C408-F488F0F0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42FD1-FAD5-597A-C342-321007D7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2EBBB-40FB-BA11-9A5C-AC866486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76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E502-35B5-BB35-4ABC-5333E779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1DECF-979A-677A-2D04-225DE012A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187CB-C24A-9AC9-A5C3-7E64E171E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03E48-33D4-98C1-3813-5C74D042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6A220-7D87-3C22-F5BC-D26779DC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C7925-BC60-D94F-0EA7-1006AC07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65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B425-4F74-DD8E-3DB9-09BB9417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98E22-0565-1FA1-CA92-8BC213F53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5989A-9674-588F-9FF2-C5E8536C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9B96C-98D8-DDD5-E652-31822E13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577F1-7718-44FB-6162-98340776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33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C132F-FB28-29EF-86FF-785C715C9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5787A-CD54-F6BD-CE77-D662A7BD8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42525-EF42-C1EF-4250-A2AADC59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10F95-1FE7-DD4B-6C67-4D517C7E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CAD7-5EB2-CEA3-BF19-2A3310C8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65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58BBC-D04A-E902-5FFF-0487F4C4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4E275-186C-52AE-DF4C-9D2B4FAC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E4594-2B8B-0FCF-7B6F-D063ADA1D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65546-08C5-4E24-89C6-66970C6F0EB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41BDC-4500-D006-A6EA-0770D54F0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DCCE8-2323-BBBB-C680-C36801188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7F29F-4E94-40E5-888D-32FC16311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1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A04E-6091-F1C3-7748-80933E4DF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Unit 4 Lecture: Java Applets &amp; Event Handling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4DB38-F517-BFBE-A040-3D62C250D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6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F1EAD-0C19-FA72-DFB4-77D9D580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Introduction to Applets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BFE7E-90A7-05D7-B179-5E7869843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🔹 What is an Applet?</a:t>
            </a:r>
          </a:p>
          <a:p>
            <a:r>
              <a:rPr lang="en-US" dirty="0"/>
              <a:t>A </a:t>
            </a:r>
            <a:r>
              <a:rPr lang="en-US" b="1" dirty="0"/>
              <a:t>Java program</a:t>
            </a:r>
            <a:r>
              <a:rPr lang="en-US" dirty="0"/>
              <a:t> that runs inside a </a:t>
            </a:r>
            <a:r>
              <a:rPr lang="en-US" b="1" dirty="0"/>
              <a:t>web browser or applet viewer</a:t>
            </a:r>
            <a:r>
              <a:rPr lang="en-US" dirty="0"/>
              <a:t> </a:t>
            </a:r>
          </a:p>
          <a:p>
            <a:r>
              <a:rPr lang="en-US" dirty="0"/>
              <a:t>Used for creating </a:t>
            </a:r>
            <a:r>
              <a:rPr lang="en-US" b="1" dirty="0"/>
              <a:t>GUI-based applications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🔹 Key Features</a:t>
            </a:r>
          </a:p>
          <a:p>
            <a:r>
              <a:rPr lang="en-US" dirty="0"/>
              <a:t>Platform-independent </a:t>
            </a:r>
          </a:p>
          <a:p>
            <a:r>
              <a:rPr lang="en-US" dirty="0"/>
              <a:t>Embedded in HTML </a:t>
            </a:r>
          </a:p>
          <a:p>
            <a:r>
              <a:rPr lang="en-US" dirty="0"/>
              <a:t>No main() method </a:t>
            </a:r>
          </a:p>
          <a:p>
            <a:r>
              <a:rPr lang="en-US" dirty="0"/>
              <a:t>Lifecycle controlled by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19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FB3B-51AF-0734-2ED9-80EEEF70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Applet Life 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E4294A-EDB6-5D15-6CB5-7DEA10C32F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778754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20510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42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init()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once when applet is loaded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02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start()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when applet becomes 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14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paint(Graphics g)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to display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66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stop()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when applet is inactive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99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destroy()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Called before applet is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575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16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74AB-1E85-F6A0-CE14-6047847C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6619C-32E9-DE66-DD72-8A4A04FE3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java.applet</a:t>
            </a:r>
            <a:r>
              <a:rPr lang="en-IN" dirty="0"/>
              <a:t>.*;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MyApplet</a:t>
            </a:r>
            <a:r>
              <a:rPr lang="en-IN" dirty="0"/>
              <a:t> extends Applet {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init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setBackground</a:t>
            </a:r>
            <a:r>
              <a:rPr lang="en-IN" dirty="0"/>
              <a:t>(</a:t>
            </a:r>
            <a:r>
              <a:rPr lang="en-IN" dirty="0" err="1"/>
              <a:t>Color.cyan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void paint(Graphics g)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g.drawString</a:t>
            </a:r>
            <a:r>
              <a:rPr lang="en-IN" dirty="0"/>
              <a:t>("Hello Applet", 50, 50);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028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841A-4E65-8467-5420-C297EEC7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using Applet now?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111FFA-9692-C4C6-B6D9-DB927ED196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354366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12534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Old (Applet)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Modern Replacement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1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GUI in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HTML5 + CSS +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90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Animation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 / Canvas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40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/ Angular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14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Desktop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JavaFX / Swing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28972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1448E2D-0667-609D-D8AF-6ACC4E142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deprecated applets in Java 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removed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11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963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DCDBDD-5118-72BD-DDE5-E23D363AB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31558"/>
              </p:ext>
            </p:extLst>
          </p:nvPr>
        </p:nvGraphicFramePr>
        <p:xfrm>
          <a:off x="481783" y="166955"/>
          <a:ext cx="10373031" cy="6509736"/>
        </p:xfrm>
        <a:graphic>
          <a:graphicData uri="http://schemas.openxmlformats.org/drawingml/2006/table">
            <a:tbl>
              <a:tblPr/>
              <a:tblGrid>
                <a:gridCol w="3038165">
                  <a:extLst>
                    <a:ext uri="{9D8B030D-6E8A-4147-A177-3AD203B41FA5}">
                      <a16:colId xmlns:a16="http://schemas.microsoft.com/office/drawing/2014/main" val="2428025758"/>
                    </a:ext>
                  </a:extLst>
                </a:gridCol>
                <a:gridCol w="3877189">
                  <a:extLst>
                    <a:ext uri="{9D8B030D-6E8A-4147-A177-3AD203B41FA5}">
                      <a16:colId xmlns:a16="http://schemas.microsoft.com/office/drawing/2014/main" val="2705000759"/>
                    </a:ext>
                  </a:extLst>
                </a:gridCol>
                <a:gridCol w="3457677">
                  <a:extLst>
                    <a:ext uri="{9D8B030D-6E8A-4147-A177-3AD203B41FA5}">
                      <a16:colId xmlns:a16="http://schemas.microsoft.com/office/drawing/2014/main" val="2467069831"/>
                    </a:ext>
                  </a:extLst>
                </a:gridCol>
              </a:tblGrid>
              <a:tr h="49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Applet Issue / Risk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j-lt"/>
                        </a:rPr>
                        <a:t> </a:t>
                      </a:r>
                      <a:r>
                        <a:rPr lang="en-US" sz="1400" b="1" dirty="0">
                          <a:latin typeface="+mj-lt"/>
                        </a:rPr>
                        <a:t>Why It Was a Problem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 </a:t>
                      </a:r>
                      <a:r>
                        <a:rPr lang="en-IN" sz="1400" b="1" dirty="0">
                          <a:latin typeface="+mj-lt"/>
                        </a:rPr>
                        <a:t>Modern Technology Replacement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552038"/>
                  </a:ext>
                </a:extLst>
              </a:tr>
              <a:tr h="70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🔒 Security vulnerabilities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Could access system resources via Java plugin → risk of hacking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HTML5 + JavaScript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580755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j-lt"/>
                        </a:rPr>
                        <a:t>🔌 Dependency on Java Plugin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Required JRE installation and plugin support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Native browser technologies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1929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🐢 Slow performance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Applet loading + JVM startup delay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JavaScript engines (V8, SpiderMonkey)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492542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🚫 No mobile support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j-lt"/>
                        </a:rPr>
                        <a:t>Applets don’t run on Android/iOS browsers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Responsive web apps (HTML5, JS)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969895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⚠️ Security warnings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Frequent popups: “Do you trust this applet?”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HTTPS + browser security model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342838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🌐 Limited browser support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j-lt"/>
                        </a:rPr>
                        <a:t>Modern browsers removed plugin support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All modern browsers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8560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🔄 Difficult updates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Required recompilation and redeployment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j-lt"/>
                        </a:rPr>
                        <a:t>Web apps (React, Angular, Vue)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759587"/>
                  </a:ext>
                </a:extLst>
              </a:tr>
              <a:tr h="49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🎨 Poor UI/UX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Basic UI components, less interactive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Modern frameworks (React, Angular)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50453"/>
                  </a:ext>
                </a:extLst>
              </a:tr>
              <a:tr h="49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📉 Not scalable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Hard to maintain large applications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Cloud-based web apps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71974"/>
                  </a:ext>
                </a:extLst>
              </a:tr>
              <a:tr h="598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🔗 Restricted networking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j-lt"/>
                        </a:rPr>
                        <a:t>Could only connect to originating server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REST APIs, </a:t>
                      </a:r>
                      <a:r>
                        <a:rPr lang="en-IN" sz="1800" dirty="0" err="1">
                          <a:latin typeface="+mj-lt"/>
                        </a:rPr>
                        <a:t>WebSockets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5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9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0065-F242-3446-44A4-77F15726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Delegation Event Model (Core Concept)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D2A0-0D5C-81EB-59FF-037CBA44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🔹 Definition</a:t>
            </a:r>
          </a:p>
          <a:p>
            <a:r>
              <a:rPr lang="en-US" dirty="0"/>
              <a:t>A mechanism where:</a:t>
            </a:r>
            <a:br>
              <a:rPr lang="en-US" dirty="0"/>
            </a:br>
            <a:r>
              <a:rPr lang="en-US" dirty="0"/>
              <a:t>	Event handling is </a:t>
            </a:r>
            <a:r>
              <a:rPr lang="en-US" b="1" dirty="0"/>
              <a:t>delegated</a:t>
            </a:r>
            <a:r>
              <a:rPr lang="en-US" dirty="0"/>
              <a:t> to listener objects</a:t>
            </a:r>
          </a:p>
          <a:p>
            <a:pPr marL="0" indent="0">
              <a:buNone/>
            </a:pPr>
            <a:r>
              <a:rPr lang="en-US" b="1" dirty="0"/>
              <a:t>🔹 Why Delegation?</a:t>
            </a:r>
          </a:p>
          <a:p>
            <a:r>
              <a:rPr lang="en-US" dirty="0"/>
              <a:t>Separates </a:t>
            </a:r>
            <a:r>
              <a:rPr lang="en-US" b="1" dirty="0"/>
              <a:t>event generation</a:t>
            </a:r>
            <a:r>
              <a:rPr lang="en-US" dirty="0"/>
              <a:t> and </a:t>
            </a:r>
            <a:r>
              <a:rPr lang="en-US" b="1" dirty="0"/>
              <a:t>event handling</a:t>
            </a:r>
            <a:r>
              <a:rPr lang="en-US" dirty="0"/>
              <a:t> </a:t>
            </a:r>
          </a:p>
          <a:p>
            <a:r>
              <a:rPr lang="en-US" dirty="0"/>
              <a:t>Improves modularity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6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49D4-956D-63F7-80FD-3AF59B88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Components of Event Model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1DBF7-4A84-66EE-ABB0-B49961F16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Event Source</a:t>
            </a:r>
          </a:p>
          <a:p>
            <a:r>
              <a:rPr lang="en-US" dirty="0"/>
              <a:t>Object that generates event </a:t>
            </a:r>
          </a:p>
          <a:p>
            <a:pPr marL="0" indent="0">
              <a:buNone/>
            </a:pPr>
            <a:r>
              <a:rPr lang="en-US" dirty="0"/>
              <a:t>Examples: </a:t>
            </a:r>
          </a:p>
          <a:p>
            <a:pPr lvl="1"/>
            <a:r>
              <a:rPr lang="en-US" dirty="0"/>
              <a:t>Button </a:t>
            </a:r>
          </a:p>
          <a:p>
            <a:pPr lvl="1"/>
            <a:r>
              <a:rPr lang="en-US" dirty="0" err="1"/>
              <a:t>TextField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Example:</a:t>
            </a:r>
          </a:p>
          <a:p>
            <a:pPr marL="0" indent="0">
              <a:buNone/>
            </a:pPr>
            <a:r>
              <a:rPr lang="en-US" dirty="0"/>
              <a:t>	Button b = new Button("Click");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24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6109-7627-2125-D76E-7C252D97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Event Object (Event Class)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E72CC-3D22-F87D-7CC9-8EB97D1B0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information about the event 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 err="1"/>
              <a:t>ActionEvent</a:t>
            </a:r>
            <a:r>
              <a:rPr lang="en-US" dirty="0"/>
              <a:t> </a:t>
            </a:r>
          </a:p>
          <a:p>
            <a:r>
              <a:rPr lang="en-US" dirty="0" err="1"/>
              <a:t>MouseEvent</a:t>
            </a:r>
            <a:r>
              <a:rPr lang="en-US" dirty="0"/>
              <a:t> </a:t>
            </a:r>
          </a:p>
          <a:p>
            <a:r>
              <a:rPr lang="en-US" dirty="0" err="1"/>
              <a:t>KeyEvent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99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15B0-DAA4-B5F7-B4F0-A4B6A335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Event Listener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B69E2-EBD5-5B0C-61E5-8D837C65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Interface that handles events </a:t>
            </a:r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r>
              <a:rPr lang="en-IN" dirty="0"/>
              <a:t>ActionListener </a:t>
            </a:r>
          </a:p>
          <a:p>
            <a:r>
              <a:rPr lang="en-IN" dirty="0" err="1"/>
              <a:t>MouseListener</a:t>
            </a:r>
            <a:r>
              <a:rPr lang="en-IN" dirty="0"/>
              <a:t> </a:t>
            </a:r>
          </a:p>
          <a:p>
            <a:r>
              <a:rPr lang="en-IN" dirty="0" err="1"/>
              <a:t>KeyListener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19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60CA-D48F-E864-0AE2-C949D2F19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Event Handling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C889-41A3-3807-4174-BF99873A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performs action </a:t>
            </a:r>
          </a:p>
          <a:p>
            <a:r>
              <a:rPr lang="en-US" dirty="0"/>
              <a:t>Event is generated </a:t>
            </a:r>
          </a:p>
          <a:p>
            <a:r>
              <a:rPr lang="en-US" dirty="0"/>
              <a:t>Event is sent to listener </a:t>
            </a:r>
          </a:p>
          <a:p>
            <a:r>
              <a:rPr lang="en-US" dirty="0"/>
              <a:t>Listener handles 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58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B31C-A7EB-0512-9C9D-EE78D955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Mouse Events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2174-12D9-D47F-189F-F166B17A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🔹 </a:t>
            </a:r>
            <a:r>
              <a:rPr lang="en-IN" b="1" dirty="0" err="1"/>
              <a:t>MouseListener</a:t>
            </a:r>
            <a:r>
              <a:rPr lang="en-IN" b="1" dirty="0"/>
              <a:t> Methods</a:t>
            </a:r>
          </a:p>
          <a:p>
            <a:r>
              <a:rPr lang="en-US" dirty="0" err="1"/>
              <a:t>mouseClicked</a:t>
            </a:r>
            <a:r>
              <a:rPr lang="en-US" dirty="0"/>
              <a:t>()</a:t>
            </a:r>
          </a:p>
          <a:p>
            <a:r>
              <a:rPr lang="en-US" dirty="0" err="1"/>
              <a:t>mousePressed</a:t>
            </a:r>
            <a:r>
              <a:rPr lang="en-US" dirty="0"/>
              <a:t>()</a:t>
            </a:r>
          </a:p>
          <a:p>
            <a:r>
              <a:rPr lang="en-US" dirty="0" err="1"/>
              <a:t>mouseReleased</a:t>
            </a:r>
            <a:r>
              <a:rPr lang="en-US" dirty="0"/>
              <a:t>()</a:t>
            </a:r>
          </a:p>
          <a:p>
            <a:r>
              <a:rPr lang="en-US" dirty="0" err="1"/>
              <a:t>mouseEntered</a:t>
            </a:r>
            <a:r>
              <a:rPr lang="en-US" dirty="0"/>
              <a:t>()</a:t>
            </a:r>
          </a:p>
          <a:p>
            <a:r>
              <a:rPr lang="en-US" dirty="0" err="1"/>
              <a:t>mouseExited</a:t>
            </a:r>
            <a:r>
              <a:rPr lang="en-US" dirty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437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32B-A18D-D209-D4AB-D7A28DC4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4" y="179818"/>
            <a:ext cx="10515600" cy="1325563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8292F-C2D1-ECA6-7BB8-E3535C57FD96}"/>
              </a:ext>
            </a:extLst>
          </p:cNvPr>
          <p:cNvSpPr txBox="1"/>
          <p:nvPr/>
        </p:nvSpPr>
        <p:spPr>
          <a:xfrm>
            <a:off x="678426" y="1185138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java.awt.event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java.applet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MouseDemo</a:t>
            </a:r>
            <a:r>
              <a:rPr lang="en-IN" dirty="0"/>
              <a:t> extends Applet implements </a:t>
            </a:r>
            <a:r>
              <a:rPr lang="en-IN" dirty="0" err="1"/>
              <a:t>MouseListener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init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addMouseListener</a:t>
            </a:r>
            <a:r>
              <a:rPr lang="en-IN" dirty="0"/>
              <a:t>(this);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mouseClicked</a:t>
            </a:r>
            <a:r>
              <a:rPr lang="en-IN" dirty="0"/>
              <a:t>(</a:t>
            </a:r>
            <a:r>
              <a:rPr lang="en-IN" dirty="0" err="1"/>
              <a:t>MouseEvent</a:t>
            </a:r>
            <a:r>
              <a:rPr lang="en-IN" dirty="0"/>
              <a:t> e) {</a:t>
            </a:r>
          </a:p>
          <a:p>
            <a:r>
              <a:rPr lang="en-IN" dirty="0"/>
              <a:t>        </a:t>
            </a:r>
            <a:r>
              <a:rPr lang="en-IN" dirty="0" err="1"/>
              <a:t>showStatus</a:t>
            </a:r>
            <a:r>
              <a:rPr lang="en-IN" dirty="0"/>
              <a:t>("Mouse Clicked");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mousePressed</a:t>
            </a:r>
            <a:r>
              <a:rPr lang="en-IN" dirty="0"/>
              <a:t>(</a:t>
            </a:r>
            <a:r>
              <a:rPr lang="en-IN" dirty="0" err="1"/>
              <a:t>MouseEvent</a:t>
            </a:r>
            <a:r>
              <a:rPr lang="en-IN" dirty="0"/>
              <a:t> e) {}</a:t>
            </a:r>
          </a:p>
          <a:p>
            <a:r>
              <a:rPr lang="en-IN" dirty="0"/>
              <a:t>    public void </a:t>
            </a:r>
            <a:r>
              <a:rPr lang="en-IN" dirty="0" err="1"/>
              <a:t>mouseReleased</a:t>
            </a:r>
            <a:r>
              <a:rPr lang="en-IN" dirty="0"/>
              <a:t>(</a:t>
            </a:r>
            <a:r>
              <a:rPr lang="en-IN" dirty="0" err="1"/>
              <a:t>MouseEvent</a:t>
            </a:r>
            <a:r>
              <a:rPr lang="en-IN" dirty="0"/>
              <a:t> e) {}</a:t>
            </a:r>
          </a:p>
          <a:p>
            <a:r>
              <a:rPr lang="en-IN" dirty="0"/>
              <a:t>    public void </a:t>
            </a:r>
            <a:r>
              <a:rPr lang="en-IN" dirty="0" err="1"/>
              <a:t>mouseEntered</a:t>
            </a:r>
            <a:r>
              <a:rPr lang="en-IN" dirty="0"/>
              <a:t>(</a:t>
            </a:r>
            <a:r>
              <a:rPr lang="en-IN" dirty="0" err="1"/>
              <a:t>MouseEvent</a:t>
            </a:r>
            <a:r>
              <a:rPr lang="en-IN" dirty="0"/>
              <a:t> e) {}</a:t>
            </a:r>
          </a:p>
          <a:p>
            <a:r>
              <a:rPr lang="en-IN" dirty="0"/>
              <a:t>    public void </a:t>
            </a:r>
            <a:r>
              <a:rPr lang="en-IN" dirty="0" err="1"/>
              <a:t>mouseExited</a:t>
            </a:r>
            <a:r>
              <a:rPr lang="en-IN" dirty="0"/>
              <a:t>(</a:t>
            </a:r>
            <a:r>
              <a:rPr lang="en-IN" dirty="0" err="1"/>
              <a:t>MouseEvent</a:t>
            </a:r>
            <a:r>
              <a:rPr lang="en-IN" dirty="0"/>
              <a:t> e) {}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6906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E822-BC37-1C1C-571E-FB945666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Keyboard Events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099C-8900-701C-69AB-B26B6042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KeyListener</a:t>
            </a:r>
            <a:r>
              <a:rPr lang="en-US" b="1" dirty="0"/>
              <a:t> Methods</a:t>
            </a:r>
          </a:p>
          <a:p>
            <a:r>
              <a:rPr lang="en-US" dirty="0" err="1"/>
              <a:t>keyPressed</a:t>
            </a:r>
            <a:r>
              <a:rPr lang="en-US" dirty="0"/>
              <a:t>()</a:t>
            </a:r>
          </a:p>
          <a:p>
            <a:r>
              <a:rPr lang="en-US" dirty="0" err="1"/>
              <a:t>keyReleased</a:t>
            </a:r>
            <a:r>
              <a:rPr lang="en-US" dirty="0"/>
              <a:t>()</a:t>
            </a:r>
          </a:p>
          <a:p>
            <a:r>
              <a:rPr lang="en-US" dirty="0" err="1"/>
              <a:t>keyTyped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93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5886-94A1-1446-1980-45B3D9DF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94820-EC03-C6B0-9FA4-8DB571A6429A}"/>
              </a:ext>
            </a:extLst>
          </p:cNvPr>
          <p:cNvSpPr txBox="1"/>
          <p:nvPr/>
        </p:nvSpPr>
        <p:spPr>
          <a:xfrm>
            <a:off x="838200" y="189603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java.awt.event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java.applet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KeyDemo</a:t>
            </a:r>
            <a:r>
              <a:rPr lang="en-IN" dirty="0"/>
              <a:t> extends Applet implements </a:t>
            </a:r>
            <a:r>
              <a:rPr lang="en-IN" dirty="0" err="1"/>
              <a:t>KeyListener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init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addKeyListener</a:t>
            </a:r>
            <a:r>
              <a:rPr lang="en-IN" dirty="0"/>
              <a:t>(this);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keyPressed</a:t>
            </a:r>
            <a:r>
              <a:rPr lang="en-IN" dirty="0"/>
              <a:t>(</a:t>
            </a:r>
            <a:r>
              <a:rPr lang="en-IN" dirty="0" err="1"/>
              <a:t>KeyEvent</a:t>
            </a:r>
            <a:r>
              <a:rPr lang="en-IN" dirty="0"/>
              <a:t> e) {</a:t>
            </a:r>
          </a:p>
          <a:p>
            <a:r>
              <a:rPr lang="en-IN" dirty="0"/>
              <a:t>        </a:t>
            </a:r>
            <a:r>
              <a:rPr lang="en-IN" dirty="0" err="1"/>
              <a:t>showStatus</a:t>
            </a:r>
            <a:r>
              <a:rPr lang="en-IN" dirty="0"/>
              <a:t>("Key Pressed: " + </a:t>
            </a:r>
            <a:r>
              <a:rPr lang="en-IN" dirty="0" err="1"/>
              <a:t>e.getKeyChar</a:t>
            </a:r>
            <a:r>
              <a:rPr lang="en-IN" dirty="0"/>
              <a:t>());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keyReleased</a:t>
            </a:r>
            <a:r>
              <a:rPr lang="en-IN" dirty="0"/>
              <a:t>(</a:t>
            </a:r>
            <a:r>
              <a:rPr lang="en-IN" dirty="0" err="1"/>
              <a:t>KeyEvent</a:t>
            </a:r>
            <a:r>
              <a:rPr lang="en-IN" dirty="0"/>
              <a:t> e) {}</a:t>
            </a:r>
          </a:p>
          <a:p>
            <a:r>
              <a:rPr lang="en-IN" dirty="0"/>
              <a:t>    public void </a:t>
            </a:r>
            <a:r>
              <a:rPr lang="en-IN" dirty="0" err="1"/>
              <a:t>keyTyped</a:t>
            </a:r>
            <a:r>
              <a:rPr lang="en-IN" dirty="0"/>
              <a:t>(</a:t>
            </a:r>
            <a:r>
              <a:rPr lang="en-IN" dirty="0" err="1"/>
              <a:t>KeyEvent</a:t>
            </a:r>
            <a:r>
              <a:rPr lang="en-IN" dirty="0"/>
              <a:t> e) {}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1181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2EAD-E848-A3F7-5E2D-CCAE4E0D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Event Classes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8392EC-5811-19EC-3204-656563C6E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129657"/>
              </p:ext>
            </p:extLst>
          </p:nvPr>
        </p:nvGraphicFramePr>
        <p:xfrm>
          <a:off x="1192161" y="1930620"/>
          <a:ext cx="9279194" cy="2194560"/>
        </p:xfrm>
        <a:graphic>
          <a:graphicData uri="http://schemas.openxmlformats.org/drawingml/2006/table">
            <a:tbl>
              <a:tblPr/>
              <a:tblGrid>
                <a:gridCol w="4639597">
                  <a:extLst>
                    <a:ext uri="{9D8B030D-6E8A-4147-A177-3AD203B41FA5}">
                      <a16:colId xmlns:a16="http://schemas.microsoft.com/office/drawing/2014/main" val="608394880"/>
                    </a:ext>
                  </a:extLst>
                </a:gridCol>
                <a:gridCol w="4639597">
                  <a:extLst>
                    <a:ext uri="{9D8B030D-6E8A-4147-A177-3AD203B41FA5}">
                      <a16:colId xmlns:a16="http://schemas.microsoft.com/office/drawing/2014/main" val="3219549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Event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890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ActionEvent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Button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05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MouseEvent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Mouse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932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KeyEvent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Keyboard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04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ItemEvent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Checkbox,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006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WindowEvent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Window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321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57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747EE3-A36B-16CC-F298-D97D9B7679CF}"/>
              </a:ext>
            </a:extLst>
          </p:cNvPr>
          <p:cNvSpPr txBox="1"/>
          <p:nvPr/>
        </p:nvSpPr>
        <p:spPr>
          <a:xfrm>
            <a:off x="727587" y="31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 Button Click Event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DBD6F-1AA6-8F20-F355-9AFEDF6CAAE7}"/>
              </a:ext>
            </a:extLst>
          </p:cNvPr>
          <p:cNvSpPr txBox="1"/>
          <p:nvPr/>
        </p:nvSpPr>
        <p:spPr>
          <a:xfrm>
            <a:off x="727587" y="1009440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java.applet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java.awt.event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ButtonDemo</a:t>
            </a:r>
            <a:r>
              <a:rPr lang="en-IN" dirty="0"/>
              <a:t> extends Applet implements ActionListener {</a:t>
            </a:r>
          </a:p>
          <a:p>
            <a:endParaRPr lang="en-IN" dirty="0"/>
          </a:p>
          <a:p>
            <a:r>
              <a:rPr lang="en-IN" dirty="0"/>
              <a:t>    Button b;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init</a:t>
            </a:r>
            <a:r>
              <a:rPr lang="en-IN" dirty="0"/>
              <a:t>() {</a:t>
            </a:r>
          </a:p>
          <a:p>
            <a:r>
              <a:rPr lang="en-IN" dirty="0"/>
              <a:t>        b = new Button("Click Me");</a:t>
            </a:r>
          </a:p>
          <a:p>
            <a:r>
              <a:rPr lang="en-IN" dirty="0"/>
              <a:t>        add(b);</a:t>
            </a:r>
          </a:p>
          <a:p>
            <a:r>
              <a:rPr lang="en-IN" dirty="0"/>
              <a:t>        </a:t>
            </a:r>
            <a:r>
              <a:rPr lang="en-IN" dirty="0" err="1"/>
              <a:t>b.addActionListener</a:t>
            </a:r>
            <a:r>
              <a:rPr lang="en-IN" dirty="0"/>
              <a:t>(this);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actionPerformed</a:t>
            </a:r>
            <a:r>
              <a:rPr lang="en-IN" dirty="0"/>
              <a:t>(</a:t>
            </a:r>
            <a:r>
              <a:rPr lang="en-IN" dirty="0" err="1"/>
              <a:t>ActionEvent</a:t>
            </a:r>
            <a:r>
              <a:rPr lang="en-IN" dirty="0"/>
              <a:t> e) {</a:t>
            </a:r>
          </a:p>
          <a:p>
            <a:r>
              <a:rPr lang="en-IN" dirty="0"/>
              <a:t>        </a:t>
            </a:r>
            <a:r>
              <a:rPr lang="en-IN" dirty="0" err="1"/>
              <a:t>showStatus</a:t>
            </a:r>
            <a:r>
              <a:rPr lang="en-IN" dirty="0"/>
              <a:t>("Button Clicked!");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2548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8262-660E-672E-0F57-0FC9DB07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A4D3-71D7-8BC7-5CA2-67DA750F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Applets do not use main()</a:t>
            </a:r>
          </a:p>
          <a:p>
            <a:r>
              <a:rPr lang="en-US" dirty="0"/>
              <a:t>Delegation model separates source &amp; listener</a:t>
            </a:r>
          </a:p>
          <a:p>
            <a:r>
              <a:rPr lang="en-US" dirty="0"/>
              <a:t>Listener must be registered</a:t>
            </a:r>
          </a:p>
          <a:p>
            <a:r>
              <a:rPr lang="en-US" dirty="0"/>
              <a:t>One event → multiple listeners possible</a:t>
            </a:r>
          </a:p>
          <a:p>
            <a:r>
              <a:rPr lang="en-US" dirty="0"/>
              <a:t>Mouse &amp; Key events are low-level events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127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820</Words>
  <Application>Microsoft Office PowerPoint</Application>
  <PresentationFormat>Widescreen</PresentationFormat>
  <Paragraphs>202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 Unit 4 Lecture: Java Applets &amp; Event Handling </vt:lpstr>
      <vt:lpstr>1. Introduction to Applets</vt:lpstr>
      <vt:lpstr>Applet Life Cycle</vt:lpstr>
      <vt:lpstr>Example</vt:lpstr>
      <vt:lpstr>Are we using Applet now?</vt:lpstr>
      <vt:lpstr>PowerPoint Presentation</vt:lpstr>
      <vt:lpstr>Delegation Event Model (Core Concept)</vt:lpstr>
      <vt:lpstr>3. Components of Event Model</vt:lpstr>
      <vt:lpstr>2. Event Object (Event Class)</vt:lpstr>
      <vt:lpstr>3. Event Listener</vt:lpstr>
      <vt:lpstr>4. Event Handling Process</vt:lpstr>
      <vt:lpstr>5. Mouse Events</vt:lpstr>
      <vt:lpstr>Example</vt:lpstr>
      <vt:lpstr>6. Keyboard Events</vt:lpstr>
      <vt:lpstr>Example</vt:lpstr>
      <vt:lpstr>7. Event Classes Overview</vt:lpstr>
      <vt:lpstr>PowerPoint Presentation</vt:lpstr>
      <vt:lpstr>Note: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C</dc:creator>
  <cp:lastModifiedBy>Priyanka C</cp:lastModifiedBy>
  <cp:revision>2</cp:revision>
  <dcterms:created xsi:type="dcterms:W3CDTF">2026-04-07T08:28:30Z</dcterms:created>
  <dcterms:modified xsi:type="dcterms:W3CDTF">2026-04-07T08:58:54Z</dcterms:modified>
</cp:coreProperties>
</file>