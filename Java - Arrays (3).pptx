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300" r:id="rId4"/>
    <p:sldId id="301" r:id="rId5"/>
    <p:sldId id="302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257" r:id="rId17"/>
    <p:sldId id="258" r:id="rId18"/>
    <p:sldId id="259" r:id="rId19"/>
    <p:sldId id="260" r:id="rId20"/>
    <p:sldId id="261" r:id="rId21"/>
    <p:sldId id="262" r:id="rId22"/>
    <p:sldId id="264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6" r:id="rId33"/>
    <p:sldId id="278" r:id="rId34"/>
    <p:sldId id="279" r:id="rId35"/>
    <p:sldId id="280" r:id="rId36"/>
    <p:sldId id="282" r:id="rId37"/>
    <p:sldId id="284" r:id="rId38"/>
    <p:sldId id="286" r:id="rId39"/>
    <p:sldId id="288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2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88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55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5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0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4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2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1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4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1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1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0FC21-16A7-42BC-87DD-F4B928CBC0A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17728-5440-4424-91FB-1FBDB9B86E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70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chemeClr val="tx1"/>
                </a:solidFill>
              </a:rPr>
              <a:t>Arrays </a:t>
            </a:r>
          </a:p>
        </p:txBody>
      </p:sp>
    </p:spTree>
    <p:extLst>
      <p:ext uri="{BB962C8B-B14F-4D97-AF65-F5344CB8AC3E}">
        <p14:creationId xmlns:p14="http://schemas.microsoft.com/office/powerpoint/2010/main" val="198571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6AE01-8905-4F44-FF52-347BCB4E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an Array?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99886-099C-2F1B-4D56-1C9CDBF1C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</a:t>
            </a:r>
            <a:r>
              <a:rPr lang="en-US" b="1" dirty="0"/>
              <a:t>array</a:t>
            </a:r>
            <a:r>
              <a:rPr lang="en-US" dirty="0"/>
              <a:t> is a container that stores </a:t>
            </a:r>
            <a:r>
              <a:rPr lang="en-US" b="1" dirty="0"/>
              <a:t>multiple values of the same data type</a:t>
            </a:r>
            <a:r>
              <a:rPr lang="en-US" dirty="0"/>
              <a:t> under one variable name.</a:t>
            </a:r>
          </a:p>
          <a:p>
            <a:r>
              <a:rPr lang="en-US" dirty="0"/>
              <a:t> Instead of creating many variables like:</a:t>
            </a:r>
          </a:p>
          <a:p>
            <a:pPr marL="0" indent="0" algn="ctr">
              <a:buNone/>
            </a:pPr>
            <a:r>
              <a:rPr lang="en-US" dirty="0"/>
              <a:t>int mark1 = 70;</a:t>
            </a:r>
          </a:p>
          <a:p>
            <a:pPr marL="0" indent="0" algn="ctr">
              <a:buNone/>
            </a:pPr>
            <a:r>
              <a:rPr lang="en-US" dirty="0"/>
              <a:t>int mark2 = 80;</a:t>
            </a:r>
          </a:p>
          <a:p>
            <a:pPr marL="0" indent="0" algn="ctr">
              <a:buNone/>
            </a:pPr>
            <a:r>
              <a:rPr lang="en-US" dirty="0"/>
              <a:t>int mark3 = 90;</a:t>
            </a:r>
          </a:p>
          <a:p>
            <a:r>
              <a:rPr lang="en-US" dirty="0"/>
              <a:t>We use an array:</a:t>
            </a:r>
          </a:p>
          <a:p>
            <a:pPr marL="0" indent="0" algn="ctr">
              <a:buNone/>
            </a:pPr>
            <a:r>
              <a:rPr lang="en-US" dirty="0"/>
              <a:t>int[] marks = {70, 80, 90};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8785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1094-7937-E87A-8200-C4FB610C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Then how do we store multiple data types?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7A843-B805-3B01-ED42-8BC8741A9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Method 1: Using Object class (MOST IMPORTANT)</a:t>
            </a:r>
          </a:p>
          <a:p>
            <a:r>
              <a:rPr lang="en-US" dirty="0"/>
              <a:t>In Java, </a:t>
            </a:r>
            <a:r>
              <a:rPr lang="en-US" b="1" dirty="0"/>
              <a:t>every class inherits from Object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Object[] </a:t>
            </a:r>
            <a:r>
              <a:rPr lang="en-US" dirty="0" err="1"/>
              <a:t>arr</a:t>
            </a:r>
            <a:r>
              <a:rPr lang="en-US" dirty="0"/>
              <a:t> = {10, "Hello", 3.5, true};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[0]);  // 10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[1]);  // Hello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typecasting we should give like: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int a = (int) </a:t>
            </a:r>
            <a:r>
              <a:rPr lang="en-US" dirty="0" err="1"/>
              <a:t>arr</a:t>
            </a:r>
            <a:r>
              <a:rPr lang="en-US" dirty="0"/>
              <a:t>[0];</a:t>
            </a:r>
          </a:p>
          <a:p>
            <a:pPr marL="0" indent="0">
              <a:buNone/>
            </a:pPr>
            <a:r>
              <a:rPr lang="en-US" dirty="0"/>
              <a:t>String s = (String) </a:t>
            </a:r>
            <a:r>
              <a:rPr lang="en-US" dirty="0" err="1"/>
              <a:t>arr</a:t>
            </a:r>
            <a:r>
              <a:rPr lang="en-US" dirty="0"/>
              <a:t>[1];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219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AD769-4681-1CE9-2603-E66251238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6611C-E1C1-300F-7F15-971E097D5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Method 2: Using Wrapper Classes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Object[] data = {10, 20.5, 'A', true};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722AED-7718-8173-68CE-F9D5CDD33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260782"/>
              </p:ext>
            </p:extLst>
          </p:nvPr>
        </p:nvGraphicFramePr>
        <p:xfrm>
          <a:off x="1043608" y="2276872"/>
          <a:ext cx="5915000" cy="1828800"/>
        </p:xfrm>
        <a:graphic>
          <a:graphicData uri="http://schemas.openxmlformats.org/drawingml/2006/table">
            <a:tbl>
              <a:tblPr/>
              <a:tblGrid>
                <a:gridCol w="2957500">
                  <a:extLst>
                    <a:ext uri="{9D8B030D-6E8A-4147-A177-3AD203B41FA5}">
                      <a16:colId xmlns:a16="http://schemas.microsoft.com/office/drawing/2014/main" val="697282688"/>
                    </a:ext>
                  </a:extLst>
                </a:gridCol>
                <a:gridCol w="2957500">
                  <a:extLst>
                    <a:ext uri="{9D8B030D-6E8A-4147-A177-3AD203B41FA5}">
                      <a16:colId xmlns:a16="http://schemas.microsoft.com/office/drawing/2014/main" val="1065212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Wrapper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394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506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51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729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082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749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A12B-792F-A438-3164-C8107318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4AD50-8ADA-BAE0-4F4B-2C83E145E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Method 3: Using Collections (Recommended)</a:t>
            </a:r>
          </a:p>
          <a:p>
            <a:r>
              <a:rPr lang="en-IN" dirty="0"/>
              <a:t>Using </a:t>
            </a:r>
            <a:r>
              <a:rPr lang="en-IN" dirty="0" err="1"/>
              <a:t>ArrayList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 err="1"/>
              <a:t>ArrayList</a:t>
            </a:r>
            <a:r>
              <a:rPr lang="en-IN" dirty="0"/>
              <a:t>&lt;Object&gt; list = new </a:t>
            </a:r>
            <a:r>
              <a:rPr lang="en-IN" dirty="0" err="1"/>
              <a:t>ArrayList</a:t>
            </a:r>
            <a:r>
              <a:rPr lang="en-IN" dirty="0"/>
              <a:t>&lt;&gt;();</a:t>
            </a:r>
          </a:p>
          <a:p>
            <a:pPr marL="0" indent="0">
              <a:buNone/>
            </a:pPr>
            <a:r>
              <a:rPr lang="en-IN" dirty="0" err="1"/>
              <a:t>list.add</a:t>
            </a:r>
            <a:r>
              <a:rPr lang="en-IN" dirty="0"/>
              <a:t>(10);</a:t>
            </a:r>
          </a:p>
          <a:p>
            <a:pPr marL="0" indent="0">
              <a:buNone/>
            </a:pPr>
            <a:r>
              <a:rPr lang="en-IN" dirty="0" err="1"/>
              <a:t>list.add</a:t>
            </a:r>
            <a:r>
              <a:rPr lang="en-IN" dirty="0"/>
              <a:t>("Hello");</a:t>
            </a:r>
          </a:p>
          <a:p>
            <a:pPr marL="0" indent="0">
              <a:buNone/>
            </a:pPr>
            <a:r>
              <a:rPr lang="en-IN" dirty="0" err="1"/>
              <a:t>list.add</a:t>
            </a:r>
            <a:r>
              <a:rPr lang="en-IN" dirty="0"/>
              <a:t>(3.14);</a:t>
            </a:r>
          </a:p>
          <a:p>
            <a:r>
              <a:rPr lang="en-US" b="1" dirty="0"/>
              <a:t>Java arrays are homogeneous</a:t>
            </a:r>
            <a:r>
              <a:rPr lang="en-US" dirty="0"/>
              <a:t> (same data type only).</a:t>
            </a:r>
          </a:p>
          <a:p>
            <a:r>
              <a:rPr lang="en-US" dirty="0"/>
              <a:t>To store different types, use </a:t>
            </a:r>
            <a:r>
              <a:rPr lang="en-US" b="1" dirty="0"/>
              <a:t>Object class or Collections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069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4129-6C81-812F-E6BA-6453CE5B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Why Arrays?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88716-F7D7-7A62-B38C-C10EE89E3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manage large data</a:t>
            </a:r>
          </a:p>
          <a:p>
            <a:r>
              <a:rPr lang="en-US" dirty="0"/>
              <a:t>Reduces code length</a:t>
            </a:r>
          </a:p>
          <a:p>
            <a:r>
              <a:rPr lang="en-US" dirty="0"/>
              <a:t>Faster access using index numbers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662926-4A22-0BFF-257D-719F50CA2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782686"/>
            <a:ext cx="6906589" cy="234347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25538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D9B1-1A45-DCC6-5D6A-8BE757FDA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Declaring an Array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927B7-891D-C268-FD62-16114D3A0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Declaration means </a:t>
            </a:r>
            <a:r>
              <a:rPr lang="en-US" b="1" dirty="0"/>
              <a:t>telling Java that an array will exist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dirty="0"/>
              <a:t>	int[] numbers;</a:t>
            </a:r>
          </a:p>
          <a:p>
            <a:pPr marL="0" indent="0">
              <a:buNone/>
            </a:pPr>
            <a:r>
              <a:rPr lang="en-US" dirty="0"/>
              <a:t>✔This creates a reference, Memory is NOT allocated yet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Creating an Array (Memory Allocation)</a:t>
            </a:r>
          </a:p>
          <a:p>
            <a:pPr marL="0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int[] numbers = new int[5];</a:t>
            </a:r>
          </a:p>
          <a:p>
            <a:pPr marL="0" indent="0">
              <a:buNone/>
            </a:pPr>
            <a:r>
              <a:rPr lang="en-US" dirty="0"/>
              <a:t>This means:</a:t>
            </a:r>
          </a:p>
          <a:p>
            <a:pPr marL="0" indent="0">
              <a:buNone/>
            </a:pPr>
            <a:r>
              <a:rPr lang="en-US" dirty="0"/>
              <a:t>Array can store </a:t>
            </a:r>
            <a:r>
              <a:rPr lang="en-US" b="1" dirty="0"/>
              <a:t>5 integers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Index starts from </a:t>
            </a:r>
            <a:r>
              <a:rPr lang="en-US" b="1" dirty="0"/>
              <a:t>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Last index = size - 1</a:t>
            </a:r>
          </a:p>
          <a:p>
            <a:pPr marL="0" indent="0">
              <a:buNone/>
            </a:pPr>
            <a:r>
              <a:rPr lang="en-US" dirty="0"/>
              <a:t>So indexes are:</a:t>
            </a:r>
          </a:p>
          <a:p>
            <a:pPr marL="0" indent="0">
              <a:buNone/>
            </a:pPr>
            <a:r>
              <a:rPr lang="en-US" dirty="0"/>
              <a:t>0  1  2  3  4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70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CC7B-9798-47DE-EA49-57AA0906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Initializing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2022C-CAAC-81D5-E802-47E5BCF9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Method 1: Assign values one by one</a:t>
            </a:r>
          </a:p>
          <a:p>
            <a:pPr marL="0" indent="0">
              <a:buNone/>
            </a:pPr>
            <a:r>
              <a:rPr lang="en-US" dirty="0"/>
              <a:t>numbers[0] = 10;</a:t>
            </a:r>
          </a:p>
          <a:p>
            <a:pPr marL="0" indent="0">
              <a:buNone/>
            </a:pPr>
            <a:r>
              <a:rPr lang="en-US" dirty="0"/>
              <a:t>numbers[1] = 20;</a:t>
            </a:r>
          </a:p>
          <a:p>
            <a:pPr marL="0" indent="0">
              <a:buNone/>
            </a:pPr>
            <a:r>
              <a:rPr lang="en-US" dirty="0"/>
              <a:t>numbers[2] = 30;</a:t>
            </a:r>
          </a:p>
          <a:p>
            <a:pPr marL="0" indent="0">
              <a:buNone/>
            </a:pPr>
            <a:r>
              <a:rPr lang="en-US" dirty="0"/>
              <a:t>numbers[3] = 40;</a:t>
            </a:r>
          </a:p>
          <a:p>
            <a:pPr marL="0" indent="0">
              <a:buNone/>
            </a:pPr>
            <a:r>
              <a:rPr lang="en-US" dirty="0"/>
              <a:t>numbers[4] = 50;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772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BF2C-FA8A-60C6-0DFF-07DB4D6E7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Method 2: Shortcut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CB011-CF95-63BC-3622-F84FD1988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int[] numbers = {10, 20, 30, 40, 50};</a:t>
            </a:r>
          </a:p>
          <a:p>
            <a:pPr marL="0" indent="0">
              <a:buNone/>
            </a:pPr>
            <a:r>
              <a:rPr lang="en-US" dirty="0"/>
              <a:t>✔ Java automatically decides the size</a:t>
            </a:r>
            <a:br>
              <a:rPr lang="en-US" dirty="0"/>
            </a:br>
            <a:r>
              <a:rPr lang="en-US" dirty="0"/>
              <a:t>✔ Most commonly used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127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0230-8E67-0B53-5DBC-0476457D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Accessing Array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F0DBF-9D4C-4014-65BF-16A88CEB7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access values, we use </a:t>
            </a:r>
            <a:r>
              <a:rPr lang="en-US" b="1" dirty="0"/>
              <a:t>index numbers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System.out.println</a:t>
            </a:r>
            <a:r>
              <a:rPr lang="en-US" dirty="0"/>
              <a:t>(numbers[0]);</a:t>
            </a:r>
          </a:p>
          <a:p>
            <a:pPr marL="0" indent="0">
              <a:buNone/>
            </a:pPr>
            <a:r>
              <a:rPr lang="en-US" dirty="0"/>
              <a:t>Output : 10</a:t>
            </a:r>
          </a:p>
          <a:p>
            <a:pPr marL="0" indent="0">
              <a:buNone/>
            </a:pPr>
            <a:r>
              <a:rPr lang="en-US" dirty="0"/>
              <a:t>Index always starts from </a:t>
            </a:r>
            <a:r>
              <a:rPr lang="en-US" b="1" dirty="0"/>
              <a:t>0</a:t>
            </a:r>
            <a:r>
              <a:rPr lang="en-US" dirty="0"/>
              <a:t>, NOT 1.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300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1AA3-1F96-959A-6FCA-A732A982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Using Loop with Arrays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32072-C2DA-3963-C07B-1806CD63C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Since arrays may have many elements, we use loops.</a:t>
            </a:r>
          </a:p>
          <a:p>
            <a:pPr marL="0" indent="0">
              <a:buNone/>
            </a:pPr>
            <a:r>
              <a:rPr lang="en-IN" dirty="0"/>
              <a:t>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numbers.length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(numbers[</a:t>
            </a:r>
            <a:r>
              <a:rPr lang="en-IN" dirty="0" err="1"/>
              <a:t>i</a:t>
            </a:r>
            <a:r>
              <a:rPr lang="en-IN" dirty="0"/>
              <a:t>]);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r>
              <a:rPr lang="en-US" dirty="0" err="1"/>
              <a:t>numbers.length</a:t>
            </a:r>
            <a:r>
              <a:rPr lang="en-US" dirty="0"/>
              <a:t> → total number of elements</a:t>
            </a:r>
          </a:p>
          <a:p>
            <a:r>
              <a:rPr lang="en-US" dirty="0"/>
              <a:t>Loop runs from 0 to last index</a:t>
            </a:r>
          </a:p>
          <a:p>
            <a:r>
              <a:rPr lang="en-US" dirty="0"/>
              <a:t>Prints all values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290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109B-DDB3-B624-A328-98CC692E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Length of an Array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D1263-7686-E884-BFEF-82E31518D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find array size: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numbers.length</a:t>
            </a:r>
            <a:r>
              <a:rPr lang="en-US" dirty="0"/>
              <a:t>);</a:t>
            </a:r>
          </a:p>
          <a:p>
            <a:r>
              <a:rPr lang="en-US" dirty="0"/>
              <a:t> length is </a:t>
            </a:r>
            <a:r>
              <a:rPr lang="en-US" b="1" dirty="0"/>
              <a:t>not a method</a:t>
            </a:r>
            <a:r>
              <a:rPr lang="en-US" dirty="0"/>
              <a:t>, it is a </a:t>
            </a:r>
            <a:r>
              <a:rPr lang="en-US" b="1" dirty="0"/>
              <a:t>property</a:t>
            </a:r>
          </a:p>
          <a:p>
            <a:r>
              <a:rPr lang="en-US" dirty="0" err="1"/>
              <a:t>numbers.length</a:t>
            </a:r>
            <a:r>
              <a:rPr lang="en-US" dirty="0"/>
              <a:t> is correct</a:t>
            </a:r>
          </a:p>
          <a:p>
            <a:r>
              <a:rPr lang="en-US" dirty="0" err="1"/>
              <a:t>numbers.length</a:t>
            </a:r>
            <a:r>
              <a:rPr lang="en-US" dirty="0"/>
              <a:t>() is wrong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11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BF17-E471-4DEF-E0F9-5BA06A2A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Multidimensional Arrays (2D Array)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6129B-FCE9-9ABE-0C6E-9A1EA5A56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Used when data is in </a:t>
            </a:r>
            <a:r>
              <a:rPr lang="en-US" b="1" dirty="0"/>
              <a:t>rows and columns</a:t>
            </a:r>
            <a:r>
              <a:rPr lang="en-US" dirty="0"/>
              <a:t> (like a table).</a:t>
            </a:r>
          </a:p>
          <a:p>
            <a:pPr marL="0" indent="0">
              <a:buNone/>
            </a:pPr>
            <a:r>
              <a:rPr lang="en-IN" dirty="0"/>
              <a:t>int[][] matrix = {</a:t>
            </a:r>
          </a:p>
          <a:p>
            <a:pPr marL="0" indent="0">
              <a:buNone/>
            </a:pPr>
            <a:r>
              <a:rPr lang="en-IN" dirty="0"/>
              <a:t>    {1, 2},</a:t>
            </a:r>
          </a:p>
          <a:p>
            <a:pPr marL="0" indent="0">
              <a:buNone/>
            </a:pPr>
            <a:r>
              <a:rPr lang="en-IN" dirty="0"/>
              <a:t>    {3, 4}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1   2</a:t>
            </a:r>
          </a:p>
          <a:p>
            <a:pPr marL="514350" indent="-514350">
              <a:buAutoNum type="arabicPlain" startAt="3"/>
            </a:pPr>
            <a:r>
              <a:rPr lang="en-IN" dirty="0"/>
              <a:t>4</a:t>
            </a:r>
          </a:p>
          <a:p>
            <a:r>
              <a:rPr lang="en-IN" dirty="0"/>
              <a:t>Accessing elements: </a:t>
            </a:r>
            <a:r>
              <a:rPr lang="en-IN" dirty="0" err="1"/>
              <a:t>System.out.println</a:t>
            </a:r>
            <a:r>
              <a:rPr lang="en-IN" dirty="0"/>
              <a:t>(matrix[0][1]); // Output: 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825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6771-0CF6-3D23-2BF9-67677FFA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Copying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8D5E4-9407-CA8A-DDFA-A7F9EC759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Using </a:t>
            </a:r>
            <a:r>
              <a:rPr lang="en-IN" dirty="0" err="1"/>
              <a:t>System.arraycopy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fr-FR" dirty="0" err="1"/>
              <a:t>int</a:t>
            </a:r>
            <a:r>
              <a:rPr lang="fr-FR" dirty="0"/>
              <a:t>[] source = {10, 20, 30, 40};</a:t>
            </a:r>
          </a:p>
          <a:p>
            <a:pPr marL="0" indent="0">
              <a:buNone/>
            </a:pPr>
            <a:r>
              <a:rPr lang="fr-FR" dirty="0" err="1"/>
              <a:t>int</a:t>
            </a:r>
            <a:r>
              <a:rPr lang="fr-FR" dirty="0"/>
              <a:t>[] destination = new </a:t>
            </a:r>
            <a:r>
              <a:rPr lang="fr-FR" dirty="0" err="1"/>
              <a:t>int</a:t>
            </a:r>
            <a:r>
              <a:rPr lang="fr-FR" dirty="0"/>
              <a:t>[4];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System.arraycopy</a:t>
            </a:r>
            <a:r>
              <a:rPr lang="fr-FR" dirty="0"/>
              <a:t>(source, 0, destination, 0, 4);</a:t>
            </a:r>
          </a:p>
          <a:p>
            <a:pPr marL="0" indent="0">
              <a:buNone/>
            </a:pPr>
            <a:endParaRPr lang="fr-FR" dirty="0"/>
          </a:p>
          <a:p>
            <a:r>
              <a:rPr lang="en-US" dirty="0"/>
              <a:t>Copy from source</a:t>
            </a:r>
          </a:p>
          <a:p>
            <a:r>
              <a:rPr lang="en-US" dirty="0"/>
              <a:t>Start at index 0</a:t>
            </a:r>
          </a:p>
          <a:p>
            <a:r>
              <a:rPr lang="en-US" dirty="0"/>
              <a:t>Paste into destination</a:t>
            </a:r>
          </a:p>
          <a:p>
            <a:r>
              <a:rPr lang="en-US" dirty="0"/>
              <a:t>Copy 4 elements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908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27FC-ABAD-4ED8-828C-72C33C79C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 Utility Class (</a:t>
            </a:r>
            <a:r>
              <a:rPr lang="en-US" dirty="0" err="1"/>
              <a:t>java.util.Arrays</a:t>
            </a:r>
            <a:r>
              <a:rPr lang="en-US" dirty="0"/>
              <a:t>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AC44CA-5314-DEC0-13EB-E2A738FE55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3938812"/>
              </p:ext>
            </p:extLst>
          </p:nvPr>
        </p:nvGraphicFramePr>
        <p:xfrm>
          <a:off x="323528" y="1600200"/>
          <a:ext cx="8496944" cy="5175030"/>
        </p:xfrm>
        <a:graphic>
          <a:graphicData uri="http://schemas.openxmlformats.org/drawingml/2006/table">
            <a:tbl>
              <a:tblPr/>
              <a:tblGrid>
                <a:gridCol w="2124236">
                  <a:extLst>
                    <a:ext uri="{9D8B030D-6E8A-4147-A177-3AD203B41FA5}">
                      <a16:colId xmlns:a16="http://schemas.microsoft.com/office/drawing/2014/main" val="3475613672"/>
                    </a:ext>
                  </a:extLst>
                </a:gridCol>
                <a:gridCol w="2124236">
                  <a:extLst>
                    <a:ext uri="{9D8B030D-6E8A-4147-A177-3AD203B41FA5}">
                      <a16:colId xmlns:a16="http://schemas.microsoft.com/office/drawing/2014/main" val="1199138933"/>
                    </a:ext>
                  </a:extLst>
                </a:gridCol>
                <a:gridCol w="2124236">
                  <a:extLst>
                    <a:ext uri="{9D8B030D-6E8A-4147-A177-3AD203B41FA5}">
                      <a16:colId xmlns:a16="http://schemas.microsoft.com/office/drawing/2014/main" val="673998069"/>
                    </a:ext>
                  </a:extLst>
                </a:gridCol>
                <a:gridCol w="2124236">
                  <a:extLst>
                    <a:ext uri="{9D8B030D-6E8A-4147-A177-3AD203B41FA5}">
                      <a16:colId xmlns:a16="http://schemas.microsoft.com/office/drawing/2014/main" val="2595967012"/>
                    </a:ext>
                  </a:extLst>
                </a:gridCol>
              </a:tblGrid>
              <a:tr h="229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Method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Syntax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Purpose / Use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Example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215361"/>
                  </a:ext>
                </a:extLst>
              </a:tr>
              <a:tr h="57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sort()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Arrays.sort(arr);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Sorts array elements in ascending order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Arrays.sort(nums);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696670"/>
                  </a:ext>
                </a:extLst>
              </a:tr>
              <a:tr h="744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toString()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Arrays.toString(arr);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Converts array to readable string format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System.out.println(Arrays.toString(arr));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08770"/>
                  </a:ext>
                </a:extLst>
              </a:tr>
              <a:tr h="744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binarySearch()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Arrays.binarySearch(arr, key);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Searches element and returns index (array must be sorted)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Arrays.binarySearch(arr, 20);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608826"/>
                  </a:ext>
                </a:extLst>
              </a:tr>
              <a:tr h="57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copyOf()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Arrays.copyOf(arr, newLength);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Copies array to a new array with given size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Arrays.copyOf(arr, 5);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239135"/>
                  </a:ext>
                </a:extLst>
              </a:tr>
              <a:tr h="572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copyOfRange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400" dirty="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Arrays.copyOfRange(arr, from, to);</a:t>
                      </a:r>
                      <a:endParaRPr lang="en-US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Copies a specific range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Arrays.copyOfRange(arr, 1, 4);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405404"/>
                  </a:ext>
                </a:extLst>
              </a:tr>
              <a:tr h="400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equals()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Arrays.equals(arr1, arr2);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Compares two arrays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Arrays.equals(a, b);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554753"/>
                  </a:ext>
                </a:extLst>
              </a:tr>
              <a:tr h="400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fill()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Arrays.fill(arr, value);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Fills all elements with same value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Arrays.fill(arr, 0);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468481"/>
                  </a:ext>
                </a:extLst>
              </a:tr>
              <a:tr h="744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stream()</a:t>
                      </a:r>
                      <a:endParaRPr lang="en-IN" sz="140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Arrays.stream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arr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);</a:t>
                      </a:r>
                      <a:endParaRPr lang="en-IN" sz="1400" dirty="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Converts array into stream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Arrays.stream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arr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).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forEach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System.out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::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println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);</a:t>
                      </a:r>
                      <a:endParaRPr lang="en-US" sz="1400" dirty="0"/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191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085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/>
              <a:t>Introduction to Array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java array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133600"/>
            <a:ext cx="6477000" cy="2362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2949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Advantage of Java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b="1" dirty="0"/>
              <a:t>Code Optimization:</a:t>
            </a:r>
            <a:r>
              <a:rPr lang="en-US" dirty="0"/>
              <a:t> It makes the code optimized, we can retrieve or sort the data easily.</a:t>
            </a:r>
          </a:p>
          <a:p>
            <a:pPr lvl="0" algn="just"/>
            <a:r>
              <a:rPr lang="en-US" b="1" dirty="0"/>
              <a:t>Random access:</a:t>
            </a:r>
            <a:r>
              <a:rPr lang="en-US" dirty="0"/>
              <a:t> We can get any data located at any index position.</a:t>
            </a:r>
          </a:p>
        </p:txBody>
      </p:sp>
    </p:spTree>
    <p:extLst>
      <p:ext uri="{BB962C8B-B14F-4D97-AF65-F5344CB8AC3E}">
        <p14:creationId xmlns:p14="http://schemas.microsoft.com/office/powerpoint/2010/main" val="3861307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Disadvantage of Java Array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Size Limit:</a:t>
            </a:r>
            <a:r>
              <a:rPr lang="en-US" dirty="0"/>
              <a:t> We can store only fixed size of elements in the array. It doesn't grow its size at runtime. To solve this problem, collection framework is used in java</a:t>
            </a:r>
          </a:p>
        </p:txBody>
      </p:sp>
    </p:spTree>
    <p:extLst>
      <p:ext uri="{BB962C8B-B14F-4D97-AF65-F5344CB8AC3E}">
        <p14:creationId xmlns:p14="http://schemas.microsoft.com/office/powerpoint/2010/main" val="3813506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Declaring Array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dataType</a:t>
            </a:r>
            <a:r>
              <a:rPr lang="en-US" dirty="0"/>
              <a:t>[] </a:t>
            </a:r>
            <a:r>
              <a:rPr lang="en-US" dirty="0" err="1"/>
              <a:t>arrayRefVar</a:t>
            </a:r>
            <a:r>
              <a:rPr lang="en-US" dirty="0"/>
              <a:t>;  </a:t>
            </a:r>
          </a:p>
          <a:p>
            <a:endParaRPr lang="en-US" dirty="0"/>
          </a:p>
          <a:p>
            <a:r>
              <a:rPr lang="en-US" dirty="0" err="1"/>
              <a:t>dataType</a:t>
            </a:r>
            <a:r>
              <a:rPr lang="en-US" dirty="0"/>
              <a:t> </a:t>
            </a:r>
            <a:r>
              <a:rPr lang="en-US" dirty="0" err="1"/>
              <a:t>arrayRefVar</a:t>
            </a:r>
            <a:r>
              <a:rPr lang="en-US" dirty="0"/>
              <a:t>[];  </a:t>
            </a:r>
          </a:p>
          <a:p>
            <a:endParaRPr lang="en-US" dirty="0"/>
          </a:p>
          <a:p>
            <a:r>
              <a:rPr lang="en-US" dirty="0" err="1"/>
              <a:t>arrayRefVar</a:t>
            </a:r>
            <a:r>
              <a:rPr lang="en-US" dirty="0"/>
              <a:t> = new </a:t>
            </a:r>
            <a:r>
              <a:rPr lang="en-US" dirty="0" err="1"/>
              <a:t>dataType</a:t>
            </a:r>
            <a:r>
              <a:rPr lang="en-US" dirty="0"/>
              <a:t>[</a:t>
            </a:r>
            <a:r>
              <a:rPr lang="en-US" dirty="0" err="1"/>
              <a:t>arraySize</a:t>
            </a:r>
            <a:r>
              <a:rPr lang="en-US" dirty="0"/>
              <a:t>];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228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u="sng" dirty="0"/>
              <a:t>for loop: 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6" y="548680"/>
            <a:ext cx="8804564" cy="661412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TestArray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double[] </a:t>
            </a:r>
            <a:r>
              <a:rPr lang="en-US" dirty="0" err="1"/>
              <a:t>myList</a:t>
            </a:r>
            <a:r>
              <a:rPr lang="en-US" dirty="0"/>
              <a:t> = {1.9, 2.9, 3.4, 3.5};</a:t>
            </a:r>
          </a:p>
          <a:p>
            <a:pPr marL="0" indent="0">
              <a:buNone/>
            </a:pPr>
            <a:r>
              <a:rPr lang="en-US" dirty="0"/>
              <a:t>  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myList.length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+ " ");</a:t>
            </a:r>
          </a:p>
          <a:p>
            <a:pPr marL="0" indent="0">
              <a:buNone/>
            </a:pP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  </a:t>
            </a:r>
          </a:p>
          <a:p>
            <a:pPr marL="0" indent="0">
              <a:buNone/>
            </a:pPr>
            <a:r>
              <a:rPr lang="en-US" dirty="0"/>
              <a:t>      double total = 0;</a:t>
            </a:r>
          </a:p>
          <a:p>
            <a:pPr marL="0" indent="0">
              <a:buNone/>
            </a:pPr>
            <a:r>
              <a:rPr lang="en-US" dirty="0"/>
              <a:t>  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myList.length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 total += </a:t>
            </a:r>
            <a:r>
              <a:rPr lang="en-US" dirty="0" err="1"/>
              <a:t>myList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System.out.println</a:t>
            </a:r>
            <a:r>
              <a:rPr lang="en-US" dirty="0"/>
              <a:t>("Total is " + total);</a:t>
            </a:r>
          </a:p>
          <a:p>
            <a:pPr marL="0" indent="0">
              <a:buNone/>
            </a:pPr>
            <a:r>
              <a:rPr lang="en-US" dirty="0"/>
              <a:t>      </a:t>
            </a:r>
          </a:p>
          <a:p>
            <a:pPr marL="0" indent="0">
              <a:buNone/>
            </a:pPr>
            <a:r>
              <a:rPr lang="en-US" dirty="0"/>
              <a:t>     double max = </a:t>
            </a:r>
            <a:r>
              <a:rPr lang="en-US" dirty="0" err="1"/>
              <a:t>myList</a:t>
            </a:r>
            <a:r>
              <a:rPr lang="en-US" dirty="0"/>
              <a:t>[0];</a:t>
            </a:r>
          </a:p>
          <a:p>
            <a:pPr marL="0" indent="0">
              <a:buNone/>
            </a:pPr>
            <a:r>
              <a:rPr lang="en-US" dirty="0"/>
              <a:t>      for (int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myList.length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 if (</a:t>
            </a:r>
            <a:r>
              <a:rPr lang="en-US" dirty="0" err="1"/>
              <a:t>myList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&gt; max) </a:t>
            </a:r>
          </a:p>
          <a:p>
            <a:pPr marL="0" indent="0">
              <a:buNone/>
            </a:pPr>
            <a:r>
              <a:rPr lang="en-US" dirty="0"/>
              <a:t>         max = </a:t>
            </a:r>
            <a:r>
              <a:rPr lang="en-US" dirty="0" err="1"/>
              <a:t>myList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System.out.println</a:t>
            </a:r>
            <a:r>
              <a:rPr lang="en-US" dirty="0"/>
              <a:t>("Max is " + max);  </a:t>
            </a:r>
          </a:p>
          <a:p>
            <a:pPr marL="0" indent="0">
              <a:buNone/>
            </a:pPr>
            <a:r>
              <a:rPr lang="en-US" dirty="0"/>
              <a:t>   }}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34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Output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1.9</a:t>
            </a:r>
          </a:p>
          <a:p>
            <a:pPr marL="0" indent="0">
              <a:buNone/>
            </a:pPr>
            <a:r>
              <a:rPr lang="en-US" dirty="0"/>
              <a:t>2.9</a:t>
            </a:r>
          </a:p>
          <a:p>
            <a:pPr marL="0" indent="0">
              <a:buNone/>
            </a:pPr>
            <a:r>
              <a:rPr lang="en-US" dirty="0"/>
              <a:t>3.4</a:t>
            </a:r>
          </a:p>
          <a:p>
            <a:pPr marL="0" indent="0">
              <a:buNone/>
            </a:pPr>
            <a:r>
              <a:rPr lang="en-US" dirty="0"/>
              <a:t>3.5</a:t>
            </a:r>
          </a:p>
          <a:p>
            <a:pPr marL="0" indent="0">
              <a:buNone/>
            </a:pPr>
            <a:r>
              <a:rPr lang="en-US" dirty="0"/>
              <a:t>Total is 11.7</a:t>
            </a:r>
          </a:p>
          <a:p>
            <a:pPr marL="0" indent="0">
              <a:buNone/>
            </a:pPr>
            <a:r>
              <a:rPr lang="en-US" dirty="0"/>
              <a:t>Max is 3.5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362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Types of Array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Single Dimensional Array in java</a:t>
            </a:r>
          </a:p>
          <a:p>
            <a:endParaRPr lang="en-US" u="sng" dirty="0"/>
          </a:p>
          <a:p>
            <a:r>
              <a:rPr lang="en-US" b="1" dirty="0"/>
              <a:t>Syntax to Declare an Array in java</a:t>
            </a:r>
          </a:p>
          <a:p>
            <a:r>
              <a:rPr lang="en-US" dirty="0" err="1"/>
              <a:t>dataType</a:t>
            </a:r>
            <a:r>
              <a:rPr lang="en-US" dirty="0"/>
              <a:t>[] </a:t>
            </a:r>
            <a:r>
              <a:rPr lang="en-US" dirty="0" err="1"/>
              <a:t>arr</a:t>
            </a:r>
            <a:r>
              <a:rPr lang="en-US" dirty="0"/>
              <a:t>; (or)  </a:t>
            </a:r>
          </a:p>
          <a:p>
            <a:r>
              <a:rPr lang="en-US" dirty="0" err="1"/>
              <a:t>dataType</a:t>
            </a:r>
            <a:r>
              <a:rPr lang="en-US" dirty="0"/>
              <a:t> []</a:t>
            </a:r>
            <a:r>
              <a:rPr lang="en-US" dirty="0" err="1"/>
              <a:t>arr</a:t>
            </a:r>
            <a:r>
              <a:rPr lang="en-US" dirty="0"/>
              <a:t>; (or)  </a:t>
            </a:r>
          </a:p>
          <a:p>
            <a:r>
              <a:rPr lang="en-US" dirty="0" err="1"/>
              <a:t>dataType</a:t>
            </a:r>
            <a:r>
              <a:rPr lang="en-US" dirty="0"/>
              <a:t> </a:t>
            </a:r>
            <a:r>
              <a:rPr lang="en-US" dirty="0" err="1"/>
              <a:t>arr</a:t>
            </a:r>
            <a:r>
              <a:rPr lang="en-US" dirty="0"/>
              <a:t>[];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155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Instantiation of an Array in java</a:t>
            </a:r>
            <a:endParaRPr lang="en-US" b="1" dirty="0"/>
          </a:p>
          <a:p>
            <a:endParaRPr lang="en-US" dirty="0"/>
          </a:p>
          <a:p>
            <a:r>
              <a:rPr lang="en-US" dirty="0" err="1"/>
              <a:t>arrayRefVar</a:t>
            </a:r>
            <a:r>
              <a:rPr lang="en-US" dirty="0"/>
              <a:t>=</a:t>
            </a:r>
            <a:r>
              <a:rPr lang="en-US" b="1" dirty="0"/>
              <a:t>new</a:t>
            </a:r>
            <a:r>
              <a:rPr lang="en-US" dirty="0"/>
              <a:t> datatype[size]; 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85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458200" cy="6553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 </a:t>
            </a:r>
            <a:r>
              <a:rPr lang="en-US" dirty="0" err="1"/>
              <a:t>Testarray</a:t>
            </a: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public static void main(String </a:t>
            </a:r>
            <a:r>
              <a:rPr lang="en-US" dirty="0" err="1"/>
              <a:t>args</a:t>
            </a:r>
            <a:r>
              <a:rPr lang="en-US" dirty="0"/>
              <a:t>[])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int a[]=new int[5];//declaration and instantiation  </a:t>
            </a:r>
          </a:p>
          <a:p>
            <a:pPr marL="0" indent="0">
              <a:buNone/>
            </a:pPr>
            <a:r>
              <a:rPr lang="en-US" dirty="0"/>
              <a:t>a[0]=10;//initialization  </a:t>
            </a:r>
          </a:p>
          <a:p>
            <a:pPr marL="0" indent="0">
              <a:buNone/>
            </a:pPr>
            <a:r>
              <a:rPr lang="en-US" dirty="0"/>
              <a:t>a[1]=20;  </a:t>
            </a:r>
          </a:p>
          <a:p>
            <a:pPr marL="0" indent="0">
              <a:buNone/>
            </a:pPr>
            <a:r>
              <a:rPr lang="en-US" dirty="0"/>
              <a:t>a[2]=70;  </a:t>
            </a:r>
          </a:p>
          <a:p>
            <a:pPr marL="0" indent="0">
              <a:buNone/>
            </a:pPr>
            <a:r>
              <a:rPr lang="en-US" dirty="0"/>
              <a:t>a[3]=40;  </a:t>
            </a:r>
          </a:p>
          <a:p>
            <a:pPr marL="0" indent="0">
              <a:buNone/>
            </a:pPr>
            <a:r>
              <a:rPr lang="en-US" dirty="0"/>
              <a:t>a[4]=50;  </a:t>
            </a:r>
          </a:p>
          <a:p>
            <a:pPr marL="0" indent="0">
              <a:buNone/>
            </a:pPr>
            <a:r>
              <a:rPr lang="en-US" dirty="0"/>
              <a:t> for(int 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a.length;i</a:t>
            </a:r>
            <a:r>
              <a:rPr lang="en-US" dirty="0"/>
              <a:t>++) 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(a[</a:t>
            </a:r>
            <a:r>
              <a:rPr lang="en-US" dirty="0" err="1"/>
              <a:t>i</a:t>
            </a:r>
            <a:r>
              <a:rPr lang="en-US" dirty="0"/>
              <a:t>]);  </a:t>
            </a:r>
          </a:p>
          <a:p>
            <a:pPr marL="0" indent="0">
              <a:buNone/>
            </a:pPr>
            <a:r>
              <a:rPr lang="en-US" dirty="0"/>
              <a:t>}} 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dirty="0"/>
              <a:t>Output: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10</a:t>
            </a:r>
          </a:p>
          <a:p>
            <a:pPr marL="0" indent="0">
              <a:buNone/>
            </a:pPr>
            <a:r>
              <a:rPr lang="en-US" dirty="0"/>
              <a:t>       20</a:t>
            </a:r>
          </a:p>
          <a:p>
            <a:pPr marL="0" indent="0">
              <a:buNone/>
            </a:pPr>
            <a:r>
              <a:rPr lang="en-US" dirty="0"/>
              <a:t>       70</a:t>
            </a:r>
          </a:p>
          <a:p>
            <a:pPr marL="0" indent="0">
              <a:buNone/>
            </a:pPr>
            <a:r>
              <a:rPr lang="en-US" dirty="0"/>
              <a:t>       40</a:t>
            </a:r>
          </a:p>
          <a:p>
            <a:pPr marL="0" indent="0">
              <a:buNone/>
            </a:pPr>
            <a:r>
              <a:rPr lang="en-US" dirty="0"/>
              <a:t>       50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503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Autofit/>
          </a:bodyPr>
          <a:lstStyle/>
          <a:p>
            <a:r>
              <a:rPr lang="en-US" sz="2400" b="1" u="sng" dirty="0"/>
              <a:t>Passing Array to method in java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791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class</a:t>
            </a:r>
            <a:r>
              <a:rPr lang="en-US" dirty="0"/>
              <a:t> Testarray2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minimum(</a:t>
            </a:r>
            <a:r>
              <a:rPr lang="en-US" b="1" dirty="0" err="1"/>
              <a:t>int</a:t>
            </a:r>
            <a:r>
              <a:rPr lang="en-US" dirty="0"/>
              <a:t> </a:t>
            </a:r>
            <a:r>
              <a:rPr lang="en-US" dirty="0" err="1"/>
              <a:t>arr</a:t>
            </a:r>
            <a:r>
              <a:rPr lang="en-US" dirty="0"/>
              <a:t>[])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b="1" dirty="0"/>
              <a:t>int</a:t>
            </a:r>
            <a:r>
              <a:rPr lang="en-US" dirty="0"/>
              <a:t> min=</a:t>
            </a:r>
            <a:r>
              <a:rPr lang="en-US" dirty="0" err="1"/>
              <a:t>arr</a:t>
            </a:r>
            <a:r>
              <a:rPr lang="en-US" dirty="0"/>
              <a:t>[0];  </a:t>
            </a:r>
          </a:p>
          <a:p>
            <a:pPr marL="0" indent="0">
              <a:buNone/>
            </a:pPr>
            <a:r>
              <a:rPr lang="en-US" b="1" dirty="0"/>
              <a:t>for</a:t>
            </a:r>
            <a:r>
              <a:rPr lang="en-US" dirty="0"/>
              <a:t>(</a:t>
            </a:r>
            <a:r>
              <a:rPr lang="en-US" b="1" dirty="0"/>
              <a:t>int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=1;i&lt;</a:t>
            </a:r>
            <a:r>
              <a:rPr lang="en-US" dirty="0" err="1"/>
              <a:t>arr.length;i</a:t>
            </a:r>
            <a:r>
              <a:rPr lang="en-US" dirty="0"/>
              <a:t>++)  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if</a:t>
            </a:r>
            <a:r>
              <a:rPr lang="en-US" dirty="0"/>
              <a:t>(min&gt;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  </a:t>
            </a:r>
          </a:p>
          <a:p>
            <a:pPr marL="0" indent="0">
              <a:buNone/>
            </a:pPr>
            <a:r>
              <a:rPr lang="en-US" dirty="0"/>
              <a:t>  min=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dirty="0" err="1"/>
              <a:t>System.out.println</a:t>
            </a:r>
            <a:r>
              <a:rPr lang="en-US" dirty="0"/>
              <a:t>(min);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int</a:t>
            </a:r>
            <a:r>
              <a:rPr lang="en-US" dirty="0"/>
              <a:t> </a:t>
            </a:r>
            <a:r>
              <a:rPr lang="en-US" dirty="0" err="1"/>
              <a:t>arr</a:t>
            </a:r>
            <a:r>
              <a:rPr lang="en-US" dirty="0"/>
              <a:t>[]={33,3,4,5};  </a:t>
            </a:r>
          </a:p>
          <a:p>
            <a:pPr marL="0" indent="0">
              <a:buNone/>
            </a:pPr>
            <a:r>
              <a:rPr lang="en-US" dirty="0"/>
              <a:t>minimum(</a:t>
            </a:r>
            <a:r>
              <a:rPr lang="en-US" dirty="0" err="1"/>
              <a:t>arr</a:t>
            </a:r>
            <a:r>
              <a:rPr lang="en-US" dirty="0"/>
              <a:t>);//passing array to method  </a:t>
            </a:r>
          </a:p>
          <a:p>
            <a:pPr marL="0" indent="0">
              <a:buNone/>
            </a:pPr>
            <a:r>
              <a:rPr lang="en-US" dirty="0"/>
              <a:t>  }} 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>
                <a:effectLst/>
              </a:rPr>
              <a:t> </a:t>
            </a:r>
            <a:r>
              <a:rPr lang="en-US" dirty="0"/>
              <a:t>Output: 3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47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Multidimensional array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dataType</a:t>
            </a:r>
            <a:r>
              <a:rPr lang="en-US" dirty="0"/>
              <a:t>[][] </a:t>
            </a:r>
            <a:r>
              <a:rPr lang="en-US" dirty="0" err="1"/>
              <a:t>arrayRefVar</a:t>
            </a:r>
            <a:r>
              <a:rPr lang="en-US" dirty="0"/>
              <a:t>; (or)  </a:t>
            </a:r>
          </a:p>
          <a:p>
            <a:r>
              <a:rPr lang="en-US" dirty="0" err="1"/>
              <a:t>dataType</a:t>
            </a:r>
            <a:r>
              <a:rPr lang="en-US" dirty="0"/>
              <a:t> [][]</a:t>
            </a:r>
            <a:r>
              <a:rPr lang="en-US" dirty="0" err="1"/>
              <a:t>arrayRefVar</a:t>
            </a:r>
            <a:r>
              <a:rPr lang="en-US" dirty="0"/>
              <a:t>; (or)  </a:t>
            </a:r>
          </a:p>
          <a:p>
            <a:r>
              <a:rPr lang="en-US" dirty="0" err="1"/>
              <a:t>dataType</a:t>
            </a:r>
            <a:r>
              <a:rPr lang="en-US" dirty="0"/>
              <a:t> </a:t>
            </a:r>
            <a:r>
              <a:rPr lang="en-US" dirty="0" err="1"/>
              <a:t>arrayRefVar</a:t>
            </a:r>
            <a:r>
              <a:rPr lang="en-US" dirty="0"/>
              <a:t>[][]; (or)  </a:t>
            </a:r>
          </a:p>
          <a:p>
            <a:r>
              <a:rPr lang="en-US" dirty="0" err="1"/>
              <a:t>dataType</a:t>
            </a:r>
            <a:r>
              <a:rPr lang="en-US" dirty="0"/>
              <a:t> []</a:t>
            </a:r>
            <a:r>
              <a:rPr lang="en-US" dirty="0" err="1"/>
              <a:t>arrayRefVar</a:t>
            </a:r>
            <a:r>
              <a:rPr lang="en-US" dirty="0"/>
              <a:t>[]; 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39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15745" cy="462049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int</a:t>
            </a:r>
            <a:r>
              <a:rPr lang="en-US" dirty="0"/>
              <a:t>[][] </a:t>
            </a:r>
            <a:r>
              <a:rPr lang="en-US" dirty="0" err="1"/>
              <a:t>arr</a:t>
            </a:r>
            <a:r>
              <a:rPr lang="en-US" dirty="0"/>
              <a:t>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b="1" dirty="0"/>
              <a:t>int</a:t>
            </a:r>
            <a:r>
              <a:rPr lang="en-US" dirty="0"/>
              <a:t>[3][3];//3 row and 3 column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to initialize Multidimensional Array in java</a:t>
            </a:r>
            <a:endParaRPr lang="en-US" b="1" dirty="0"/>
          </a:p>
          <a:p>
            <a:r>
              <a:rPr lang="en-US" dirty="0" err="1"/>
              <a:t>arr</a:t>
            </a:r>
            <a:r>
              <a:rPr lang="en-US" dirty="0"/>
              <a:t>[0][0]=1;  </a:t>
            </a:r>
          </a:p>
          <a:p>
            <a:r>
              <a:rPr lang="en-US" dirty="0" err="1"/>
              <a:t>arr</a:t>
            </a:r>
            <a:r>
              <a:rPr lang="en-US" dirty="0"/>
              <a:t>[0][1]=2;  </a:t>
            </a:r>
          </a:p>
          <a:p>
            <a:r>
              <a:rPr lang="en-US" dirty="0" err="1"/>
              <a:t>arr</a:t>
            </a:r>
            <a:r>
              <a:rPr lang="en-US" dirty="0"/>
              <a:t>[0][2]=3;  </a:t>
            </a:r>
          </a:p>
          <a:p>
            <a:r>
              <a:rPr lang="en-US" dirty="0" err="1"/>
              <a:t>arr</a:t>
            </a:r>
            <a:r>
              <a:rPr lang="en-US" dirty="0"/>
              <a:t>[1][0]=4;  </a:t>
            </a:r>
          </a:p>
          <a:p>
            <a:r>
              <a:rPr lang="en-US" dirty="0" err="1"/>
              <a:t>arr</a:t>
            </a:r>
            <a:r>
              <a:rPr lang="en-US" dirty="0"/>
              <a:t>[1][1]=5;  </a:t>
            </a:r>
          </a:p>
          <a:p>
            <a:r>
              <a:rPr lang="en-US" dirty="0" err="1"/>
              <a:t>arr</a:t>
            </a:r>
            <a:r>
              <a:rPr lang="en-US" dirty="0"/>
              <a:t>[1][2]=6;  </a:t>
            </a:r>
          </a:p>
          <a:p>
            <a:r>
              <a:rPr lang="en-US" dirty="0" err="1"/>
              <a:t>arr</a:t>
            </a:r>
            <a:r>
              <a:rPr lang="en-US" dirty="0"/>
              <a:t>[2][0]=7;  </a:t>
            </a:r>
          </a:p>
          <a:p>
            <a:r>
              <a:rPr lang="en-US" dirty="0" err="1"/>
              <a:t>arr</a:t>
            </a:r>
            <a:r>
              <a:rPr lang="en-US" dirty="0"/>
              <a:t>[2][1]=8;  </a:t>
            </a:r>
          </a:p>
          <a:p>
            <a:r>
              <a:rPr lang="en-US" dirty="0" err="1"/>
              <a:t>arr</a:t>
            </a:r>
            <a:r>
              <a:rPr lang="en-US" dirty="0"/>
              <a:t>[2][2]=9;    </a:t>
            </a:r>
          </a:p>
        </p:txBody>
      </p:sp>
    </p:spTree>
    <p:extLst>
      <p:ext uri="{BB962C8B-B14F-4D97-AF65-F5344CB8AC3E}">
        <p14:creationId xmlns:p14="http://schemas.microsoft.com/office/powerpoint/2010/main" val="3969545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534400" cy="6477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 Testarray3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public static void main(String </a:t>
            </a:r>
            <a:r>
              <a:rPr lang="en-US" dirty="0" err="1"/>
              <a:t>args</a:t>
            </a:r>
            <a:r>
              <a:rPr lang="en-US" dirty="0"/>
              <a:t>[])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int </a:t>
            </a:r>
            <a:r>
              <a:rPr lang="en-US" dirty="0" err="1"/>
              <a:t>arr</a:t>
            </a:r>
            <a:r>
              <a:rPr lang="en-US" dirty="0"/>
              <a:t>[][]={{1,2,3},{2,4,5},{4,4,5}};  </a:t>
            </a:r>
          </a:p>
          <a:p>
            <a:pPr marL="0" indent="0">
              <a:buNone/>
            </a:pPr>
            <a:r>
              <a:rPr lang="en-US" dirty="0"/>
              <a:t>for(int </a:t>
            </a:r>
            <a:r>
              <a:rPr lang="en-US" dirty="0" err="1"/>
              <a:t>i</a:t>
            </a:r>
            <a:r>
              <a:rPr lang="en-US" dirty="0"/>
              <a:t>=0;i&lt;3;i++)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 for(int j=0;j&lt;3;j++)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   </a:t>
            </a:r>
            <a:r>
              <a:rPr lang="en-US" dirty="0" err="1"/>
              <a:t>System.out.print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][j]+" ");  </a:t>
            </a:r>
          </a:p>
          <a:p>
            <a:pPr marL="0" indent="0">
              <a:buNone/>
            </a:pPr>
            <a:r>
              <a:rPr lang="en-US" dirty="0"/>
              <a:t> }  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System.out.println</a:t>
            </a:r>
            <a:r>
              <a:rPr lang="en-US" dirty="0"/>
              <a:t>();  </a:t>
            </a:r>
          </a:p>
          <a:p>
            <a:pPr marL="0" indent="0">
              <a:buNone/>
            </a:pPr>
            <a:r>
              <a:rPr lang="en-US" dirty="0"/>
              <a:t>} }} 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>
                <a:effectLst/>
              </a:rPr>
              <a:t> </a:t>
            </a: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       1 2 3</a:t>
            </a:r>
          </a:p>
          <a:p>
            <a:pPr marL="0" indent="0">
              <a:buNone/>
            </a:pPr>
            <a:r>
              <a:rPr lang="en-US" dirty="0"/>
              <a:t>       2 4 5</a:t>
            </a:r>
          </a:p>
          <a:p>
            <a:pPr marL="0" indent="0">
              <a:buNone/>
            </a:pPr>
            <a:r>
              <a:rPr lang="en-US" dirty="0"/>
              <a:t>       4 4 5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819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Copying a java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class</a:t>
            </a:r>
            <a:r>
              <a:rPr lang="en-US" dirty="0"/>
              <a:t> </a:t>
            </a:r>
            <a:r>
              <a:rPr lang="en-US" dirty="0" err="1"/>
              <a:t>TestArrayCopyDemo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main(String[] 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{  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b="1" dirty="0"/>
              <a:t>char</a:t>
            </a:r>
            <a:r>
              <a:rPr lang="en-US" dirty="0"/>
              <a:t>[] </a:t>
            </a:r>
            <a:r>
              <a:rPr lang="en-US" dirty="0" err="1"/>
              <a:t>copyFrom</a:t>
            </a:r>
            <a:r>
              <a:rPr lang="en-US" dirty="0"/>
              <a:t> = { 'd', 'e', 'c', 'a', 'f', 'f', 'e', '</a:t>
            </a:r>
            <a:r>
              <a:rPr lang="en-US" dirty="0" err="1"/>
              <a:t>i</a:t>
            </a:r>
            <a:r>
              <a:rPr lang="en-US" dirty="0"/>
              <a:t>', 'n', 'a', 't', 'e', 'd' };  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b="1" dirty="0"/>
              <a:t>char</a:t>
            </a:r>
            <a:r>
              <a:rPr lang="en-US" dirty="0"/>
              <a:t>[] </a:t>
            </a:r>
            <a:r>
              <a:rPr lang="en-US" dirty="0" err="1"/>
              <a:t>copyTo</a:t>
            </a:r>
            <a:r>
              <a:rPr lang="en-US" dirty="0"/>
              <a:t> = 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b="1" dirty="0"/>
              <a:t>char</a:t>
            </a:r>
            <a:r>
              <a:rPr lang="en-US" dirty="0"/>
              <a:t>[7];  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System.arraycopy</a:t>
            </a:r>
            <a:r>
              <a:rPr lang="en-US" dirty="0"/>
              <a:t>(</a:t>
            </a:r>
            <a:r>
              <a:rPr lang="en-US" dirty="0" err="1"/>
              <a:t>copyFrom</a:t>
            </a:r>
            <a:r>
              <a:rPr lang="en-US" dirty="0"/>
              <a:t>, 2, </a:t>
            </a:r>
            <a:r>
              <a:rPr lang="en-US" dirty="0" err="1"/>
              <a:t>copyTo</a:t>
            </a:r>
            <a:r>
              <a:rPr lang="en-US" dirty="0"/>
              <a:t>, 0, 7);  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b="1" dirty="0"/>
              <a:t>new</a:t>
            </a:r>
            <a:r>
              <a:rPr lang="en-US" dirty="0"/>
              <a:t> String(</a:t>
            </a:r>
            <a:r>
              <a:rPr lang="en-US" dirty="0" err="1"/>
              <a:t>copyTo</a:t>
            </a:r>
            <a:r>
              <a:rPr lang="en-US" dirty="0"/>
              <a:t>));  </a:t>
            </a:r>
          </a:p>
          <a:p>
            <a:pPr marL="0" indent="0">
              <a:buNone/>
            </a:pPr>
            <a:r>
              <a:rPr lang="en-US" dirty="0"/>
              <a:t>    }  </a:t>
            </a:r>
          </a:p>
          <a:p>
            <a:pPr marL="0" indent="0">
              <a:buNone/>
            </a:pPr>
            <a:r>
              <a:rPr lang="en-US" dirty="0"/>
              <a:t>}  	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Output: </a:t>
            </a:r>
            <a:r>
              <a:rPr lang="en-US" dirty="0" err="1"/>
              <a:t>caffein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873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</a:t>
            </a:r>
            <a:r>
              <a:rPr lang="en-US" dirty="0" err="1"/>
              <a:t>Enum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1" dirty="0" err="1"/>
              <a:t>Enum</a:t>
            </a:r>
            <a:r>
              <a:rPr lang="en-US" b="1" dirty="0"/>
              <a:t> in java</a:t>
            </a:r>
            <a:r>
              <a:rPr lang="en-US" dirty="0"/>
              <a:t> is a data type that contains fixed set of constants.</a:t>
            </a:r>
          </a:p>
          <a:p>
            <a:pPr algn="just"/>
            <a:r>
              <a:rPr lang="en-US" dirty="0"/>
              <a:t>It can be used for days of the week (SUNDAY, MONDAY, TUESDAY, WEDNESDAY, THURSDAY, FRIDAY and SATURDAY) , directions (NORTH, SOUTH, EAST and WEST) etc. The java </a:t>
            </a:r>
            <a:r>
              <a:rPr lang="en-US" dirty="0" err="1"/>
              <a:t>enum</a:t>
            </a:r>
            <a:r>
              <a:rPr lang="en-US" dirty="0"/>
              <a:t> constants are static and final implicitly. It is available from JDK 1.5.</a:t>
            </a:r>
          </a:p>
          <a:p>
            <a:pPr algn="just"/>
            <a:r>
              <a:rPr lang="en-US" dirty="0"/>
              <a:t>Java </a:t>
            </a:r>
            <a:r>
              <a:rPr lang="en-US" dirty="0" err="1"/>
              <a:t>Enums</a:t>
            </a:r>
            <a:r>
              <a:rPr lang="en-US" dirty="0"/>
              <a:t> can be thought of as classes that have fixed set of constants.</a:t>
            </a:r>
          </a:p>
          <a:p>
            <a:pPr marL="0" indent="0" algn="just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395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Points to remember for Java </a:t>
            </a:r>
            <a:r>
              <a:rPr lang="en-US" dirty="0" err="1"/>
              <a:t>Enum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enum</a:t>
            </a:r>
            <a:r>
              <a:rPr lang="en-US" dirty="0"/>
              <a:t> improves type safety</a:t>
            </a:r>
          </a:p>
          <a:p>
            <a:r>
              <a:rPr lang="en-US" dirty="0" err="1"/>
              <a:t>enum</a:t>
            </a:r>
            <a:r>
              <a:rPr lang="en-US" dirty="0"/>
              <a:t> can be easily used in switch</a:t>
            </a:r>
          </a:p>
          <a:p>
            <a:r>
              <a:rPr lang="en-US" dirty="0" err="1"/>
              <a:t>enum</a:t>
            </a:r>
            <a:r>
              <a:rPr lang="en-US" dirty="0"/>
              <a:t> can be traversed</a:t>
            </a:r>
          </a:p>
          <a:p>
            <a:r>
              <a:rPr lang="en-US" dirty="0" err="1"/>
              <a:t>enum</a:t>
            </a:r>
            <a:r>
              <a:rPr lang="en-US" dirty="0"/>
              <a:t> can have fields, constructors and methods</a:t>
            </a:r>
          </a:p>
          <a:p>
            <a:r>
              <a:rPr lang="en-US" dirty="0" err="1"/>
              <a:t>enum</a:t>
            </a:r>
            <a:r>
              <a:rPr lang="en-US" dirty="0"/>
              <a:t> may implement many interfaces but cannot extend any class because it internally extends </a:t>
            </a:r>
            <a:r>
              <a:rPr lang="en-US" dirty="0" err="1"/>
              <a:t>Enum</a:t>
            </a:r>
            <a:r>
              <a:rPr lang="en-US" dirty="0"/>
              <a:t>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325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class</a:t>
            </a:r>
            <a:r>
              <a:rPr lang="en-US" sz="2400" dirty="0"/>
              <a:t> EnumExample1</a:t>
            </a:r>
          </a:p>
          <a:p>
            <a:pPr marL="0" indent="0">
              <a:buNone/>
            </a:pPr>
            <a:r>
              <a:rPr lang="en-US" sz="2400" dirty="0"/>
              <a:t>{  </a:t>
            </a:r>
          </a:p>
          <a:p>
            <a:pPr marL="0" indent="0">
              <a:buNone/>
            </a:pPr>
            <a:r>
              <a:rPr lang="en-US" sz="2400" b="1" dirty="0"/>
              <a:t>public</a:t>
            </a:r>
            <a:r>
              <a:rPr lang="en-US" sz="2400" dirty="0"/>
              <a:t> </a:t>
            </a:r>
            <a:r>
              <a:rPr lang="en-US" sz="2400" b="1" dirty="0" err="1"/>
              <a:t>enum</a:t>
            </a:r>
            <a:r>
              <a:rPr lang="en-US" sz="2400" dirty="0"/>
              <a:t> Season { WINTER, SPRING, SUMMER, FALL }  </a:t>
            </a:r>
          </a:p>
          <a:p>
            <a:pPr marL="0" indent="0">
              <a:buNone/>
            </a:pPr>
            <a:r>
              <a:rPr lang="en-US" sz="2400" b="1" dirty="0"/>
              <a:t>public</a:t>
            </a:r>
            <a:r>
              <a:rPr lang="en-US" sz="2400" dirty="0"/>
              <a:t> </a:t>
            </a:r>
            <a:r>
              <a:rPr lang="en-US" sz="2400" b="1" dirty="0"/>
              <a:t>static</a:t>
            </a:r>
            <a:r>
              <a:rPr lang="en-US" sz="2400" dirty="0"/>
              <a:t> </a:t>
            </a:r>
            <a:r>
              <a:rPr lang="en-US" sz="2400" b="1" dirty="0"/>
              <a:t>void</a:t>
            </a:r>
            <a:r>
              <a:rPr lang="en-US" sz="2400" dirty="0"/>
              <a:t> main(String[] </a:t>
            </a:r>
            <a:r>
              <a:rPr lang="en-US" sz="2400" dirty="0" err="1"/>
              <a:t>args</a:t>
            </a:r>
            <a:r>
              <a:rPr lang="en-US" sz="2400" dirty="0"/>
              <a:t>) </a:t>
            </a:r>
          </a:p>
          <a:p>
            <a:pPr marL="0" indent="0">
              <a:buNone/>
            </a:pPr>
            <a:r>
              <a:rPr lang="en-US" sz="2400" dirty="0"/>
              <a:t>{  </a:t>
            </a:r>
          </a:p>
          <a:p>
            <a:pPr marL="0" indent="0">
              <a:buNone/>
            </a:pPr>
            <a:r>
              <a:rPr lang="en-US" sz="2400" b="1" dirty="0"/>
              <a:t>for</a:t>
            </a:r>
            <a:r>
              <a:rPr lang="en-US" sz="2400" dirty="0"/>
              <a:t> (Season s : </a:t>
            </a:r>
            <a:r>
              <a:rPr lang="en-US" sz="2400" dirty="0" err="1"/>
              <a:t>Season.values</a:t>
            </a:r>
            <a:r>
              <a:rPr lang="en-US" sz="2400" dirty="0"/>
              <a:t>())  </a:t>
            </a:r>
          </a:p>
          <a:p>
            <a:pPr marL="0" indent="0">
              <a:buNone/>
            </a:pPr>
            <a:r>
              <a:rPr lang="en-US" sz="2400" dirty="0" err="1"/>
              <a:t>System.out.println</a:t>
            </a:r>
            <a:r>
              <a:rPr lang="en-US" sz="2400" dirty="0"/>
              <a:t>(s);  </a:t>
            </a:r>
          </a:p>
          <a:p>
            <a:pPr marL="0" indent="0">
              <a:buNone/>
            </a:pPr>
            <a:r>
              <a:rPr lang="en-US" sz="2400" dirty="0"/>
              <a:t>}}  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Output:</a:t>
            </a:r>
          </a:p>
          <a:p>
            <a:pPr marL="0" indent="0">
              <a:buNone/>
            </a:pPr>
            <a:r>
              <a:rPr lang="en-US" sz="2400" dirty="0"/>
              <a:t>WINTER </a:t>
            </a:r>
          </a:p>
          <a:p>
            <a:pPr marL="0" indent="0">
              <a:buNone/>
            </a:pPr>
            <a:r>
              <a:rPr lang="en-US" sz="2400" dirty="0"/>
              <a:t>SPRING </a:t>
            </a:r>
          </a:p>
          <a:p>
            <a:pPr marL="0" indent="0">
              <a:buNone/>
            </a:pPr>
            <a:r>
              <a:rPr lang="en-US" sz="2400" dirty="0"/>
              <a:t>SUMMER </a:t>
            </a:r>
          </a:p>
          <a:p>
            <a:pPr marL="0" indent="0">
              <a:buNone/>
            </a:pPr>
            <a:r>
              <a:rPr lang="en-US" sz="2400" dirty="0"/>
              <a:t>FALL</a:t>
            </a:r>
          </a:p>
        </p:txBody>
      </p:sp>
    </p:spTree>
    <p:extLst>
      <p:ext uri="{BB962C8B-B14F-4D97-AF65-F5344CB8AC3E}">
        <p14:creationId xmlns:p14="http://schemas.microsoft.com/office/powerpoint/2010/main" val="1790532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600" b="1" u="sng" dirty="0"/>
              <a:t>Introduction to Vectors</a:t>
            </a:r>
            <a:br>
              <a:rPr lang="en-US" sz="32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Vector implements a </a:t>
            </a:r>
            <a:r>
              <a:rPr lang="en-US" b="1" dirty="0"/>
              <a:t>dynamic array</a:t>
            </a:r>
            <a:r>
              <a:rPr lang="en-US" dirty="0"/>
              <a:t>. </a:t>
            </a:r>
          </a:p>
          <a:p>
            <a:pPr lvl="0" algn="just"/>
            <a:r>
              <a:rPr lang="en-US" dirty="0"/>
              <a:t>Vector is synchronized.</a:t>
            </a:r>
          </a:p>
          <a:p>
            <a:pPr lvl="0" algn="just"/>
            <a:r>
              <a:rPr lang="en-US" dirty="0"/>
              <a:t>Vector contains many legacy methods that are not part of the collections framework.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692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Difference between </a:t>
            </a:r>
            <a:r>
              <a:rPr lang="en-US" u="sng" dirty="0" err="1"/>
              <a:t>ArrayList</a:t>
            </a:r>
            <a:r>
              <a:rPr lang="en-US" u="sng" dirty="0"/>
              <a:t> and Vector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703176"/>
              </p:ext>
            </p:extLst>
          </p:nvPr>
        </p:nvGraphicFramePr>
        <p:xfrm>
          <a:off x="228600" y="1752600"/>
          <a:ext cx="8763000" cy="50647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7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ArrayList</a:t>
                      </a:r>
                      <a:endParaRPr lang="en-US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Vector</a:t>
                      </a:r>
                      <a:endParaRPr lang="en-US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44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1) </a:t>
                      </a:r>
                      <a:r>
                        <a:rPr lang="en-US" sz="2000" dirty="0" err="1">
                          <a:effectLst/>
                        </a:rPr>
                        <a:t>ArrayList</a:t>
                      </a:r>
                      <a:r>
                        <a:rPr lang="en-US" sz="2000" dirty="0">
                          <a:effectLst/>
                        </a:rPr>
                        <a:t> is </a:t>
                      </a:r>
                      <a:r>
                        <a:rPr lang="en-US" sz="2000" b="1" dirty="0">
                          <a:effectLst/>
                        </a:rPr>
                        <a:t>not synchronized</a:t>
                      </a:r>
                      <a:r>
                        <a:rPr lang="en-US" sz="2000" dirty="0">
                          <a:effectLst/>
                        </a:rPr>
                        <a:t>.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Vector is </a:t>
                      </a:r>
                      <a:r>
                        <a:rPr lang="en-US" sz="2000" b="1" dirty="0">
                          <a:effectLst/>
                        </a:rPr>
                        <a:t>synchronized.</a:t>
                      </a:r>
                      <a:endParaRPr lang="en-US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6311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2) </a:t>
                      </a:r>
                      <a:r>
                        <a:rPr lang="en-US" sz="2000" dirty="0" err="1">
                          <a:effectLst/>
                        </a:rPr>
                        <a:t>ArrayList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en-US" sz="2000" b="1" dirty="0">
                          <a:effectLst/>
                        </a:rPr>
                        <a:t>increments 50% of current array size </a:t>
                      </a:r>
                      <a:r>
                        <a:rPr lang="en-US" sz="2000" dirty="0">
                          <a:effectLst/>
                        </a:rPr>
                        <a:t>if number of element exceeds from its capacity.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Vector</a:t>
                      </a:r>
                      <a:r>
                        <a:rPr lang="en-US" sz="2000" b="1" dirty="0">
                          <a:effectLst/>
                        </a:rPr>
                        <a:t> increments 100% means doubles the array size</a:t>
                      </a:r>
                      <a:r>
                        <a:rPr lang="en-US" sz="2000" dirty="0">
                          <a:effectLst/>
                        </a:rPr>
                        <a:t> if total number of element exceeds than its capacity.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844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3) </a:t>
                      </a:r>
                      <a:r>
                        <a:rPr lang="en-US" sz="2000" dirty="0" err="1">
                          <a:effectLst/>
                        </a:rPr>
                        <a:t>ArrayList</a:t>
                      </a:r>
                      <a:r>
                        <a:rPr lang="en-US" sz="2000" dirty="0">
                          <a:effectLst/>
                        </a:rPr>
                        <a:t> is </a:t>
                      </a:r>
                      <a:r>
                        <a:rPr lang="en-US" sz="2000" b="1" dirty="0">
                          <a:effectLst/>
                        </a:rPr>
                        <a:t>not a legacy class</a:t>
                      </a:r>
                      <a:r>
                        <a:rPr lang="en-US" sz="2000" dirty="0">
                          <a:effectLst/>
                        </a:rPr>
                        <a:t>, it is introduced in JDK 1.2.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Vector is a </a:t>
                      </a:r>
                      <a:r>
                        <a:rPr lang="en-US" sz="2000" b="1" dirty="0">
                          <a:effectLst/>
                        </a:rPr>
                        <a:t>legacy class(includes only classes and interfaces)</a:t>
                      </a:r>
                      <a:r>
                        <a:rPr lang="en-US" sz="2000" dirty="0">
                          <a:effectLst/>
                        </a:rPr>
                        <a:t>.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9779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4) </a:t>
                      </a:r>
                      <a:r>
                        <a:rPr lang="en-US" sz="2000" dirty="0" err="1">
                          <a:effectLst/>
                        </a:rPr>
                        <a:t>ArrayList</a:t>
                      </a:r>
                      <a:r>
                        <a:rPr lang="en-US" sz="2000" dirty="0">
                          <a:effectLst/>
                        </a:rPr>
                        <a:t> is</a:t>
                      </a:r>
                      <a:r>
                        <a:rPr lang="en-US" sz="2000" b="1" dirty="0">
                          <a:effectLst/>
                        </a:rPr>
                        <a:t> fast</a:t>
                      </a:r>
                      <a:r>
                        <a:rPr lang="en-US" sz="2000" dirty="0">
                          <a:effectLst/>
                        </a:rPr>
                        <a:t> because it is non-synchronized.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Vector is</a:t>
                      </a:r>
                      <a:r>
                        <a:rPr lang="en-US" sz="2000" b="1" dirty="0">
                          <a:effectLst/>
                        </a:rPr>
                        <a:t> slow</a:t>
                      </a:r>
                      <a:r>
                        <a:rPr lang="en-US" sz="2000" dirty="0">
                          <a:effectLst/>
                        </a:rPr>
                        <a:t> because it is synchronized.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6311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5) </a:t>
                      </a:r>
                      <a:r>
                        <a:rPr lang="en-US" sz="2000" dirty="0" err="1">
                          <a:effectLst/>
                        </a:rPr>
                        <a:t>ArrayList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b="1" dirty="0">
                          <a:effectLst/>
                        </a:rPr>
                        <a:t>uses Iterator interface </a:t>
                      </a:r>
                      <a:r>
                        <a:rPr lang="en-US" sz="2000" dirty="0">
                          <a:effectLst/>
                        </a:rPr>
                        <a:t>to traverse the elements.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tc>
                  <a:txBody>
                    <a:bodyPr/>
                    <a:lstStyle/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</a:endParaRPr>
                    </a:p>
                    <a:p>
                      <a:pPr marL="190500" marR="0" algn="just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Vector </a:t>
                      </a:r>
                      <a:r>
                        <a:rPr lang="en-US" sz="2000" b="1" dirty="0">
                          <a:effectLst/>
                        </a:rPr>
                        <a:t>uses Enumeration interface </a:t>
                      </a:r>
                      <a:r>
                        <a:rPr lang="en-US" sz="2000" dirty="0">
                          <a:effectLst/>
                        </a:rPr>
                        <a:t>to traverse the elements. But it can use Iterator also.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894" marR="6289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124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Declaration</a:t>
            </a:r>
            <a:endParaRPr lang="en-US" b="1" dirty="0"/>
          </a:p>
          <a:p>
            <a:r>
              <a:rPr lang="en-US" dirty="0"/>
              <a:t>Following is the declaration for </a:t>
            </a:r>
            <a:r>
              <a:rPr lang="en-US" b="1" dirty="0" err="1"/>
              <a:t>java.util.Vector.addElement</a:t>
            </a:r>
            <a:r>
              <a:rPr lang="en-US" b="1" dirty="0"/>
              <a:t>() </a:t>
            </a:r>
            <a:r>
              <a:rPr lang="en-US" dirty="0"/>
              <a:t>method</a:t>
            </a:r>
          </a:p>
          <a:p>
            <a:r>
              <a:rPr lang="en-US" dirty="0"/>
              <a:t>public void </a:t>
            </a:r>
            <a:r>
              <a:rPr lang="en-US" dirty="0" err="1"/>
              <a:t>addElement</a:t>
            </a:r>
            <a:r>
              <a:rPr lang="en-US" dirty="0"/>
              <a:t>(E </a:t>
            </a:r>
            <a:r>
              <a:rPr lang="en-US" dirty="0" err="1"/>
              <a:t>obj</a:t>
            </a:r>
            <a:r>
              <a:rPr lang="en-US" dirty="0"/>
              <a:t>)</a:t>
            </a:r>
          </a:p>
          <a:p>
            <a:r>
              <a:rPr lang="en-US" b="1" u="sng" dirty="0"/>
              <a:t>Parameters</a:t>
            </a:r>
            <a:endParaRPr lang="en-US" b="1" dirty="0"/>
          </a:p>
          <a:p>
            <a:pPr lvl="0"/>
            <a:r>
              <a:rPr lang="en-US" b="1" dirty="0" err="1"/>
              <a:t>obj</a:t>
            </a:r>
            <a:r>
              <a:rPr lang="en-US" dirty="0"/>
              <a:t> -- It refers to the component to be added.</a:t>
            </a:r>
          </a:p>
          <a:p>
            <a:r>
              <a:rPr lang="en-US" b="1" u="sng" dirty="0"/>
              <a:t>Return Value</a:t>
            </a:r>
            <a:endParaRPr lang="en-US" b="1" dirty="0"/>
          </a:p>
          <a:p>
            <a:r>
              <a:rPr lang="en-US" dirty="0"/>
              <a:t>The return type is </a:t>
            </a:r>
            <a:r>
              <a:rPr lang="en-US" b="1" dirty="0"/>
              <a:t>void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823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763000" cy="6400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import</a:t>
            </a:r>
            <a:r>
              <a:rPr lang="en-US" dirty="0"/>
              <a:t> </a:t>
            </a:r>
            <a:r>
              <a:rPr lang="en-US" dirty="0" err="1"/>
              <a:t>java.util</a:t>
            </a:r>
            <a:r>
              <a:rPr lang="en-US" dirty="0"/>
              <a:t>.*;      </a:t>
            </a:r>
          </a:p>
          <a:p>
            <a:pPr marL="0" indent="0">
              <a:buNone/>
            </a:pPr>
            <a:r>
              <a:rPr lang="en-US" b="1" dirty="0"/>
              <a:t>class</a:t>
            </a:r>
            <a:r>
              <a:rPr lang="en-US" dirty="0"/>
              <a:t> TestVector1</a:t>
            </a:r>
          </a:p>
          <a:p>
            <a:pPr marL="0" indent="0">
              <a:buNone/>
            </a:pPr>
            <a:r>
              <a:rPr lang="en-US" dirty="0"/>
              <a:t>{      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</a:t>
            </a:r>
          </a:p>
          <a:p>
            <a:pPr marL="0" indent="0">
              <a:buNone/>
            </a:pPr>
            <a:r>
              <a:rPr lang="en-US" dirty="0"/>
              <a:t>{      </a:t>
            </a:r>
          </a:p>
          <a:p>
            <a:pPr marL="0" indent="0">
              <a:buNone/>
            </a:pPr>
            <a:r>
              <a:rPr lang="en-US" dirty="0"/>
              <a:t>  Vector&lt;String&gt; v=</a:t>
            </a:r>
            <a:r>
              <a:rPr lang="en-US" b="1" dirty="0"/>
              <a:t>new</a:t>
            </a:r>
            <a:r>
              <a:rPr lang="en-US" dirty="0"/>
              <a:t> Vector&lt;String&gt;();   //creating vector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dirty="0" err="1"/>
              <a:t>v.add</a:t>
            </a:r>
            <a:r>
              <a:rPr lang="en-US" dirty="0"/>
              <a:t>("</a:t>
            </a:r>
            <a:r>
              <a:rPr lang="en-US" dirty="0" err="1"/>
              <a:t>umesh</a:t>
            </a:r>
            <a:r>
              <a:rPr lang="en-US" dirty="0"/>
              <a:t>");                                //method of Collection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dirty="0" err="1"/>
              <a:t>v.addElement</a:t>
            </a:r>
            <a:r>
              <a:rPr lang="en-US" dirty="0"/>
              <a:t>("</a:t>
            </a:r>
            <a:r>
              <a:rPr lang="en-US" dirty="0" err="1"/>
              <a:t>irfan</a:t>
            </a:r>
            <a:r>
              <a:rPr lang="en-US" dirty="0"/>
              <a:t>");                      //method of Vector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dirty="0" err="1"/>
              <a:t>v.addElement</a:t>
            </a:r>
            <a:r>
              <a:rPr lang="en-US" dirty="0"/>
              <a:t>("</a:t>
            </a:r>
            <a:r>
              <a:rPr lang="en-US" dirty="0" err="1"/>
              <a:t>kumar</a:t>
            </a:r>
            <a:r>
              <a:rPr lang="en-US" dirty="0"/>
              <a:t>");  </a:t>
            </a:r>
          </a:p>
          <a:p>
            <a:pPr marL="0" indent="0">
              <a:buNone/>
            </a:pPr>
            <a:r>
              <a:rPr lang="en-US" dirty="0"/>
              <a:t>  //traversing elements using Enumeration  </a:t>
            </a:r>
          </a:p>
          <a:p>
            <a:pPr marL="0" indent="0">
              <a:buNone/>
            </a:pPr>
            <a:r>
              <a:rPr lang="en-US" dirty="0"/>
              <a:t>  Enumeration e=</a:t>
            </a:r>
            <a:r>
              <a:rPr lang="en-US" dirty="0" err="1"/>
              <a:t>v.elements</a:t>
            </a:r>
            <a:r>
              <a:rPr lang="en-US" dirty="0"/>
              <a:t>();  </a:t>
            </a:r>
          </a:p>
          <a:p>
            <a:pPr marL="0" indent="0">
              <a:buNone/>
            </a:pPr>
            <a:r>
              <a:rPr lang="en-US" dirty="0"/>
              <a:t>  </a:t>
            </a:r>
            <a:r>
              <a:rPr lang="en-US" b="1" dirty="0"/>
              <a:t>while</a:t>
            </a:r>
            <a:r>
              <a:rPr lang="en-US" dirty="0"/>
              <a:t>(</a:t>
            </a:r>
            <a:r>
              <a:rPr lang="en-US" dirty="0" err="1"/>
              <a:t>e.hasMoreElements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   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e.nextElement</a:t>
            </a:r>
            <a:r>
              <a:rPr lang="en-US" dirty="0"/>
              <a:t>());  </a:t>
            </a:r>
          </a:p>
          <a:p>
            <a:pPr marL="0" indent="0">
              <a:buNone/>
            </a:pPr>
            <a:r>
              <a:rPr lang="en-US" dirty="0"/>
              <a:t>  }  } 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 err="1"/>
              <a:t>umesh</a:t>
            </a:r>
            <a:r>
              <a:rPr lang="en-US" dirty="0"/>
              <a:t> </a:t>
            </a:r>
            <a:r>
              <a:rPr lang="en-US" dirty="0" err="1"/>
              <a:t>irfan</a:t>
            </a:r>
            <a:r>
              <a:rPr lang="en-US" dirty="0"/>
              <a:t> </a:t>
            </a:r>
            <a:r>
              <a:rPr lang="en-US" dirty="0" err="1"/>
              <a:t>kumar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560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java.util.Vector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VectorDemo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public static 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// create an empty Vector </a:t>
            </a:r>
            <a:r>
              <a:rPr lang="en-US" dirty="0" err="1"/>
              <a:t>vec</a:t>
            </a:r>
            <a:r>
              <a:rPr lang="en-US" dirty="0"/>
              <a:t> with an initial capacity of 4      </a:t>
            </a:r>
          </a:p>
          <a:p>
            <a:pPr marL="0" indent="0">
              <a:buNone/>
            </a:pPr>
            <a:r>
              <a:rPr lang="en-US" dirty="0"/>
              <a:t>   Vector </a:t>
            </a:r>
            <a:r>
              <a:rPr lang="en-US" dirty="0" err="1"/>
              <a:t>vec</a:t>
            </a:r>
            <a:r>
              <a:rPr lang="en-US" dirty="0"/>
              <a:t> = new Vector(4);</a:t>
            </a:r>
          </a:p>
          <a:p>
            <a:pPr marL="0" indent="0">
              <a:buNone/>
            </a:pPr>
            <a:r>
              <a:rPr lang="en-US" dirty="0"/>
              <a:t>   // use add() method to add elements in the vector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(4);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/>
              <a:t>   // let us get the 3rd element of the vector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System.out.println</a:t>
            </a:r>
            <a:r>
              <a:rPr lang="en-US" dirty="0"/>
              <a:t>("Third element is :"+</a:t>
            </a:r>
            <a:r>
              <a:rPr lang="en-US" dirty="0" err="1"/>
              <a:t>vec.get</a:t>
            </a:r>
            <a:r>
              <a:rPr lang="en-US" dirty="0"/>
              <a:t>(3));                  </a:t>
            </a:r>
          </a:p>
          <a:p>
            <a:pPr marL="0" indent="0">
              <a:buNone/>
            </a:pPr>
            <a:r>
              <a:rPr lang="en-US" dirty="0"/>
              <a:t>   }}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0" y="214290"/>
            <a:ext cx="50006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Accessing Vector Elements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6471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6172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java.util.Vector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VectorDemo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public static 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// create an empty Vector </a:t>
            </a:r>
            <a:r>
              <a:rPr lang="en-US" dirty="0" err="1"/>
              <a:t>vec</a:t>
            </a:r>
            <a:r>
              <a:rPr lang="en-US" dirty="0"/>
              <a:t> with an initial capacity of 4      </a:t>
            </a:r>
          </a:p>
          <a:p>
            <a:pPr marL="0" indent="0">
              <a:buNone/>
            </a:pPr>
            <a:r>
              <a:rPr lang="en-US" dirty="0"/>
              <a:t>   Vector </a:t>
            </a:r>
            <a:r>
              <a:rPr lang="en-US" dirty="0" err="1"/>
              <a:t>vec</a:t>
            </a:r>
            <a:r>
              <a:rPr lang="en-US" dirty="0"/>
              <a:t> = new Vector(4);</a:t>
            </a:r>
          </a:p>
          <a:p>
            <a:pPr marL="0" indent="0">
              <a:buNone/>
            </a:pPr>
            <a:r>
              <a:rPr lang="en-US" dirty="0"/>
              <a:t>   // use add() method to add elements in the vector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(4);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/>
              <a:t>   // let us get the index of 3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System.out.println</a:t>
            </a:r>
            <a:r>
              <a:rPr lang="en-US" dirty="0"/>
              <a:t>("Index of 3 is :"+</a:t>
            </a:r>
            <a:r>
              <a:rPr lang="en-US" dirty="0" err="1"/>
              <a:t>vec.indexOf</a:t>
            </a:r>
            <a:r>
              <a:rPr lang="en-US" dirty="0"/>
              <a:t>(3));                  </a:t>
            </a:r>
          </a:p>
          <a:p>
            <a:pPr marL="0" indent="0">
              <a:buNone/>
            </a:pPr>
            <a:r>
              <a:rPr lang="en-US" dirty="0"/>
              <a:t>   }  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3470" y="28572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/>
              <a:t>Searching For Elements In A Vector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037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82000" cy="6248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java.util.Vector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VectorDemo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public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// create an empty Vector </a:t>
            </a:r>
            <a:r>
              <a:rPr lang="en-US" dirty="0" err="1"/>
              <a:t>vec</a:t>
            </a:r>
            <a:r>
              <a:rPr lang="en-US" dirty="0"/>
              <a:t> with an initial capacity of 4      </a:t>
            </a:r>
          </a:p>
          <a:p>
            <a:pPr marL="0" indent="0">
              <a:buNone/>
            </a:pPr>
            <a:r>
              <a:rPr lang="en-US" dirty="0"/>
              <a:t>   Vector </a:t>
            </a:r>
            <a:r>
              <a:rPr lang="en-US" dirty="0" err="1"/>
              <a:t>vec</a:t>
            </a:r>
            <a:r>
              <a:rPr lang="en-US" dirty="0"/>
              <a:t> = new Vector(4);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   // use add() method to add elements in the vector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(4);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vec.add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   // let us print the size of the vector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System.out.println</a:t>
            </a:r>
            <a:r>
              <a:rPr lang="en-US" dirty="0"/>
              <a:t>("Size of the vector: "+</a:t>
            </a:r>
            <a:r>
              <a:rPr lang="en-US" dirty="0" err="1"/>
              <a:t>vec.size</a:t>
            </a:r>
            <a:r>
              <a:rPr lang="en-US" dirty="0"/>
              <a:t>());                 </a:t>
            </a:r>
          </a:p>
          <a:p>
            <a:pPr marL="0" indent="0">
              <a:buNone/>
            </a:pPr>
            <a:r>
              <a:rPr lang="en-US" dirty="0"/>
              <a:t>   }   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Size of the vector: 4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71868" y="28572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/>
              <a:t>Working With The Size of The Vector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66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2564</Words>
  <Application>Microsoft Office PowerPoint</Application>
  <PresentationFormat>On-screen Show (4:3)</PresentationFormat>
  <Paragraphs>425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Courier New</vt:lpstr>
      <vt:lpstr>Office Theme</vt:lpstr>
      <vt:lpstr>Java</vt:lpstr>
      <vt:lpstr>What is an Array?</vt:lpstr>
      <vt:lpstr>Then how do we store multiple data types?</vt:lpstr>
      <vt:lpstr>PowerPoint Presentation</vt:lpstr>
      <vt:lpstr>PowerPoint Presentation</vt:lpstr>
      <vt:lpstr> Why Arrays?</vt:lpstr>
      <vt:lpstr> Declaring an Array</vt:lpstr>
      <vt:lpstr>Initializing an Array</vt:lpstr>
      <vt:lpstr>Method 2: Shortcut method</vt:lpstr>
      <vt:lpstr>Accessing Array Elements</vt:lpstr>
      <vt:lpstr>Using Loop with Arrays</vt:lpstr>
      <vt:lpstr> Length of an Array</vt:lpstr>
      <vt:lpstr>Multidimensional Arrays (2D Array)</vt:lpstr>
      <vt:lpstr>Copying Arrays</vt:lpstr>
      <vt:lpstr>Arrays Utility Class (java.util.Arrays)</vt:lpstr>
      <vt:lpstr>Introduction to Array </vt:lpstr>
      <vt:lpstr>Advantage of Java Array</vt:lpstr>
      <vt:lpstr>Disadvantage of Java Array </vt:lpstr>
      <vt:lpstr>Declaring Array Variables</vt:lpstr>
      <vt:lpstr>for loop: Example</vt:lpstr>
      <vt:lpstr>PowerPoint Presentation</vt:lpstr>
      <vt:lpstr>Types of Array in java</vt:lpstr>
      <vt:lpstr>PowerPoint Presentation</vt:lpstr>
      <vt:lpstr>PowerPoint Presentation</vt:lpstr>
      <vt:lpstr>Passing Array to method in java </vt:lpstr>
      <vt:lpstr>Multidimensional array in java</vt:lpstr>
      <vt:lpstr>PowerPoint Presentation</vt:lpstr>
      <vt:lpstr>PowerPoint Presentation</vt:lpstr>
      <vt:lpstr>Copying a java array</vt:lpstr>
      <vt:lpstr>Java Enum</vt:lpstr>
      <vt:lpstr>Points to remember for Java Enum</vt:lpstr>
      <vt:lpstr>PowerPoint Presentation</vt:lpstr>
      <vt:lpstr>Introduction to Vectors </vt:lpstr>
      <vt:lpstr>Difference between ArrayList and Vector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123</dc:creator>
  <cp:lastModifiedBy>priyankahpi7@outlook.com</cp:lastModifiedBy>
  <cp:revision>35</cp:revision>
  <dcterms:created xsi:type="dcterms:W3CDTF">2018-01-21T13:12:44Z</dcterms:created>
  <dcterms:modified xsi:type="dcterms:W3CDTF">2025-12-30T08:13:20Z</dcterms:modified>
</cp:coreProperties>
</file>