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63" r:id="rId5"/>
    <p:sldId id="259" r:id="rId6"/>
    <p:sldId id="270" r:id="rId7"/>
    <p:sldId id="271" r:id="rId8"/>
    <p:sldId id="273" r:id="rId9"/>
    <p:sldId id="274" r:id="rId10"/>
    <p:sldId id="275" r:id="rId11"/>
    <p:sldId id="276" r:id="rId12"/>
    <p:sldId id="272" r:id="rId13"/>
    <p:sldId id="277" r:id="rId14"/>
    <p:sldId id="260" r:id="rId15"/>
    <p:sldId id="264" r:id="rId16"/>
    <p:sldId id="265" r:id="rId17"/>
    <p:sldId id="266" r:id="rId18"/>
    <p:sldId id="267" r:id="rId19"/>
    <p:sldId id="280" r:id="rId20"/>
    <p:sldId id="278" r:id="rId21"/>
    <p:sldId id="279" r:id="rId22"/>
    <p:sldId id="269" r:id="rId2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E954EF8-2EA0-B059-605B-09A66CCC009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AD13EF8-579B-C591-F387-3967A35333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C2860A-1E81-86D1-68B8-830C4EDC83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0F1F7A-6E2F-892C-D190-F699F24688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479203-8346-C0A2-1EB6-726D9032BC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14429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18D596-4AB7-7CC5-EAD0-72CFE113936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F635D1-49B9-702B-F354-429E54F6EB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DCCD5BC-6B58-DBE8-6A57-17D5D106438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96386-A7A1-3DBF-6A99-7F8F9A7D70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351005C-584F-A4CD-2715-430AF14DFF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1199110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819C24-DE2A-6BCA-2220-E356CDD5E2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61037C2-648A-6AFD-F898-B6973157E1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78D3B5-8D4B-58FD-86B1-ED0125E9019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F70C0A7-9E39-21E4-D468-D90DA4AD98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C81BDD-1B64-F759-78A0-449F90E5E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38314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ECC676-41CD-BD90-19A4-C08A1C86C8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D52C4F-9715-2D6E-64A6-81669BAE29D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A26364-1649-2C59-8955-F6D11FAB39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3E48BC-B9BB-9A0C-992F-4F509B9D6F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999AF02-95E1-EA0E-2060-920E5F3D7F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F637794-117A-200C-A3D8-00013DE030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96527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F34FDD-0058-A144-FA1B-8FBEDE82C81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52CF5FB-0D69-FE28-B9C3-4B4436F61FB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60AE40-32F9-433A-6FD3-6FE2EA4C93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AE30E65-B396-83D5-B920-0A8994D4869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79807E2-916E-19DF-C68E-46429FAFE2B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E0602D6-A29D-04C2-F345-A05988C3D8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898DB99-9743-FD4F-5B6D-0FF285D2DBA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2FF6C106-2379-1255-C70D-697D8F3B1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6534155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E5B349-00D6-4BD8-2A8F-C836C99076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4E71177-5454-E30E-CC83-2710F79374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AE27837-988C-9133-D749-081CD7484EC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D828A5F-DE99-45A4-9F4D-66F2E9768C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848603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3E3F1AB-766A-DC8E-B7A1-CE86947E7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4B6ED32-6EB0-3EA8-0036-36E1DFF593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52854FC-DC01-AC9B-A0C9-CF33DF015C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961576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AA072B-7CB5-D768-DEEA-AB39C7B8C18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28AFEE-DDD6-189A-1E7E-BF86C8A208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17DFA60-0E08-DB0A-B878-E8A961DC49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F10E7-41B5-C724-79B8-4D8224D1CA2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D5190A-BEEB-DD49-2A2B-39937D0145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453A790-486E-32DF-2B85-5E6C56EBC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96785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968634-7FE6-C62B-837A-68AE1C50B0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B98F38B-89E9-A06B-3550-AEC2D3AE9B1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15DFC87-BEE1-D4E7-B4C0-977D9301643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3956F3C-89CB-83AE-6E6D-B1964B7421C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2B8E190-0DBF-9432-150D-89518D6CEF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A6C0001-A62A-1A49-0F9A-07904B642CC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947945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F106E8-205B-4D9C-A8A3-C775DEA361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7A4B096-7C15-AE9F-158F-0FB07765D10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8F1475-A4B7-D615-194D-3F05FC6912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B467BDF-8802-4CB1-7881-C023E9A258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905EE6F-9F96-1D0B-BDE4-4A89F3D5AA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8340514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1020700C-C147-26D9-271A-9BB6A436A12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FB0E9D7-CC41-8349-7AD6-E1B3AD0807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D08782-3FB3-E259-027D-04A20E5C53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8749C0-96BD-3705-6797-B9B8D6918C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F67BA-A61A-D160-C242-8000ABF000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57854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EA31D1-1498-C02A-C123-E92FB00ACC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0137D7B-926B-FEDC-4627-62777F639DE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8ACDF36-431B-6992-21CD-65142123284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6B5644-BC15-4E5B-B9EA-5B3CCE8F8FC3}" type="datetimeFigureOut">
              <a:rPr lang="en-IN" smtClean="0"/>
              <a:t>20-01-2026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14B86FD-1795-2F39-385B-BE0D55B8F90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F98D25-9BD6-4422-252F-7ED1C451A2B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B3E163-BE33-416B-943E-54142D4FF99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539926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857BE9B-6D7C-AE47-D856-3E145EB6BBA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b="1" dirty="0"/>
              <a:t>Abstraction in Java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B9F017D-B501-3C55-EDCC-07326674CF9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387650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EE2FD8F-23E1-0C7C-8E63-38EBD4617B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is Abstraction?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6B12829-9D71-3546-177D-BA894C3663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Abstraction</a:t>
            </a:r>
            <a:r>
              <a:rPr lang="en-US" dirty="0"/>
              <a:t> means </a:t>
            </a:r>
            <a:r>
              <a:rPr lang="en-US" b="1" dirty="0"/>
              <a:t>hiding internal implementation details</a:t>
            </a:r>
            <a:r>
              <a:rPr lang="en-US" dirty="0"/>
              <a:t> and </a:t>
            </a:r>
            <a:r>
              <a:rPr lang="en-US" b="1" dirty="0"/>
              <a:t>showing only essential features</a:t>
            </a:r>
            <a:r>
              <a:rPr lang="en-US" dirty="0"/>
              <a:t> to the user.</a:t>
            </a:r>
          </a:p>
          <a:p>
            <a:pPr marL="0" indent="0">
              <a:buNone/>
            </a:pPr>
            <a:r>
              <a:rPr lang="en-US" dirty="0"/>
              <a:t>Simple meaning:</a:t>
            </a:r>
          </a:p>
          <a:p>
            <a:r>
              <a:rPr lang="en-US" dirty="0"/>
              <a:t>Show </a:t>
            </a:r>
            <a:r>
              <a:rPr lang="en-US" b="1" dirty="0"/>
              <a:t>what the object does</a:t>
            </a:r>
            <a:endParaRPr lang="en-US" dirty="0"/>
          </a:p>
          <a:p>
            <a:r>
              <a:rPr lang="en-US" dirty="0"/>
              <a:t>Hide </a:t>
            </a:r>
            <a:r>
              <a:rPr lang="en-US" b="1" dirty="0"/>
              <a:t>how it does it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323475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5C81936A-BCB0-B891-33C2-2F90F8327C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3" y="775596"/>
            <a:ext cx="7878148" cy="5306808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236D9503-4640-56EE-EC22-71ABADAE951C}"/>
              </a:ext>
            </a:extLst>
          </p:cNvPr>
          <p:cNvSpPr txBox="1"/>
          <p:nvPr/>
        </p:nvSpPr>
        <p:spPr>
          <a:xfrm>
            <a:off x="8062451" y="2251190"/>
            <a:ext cx="3215149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For example, ATM machine , we don’t need to know how ATM machine works , only need to know where we insert card and where we can take money. Let’s start to understand in term of programming </a:t>
            </a:r>
            <a:r>
              <a:rPr lang="en-US" b="0" i="0" dirty="0" err="1">
                <a:solidFill>
                  <a:srgbClr val="242424"/>
                </a:solidFill>
                <a:effectLst/>
                <a:latin typeface="source-serif-pro"/>
              </a:rPr>
              <a:t>langauge</a:t>
            </a:r>
            <a:r>
              <a:rPr lang="en-US" b="0" i="0" dirty="0">
                <a:solidFill>
                  <a:srgbClr val="242424"/>
                </a:solidFill>
                <a:effectLst/>
                <a:latin typeface="source-serif-pro"/>
              </a:rPr>
              <a:t>.</a:t>
            </a:r>
            <a:endParaRPr lang="en-IN" dirty="0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F78334D-57AA-C9E2-B1FF-DC6FDA9D04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062451" y="4282515"/>
            <a:ext cx="2210108" cy="230537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847453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CC2721-8C23-D09B-5320-A1D7861FCD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Why Abstraction is Important?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D9E3542-3DD2-DE5B-B878-7BA431A2C77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/>
              <a:t>Simplifies Complexity: </a:t>
            </a:r>
            <a:r>
              <a:rPr lang="en-US" dirty="0"/>
              <a:t>It allows developers to create models of real-world systems that are easier to understand and work with.</a:t>
            </a:r>
          </a:p>
          <a:p>
            <a:pPr algn="just"/>
            <a:r>
              <a:rPr lang="en-US" b="1" dirty="0"/>
              <a:t>Modularity: </a:t>
            </a:r>
            <a:r>
              <a:rPr lang="en-US" dirty="0"/>
              <a:t>Abstraction promotes modularity by breaking down a system into smaller, reusable components.</a:t>
            </a:r>
          </a:p>
          <a:p>
            <a:pPr algn="just"/>
            <a:r>
              <a:rPr lang="en-US" b="1" dirty="0"/>
              <a:t>Security: </a:t>
            </a:r>
            <a:r>
              <a:rPr lang="en-US" dirty="0"/>
              <a:t>It helps protect sensitive data and implementation details by hiding them from users who don’t need to know about them.</a:t>
            </a:r>
          </a:p>
          <a:p>
            <a:pPr algn="just"/>
            <a:r>
              <a:rPr lang="en-US" b="1" dirty="0"/>
              <a:t>Maintainability: </a:t>
            </a:r>
            <a:r>
              <a:rPr lang="en-US" dirty="0"/>
              <a:t>Abstraction makes it easier to update and maintain code since changes to one part of an abstracted system don’t necessarily affect other parts.</a:t>
            </a:r>
          </a:p>
        </p:txBody>
      </p:sp>
    </p:spTree>
    <p:extLst>
      <p:ext uri="{BB962C8B-B14F-4D97-AF65-F5344CB8AC3E}">
        <p14:creationId xmlns:p14="http://schemas.microsoft.com/office/powerpoint/2010/main" val="29312933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75EEBF-2E2F-107B-24BC-8B28DC3918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How Abstraction is Achieved in Java?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51BD22-F2D2-CC87-57AB-2D0F7B4C033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 Java , Abstraction can be achieved by two ways .</a:t>
            </a:r>
          </a:p>
          <a:p>
            <a:pPr lvl="1"/>
            <a:r>
              <a:rPr lang="en-US" dirty="0"/>
              <a:t>abstract class</a:t>
            </a:r>
          </a:p>
          <a:p>
            <a:pPr lvl="1"/>
            <a:r>
              <a:rPr lang="en-US" dirty="0"/>
              <a:t>Interface</a:t>
            </a:r>
          </a:p>
          <a:p>
            <a:pPr marL="0" indent="0">
              <a:buNone/>
            </a:pPr>
            <a:endParaRPr lang="en-IN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6CE1990-2188-4CA6-2393-1D9DAC5A0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78670738"/>
              </p:ext>
            </p:extLst>
          </p:nvPr>
        </p:nvGraphicFramePr>
        <p:xfrm>
          <a:off x="1182329" y="3429000"/>
          <a:ext cx="8905568" cy="1097280"/>
        </p:xfrm>
        <a:graphic>
          <a:graphicData uri="http://schemas.openxmlformats.org/drawingml/2006/table">
            <a:tbl>
              <a:tblPr/>
              <a:tblGrid>
                <a:gridCol w="4452784">
                  <a:extLst>
                    <a:ext uri="{9D8B030D-6E8A-4147-A177-3AD203B41FA5}">
                      <a16:colId xmlns:a16="http://schemas.microsoft.com/office/drawing/2014/main" val="998770954"/>
                    </a:ext>
                  </a:extLst>
                </a:gridCol>
                <a:gridCol w="4452784">
                  <a:extLst>
                    <a:ext uri="{9D8B030D-6E8A-4147-A177-3AD203B41FA5}">
                      <a16:colId xmlns:a16="http://schemas.microsoft.com/office/drawing/2014/main" val="284087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Method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Keyword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693287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Abstract Class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abstract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881748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Interface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Courier New" panose="02070309020205020404" pitchFamily="49" charset="0"/>
                        </a:rPr>
                        <a:t>interface</a:t>
                      </a:r>
                      <a:endParaRPr lang="en-IN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8197493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93323338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E5720D-2645-CD7C-1860-EC8F28C68D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/>
              <a:t>Difference</a:t>
            </a:r>
            <a:endParaRPr lang="en-IN" dirty="0"/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A5F269B1-FBEF-3685-4C47-088577ECEF5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70110" y="1347019"/>
            <a:ext cx="7466142" cy="4977428"/>
          </a:xfr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FE83DC60-454E-0BF3-02D9-F73CCF200911}"/>
              </a:ext>
            </a:extLst>
          </p:cNvPr>
          <p:cNvSpPr txBox="1"/>
          <p:nvPr/>
        </p:nvSpPr>
        <p:spPr>
          <a:xfrm>
            <a:off x="307181" y="2812477"/>
            <a:ext cx="2514677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Dog, Cat, and Horse are all </a:t>
            </a:r>
            <a:r>
              <a:rPr lang="en-US" b="1" dirty="0"/>
              <a:t>closely related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They are all types of </a:t>
            </a:r>
            <a:r>
              <a:rPr lang="en-US" b="1" dirty="0"/>
              <a:t>Animal</a:t>
            </a:r>
            <a:r>
              <a:rPr lang="en-US" dirty="0"/>
              <a:t>.</a:t>
            </a:r>
            <a:br>
              <a:rPr lang="en-US" dirty="0"/>
            </a:br>
            <a:r>
              <a:rPr lang="en-US" dirty="0"/>
              <a:t>So we use </a:t>
            </a:r>
            <a:r>
              <a:rPr lang="en-US" b="1" dirty="0"/>
              <a:t>Abstract Class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1838352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1D29DD-A099-707A-578D-003C31CB1E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863B116-DCE0-DD3C-F0BE-C0A9A652D7E2}"/>
              </a:ext>
            </a:extLst>
          </p:cNvPr>
          <p:cNvSpPr txBox="1"/>
          <p:nvPr/>
        </p:nvSpPr>
        <p:spPr>
          <a:xfrm>
            <a:off x="838200" y="1485122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abstract class Animal {</a:t>
            </a:r>
          </a:p>
          <a:p>
            <a:r>
              <a:rPr lang="en-IN" sz="2400" dirty="0"/>
              <a:t>    abstract void sound();   // common rule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52566C3-5070-5A50-6168-2DAC4AB46515}"/>
              </a:ext>
            </a:extLst>
          </p:cNvPr>
          <p:cNvSpPr txBox="1"/>
          <p:nvPr/>
        </p:nvSpPr>
        <p:spPr>
          <a:xfrm>
            <a:off x="6390969" y="365125"/>
            <a:ext cx="5142270" cy="63709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class Dog extends Animal {</a:t>
            </a:r>
          </a:p>
          <a:p>
            <a:r>
              <a:rPr lang="en-IN" sz="2400" dirty="0"/>
              <a:t>    void sound() {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("Dog barks");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class Cat extends Animal {</a:t>
            </a:r>
          </a:p>
          <a:p>
            <a:r>
              <a:rPr lang="en-IN" sz="2400" dirty="0"/>
              <a:t>    void sound() {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("Cat meows");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}</a:t>
            </a:r>
          </a:p>
          <a:p>
            <a:endParaRPr lang="en-IN" sz="2400" dirty="0"/>
          </a:p>
          <a:p>
            <a:r>
              <a:rPr lang="en-IN" sz="2400" dirty="0"/>
              <a:t>class Horse extends Animal {</a:t>
            </a:r>
          </a:p>
          <a:p>
            <a:r>
              <a:rPr lang="en-IN" sz="2400" dirty="0"/>
              <a:t>    void sound() {</a:t>
            </a:r>
          </a:p>
          <a:p>
            <a:r>
              <a:rPr lang="en-IN" sz="2400" dirty="0"/>
              <a:t>        </a:t>
            </a:r>
            <a:r>
              <a:rPr lang="en-IN" sz="2400" dirty="0" err="1"/>
              <a:t>System.out.println</a:t>
            </a:r>
            <a:r>
              <a:rPr lang="en-IN" sz="2400" dirty="0"/>
              <a:t>("Horse neighs");</a:t>
            </a:r>
          </a:p>
          <a:p>
            <a:r>
              <a:rPr lang="en-IN" sz="2400" dirty="0"/>
              <a:t>    }</a:t>
            </a:r>
          </a:p>
          <a:p>
            <a:r>
              <a:rPr lang="en-IN" sz="2400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0527581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7FA330-E45A-061F-43B7-A713C580D2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081413-7B46-B011-09B8-252DB40ACF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/>
              <a:t>Diagram shows:</a:t>
            </a:r>
          </a:p>
          <a:p>
            <a:r>
              <a:rPr lang="en-US" dirty="0"/>
              <a:t>Game, Music Player, Robot Toy → all connected to Playable</a:t>
            </a:r>
          </a:p>
          <a:p>
            <a:pPr marL="0" indent="0">
              <a:buNone/>
            </a:pPr>
            <a:r>
              <a:rPr lang="en-US" dirty="0"/>
              <a:t>Game is not a Music Player</a:t>
            </a:r>
            <a:br>
              <a:rPr lang="en-US" dirty="0"/>
            </a:br>
            <a:r>
              <a:rPr lang="en-US" dirty="0"/>
              <a:t>Music Player is not a Robot</a:t>
            </a:r>
            <a:br>
              <a:rPr lang="en-US" dirty="0"/>
            </a:br>
            <a:r>
              <a:rPr lang="en-US" dirty="0"/>
              <a:t>They are </a:t>
            </a:r>
            <a:r>
              <a:rPr lang="en-US" b="1" dirty="0"/>
              <a:t>unrelated things</a:t>
            </a:r>
            <a:br>
              <a:rPr lang="en-US" dirty="0"/>
            </a:br>
            <a:r>
              <a:rPr lang="en-US" dirty="0"/>
              <a:t>But all of them </a:t>
            </a:r>
            <a:r>
              <a:rPr lang="en-US" b="1" dirty="0"/>
              <a:t>can do one common action</a:t>
            </a:r>
            <a:r>
              <a:rPr lang="en-US" dirty="0"/>
              <a:t>:</a:t>
            </a:r>
            <a:br>
              <a:rPr lang="en-US" dirty="0"/>
            </a:br>
            <a:r>
              <a:rPr lang="en-US" dirty="0"/>
              <a:t>They can “PLAY”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8906823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445C3-7003-85E6-9AFE-CF8F38F1D5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0"/>
            <a:ext cx="10515600" cy="1325563"/>
          </a:xfrm>
        </p:spPr>
        <p:txBody>
          <a:bodyPr/>
          <a:lstStyle/>
          <a:p>
            <a:r>
              <a:rPr lang="en-US" dirty="0"/>
              <a:t>So we create an </a:t>
            </a:r>
            <a:r>
              <a:rPr lang="en-US" b="1" dirty="0"/>
              <a:t>interface</a:t>
            </a:r>
            <a:r>
              <a:rPr lang="en-US" dirty="0"/>
              <a:t>: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3605633-03B4-55EF-C6EE-2A2EBB096F8E}"/>
              </a:ext>
            </a:extLst>
          </p:cNvPr>
          <p:cNvSpPr txBox="1"/>
          <p:nvPr/>
        </p:nvSpPr>
        <p:spPr>
          <a:xfrm>
            <a:off x="838200" y="1612942"/>
            <a:ext cx="3291348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dirty="0"/>
              <a:t>interface Playable {</a:t>
            </a:r>
          </a:p>
          <a:p>
            <a:r>
              <a:rPr lang="en-IN" sz="2400" dirty="0"/>
              <a:t>    void play();</a:t>
            </a:r>
          </a:p>
          <a:p>
            <a:r>
              <a:rPr lang="en-IN" sz="2400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D2C939CA-4EC0-A19C-9F32-5CF306B6DCC2}"/>
              </a:ext>
            </a:extLst>
          </p:cNvPr>
          <p:cNvSpPr txBox="1"/>
          <p:nvPr/>
        </p:nvSpPr>
        <p:spPr>
          <a:xfrm>
            <a:off x="5385620" y="1485123"/>
            <a:ext cx="6096000" cy="529375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/>
              <a:t>class Game implements Playable {</a:t>
            </a:r>
          </a:p>
          <a:p>
            <a:r>
              <a:rPr lang="en-IN" sz="2000" dirty="0"/>
              <a:t>    public void play()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("Game is playing");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class </a:t>
            </a:r>
            <a:r>
              <a:rPr lang="en-IN" sz="2000" dirty="0" err="1"/>
              <a:t>MusicPlayer</a:t>
            </a:r>
            <a:r>
              <a:rPr lang="en-IN" sz="2000" dirty="0"/>
              <a:t> implements Playable {</a:t>
            </a:r>
          </a:p>
          <a:p>
            <a:r>
              <a:rPr lang="en-IN" sz="2000" dirty="0"/>
              <a:t>    public void play()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("Music is playing");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  <a:p>
            <a:endParaRPr lang="en-IN" sz="2000" dirty="0"/>
          </a:p>
          <a:p>
            <a:r>
              <a:rPr lang="en-IN" sz="2000" dirty="0"/>
              <a:t>class </a:t>
            </a:r>
            <a:r>
              <a:rPr lang="en-IN" sz="2000" dirty="0" err="1"/>
              <a:t>RobotToy</a:t>
            </a:r>
            <a:r>
              <a:rPr lang="en-IN" sz="2000" dirty="0"/>
              <a:t> implements Playable {</a:t>
            </a:r>
          </a:p>
          <a:p>
            <a:r>
              <a:rPr lang="en-IN" sz="2000" dirty="0"/>
              <a:t>    public void play() {</a:t>
            </a:r>
          </a:p>
          <a:p>
            <a:r>
              <a:rPr lang="en-IN" sz="2000" dirty="0"/>
              <a:t>        </a:t>
            </a:r>
            <a:r>
              <a:rPr lang="en-IN" sz="2000" dirty="0" err="1"/>
              <a:t>System.out.println</a:t>
            </a:r>
            <a:r>
              <a:rPr lang="en-IN" sz="2000" dirty="0"/>
              <a:t>("Robot is playing sound");</a:t>
            </a:r>
          </a:p>
          <a:p>
            <a:r>
              <a:rPr lang="en-IN" sz="2000" dirty="0"/>
              <a:t>    }</a:t>
            </a:r>
          </a:p>
          <a:p>
            <a:r>
              <a:rPr lang="en-IN" sz="2000" dirty="0"/>
              <a:t>}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F183ECF3-0A1B-B555-2598-EFAD435DB88A}"/>
              </a:ext>
            </a:extLst>
          </p:cNvPr>
          <p:cNvSpPr txBox="1"/>
          <p:nvPr/>
        </p:nvSpPr>
        <p:spPr>
          <a:xfrm>
            <a:off x="5385620" y="1115791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Now different unrelated objects implement it:</a:t>
            </a:r>
          </a:p>
        </p:txBody>
      </p:sp>
    </p:spTree>
    <p:extLst>
      <p:ext uri="{BB962C8B-B14F-4D97-AF65-F5344CB8AC3E}">
        <p14:creationId xmlns:p14="http://schemas.microsoft.com/office/powerpoint/2010/main" val="3765008334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CEE700DC-43CF-6881-C06B-971B5C019A8C}"/>
              </a:ext>
            </a:extLst>
          </p:cNvPr>
          <p:cNvSpPr txBox="1"/>
          <p:nvPr/>
        </p:nvSpPr>
        <p:spPr>
          <a:xfrm>
            <a:off x="1091381" y="1028343"/>
            <a:ext cx="6096000" cy="480131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abstract class Animal {</a:t>
            </a:r>
          </a:p>
          <a:p>
            <a:r>
              <a:rPr lang="en-IN" dirty="0"/>
              <a:t>    abstract void sound();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interface Playable {</a:t>
            </a:r>
          </a:p>
          <a:p>
            <a:r>
              <a:rPr lang="en-IN" dirty="0"/>
              <a:t>    void play();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Dog extends Animal implements Playable {</a:t>
            </a:r>
          </a:p>
          <a:p>
            <a:r>
              <a:rPr lang="en-IN" dirty="0"/>
              <a:t>    void sound()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public void play()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plays with ball");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D4ACD5-7009-17B2-FEB2-3A156B0B3167}"/>
              </a:ext>
            </a:extLst>
          </p:cNvPr>
          <p:cNvSpPr txBox="1"/>
          <p:nvPr/>
        </p:nvSpPr>
        <p:spPr>
          <a:xfrm>
            <a:off x="6469626" y="2399522"/>
            <a:ext cx="4365522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Dog </a:t>
            </a:r>
            <a:r>
              <a:rPr lang="en-US" b="1" dirty="0"/>
              <a:t>IS an Animal</a:t>
            </a:r>
            <a:r>
              <a:rPr lang="en-US" dirty="0"/>
              <a:t> → abstract class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Dog </a:t>
            </a:r>
            <a:r>
              <a:rPr lang="en-US" b="1" dirty="0"/>
              <a:t>CAN PLAY</a:t>
            </a:r>
            <a:r>
              <a:rPr lang="en-US" dirty="0"/>
              <a:t> → interface</a:t>
            </a:r>
          </a:p>
          <a:p>
            <a:pPr>
              <a:buNone/>
            </a:pPr>
            <a:r>
              <a:rPr lang="en-US" dirty="0"/>
              <a:t>This shows </a:t>
            </a:r>
            <a:r>
              <a:rPr lang="en-US" b="1" dirty="0"/>
              <a:t>real-world design clearly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A6E539-46AF-CF01-36ED-E21030177609}"/>
              </a:ext>
            </a:extLst>
          </p:cNvPr>
          <p:cNvSpPr txBox="1"/>
          <p:nvPr/>
        </p:nvSpPr>
        <p:spPr>
          <a:xfrm>
            <a:off x="6469626" y="3731979"/>
            <a:ext cx="436552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Abstract Class → </a:t>
            </a:r>
            <a:r>
              <a:rPr lang="en-US" b="1" dirty="0"/>
              <a:t>IS-A (family relationship)</a:t>
            </a:r>
            <a:br>
              <a:rPr lang="en-US" dirty="0"/>
            </a:br>
            <a:r>
              <a:rPr lang="en-US" dirty="0"/>
              <a:t>Interface → </a:t>
            </a:r>
            <a:r>
              <a:rPr lang="en-US" b="1" dirty="0"/>
              <a:t>CAN-DO (skill / ability)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8186603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4B484D-3F66-C847-383B-BE7D11F2C3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Question???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28406-FE3D-6274-F3D1-BBC6265867C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dirty="0"/>
              <a:t>Laptop, Mobile, Tablet → all can connect to </a:t>
            </a:r>
            <a:r>
              <a:rPr lang="en-US" dirty="0" err="1"/>
              <a:t>WiFi</a:t>
            </a:r>
            <a:br>
              <a:rPr lang="en-US" dirty="0"/>
            </a:br>
            <a:endParaRPr lang="en-US" dirty="0"/>
          </a:p>
          <a:p>
            <a:pPr marL="0" indent="0">
              <a:buNone/>
            </a:pPr>
            <a:r>
              <a:rPr lang="en-US" dirty="0"/>
              <a:t>What should we use?</a:t>
            </a:r>
            <a:br>
              <a:rPr lang="en-US" dirty="0"/>
            </a:br>
            <a:br>
              <a:rPr lang="en-US" dirty="0"/>
            </a:br>
            <a:r>
              <a:rPr lang="en-US" dirty="0"/>
              <a:t>Interface (because they are unrelated but share ability)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5490574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B69081-8C53-2EF0-3C0E-4719F47DEBF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Normal Class (No abstraction)</a:t>
            </a: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8FDDB5-B326-2690-B41B-9DB705F18F11}"/>
              </a:ext>
            </a:extLst>
          </p:cNvPr>
          <p:cNvSpPr txBox="1"/>
          <p:nvPr/>
        </p:nvSpPr>
        <p:spPr>
          <a:xfrm>
            <a:off x="838200" y="1581749"/>
            <a:ext cx="6096000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Animal {</a:t>
            </a:r>
          </a:p>
          <a:p>
            <a:r>
              <a:rPr lang="en-IN" dirty="0"/>
              <a:t>    void sound()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("Some sound");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22998D9-BE3D-B762-37FD-4E6766F9478F}"/>
              </a:ext>
            </a:extLst>
          </p:cNvPr>
          <p:cNvSpPr txBox="1"/>
          <p:nvPr/>
        </p:nvSpPr>
        <p:spPr>
          <a:xfrm>
            <a:off x="838200" y="3152593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Animal a = new Animal();</a:t>
            </a:r>
          </a:p>
          <a:p>
            <a:r>
              <a:rPr lang="en-IN" dirty="0" err="1"/>
              <a:t>a.sound</a:t>
            </a:r>
            <a:r>
              <a:rPr lang="en-IN" dirty="0"/>
              <a:t>();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57C052FE-DBFA-348C-C97A-D78108E1280C}"/>
              </a:ext>
            </a:extLst>
          </p:cNvPr>
          <p:cNvSpPr txBox="1"/>
          <p:nvPr/>
        </p:nvSpPr>
        <p:spPr>
          <a:xfrm>
            <a:off x="747252" y="4110335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dirty="0"/>
              <a:t>❌ What is "Some sound"?</a:t>
            </a:r>
            <a:br>
              <a:rPr lang="en-US" dirty="0"/>
            </a:br>
            <a:r>
              <a:rPr lang="en-US" dirty="0"/>
              <a:t>Animal itself does not have a clear sound.</a:t>
            </a:r>
            <a:br>
              <a:rPr lang="en-US" dirty="0"/>
            </a:br>
            <a:r>
              <a:rPr lang="en-US" dirty="0"/>
              <a:t>This is </a:t>
            </a:r>
            <a:r>
              <a:rPr lang="en-US" b="1" dirty="0"/>
              <a:t>bad design</a:t>
            </a:r>
            <a:r>
              <a:rPr lang="en-US" dirty="0"/>
              <a:t>.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9206339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13C255-D071-803E-5162-0D10502759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Abstract Class (With abstraction)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CE5886-D8C3-9598-D93C-F2A90A75138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/>
              <a:t>abstract class Animal {</a:t>
            </a:r>
          </a:p>
          <a:p>
            <a:pPr marL="0" indent="0">
              <a:buNone/>
            </a:pPr>
            <a:r>
              <a:rPr lang="en-US"/>
              <a:t>    abstract void sound();   // no body</a:t>
            </a:r>
          </a:p>
          <a:p>
            <a:pPr marL="0" indent="0">
              <a:buNone/>
            </a:pPr>
            <a:r>
              <a:rPr lang="en-US"/>
              <a:t>}</a:t>
            </a:r>
          </a:p>
          <a:p>
            <a:r>
              <a:rPr lang="en-US"/>
              <a:t>Now this is </a:t>
            </a:r>
            <a:r>
              <a:rPr lang="en-US" b="1"/>
              <a:t>better design</a:t>
            </a:r>
            <a:r>
              <a:rPr lang="en-US"/>
              <a:t> because:</a:t>
            </a:r>
          </a:p>
          <a:p>
            <a:r>
              <a:rPr lang="en-US"/>
              <a:t>Animal itself does not have sound</a:t>
            </a:r>
          </a:p>
          <a:p>
            <a:r>
              <a:rPr lang="en-US"/>
              <a:t>Only Dog, Cat, Horse should define sound</a:t>
            </a:r>
          </a:p>
          <a:p>
            <a:r>
              <a:rPr lang="en-US"/>
              <a:t>So we </a:t>
            </a:r>
            <a:r>
              <a:rPr lang="en-US" b="1"/>
              <a:t>force child classes</a:t>
            </a:r>
            <a:r>
              <a:rPr lang="en-US"/>
              <a:t> to define it</a:t>
            </a: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D2A1BE7-AD58-3FF9-6B65-FF3F231BF8D0}"/>
              </a:ext>
            </a:extLst>
          </p:cNvPr>
          <p:cNvSpPr txBox="1"/>
          <p:nvPr/>
        </p:nvSpPr>
        <p:spPr>
          <a:xfrm>
            <a:off x="7384025" y="3617026"/>
            <a:ext cx="4159045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class Dog extends Animal {</a:t>
            </a:r>
          </a:p>
          <a:p>
            <a:r>
              <a:rPr lang="en-IN" dirty="0"/>
              <a:t>    void sound()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106777699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BD741C4-EC15-7E57-072B-98D757110C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/>
              <a:t>Abstraction Using Abstract Class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47D6B-6683-B64A-1163-5CA8B8D73D3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/>
              <a:t>A class which is declared as abstract is known as an </a:t>
            </a:r>
            <a:r>
              <a:rPr lang="en-US" b="1" dirty="0"/>
              <a:t>abstract class</a:t>
            </a:r>
            <a:r>
              <a:rPr lang="en-US" dirty="0"/>
              <a:t>. </a:t>
            </a:r>
          </a:p>
          <a:p>
            <a:pPr algn="just"/>
            <a:r>
              <a:rPr lang="en-US" dirty="0"/>
              <a:t>Is declared using abstract keyword</a:t>
            </a:r>
          </a:p>
          <a:p>
            <a:pPr algn="just"/>
            <a:r>
              <a:rPr lang="en-US" dirty="0"/>
              <a:t>Can have:</a:t>
            </a:r>
          </a:p>
          <a:p>
            <a:pPr lvl="1" algn="just"/>
            <a:r>
              <a:rPr lang="en-US" dirty="0"/>
              <a:t>Abstract methods (no body)</a:t>
            </a:r>
          </a:p>
          <a:p>
            <a:pPr lvl="1" algn="just"/>
            <a:r>
              <a:rPr lang="en-US" dirty="0"/>
              <a:t>Concrete methods (with body)Cannot create object directly</a:t>
            </a:r>
          </a:p>
          <a:p>
            <a:r>
              <a:rPr lang="en-US" dirty="0"/>
              <a:t>Syntax</a:t>
            </a:r>
            <a:br>
              <a:rPr lang="en-US" dirty="0"/>
            </a:br>
            <a:r>
              <a:rPr lang="en-US" dirty="0"/>
              <a:t>abstract class </a:t>
            </a:r>
            <a:r>
              <a:rPr lang="en-US" dirty="0" err="1"/>
              <a:t>ClassName</a:t>
            </a:r>
            <a:r>
              <a:rPr lang="en-US" dirty="0"/>
              <a:t> </a:t>
            </a:r>
          </a:p>
          <a:p>
            <a:pPr marL="0" indent="0">
              <a:buNone/>
            </a:pPr>
            <a:r>
              <a:rPr lang="en-US" dirty="0"/>
              <a:t>	{</a:t>
            </a:r>
            <a:br>
              <a:rPr lang="en-US" dirty="0"/>
            </a:br>
            <a:r>
              <a:rPr lang="en-US" dirty="0"/>
              <a:t>		abstract void </a:t>
            </a:r>
            <a:r>
              <a:rPr lang="en-US" dirty="0" err="1"/>
              <a:t>methodName</a:t>
            </a:r>
            <a:r>
              <a:rPr lang="en-US" dirty="0"/>
              <a:t>();</a:t>
            </a:r>
            <a:br>
              <a:rPr lang="en-US" dirty="0"/>
            </a:br>
            <a:r>
              <a:rPr lang="en-US" dirty="0"/>
              <a:t>	}</a:t>
            </a:r>
          </a:p>
          <a:p>
            <a:pPr algn="just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869404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365C33-917C-E50E-3728-144E63F6E6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Class Example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6764350-AA7A-722E-5CCA-1FE4C320D770}"/>
              </a:ext>
            </a:extLst>
          </p:cNvPr>
          <p:cNvSpPr txBox="1"/>
          <p:nvPr/>
        </p:nvSpPr>
        <p:spPr>
          <a:xfrm>
            <a:off x="934064" y="1558694"/>
            <a:ext cx="6096000" cy="258532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abstract class Animal {</a:t>
            </a:r>
          </a:p>
          <a:p>
            <a:r>
              <a:rPr lang="en-IN" dirty="0"/>
              <a:t>    abstract void sound();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class Dog extends Animal {</a:t>
            </a:r>
          </a:p>
          <a:p>
            <a:r>
              <a:rPr lang="en-IN" dirty="0"/>
              <a:t>    void sound()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  <p:sp>
        <p:nvSpPr>
          <p:cNvPr id="6" name="Rectangle 1">
            <a:extLst>
              <a:ext uri="{FF2B5EF4-FFF2-40B4-BE49-F238E27FC236}">
                <a16:creationId xmlns:a16="http://schemas.microsoft.com/office/drawing/2014/main" id="{4BE706F3-470A-2CE6-5ED4-A7F5F55BB5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4514305"/>
            <a:ext cx="3099951" cy="64633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Animal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defines rule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Dog</a:t>
            </a: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provides implementation</a:t>
            </a:r>
            <a:endParaRPr kumimoji="0" lang="en-US" altLang="en-US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CF76FFDD-842D-D454-39C6-ED2A4C539D7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467793" y="1530496"/>
            <a:ext cx="4658375" cy="21815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49363811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CFA38A-78BE-EC21-A565-AB1CF90658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Interface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90D52B-D542-741C-1B56-650DB462BB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9374" y="1690688"/>
            <a:ext cx="10515600" cy="4351338"/>
          </a:xfrm>
        </p:spPr>
        <p:txBody>
          <a:bodyPr/>
          <a:lstStyle/>
          <a:p>
            <a:r>
              <a:rPr lang="en-US"/>
              <a:t>An interface is:</a:t>
            </a:r>
          </a:p>
          <a:p>
            <a:r>
              <a:rPr lang="en-US"/>
              <a:t>A </a:t>
            </a:r>
            <a:r>
              <a:rPr lang="en-US" b="1"/>
              <a:t>fully abstract blueprint</a:t>
            </a:r>
            <a:endParaRPr lang="en-US"/>
          </a:p>
          <a:p>
            <a:r>
              <a:rPr lang="en-US"/>
              <a:t>Uses keyword interface</a:t>
            </a:r>
          </a:p>
          <a:p>
            <a:r>
              <a:rPr lang="en-US"/>
              <a:t>Supports </a:t>
            </a:r>
            <a:r>
              <a:rPr lang="en-US" b="1"/>
              <a:t>multiple inheritance</a:t>
            </a:r>
            <a:endParaRPr lang="en-US"/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2F6B2086-BCCE-6807-8A83-D8E1C7B40A69}"/>
              </a:ext>
            </a:extLst>
          </p:cNvPr>
          <p:cNvSpPr txBox="1"/>
          <p:nvPr/>
        </p:nvSpPr>
        <p:spPr>
          <a:xfrm>
            <a:off x="993058" y="4243982"/>
            <a:ext cx="6096000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dirty="0"/>
              <a:t>interface Vehicle {</a:t>
            </a:r>
          </a:p>
          <a:p>
            <a:r>
              <a:rPr lang="en-IN" dirty="0"/>
              <a:t>    void start();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5798611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21DD16DF-73B0-4F76-27D2-532ABEC94DCC}"/>
              </a:ext>
            </a:extLst>
          </p:cNvPr>
          <p:cNvSpPr txBox="1"/>
          <p:nvPr/>
        </p:nvSpPr>
        <p:spPr>
          <a:xfrm>
            <a:off x="884903" y="752448"/>
            <a:ext cx="6096000" cy="37888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dirty="0"/>
              <a:t>interface Vehicle {</a:t>
            </a:r>
          </a:p>
          <a:p>
            <a:pPr>
              <a:lnSpc>
                <a:spcPct val="150000"/>
              </a:lnSpc>
            </a:pPr>
            <a:r>
              <a:rPr lang="en-IN" dirty="0"/>
              <a:t>    void start();</a:t>
            </a:r>
          </a:p>
          <a:p>
            <a:pPr>
              <a:lnSpc>
                <a:spcPct val="150000"/>
              </a:lnSpc>
            </a:pPr>
            <a:r>
              <a:rPr lang="en-IN" dirty="0"/>
              <a:t>}</a:t>
            </a:r>
          </a:p>
          <a:p>
            <a:pPr>
              <a:lnSpc>
                <a:spcPct val="150000"/>
              </a:lnSpc>
            </a:pPr>
            <a:endParaRPr lang="en-IN" dirty="0"/>
          </a:p>
          <a:p>
            <a:pPr>
              <a:lnSpc>
                <a:spcPct val="150000"/>
              </a:lnSpc>
            </a:pPr>
            <a:r>
              <a:rPr lang="en-IN" dirty="0"/>
              <a:t>class Bike implements Vehicle {</a:t>
            </a:r>
          </a:p>
          <a:p>
            <a:pPr>
              <a:lnSpc>
                <a:spcPct val="150000"/>
              </a:lnSpc>
            </a:pPr>
            <a:r>
              <a:rPr lang="en-IN" dirty="0"/>
              <a:t>    public void start() {</a:t>
            </a:r>
          </a:p>
          <a:p>
            <a:pPr>
              <a:lnSpc>
                <a:spcPct val="150000"/>
              </a:lnSpc>
            </a:pPr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("Bike starts with kick");</a:t>
            </a:r>
          </a:p>
          <a:p>
            <a:pPr>
              <a:lnSpc>
                <a:spcPct val="150000"/>
              </a:lnSpc>
            </a:pPr>
            <a:r>
              <a:rPr lang="en-IN" dirty="0"/>
              <a:t>    }</a:t>
            </a:r>
          </a:p>
          <a:p>
            <a:pPr>
              <a:lnSpc>
                <a:spcPct val="150000"/>
              </a:lnSpc>
            </a:pPr>
            <a:r>
              <a:rPr lang="en-IN" dirty="0"/>
              <a:t>}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42DE04A-21A7-300D-C699-495EACC3A1EC}"/>
              </a:ext>
            </a:extLst>
          </p:cNvPr>
          <p:cNvSpPr txBox="1"/>
          <p:nvPr/>
        </p:nvSpPr>
        <p:spPr>
          <a:xfrm>
            <a:off x="6341807" y="752448"/>
            <a:ext cx="3628103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Explanation: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Interface defines rule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Class follows rule</a:t>
            </a:r>
          </a:p>
        </p:txBody>
      </p:sp>
    </p:spTree>
    <p:extLst>
      <p:ext uri="{BB962C8B-B14F-4D97-AF65-F5344CB8AC3E}">
        <p14:creationId xmlns:p14="http://schemas.microsoft.com/office/powerpoint/2010/main" val="143132159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1E9B7-B1ED-B9EF-7B7A-C44F008A4E2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Real-Time Use of Interface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812D1E-1FE9-81C1-F030-6E1FF6F13C9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35457"/>
            <a:ext cx="10515600" cy="4351338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Example: Payment System</a:t>
            </a:r>
          </a:p>
          <a:p>
            <a:r>
              <a:rPr lang="en-US" dirty="0"/>
              <a:t>Interface: Payment</a:t>
            </a:r>
          </a:p>
          <a:p>
            <a:r>
              <a:rPr lang="en-US" dirty="0"/>
              <a:t>Classes:</a:t>
            </a:r>
          </a:p>
          <a:p>
            <a:pPr lvl="1"/>
            <a:r>
              <a:rPr lang="en-US" dirty="0" err="1"/>
              <a:t>GooglePay</a:t>
            </a:r>
            <a:endParaRPr lang="en-US" dirty="0"/>
          </a:p>
          <a:p>
            <a:pPr lvl="1"/>
            <a:r>
              <a:rPr lang="en-US" dirty="0" err="1"/>
              <a:t>PhonePe</a:t>
            </a:r>
            <a:endParaRPr lang="en-US" dirty="0"/>
          </a:p>
          <a:p>
            <a:pPr lvl="1"/>
            <a:r>
              <a:rPr lang="en-US" dirty="0" err="1"/>
              <a:t>CreditCard</a:t>
            </a:r>
            <a:endParaRPr lang="en-US" dirty="0"/>
          </a:p>
          <a:p>
            <a:r>
              <a:rPr lang="en-US" dirty="0"/>
              <a:t>All must implement:</a:t>
            </a:r>
          </a:p>
          <a:p>
            <a:pPr lvl="1"/>
            <a:r>
              <a:rPr lang="en-IN" dirty="0"/>
              <a:t>void pay();</a:t>
            </a:r>
          </a:p>
          <a:p>
            <a:endParaRPr lang="en-IN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03C7AC13-B121-6282-D2CE-7E6971BEE769}"/>
              </a:ext>
            </a:extLst>
          </p:cNvPr>
          <p:cNvSpPr txBox="1"/>
          <p:nvPr/>
        </p:nvSpPr>
        <p:spPr>
          <a:xfrm>
            <a:off x="4562168" y="4758417"/>
            <a:ext cx="609600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dirty="0"/>
              <a:t>Used in: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E-commerce apps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Banking software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Android development</a:t>
            </a:r>
          </a:p>
        </p:txBody>
      </p:sp>
    </p:spTree>
    <p:extLst>
      <p:ext uri="{BB962C8B-B14F-4D97-AF65-F5344CB8AC3E}">
        <p14:creationId xmlns:p14="http://schemas.microsoft.com/office/powerpoint/2010/main" val="42132152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7091294F-EF8F-0E85-054B-EC3A8A21F5A0}"/>
              </a:ext>
            </a:extLst>
          </p:cNvPr>
          <p:cNvSpPr txBox="1"/>
          <p:nvPr/>
        </p:nvSpPr>
        <p:spPr>
          <a:xfrm>
            <a:off x="1032137" y="634615"/>
            <a:ext cx="9931079" cy="10064294"/>
          </a:xfrm>
          <a:prstGeom prst="rect">
            <a:avLst/>
          </a:prstGeom>
          <a:noFill/>
        </p:spPr>
        <p:txBody>
          <a:bodyPr wrap="square" numCol="2">
            <a:spAutoFit/>
          </a:bodyPr>
          <a:lstStyle/>
          <a:p>
            <a:r>
              <a:rPr lang="en-IN" dirty="0"/>
              <a:t>abstract class Animal {</a:t>
            </a:r>
          </a:p>
          <a:p>
            <a:endParaRPr lang="en-IN" dirty="0"/>
          </a:p>
          <a:p>
            <a:r>
              <a:rPr lang="en-IN" dirty="0"/>
              <a:t>    // Constructor</a:t>
            </a:r>
          </a:p>
          <a:p>
            <a:r>
              <a:rPr lang="en-IN" dirty="0"/>
              <a:t>    Animal()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constructor called");</a:t>
            </a:r>
          </a:p>
          <a:p>
            <a:r>
              <a:rPr lang="en-IN" dirty="0"/>
              <a:t>    }</a:t>
            </a:r>
          </a:p>
          <a:p>
            <a:endParaRPr lang="en-IN" dirty="0"/>
          </a:p>
          <a:p>
            <a:r>
              <a:rPr lang="en-IN" dirty="0"/>
              <a:t>    // Abstract method (no body)</a:t>
            </a:r>
          </a:p>
          <a:p>
            <a:r>
              <a:rPr lang="en-IN" dirty="0"/>
              <a:t>    abstract void sound();</a:t>
            </a:r>
          </a:p>
          <a:p>
            <a:endParaRPr lang="en-IN" dirty="0"/>
          </a:p>
          <a:p>
            <a:r>
              <a:rPr lang="en-IN" dirty="0"/>
              <a:t>    // Normal method (with body)</a:t>
            </a:r>
          </a:p>
          <a:p>
            <a:r>
              <a:rPr lang="en-IN" dirty="0"/>
              <a:t>    void sleep()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("Animal is sleeping");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endParaRPr lang="en-IN" dirty="0"/>
          </a:p>
          <a:p>
            <a:r>
              <a:rPr lang="en-IN" dirty="0"/>
              <a:t>class Dog extends Animal {</a:t>
            </a:r>
          </a:p>
          <a:p>
            <a:endParaRPr lang="en-IN" dirty="0"/>
          </a:p>
          <a:p>
            <a:r>
              <a:rPr lang="en-IN" dirty="0"/>
              <a:t>    // Implementing abstract method</a:t>
            </a:r>
          </a:p>
          <a:p>
            <a:r>
              <a:rPr lang="en-IN" dirty="0"/>
              <a:t>    void sound() {</a:t>
            </a:r>
          </a:p>
          <a:p>
            <a:r>
              <a:rPr lang="en-IN" dirty="0"/>
              <a:t>        </a:t>
            </a:r>
            <a:r>
              <a:rPr lang="en-IN" dirty="0" err="1"/>
              <a:t>System.out.println</a:t>
            </a:r>
            <a:r>
              <a:rPr lang="en-IN" dirty="0"/>
              <a:t>("Dog barks");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  <a:p>
            <a:endParaRPr lang="en-IN" dirty="0"/>
          </a:p>
          <a:p>
            <a:r>
              <a:rPr lang="en-IN" dirty="0"/>
              <a:t>public class Main {</a:t>
            </a:r>
          </a:p>
          <a:p>
            <a:r>
              <a:rPr lang="en-IN" dirty="0"/>
              <a:t>    public static void main(String[] </a:t>
            </a:r>
            <a:r>
              <a:rPr lang="en-IN" dirty="0" err="1"/>
              <a:t>args</a:t>
            </a:r>
            <a:r>
              <a:rPr lang="en-IN" dirty="0"/>
              <a:t>) {</a:t>
            </a:r>
          </a:p>
          <a:p>
            <a:endParaRPr lang="en-IN" dirty="0"/>
          </a:p>
          <a:p>
            <a:r>
              <a:rPr lang="en-IN" dirty="0"/>
              <a:t>        // Animal a = new Animal();    Not allowed</a:t>
            </a:r>
          </a:p>
          <a:p>
            <a:endParaRPr lang="en-IN" dirty="0"/>
          </a:p>
          <a:p>
            <a:r>
              <a:rPr lang="en-IN" dirty="0"/>
              <a:t>        Animal a = new Dog();   //  Allowed (abstract class reference)</a:t>
            </a:r>
          </a:p>
          <a:p>
            <a:endParaRPr lang="en-IN" dirty="0"/>
          </a:p>
          <a:p>
            <a:r>
              <a:rPr lang="en-IN" dirty="0"/>
              <a:t>        </a:t>
            </a:r>
            <a:r>
              <a:rPr lang="en-IN" dirty="0" err="1"/>
              <a:t>a.sound</a:t>
            </a:r>
            <a:r>
              <a:rPr lang="en-IN" dirty="0"/>
              <a:t>();   // Calls Dog's method</a:t>
            </a:r>
          </a:p>
          <a:p>
            <a:r>
              <a:rPr lang="en-IN" dirty="0"/>
              <a:t>        </a:t>
            </a:r>
            <a:r>
              <a:rPr lang="en-IN" dirty="0" err="1"/>
              <a:t>a.sleep</a:t>
            </a:r>
            <a:r>
              <a:rPr lang="en-IN" dirty="0"/>
              <a:t>();   // Calls Animal's method</a:t>
            </a:r>
          </a:p>
          <a:p>
            <a:r>
              <a:rPr lang="en-IN" dirty="0"/>
              <a:t>    }</a:t>
            </a:r>
          </a:p>
          <a:p>
            <a:r>
              <a:rPr lang="en-IN" dirty="0"/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419435221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231B26F-08F7-D10A-DD03-179311B6CD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b="1" dirty="0">
                <a:latin typeface="Arial" panose="020B0604020202020204" pitchFamily="34" charset="0"/>
              </a:rPr>
              <a:t>Abstract Class – Key Points</a:t>
            </a:r>
            <a:endParaRPr lang="en-IN" dirty="0"/>
          </a:p>
        </p:txBody>
      </p:sp>
      <p:graphicFrame>
        <p:nvGraphicFramePr>
          <p:cNvPr id="7" name="Content Placeholder 6">
            <a:extLst>
              <a:ext uri="{FF2B5EF4-FFF2-40B4-BE49-F238E27FC236}">
                <a16:creationId xmlns:a16="http://schemas.microsoft.com/office/drawing/2014/main" id="{22D423C2-54D7-0914-731E-1D7BF8F4CE6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0349850"/>
              </p:ext>
            </p:extLst>
          </p:nvPr>
        </p:nvGraphicFramePr>
        <p:xfrm>
          <a:off x="1307690" y="1569987"/>
          <a:ext cx="9223814" cy="4781655"/>
        </p:xfrm>
        <a:graphic>
          <a:graphicData uri="http://schemas.openxmlformats.org/drawingml/2006/table">
            <a:tbl>
              <a:tblPr/>
              <a:tblGrid>
                <a:gridCol w="4611907">
                  <a:extLst>
                    <a:ext uri="{9D8B030D-6E8A-4147-A177-3AD203B41FA5}">
                      <a16:colId xmlns:a16="http://schemas.microsoft.com/office/drawing/2014/main" val="900626515"/>
                    </a:ext>
                  </a:extLst>
                </a:gridCol>
                <a:gridCol w="4611907">
                  <a:extLst>
                    <a:ext uri="{9D8B030D-6E8A-4147-A177-3AD203B41FA5}">
                      <a16:colId xmlns:a16="http://schemas.microsoft.com/office/drawing/2014/main" val="351327940"/>
                    </a:ext>
                  </a:extLst>
                </a:gridCol>
              </a:tblGrid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Feature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b="1" dirty="0"/>
                        <a:t>Abstract Class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12982300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Keyword used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>
                          <a:latin typeface="Courier New" panose="02070309020205020404" pitchFamily="49" charset="0"/>
                        </a:rPr>
                        <a:t>abstract</a:t>
                      </a:r>
                      <a:endParaRPr lang="en-IN" sz="1400"/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01858089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Object creation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Not allowed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111165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be extended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95880926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Purpose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Acts as blueprint for child classes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47228051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abstract 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99879075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normal 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74496632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sz="1400"/>
                        <a:t>Forces child to override 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1876108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constructor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063803172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main method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47175277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static 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83478414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Can have final methods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Yes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7563586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Relationship used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IS-A relationship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253402781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Best used when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Classes are closely related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151152893"/>
                  </a:ext>
                </a:extLst>
              </a:tr>
              <a:tr h="318777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/>
                        <a:t>Example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sz="1400" dirty="0"/>
                        <a:t>Dog is an Animal</a:t>
                      </a:r>
                    </a:p>
                  </a:txBody>
                  <a:tcPr marL="72522" marR="72522" marT="36261" marB="36261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6046540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6265240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BF1619C-93C3-8E21-5EDE-C7D7CE2128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Normal Class vs Abstract Class</a:t>
            </a:r>
            <a:endParaRPr lang="en-IN" dirty="0"/>
          </a:p>
        </p:txBody>
      </p:sp>
      <p:graphicFrame>
        <p:nvGraphicFramePr>
          <p:cNvPr id="14" name="Content Placeholder 13">
            <a:extLst>
              <a:ext uri="{FF2B5EF4-FFF2-40B4-BE49-F238E27FC236}">
                <a16:creationId xmlns:a16="http://schemas.microsoft.com/office/drawing/2014/main" id="{D0F5E52B-7FF8-96D5-28B0-E92F2465ABE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38537296"/>
              </p:ext>
            </p:extLst>
          </p:nvPr>
        </p:nvGraphicFramePr>
        <p:xfrm>
          <a:off x="543233" y="1879493"/>
          <a:ext cx="10515600" cy="29260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49096186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3306846615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11960972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/>
                        <a:t>Normal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Abstract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104354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640869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Abstract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336146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Method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All methods must have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 have methods without body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8351501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Must be extended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Yes, to be used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8692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Forces method implementation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Yes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522486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Design purpose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General use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Blueprint / rule definition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32780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Car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Vehicle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018085390"/>
                  </a:ext>
                </a:extLst>
              </a:tr>
            </a:tbl>
          </a:graphicData>
        </a:graphic>
      </p:graphicFrame>
      <p:sp>
        <p:nvSpPr>
          <p:cNvPr id="15" name="Rectangle 2">
            <a:extLst>
              <a:ext uri="{FF2B5EF4-FFF2-40B4-BE49-F238E27FC236}">
                <a16:creationId xmlns:a16="http://schemas.microsoft.com/office/drawing/2014/main" id="{51C3D2D2-09E6-F4E8-D5EE-66A9338FBD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838200" y="2582347"/>
            <a:ext cx="184731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3757100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41E4E23-BE8B-4C0A-8495-825F28DBC6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Abstract Class vs Interface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576C7380-E8B8-EC10-B6DD-3014A50DEFA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222061195"/>
              </p:ext>
            </p:extLst>
          </p:nvPr>
        </p:nvGraphicFramePr>
        <p:xfrm>
          <a:off x="415412" y="2012229"/>
          <a:ext cx="10515600" cy="3840480"/>
        </p:xfrm>
        <a:graphic>
          <a:graphicData uri="http://schemas.openxmlformats.org/drawingml/2006/table">
            <a:tbl>
              <a:tblPr/>
              <a:tblGrid>
                <a:gridCol w="3505200">
                  <a:extLst>
                    <a:ext uri="{9D8B030D-6E8A-4147-A177-3AD203B41FA5}">
                      <a16:colId xmlns:a16="http://schemas.microsoft.com/office/drawing/2014/main" val="619909829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902404262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38043875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Feature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Abstract Class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b="1" dirty="0"/>
                        <a:t>Interface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231097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Keyword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abstract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Courier New" panose="02070309020205020404" pitchFamily="49" charset="0"/>
                        </a:rPr>
                        <a:t>interface</a:t>
                      </a:r>
                      <a:endParaRPr lang="en-IN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011284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Object creation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008250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single 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Supports multiple inheritance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2874808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/>
                        <a:t>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Abstract + Normal methods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Abstract methods (default/static allowed in Java 8+)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97285932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Constructor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Not allowed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04823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Variables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Can be any type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Always public static final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5216239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Relationship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IS-A (closely related classes)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/>
                        <a:t>CAN-DO (ability of unrelated classes)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61097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Example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/>
                        <a:t>Dog is an Animal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US" dirty="0"/>
                        <a:t>Dog can be Runnable, Playable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45961358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12510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144</TotalTime>
  <Words>1278</Words>
  <Application>Microsoft Office PowerPoint</Application>
  <PresentationFormat>Widescreen</PresentationFormat>
  <Paragraphs>308</Paragraphs>
  <Slides>22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9" baseType="lpstr">
      <vt:lpstr>Arial</vt:lpstr>
      <vt:lpstr>Arial Unicode MS</vt:lpstr>
      <vt:lpstr>Calibri</vt:lpstr>
      <vt:lpstr>Calibri Light</vt:lpstr>
      <vt:lpstr>Courier New</vt:lpstr>
      <vt:lpstr>source-serif-pro</vt:lpstr>
      <vt:lpstr>Office Theme</vt:lpstr>
      <vt:lpstr>Abstraction in Java</vt:lpstr>
      <vt:lpstr>What is Abstraction?</vt:lpstr>
      <vt:lpstr>PowerPoint Presentation</vt:lpstr>
      <vt:lpstr>Why Abstraction is Important?</vt:lpstr>
      <vt:lpstr>How Abstraction is Achieved in Java?</vt:lpstr>
      <vt:lpstr>Difference</vt:lpstr>
      <vt:lpstr>Example</vt:lpstr>
      <vt:lpstr>Interface</vt:lpstr>
      <vt:lpstr>So we create an interface:</vt:lpstr>
      <vt:lpstr>PowerPoint Presentation</vt:lpstr>
      <vt:lpstr>Question???</vt:lpstr>
      <vt:lpstr>Normal Class (No abstraction)</vt:lpstr>
      <vt:lpstr>Abstract Class (With abstraction)</vt:lpstr>
      <vt:lpstr>Abstraction Using Abstract Class</vt:lpstr>
      <vt:lpstr>Abstract Class Example</vt:lpstr>
      <vt:lpstr>Interface</vt:lpstr>
      <vt:lpstr>PowerPoint Presentation</vt:lpstr>
      <vt:lpstr>Real-Time Use of Interface</vt:lpstr>
      <vt:lpstr>PowerPoint Presentation</vt:lpstr>
      <vt:lpstr>Abstract Class – Key Points</vt:lpstr>
      <vt:lpstr>Normal Class vs Abstract Class</vt:lpstr>
      <vt:lpstr>Abstract Class vs Interface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priyankahpi7@outlook.com</dc:creator>
  <cp:lastModifiedBy>priyankahpi7@outlook.com</cp:lastModifiedBy>
  <cp:revision>11</cp:revision>
  <dcterms:created xsi:type="dcterms:W3CDTF">2026-01-08T03:24:28Z</dcterms:created>
  <dcterms:modified xsi:type="dcterms:W3CDTF">2026-01-20T08:15:07Z</dcterms:modified>
</cp:coreProperties>
</file>