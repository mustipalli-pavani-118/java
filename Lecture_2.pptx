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461" r:id="rId2"/>
    <p:sldId id="462" r:id="rId3"/>
    <p:sldId id="463" r:id="rId4"/>
    <p:sldId id="464" r:id="rId5"/>
    <p:sldId id="465" r:id="rId6"/>
    <p:sldId id="466" r:id="rId7"/>
    <p:sldId id="467" r:id="rId8"/>
    <p:sldId id="468" r:id="rId9"/>
    <p:sldId id="469" r:id="rId10"/>
    <p:sldId id="470" r:id="rId11"/>
    <p:sldId id="471" r:id="rId12"/>
    <p:sldId id="472" r:id="rId13"/>
    <p:sldId id="473" r:id="rId14"/>
    <p:sldId id="474" r:id="rId15"/>
    <p:sldId id="475" r:id="rId16"/>
    <p:sldId id="476" r:id="rId17"/>
    <p:sldId id="477" r:id="rId18"/>
    <p:sldId id="478" r:id="rId19"/>
    <p:sldId id="479" r:id="rId20"/>
    <p:sldId id="480" r:id="rId21"/>
    <p:sldId id="481" r:id="rId22"/>
    <p:sldId id="482" r:id="rId23"/>
    <p:sldId id="483" r:id="rId24"/>
    <p:sldId id="484" r:id="rId25"/>
    <p:sldId id="485" r:id="rId26"/>
    <p:sldId id="486" r:id="rId27"/>
    <p:sldId id="487" r:id="rId28"/>
    <p:sldId id="488" r:id="rId29"/>
    <p:sldId id="489" r:id="rId30"/>
    <p:sldId id="490" r:id="rId31"/>
    <p:sldId id="491" r:id="rId32"/>
    <p:sldId id="492" r:id="rId33"/>
    <p:sldId id="493" r:id="rId34"/>
    <p:sldId id="494" r:id="rId35"/>
    <p:sldId id="495" r:id="rId36"/>
    <p:sldId id="496" r:id="rId37"/>
    <p:sldId id="497" r:id="rId38"/>
    <p:sldId id="498" r:id="rId39"/>
    <p:sldId id="499" r:id="rId40"/>
    <p:sldId id="500" r:id="rId41"/>
    <p:sldId id="501" r:id="rId42"/>
    <p:sldId id="502" r:id="rId43"/>
    <p:sldId id="503" r:id="rId44"/>
    <p:sldId id="504" r:id="rId45"/>
    <p:sldId id="505" r:id="rId46"/>
    <p:sldId id="506" r:id="rId47"/>
    <p:sldId id="507" r:id="rId48"/>
    <p:sldId id="508" r:id="rId49"/>
    <p:sldId id="509" r:id="rId50"/>
    <p:sldId id="510" r:id="rId51"/>
    <p:sldId id="511" r:id="rId52"/>
    <p:sldId id="512" r:id="rId53"/>
    <p:sldId id="513" r:id="rId54"/>
    <p:sldId id="514" r:id="rId55"/>
    <p:sldId id="515" r:id="rId56"/>
    <p:sldId id="516" r:id="rId57"/>
    <p:sldId id="517" r:id="rId58"/>
    <p:sldId id="518" r:id="rId59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91" autoAdjust="0"/>
    <p:restoredTop sz="94660"/>
  </p:normalViewPr>
  <p:slideViewPr>
    <p:cSldViewPr>
      <p:cViewPr varScale="1">
        <p:scale>
          <a:sx n="103" d="100"/>
          <a:sy n="103" d="100"/>
        </p:scale>
        <p:origin x="749" y="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4725" y="467785"/>
            <a:ext cx="8374549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610B37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610B37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610B37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610B37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154895" y="3903669"/>
            <a:ext cx="989330" cy="988060"/>
          </a:xfrm>
          <a:custGeom>
            <a:avLst/>
            <a:gdLst/>
            <a:ahLst/>
            <a:cxnLst/>
            <a:rect l="l" t="t" r="r" b="b"/>
            <a:pathLst>
              <a:path w="989329" h="988060">
                <a:moveTo>
                  <a:pt x="989099" y="987899"/>
                </a:moveTo>
                <a:lnTo>
                  <a:pt x="0" y="987899"/>
                </a:lnTo>
                <a:lnTo>
                  <a:pt x="0" y="0"/>
                </a:lnTo>
                <a:lnTo>
                  <a:pt x="989099" y="987899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181162" y="3903669"/>
            <a:ext cx="989330" cy="988060"/>
          </a:xfrm>
          <a:custGeom>
            <a:avLst/>
            <a:gdLst/>
            <a:ahLst/>
            <a:cxnLst/>
            <a:rect l="l" t="t" r="r" b="b"/>
            <a:pathLst>
              <a:path w="989329" h="988060">
                <a:moveTo>
                  <a:pt x="989099" y="987899"/>
                </a:moveTo>
                <a:lnTo>
                  <a:pt x="0" y="987899"/>
                </a:lnTo>
                <a:lnTo>
                  <a:pt x="989099" y="0"/>
                </a:lnTo>
                <a:lnTo>
                  <a:pt x="989099" y="987899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170273" y="3903669"/>
            <a:ext cx="989330" cy="988060"/>
          </a:xfrm>
          <a:custGeom>
            <a:avLst/>
            <a:gdLst/>
            <a:ahLst/>
            <a:cxnLst/>
            <a:rect l="l" t="t" r="r" b="b"/>
            <a:pathLst>
              <a:path w="989329" h="988060">
                <a:moveTo>
                  <a:pt x="989099" y="987899"/>
                </a:moveTo>
                <a:lnTo>
                  <a:pt x="0" y="987899"/>
                </a:lnTo>
                <a:lnTo>
                  <a:pt x="0" y="0"/>
                </a:lnTo>
                <a:lnTo>
                  <a:pt x="989099" y="0"/>
                </a:lnTo>
                <a:lnTo>
                  <a:pt x="989099" y="987899"/>
                </a:lnTo>
                <a:close/>
              </a:path>
            </a:pathLst>
          </a:custGeom>
          <a:solidFill>
            <a:srgbClr val="D133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154757" y="3903682"/>
            <a:ext cx="989330" cy="988060"/>
          </a:xfrm>
          <a:custGeom>
            <a:avLst/>
            <a:gdLst/>
            <a:ahLst/>
            <a:cxnLst/>
            <a:rect l="l" t="t" r="r" b="b"/>
            <a:pathLst>
              <a:path w="989329" h="988060">
                <a:moveTo>
                  <a:pt x="989099" y="987899"/>
                </a:moveTo>
                <a:lnTo>
                  <a:pt x="0" y="0"/>
                </a:lnTo>
                <a:lnTo>
                  <a:pt x="989099" y="0"/>
                </a:lnTo>
                <a:lnTo>
                  <a:pt x="989099" y="987899"/>
                </a:lnTo>
                <a:close/>
              </a:path>
            </a:pathLst>
          </a:custGeom>
          <a:solidFill>
            <a:srgbClr val="9B25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0" y="4891594"/>
            <a:ext cx="9144000" cy="252095"/>
          </a:xfrm>
          <a:custGeom>
            <a:avLst/>
            <a:gdLst/>
            <a:ahLst/>
            <a:cxnLst/>
            <a:rect l="l" t="t" r="r" b="b"/>
            <a:pathLst>
              <a:path w="9144000" h="252095">
                <a:moveTo>
                  <a:pt x="9143999" y="251999"/>
                </a:moveTo>
                <a:lnTo>
                  <a:pt x="0" y="2519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251999"/>
                </a:lnTo>
                <a:close/>
              </a:path>
            </a:pathLst>
          </a:custGeom>
          <a:solidFill>
            <a:srgbClr val="2A3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394713"/>
            <a:ext cx="8374549" cy="600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610B37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4725" y="1333634"/>
            <a:ext cx="8366125" cy="35140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avatpoint.com/java-jcomponent" TargetMode="External"/><Relationship Id="rId2" Type="http://schemas.openxmlformats.org/officeDocument/2006/relationships/hyperlink" Target="https://www.javatpoint.com/java-jmenuitem-and-jmenu" TargetMode="Externa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2205" y="3801624"/>
            <a:ext cx="7845425" cy="167640"/>
          </a:xfrm>
          <a:custGeom>
            <a:avLst/>
            <a:gdLst/>
            <a:ahLst/>
            <a:cxnLst/>
            <a:rect l="l" t="t" r="r" b="b"/>
            <a:pathLst>
              <a:path w="7845425" h="167639">
                <a:moveTo>
                  <a:pt x="7844819" y="167639"/>
                </a:moveTo>
                <a:lnTo>
                  <a:pt x="0" y="167639"/>
                </a:lnTo>
                <a:lnTo>
                  <a:pt x="0" y="0"/>
                </a:lnTo>
                <a:lnTo>
                  <a:pt x="7844819" y="0"/>
                </a:lnTo>
                <a:lnTo>
                  <a:pt x="7844819" y="1676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0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Arial"/>
                <a:cs typeface="Arial"/>
              </a:rPr>
              <a:t>Java</a:t>
            </a:r>
            <a:r>
              <a:rPr b="1" spc="-150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Applet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75225" y="1424311"/>
            <a:ext cx="8083550" cy="2818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Verdana"/>
                <a:cs typeface="Verdana"/>
              </a:rPr>
              <a:t>Applet</a:t>
            </a:r>
            <a:r>
              <a:rPr sz="1100" b="1" spc="-45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is</a:t>
            </a:r>
            <a:r>
              <a:rPr sz="1100" b="1" spc="-40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a</a:t>
            </a:r>
            <a:r>
              <a:rPr sz="1100" b="1" spc="-35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special</a:t>
            </a:r>
            <a:r>
              <a:rPr sz="1100" b="1" spc="-40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type</a:t>
            </a:r>
            <a:r>
              <a:rPr sz="1100" b="1" spc="-35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of</a:t>
            </a:r>
            <a:r>
              <a:rPr sz="1100" b="1" spc="-40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program</a:t>
            </a:r>
            <a:r>
              <a:rPr sz="1100" b="1" spc="-40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that</a:t>
            </a:r>
            <a:r>
              <a:rPr sz="1100" b="1" spc="-35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is</a:t>
            </a:r>
            <a:r>
              <a:rPr sz="1100" b="1" spc="-40" dirty="0">
                <a:latin typeface="Verdana"/>
                <a:cs typeface="Verdana"/>
              </a:rPr>
              <a:t> </a:t>
            </a:r>
            <a:r>
              <a:rPr sz="1100" b="1" spc="-10" dirty="0">
                <a:latin typeface="Verdana"/>
                <a:cs typeface="Verdana"/>
              </a:rPr>
              <a:t>embedded</a:t>
            </a:r>
            <a:r>
              <a:rPr sz="1100" b="1" spc="-35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in</a:t>
            </a:r>
            <a:r>
              <a:rPr sz="1100" b="1" spc="-40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the</a:t>
            </a:r>
            <a:r>
              <a:rPr sz="1100" b="1" spc="-40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webpage</a:t>
            </a:r>
            <a:r>
              <a:rPr sz="1100" b="1" spc="-35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to</a:t>
            </a:r>
            <a:r>
              <a:rPr sz="1100" b="1" spc="-40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generate</a:t>
            </a:r>
            <a:r>
              <a:rPr sz="1100" b="1" spc="-40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the</a:t>
            </a:r>
            <a:r>
              <a:rPr sz="1100" b="1" spc="-35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dynamic</a:t>
            </a:r>
            <a:r>
              <a:rPr sz="1100" b="1" spc="-40" dirty="0">
                <a:latin typeface="Verdana"/>
                <a:cs typeface="Verdana"/>
              </a:rPr>
              <a:t> </a:t>
            </a:r>
            <a:r>
              <a:rPr sz="1100" b="1" spc="-10" dirty="0">
                <a:latin typeface="Verdana"/>
                <a:cs typeface="Verdana"/>
              </a:rPr>
              <a:t>content.</a:t>
            </a: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100" b="1" dirty="0">
                <a:latin typeface="Verdana"/>
                <a:cs typeface="Verdana"/>
              </a:rPr>
              <a:t>It</a:t>
            </a:r>
            <a:r>
              <a:rPr sz="1100" b="1" spc="-30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runs</a:t>
            </a:r>
            <a:r>
              <a:rPr sz="1100" b="1" spc="-30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inside</a:t>
            </a:r>
            <a:r>
              <a:rPr sz="1100" b="1" spc="-25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the</a:t>
            </a:r>
            <a:r>
              <a:rPr sz="1100" b="1" spc="-30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browser</a:t>
            </a:r>
            <a:r>
              <a:rPr sz="1100" b="1" spc="-30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and</a:t>
            </a:r>
            <a:r>
              <a:rPr sz="1100" b="1" spc="-25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works</a:t>
            </a:r>
            <a:r>
              <a:rPr sz="1100" b="1" spc="-30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at</a:t>
            </a:r>
            <a:r>
              <a:rPr sz="1100" b="1" spc="-25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client</a:t>
            </a:r>
            <a:r>
              <a:rPr sz="1100" b="1" spc="-30" dirty="0">
                <a:latin typeface="Verdana"/>
                <a:cs typeface="Verdana"/>
              </a:rPr>
              <a:t> </a:t>
            </a:r>
            <a:r>
              <a:rPr sz="1100" b="1" spc="-10" dirty="0">
                <a:latin typeface="Verdana"/>
                <a:cs typeface="Verdana"/>
              </a:rPr>
              <a:t>side.</a:t>
            </a: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15"/>
              </a:spcBef>
            </a:pP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610B4B"/>
                </a:solidFill>
                <a:latin typeface="Arial"/>
                <a:cs typeface="Arial"/>
              </a:rPr>
              <a:t>Advantage</a:t>
            </a:r>
            <a:r>
              <a:rPr sz="1800" b="1" spc="-40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610B4B"/>
                </a:solidFill>
                <a:latin typeface="Arial"/>
                <a:cs typeface="Arial"/>
              </a:rPr>
              <a:t>of</a:t>
            </a:r>
            <a:r>
              <a:rPr sz="1800" b="1" spc="-95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610B4B"/>
                </a:solidFill>
                <a:latin typeface="Arial"/>
                <a:cs typeface="Arial"/>
              </a:rPr>
              <a:t>Applet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70"/>
              </a:spcBef>
            </a:pPr>
            <a:r>
              <a:rPr sz="1100" b="1" dirty="0">
                <a:latin typeface="Verdana"/>
                <a:cs typeface="Verdana"/>
              </a:rPr>
              <a:t>There</a:t>
            </a:r>
            <a:r>
              <a:rPr sz="1100" b="1" spc="-35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are</a:t>
            </a:r>
            <a:r>
              <a:rPr sz="1100" b="1" spc="-35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many</a:t>
            </a:r>
            <a:r>
              <a:rPr sz="1100" b="1" spc="-35" dirty="0">
                <a:latin typeface="Verdana"/>
                <a:cs typeface="Verdana"/>
              </a:rPr>
              <a:t> </a:t>
            </a:r>
            <a:r>
              <a:rPr sz="1100" b="1" spc="-10" dirty="0">
                <a:latin typeface="Verdana"/>
                <a:cs typeface="Verdana"/>
              </a:rPr>
              <a:t>advantages</a:t>
            </a:r>
            <a:r>
              <a:rPr sz="1100" b="1" spc="-30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of</a:t>
            </a:r>
            <a:r>
              <a:rPr sz="1100" b="1" spc="-35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applet.</a:t>
            </a:r>
            <a:r>
              <a:rPr sz="1100" b="1" spc="-35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They</a:t>
            </a:r>
            <a:r>
              <a:rPr sz="1100" b="1" spc="-35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are</a:t>
            </a:r>
            <a:r>
              <a:rPr sz="1100" b="1" spc="-30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as</a:t>
            </a:r>
            <a:r>
              <a:rPr sz="1100" b="1" spc="-35" dirty="0">
                <a:latin typeface="Verdana"/>
                <a:cs typeface="Verdana"/>
              </a:rPr>
              <a:t> </a:t>
            </a:r>
            <a:r>
              <a:rPr sz="1100" b="1" spc="-10" dirty="0">
                <a:latin typeface="Verdana"/>
                <a:cs typeface="Verdana"/>
              </a:rPr>
              <a:t>follows:</a:t>
            </a: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940"/>
              </a:spcBef>
            </a:pPr>
            <a:endParaRPr sz="1100">
              <a:latin typeface="Verdana"/>
              <a:cs typeface="Verdana"/>
            </a:endParaRPr>
          </a:p>
          <a:p>
            <a:pPr marL="469265" indent="-312420">
              <a:lnSpc>
                <a:spcPct val="100000"/>
              </a:lnSpc>
              <a:spcBef>
                <a:spcPts val="5"/>
              </a:spcBef>
              <a:buFont typeface="Arial"/>
              <a:buChar char="●"/>
              <a:tabLst>
                <a:tab pos="469265" algn="l"/>
              </a:tabLst>
            </a:pPr>
            <a:r>
              <a:rPr sz="1100" b="1" dirty="0">
                <a:latin typeface="Verdana"/>
                <a:cs typeface="Verdana"/>
              </a:rPr>
              <a:t>It</a:t>
            </a:r>
            <a:r>
              <a:rPr sz="1100" b="1" spc="-25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works</a:t>
            </a:r>
            <a:r>
              <a:rPr sz="1100" b="1" spc="-20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at</a:t>
            </a:r>
            <a:r>
              <a:rPr sz="1100" b="1" spc="-25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client</a:t>
            </a:r>
            <a:r>
              <a:rPr sz="1100" b="1" spc="-20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side</a:t>
            </a:r>
            <a:r>
              <a:rPr sz="1100" b="1" spc="-25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so</a:t>
            </a:r>
            <a:r>
              <a:rPr sz="1100" b="1" spc="-20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less</a:t>
            </a:r>
            <a:r>
              <a:rPr sz="1100" b="1" spc="-25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response</a:t>
            </a:r>
            <a:r>
              <a:rPr sz="1100" b="1" spc="-20" dirty="0">
                <a:latin typeface="Verdana"/>
                <a:cs typeface="Verdana"/>
              </a:rPr>
              <a:t> </a:t>
            </a:r>
            <a:r>
              <a:rPr sz="1100" b="1" spc="-10" dirty="0">
                <a:latin typeface="Verdana"/>
                <a:cs typeface="Verdana"/>
              </a:rPr>
              <a:t>time.</a:t>
            </a:r>
            <a:endParaRPr sz="1100">
              <a:latin typeface="Verdana"/>
              <a:cs typeface="Verdana"/>
            </a:endParaRPr>
          </a:p>
          <a:p>
            <a:pPr marL="469265" indent="-312420">
              <a:lnSpc>
                <a:spcPct val="100000"/>
              </a:lnSpc>
              <a:spcBef>
                <a:spcPts val="780"/>
              </a:spcBef>
              <a:buFont typeface="Arial"/>
              <a:buChar char="●"/>
              <a:tabLst>
                <a:tab pos="469265" algn="l"/>
              </a:tabLst>
            </a:pPr>
            <a:r>
              <a:rPr sz="1100" b="1" spc="-10" dirty="0">
                <a:latin typeface="Verdana"/>
                <a:cs typeface="Verdana"/>
              </a:rPr>
              <a:t>Secured</a:t>
            </a:r>
            <a:endParaRPr sz="1100">
              <a:latin typeface="Verdana"/>
              <a:cs typeface="Verdana"/>
            </a:endParaRPr>
          </a:p>
          <a:p>
            <a:pPr marL="469900" marR="73025" indent="-313055">
              <a:lnSpc>
                <a:spcPct val="159100"/>
              </a:lnSpc>
              <a:buFont typeface="Arial"/>
              <a:buChar char="●"/>
              <a:tabLst>
                <a:tab pos="469900" algn="l"/>
              </a:tabLst>
            </a:pPr>
            <a:r>
              <a:rPr sz="1100" b="1" dirty="0">
                <a:latin typeface="Verdana"/>
                <a:cs typeface="Verdana"/>
              </a:rPr>
              <a:t>It</a:t>
            </a:r>
            <a:r>
              <a:rPr sz="1100" b="1" spc="-45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can</a:t>
            </a:r>
            <a:r>
              <a:rPr sz="1100" b="1" spc="-40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be</a:t>
            </a:r>
            <a:r>
              <a:rPr sz="1100" b="1" spc="-45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executed</a:t>
            </a:r>
            <a:r>
              <a:rPr sz="1100" b="1" spc="-40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by</a:t>
            </a:r>
            <a:r>
              <a:rPr sz="1100" b="1" spc="-45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browsers</a:t>
            </a:r>
            <a:r>
              <a:rPr sz="1100" b="1" spc="-40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running</a:t>
            </a:r>
            <a:r>
              <a:rPr sz="1100" b="1" spc="-45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under</a:t>
            </a:r>
            <a:r>
              <a:rPr sz="1100" b="1" spc="-40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many</a:t>
            </a:r>
            <a:r>
              <a:rPr sz="1100" b="1" spc="-45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plateforms,</a:t>
            </a:r>
            <a:r>
              <a:rPr sz="1100" b="1" spc="-40" dirty="0">
                <a:latin typeface="Verdana"/>
                <a:cs typeface="Verdana"/>
              </a:rPr>
              <a:t> </a:t>
            </a:r>
            <a:r>
              <a:rPr sz="1100" b="1" spc="-10" dirty="0">
                <a:latin typeface="Verdana"/>
                <a:cs typeface="Verdana"/>
              </a:rPr>
              <a:t>including</a:t>
            </a:r>
            <a:r>
              <a:rPr sz="1100" b="1" spc="-45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Linux,</a:t>
            </a:r>
            <a:r>
              <a:rPr sz="1100" b="1" spc="-40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Windows,</a:t>
            </a:r>
            <a:r>
              <a:rPr sz="1100" b="1" spc="-45" dirty="0">
                <a:latin typeface="Verdana"/>
                <a:cs typeface="Verdana"/>
              </a:rPr>
              <a:t> </a:t>
            </a:r>
            <a:r>
              <a:rPr sz="1100" b="1" spc="-25" dirty="0">
                <a:latin typeface="Verdana"/>
                <a:cs typeface="Verdana"/>
              </a:rPr>
              <a:t>Mac </a:t>
            </a:r>
            <a:r>
              <a:rPr sz="1100" b="1" dirty="0">
                <a:latin typeface="Verdana"/>
                <a:cs typeface="Verdana"/>
              </a:rPr>
              <a:t>Os</a:t>
            </a:r>
            <a:r>
              <a:rPr sz="1100" b="1" spc="-10" dirty="0">
                <a:latin typeface="Verdana"/>
                <a:cs typeface="Verdana"/>
              </a:rPr>
              <a:t> </a:t>
            </a:r>
            <a:r>
              <a:rPr sz="1100" b="1" spc="-20" dirty="0">
                <a:latin typeface="Verdana"/>
                <a:cs typeface="Verdana"/>
              </a:rPr>
              <a:t>etc.</a:t>
            </a:r>
            <a:endParaRPr sz="1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06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solidFill>
                  <a:srgbClr val="610B4B"/>
                </a:solidFill>
                <a:latin typeface="Arial"/>
                <a:cs typeface="Arial"/>
              </a:rPr>
              <a:t>Lifecycle</a:t>
            </a:r>
            <a:r>
              <a:rPr sz="1600" b="1" spc="-25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610B4B"/>
                </a:solidFill>
                <a:latin typeface="Arial"/>
                <a:cs typeface="Arial"/>
              </a:rPr>
              <a:t>of</a:t>
            </a:r>
            <a:r>
              <a:rPr sz="1600" b="1" spc="-20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610B4B"/>
                </a:solidFill>
                <a:latin typeface="Arial"/>
                <a:cs typeface="Arial"/>
              </a:rPr>
              <a:t>Java</a:t>
            </a:r>
            <a:r>
              <a:rPr sz="1600" b="1" spc="-80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610B4B"/>
                </a:solidFill>
                <a:latin typeface="Arial"/>
                <a:cs typeface="Arial"/>
              </a:rPr>
              <a:t>Applet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9911" y="1889258"/>
            <a:ext cx="2111375" cy="1454150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404495" indent="-391795">
              <a:lnSpc>
                <a:spcPct val="100000"/>
              </a:lnSpc>
              <a:spcBef>
                <a:spcPts val="910"/>
              </a:spcBef>
              <a:buAutoNum type="arabicPeriod"/>
              <a:tabLst>
                <a:tab pos="404495" algn="l"/>
              </a:tabLst>
            </a:pPr>
            <a:r>
              <a:rPr sz="1200" b="1" dirty="0">
                <a:latin typeface="Verdana"/>
                <a:cs typeface="Verdana"/>
              </a:rPr>
              <a:t>Applet</a:t>
            </a:r>
            <a:r>
              <a:rPr sz="1200" b="1" spc="-50" dirty="0">
                <a:latin typeface="Verdana"/>
                <a:cs typeface="Verdana"/>
              </a:rPr>
              <a:t> </a:t>
            </a:r>
            <a:r>
              <a:rPr sz="1200" b="1" dirty="0">
                <a:latin typeface="Verdana"/>
                <a:cs typeface="Verdana"/>
              </a:rPr>
              <a:t>is</a:t>
            </a:r>
            <a:r>
              <a:rPr sz="1200" b="1" spc="-45" dirty="0">
                <a:latin typeface="Verdana"/>
                <a:cs typeface="Verdana"/>
              </a:rPr>
              <a:t> </a:t>
            </a:r>
            <a:r>
              <a:rPr sz="1200" b="1" spc="-10" dirty="0">
                <a:latin typeface="Verdana"/>
                <a:cs typeface="Verdana"/>
              </a:rPr>
              <a:t>initialized.</a:t>
            </a:r>
            <a:endParaRPr sz="1200">
              <a:latin typeface="Verdana"/>
              <a:cs typeface="Verdana"/>
            </a:endParaRPr>
          </a:p>
          <a:p>
            <a:pPr marL="404495" indent="-391795">
              <a:lnSpc>
                <a:spcPct val="100000"/>
              </a:lnSpc>
              <a:spcBef>
                <a:spcPts val="810"/>
              </a:spcBef>
              <a:buAutoNum type="arabicPeriod"/>
              <a:tabLst>
                <a:tab pos="404495" algn="l"/>
              </a:tabLst>
            </a:pPr>
            <a:r>
              <a:rPr sz="1200" b="1" dirty="0">
                <a:latin typeface="Verdana"/>
                <a:cs typeface="Verdana"/>
              </a:rPr>
              <a:t>Applet</a:t>
            </a:r>
            <a:r>
              <a:rPr sz="1200" b="1" spc="-50" dirty="0">
                <a:latin typeface="Verdana"/>
                <a:cs typeface="Verdana"/>
              </a:rPr>
              <a:t> </a:t>
            </a:r>
            <a:r>
              <a:rPr sz="1200" b="1" dirty="0">
                <a:latin typeface="Verdana"/>
                <a:cs typeface="Verdana"/>
              </a:rPr>
              <a:t>is</a:t>
            </a:r>
            <a:r>
              <a:rPr sz="1200" b="1" spc="-45" dirty="0">
                <a:latin typeface="Verdana"/>
                <a:cs typeface="Verdana"/>
              </a:rPr>
              <a:t> </a:t>
            </a:r>
            <a:r>
              <a:rPr sz="1200" b="1" spc="-10" dirty="0">
                <a:latin typeface="Verdana"/>
                <a:cs typeface="Verdana"/>
              </a:rPr>
              <a:t>started.</a:t>
            </a:r>
            <a:endParaRPr sz="1200">
              <a:latin typeface="Verdana"/>
              <a:cs typeface="Verdana"/>
            </a:endParaRPr>
          </a:p>
          <a:p>
            <a:pPr marL="404495" indent="-391795">
              <a:lnSpc>
                <a:spcPct val="100000"/>
              </a:lnSpc>
              <a:spcBef>
                <a:spcPts val="810"/>
              </a:spcBef>
              <a:buAutoNum type="arabicPeriod"/>
              <a:tabLst>
                <a:tab pos="404495" algn="l"/>
              </a:tabLst>
            </a:pPr>
            <a:r>
              <a:rPr sz="1200" b="1" dirty="0">
                <a:latin typeface="Verdana"/>
                <a:cs typeface="Verdana"/>
              </a:rPr>
              <a:t>Applet</a:t>
            </a:r>
            <a:r>
              <a:rPr sz="1200" b="1" spc="-50" dirty="0">
                <a:latin typeface="Verdana"/>
                <a:cs typeface="Verdana"/>
              </a:rPr>
              <a:t> </a:t>
            </a:r>
            <a:r>
              <a:rPr sz="1200" b="1" dirty="0">
                <a:latin typeface="Verdana"/>
                <a:cs typeface="Verdana"/>
              </a:rPr>
              <a:t>is</a:t>
            </a:r>
            <a:r>
              <a:rPr sz="1200" b="1" spc="-45" dirty="0">
                <a:latin typeface="Verdana"/>
                <a:cs typeface="Verdana"/>
              </a:rPr>
              <a:t> </a:t>
            </a:r>
            <a:r>
              <a:rPr sz="1200" b="1" spc="-10" dirty="0">
                <a:latin typeface="Verdana"/>
                <a:cs typeface="Verdana"/>
              </a:rPr>
              <a:t>painted.</a:t>
            </a:r>
            <a:endParaRPr sz="1200">
              <a:latin typeface="Verdana"/>
              <a:cs typeface="Verdana"/>
            </a:endParaRPr>
          </a:p>
          <a:p>
            <a:pPr marL="404495" indent="-391795">
              <a:lnSpc>
                <a:spcPct val="100000"/>
              </a:lnSpc>
              <a:spcBef>
                <a:spcPts val="810"/>
              </a:spcBef>
              <a:buAutoNum type="arabicPeriod"/>
              <a:tabLst>
                <a:tab pos="404495" algn="l"/>
              </a:tabLst>
            </a:pPr>
            <a:r>
              <a:rPr sz="1200" b="1" dirty="0">
                <a:latin typeface="Verdana"/>
                <a:cs typeface="Verdana"/>
              </a:rPr>
              <a:t>Applet</a:t>
            </a:r>
            <a:r>
              <a:rPr sz="1200" b="1" spc="-50" dirty="0">
                <a:latin typeface="Verdana"/>
                <a:cs typeface="Verdana"/>
              </a:rPr>
              <a:t> </a:t>
            </a:r>
            <a:r>
              <a:rPr sz="1200" b="1" dirty="0">
                <a:latin typeface="Verdana"/>
                <a:cs typeface="Verdana"/>
              </a:rPr>
              <a:t>is</a:t>
            </a:r>
            <a:r>
              <a:rPr sz="1200" b="1" spc="-45" dirty="0">
                <a:latin typeface="Verdana"/>
                <a:cs typeface="Verdana"/>
              </a:rPr>
              <a:t> </a:t>
            </a:r>
            <a:r>
              <a:rPr sz="1200" b="1" spc="-10" dirty="0">
                <a:latin typeface="Verdana"/>
                <a:cs typeface="Verdana"/>
              </a:rPr>
              <a:t>stopped.</a:t>
            </a:r>
            <a:endParaRPr sz="1200">
              <a:latin typeface="Verdana"/>
              <a:cs typeface="Verdana"/>
            </a:endParaRPr>
          </a:p>
          <a:p>
            <a:pPr marL="404495" indent="-391795">
              <a:lnSpc>
                <a:spcPct val="100000"/>
              </a:lnSpc>
              <a:spcBef>
                <a:spcPts val="810"/>
              </a:spcBef>
              <a:buAutoNum type="arabicPeriod"/>
              <a:tabLst>
                <a:tab pos="404495" algn="l"/>
              </a:tabLst>
            </a:pPr>
            <a:r>
              <a:rPr sz="1200" b="1" dirty="0">
                <a:latin typeface="Verdana"/>
                <a:cs typeface="Verdana"/>
              </a:rPr>
              <a:t>Applet</a:t>
            </a:r>
            <a:r>
              <a:rPr sz="1200" b="1" spc="-50" dirty="0">
                <a:latin typeface="Verdana"/>
                <a:cs typeface="Verdana"/>
              </a:rPr>
              <a:t> </a:t>
            </a:r>
            <a:r>
              <a:rPr sz="1200" b="1" dirty="0">
                <a:latin typeface="Verdana"/>
                <a:cs typeface="Verdana"/>
              </a:rPr>
              <a:t>is</a:t>
            </a:r>
            <a:r>
              <a:rPr sz="1200" b="1" spc="-45" dirty="0">
                <a:latin typeface="Verdana"/>
                <a:cs typeface="Verdana"/>
              </a:rPr>
              <a:t> </a:t>
            </a:r>
            <a:r>
              <a:rPr sz="1200" b="1" spc="-10" dirty="0">
                <a:latin typeface="Verdana"/>
                <a:cs typeface="Verdana"/>
              </a:rPr>
              <a:t>destroyed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58250" y="252500"/>
            <a:ext cx="4642574" cy="41194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73699" y="4054550"/>
            <a:ext cx="6402070" cy="182880"/>
          </a:xfrm>
          <a:custGeom>
            <a:avLst/>
            <a:gdLst/>
            <a:ahLst/>
            <a:cxnLst/>
            <a:rect l="l" t="t" r="r" b="b"/>
            <a:pathLst>
              <a:path w="6402070" h="182879">
                <a:moveTo>
                  <a:pt x="6401990" y="182879"/>
                </a:moveTo>
                <a:lnTo>
                  <a:pt x="0" y="182879"/>
                </a:lnTo>
                <a:lnTo>
                  <a:pt x="0" y="0"/>
                </a:lnTo>
                <a:lnTo>
                  <a:pt x="6401990" y="0"/>
                </a:lnTo>
                <a:lnTo>
                  <a:pt x="6401990" y="1828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5" y="293271"/>
            <a:ext cx="287337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solidFill>
                  <a:srgbClr val="610B4B"/>
                </a:solidFill>
                <a:latin typeface="Arial"/>
                <a:cs typeface="Arial"/>
              </a:rPr>
              <a:t>Lifecycle</a:t>
            </a:r>
            <a:r>
              <a:rPr sz="1600" b="1" spc="-35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610B4B"/>
                </a:solidFill>
                <a:latin typeface="Arial"/>
                <a:cs typeface="Arial"/>
              </a:rPr>
              <a:t>methods</a:t>
            </a:r>
            <a:r>
              <a:rPr sz="1600" b="1" spc="-35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610B4B"/>
                </a:solidFill>
                <a:latin typeface="Arial"/>
                <a:cs typeface="Arial"/>
              </a:rPr>
              <a:t>for</a:t>
            </a:r>
            <a:r>
              <a:rPr sz="1600" b="1" spc="-85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610B4B"/>
                </a:solidFill>
                <a:latin typeface="Arial"/>
                <a:cs typeface="Arial"/>
              </a:rPr>
              <a:t>Applet: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929334"/>
            <a:ext cx="8074025" cy="3314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43535">
              <a:lnSpc>
                <a:spcPct val="112799"/>
              </a:lnSpc>
              <a:spcBef>
                <a:spcPts val="100"/>
              </a:spcBef>
            </a:pPr>
            <a:r>
              <a:rPr sz="1200" dirty="0">
                <a:latin typeface="Verdana"/>
                <a:cs typeface="Verdana"/>
              </a:rPr>
              <a:t>The</a:t>
            </a:r>
            <a:r>
              <a:rPr sz="1200" spc="-2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java.applet.Applet</a:t>
            </a:r>
            <a:r>
              <a:rPr sz="1200" spc="-2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class</a:t>
            </a:r>
            <a:r>
              <a:rPr sz="1200" spc="-2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4</a:t>
            </a:r>
            <a:r>
              <a:rPr sz="1200" spc="-2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life</a:t>
            </a:r>
            <a:r>
              <a:rPr sz="1200" spc="-2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cycle</a:t>
            </a:r>
            <a:r>
              <a:rPr sz="1200" spc="-2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methods</a:t>
            </a:r>
            <a:r>
              <a:rPr sz="1200" spc="-2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and</a:t>
            </a:r>
            <a:r>
              <a:rPr sz="1200" spc="-2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java.awt.Component</a:t>
            </a:r>
            <a:r>
              <a:rPr sz="1200" spc="-2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class</a:t>
            </a:r>
            <a:r>
              <a:rPr sz="1200" spc="-2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provides</a:t>
            </a:r>
            <a:r>
              <a:rPr sz="1200" spc="-2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1</a:t>
            </a:r>
            <a:r>
              <a:rPr sz="1200" spc="-2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life</a:t>
            </a:r>
            <a:r>
              <a:rPr sz="1200" spc="-2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cycle </a:t>
            </a:r>
            <a:r>
              <a:rPr sz="1200" dirty="0">
                <a:latin typeface="Verdana"/>
                <a:cs typeface="Verdana"/>
              </a:rPr>
              <a:t>methods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for</a:t>
            </a:r>
            <a:r>
              <a:rPr sz="1200" spc="-3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an</a:t>
            </a:r>
            <a:r>
              <a:rPr sz="1200" spc="-3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applet.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610B4B"/>
                </a:solidFill>
                <a:latin typeface="Arial MT"/>
                <a:cs typeface="Arial MT"/>
              </a:rPr>
              <a:t>java.applet.Applet</a:t>
            </a:r>
            <a:r>
              <a:rPr sz="1800" spc="-90" dirty="0">
                <a:solidFill>
                  <a:srgbClr val="610B4B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610B4B"/>
                </a:solidFill>
                <a:latin typeface="Arial MT"/>
                <a:cs typeface="Arial MT"/>
              </a:rPr>
              <a:t>class</a:t>
            </a:r>
            <a:endParaRPr sz="1800">
              <a:latin typeface="Arial MT"/>
              <a:cs typeface="Arial MT"/>
            </a:endParaRPr>
          </a:p>
          <a:p>
            <a:pPr marL="12700" marR="278765">
              <a:lnSpc>
                <a:spcPct val="114599"/>
              </a:lnSpc>
              <a:spcBef>
                <a:spcPts val="1455"/>
              </a:spcBef>
            </a:pPr>
            <a:r>
              <a:rPr sz="1200" dirty="0">
                <a:latin typeface="Verdana"/>
                <a:cs typeface="Verdana"/>
              </a:rPr>
              <a:t>For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creating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any</a:t>
            </a:r>
            <a:r>
              <a:rPr sz="1200" spc="-3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applet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java.applet.Applet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class</a:t>
            </a:r>
            <a:r>
              <a:rPr sz="1200" spc="-3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must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be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inherited.</a:t>
            </a:r>
            <a:r>
              <a:rPr sz="1200" spc="-3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It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provides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4</a:t>
            </a:r>
            <a:r>
              <a:rPr sz="1200" spc="-3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life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cycle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methods</a:t>
            </a:r>
            <a:r>
              <a:rPr sz="1200" spc="-30" dirty="0">
                <a:latin typeface="Verdana"/>
                <a:cs typeface="Verdana"/>
              </a:rPr>
              <a:t> </a:t>
            </a:r>
            <a:r>
              <a:rPr sz="1200" spc="-25" dirty="0">
                <a:latin typeface="Verdana"/>
                <a:cs typeface="Verdana"/>
              </a:rPr>
              <a:t>of </a:t>
            </a:r>
            <a:r>
              <a:rPr sz="1200" spc="-10" dirty="0">
                <a:latin typeface="Verdana"/>
                <a:cs typeface="Verdana"/>
              </a:rPr>
              <a:t>applet.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Verdana"/>
              <a:cs typeface="Verdana"/>
            </a:endParaRPr>
          </a:p>
          <a:p>
            <a:pPr marL="469265" indent="-380365">
              <a:lnSpc>
                <a:spcPct val="100000"/>
              </a:lnSpc>
              <a:buFont typeface="Verdana"/>
              <a:buAutoNum type="arabicPeriod"/>
              <a:tabLst>
                <a:tab pos="469265" algn="l"/>
              </a:tabLst>
            </a:pPr>
            <a:r>
              <a:rPr sz="1200" b="1" dirty="0">
                <a:latin typeface="Verdana"/>
                <a:cs typeface="Verdana"/>
              </a:rPr>
              <a:t>public</a:t>
            </a:r>
            <a:r>
              <a:rPr sz="1200" b="1" spc="-35" dirty="0">
                <a:latin typeface="Verdana"/>
                <a:cs typeface="Verdana"/>
              </a:rPr>
              <a:t> </a:t>
            </a:r>
            <a:r>
              <a:rPr sz="1200" b="1" dirty="0">
                <a:latin typeface="Verdana"/>
                <a:cs typeface="Verdana"/>
              </a:rPr>
              <a:t>void</a:t>
            </a:r>
            <a:r>
              <a:rPr sz="1200" b="1" spc="-35" dirty="0">
                <a:latin typeface="Verdana"/>
                <a:cs typeface="Verdana"/>
              </a:rPr>
              <a:t> </a:t>
            </a:r>
            <a:r>
              <a:rPr sz="1200" b="1" dirty="0">
                <a:latin typeface="Verdana"/>
                <a:cs typeface="Verdana"/>
              </a:rPr>
              <a:t>init():</a:t>
            </a:r>
            <a:r>
              <a:rPr sz="1200" b="1" spc="-1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is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used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to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initialized</a:t>
            </a:r>
            <a:r>
              <a:rPr sz="1200" spc="-3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the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Applet.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It</a:t>
            </a:r>
            <a:r>
              <a:rPr sz="1200" spc="-3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is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invoked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only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once.</a:t>
            </a:r>
            <a:endParaRPr sz="1200">
              <a:latin typeface="Verdana"/>
              <a:cs typeface="Verdana"/>
            </a:endParaRPr>
          </a:p>
          <a:p>
            <a:pPr marL="469900" marR="5080" indent="-381000">
              <a:lnSpc>
                <a:spcPct val="156200"/>
              </a:lnSpc>
              <a:spcBef>
                <a:spcPts val="5"/>
              </a:spcBef>
              <a:buFont typeface="Verdana"/>
              <a:buAutoNum type="arabicPeriod"/>
              <a:tabLst>
                <a:tab pos="469900" algn="l"/>
              </a:tabLst>
            </a:pPr>
            <a:r>
              <a:rPr sz="1200" b="1" dirty="0">
                <a:latin typeface="Verdana"/>
                <a:cs typeface="Verdana"/>
              </a:rPr>
              <a:t>public</a:t>
            </a:r>
            <a:r>
              <a:rPr sz="1200" b="1" spc="-35" dirty="0">
                <a:latin typeface="Verdana"/>
                <a:cs typeface="Verdana"/>
              </a:rPr>
              <a:t> </a:t>
            </a:r>
            <a:r>
              <a:rPr sz="1200" b="1" dirty="0">
                <a:latin typeface="Verdana"/>
                <a:cs typeface="Verdana"/>
              </a:rPr>
              <a:t>void</a:t>
            </a:r>
            <a:r>
              <a:rPr sz="1200" b="1" spc="-35" dirty="0">
                <a:latin typeface="Verdana"/>
                <a:cs typeface="Verdana"/>
              </a:rPr>
              <a:t> </a:t>
            </a:r>
            <a:r>
              <a:rPr sz="1200" b="1" dirty="0">
                <a:latin typeface="Verdana"/>
                <a:cs typeface="Verdana"/>
              </a:rPr>
              <a:t>start():</a:t>
            </a:r>
            <a:r>
              <a:rPr sz="1200" b="1" spc="-1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is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invoked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after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the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init()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method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or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browser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is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maximized.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It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is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used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to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start </a:t>
            </a:r>
            <a:r>
              <a:rPr sz="1200" dirty="0">
                <a:latin typeface="Verdana"/>
                <a:cs typeface="Verdana"/>
              </a:rPr>
              <a:t>the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Applet.</a:t>
            </a:r>
            <a:endParaRPr sz="1200">
              <a:latin typeface="Verdana"/>
              <a:cs typeface="Verdana"/>
            </a:endParaRPr>
          </a:p>
          <a:p>
            <a:pPr marL="469900" marR="335915" indent="-381000">
              <a:lnSpc>
                <a:spcPct val="156200"/>
              </a:lnSpc>
              <a:buFont typeface="Verdana"/>
              <a:buAutoNum type="arabicPeriod"/>
              <a:tabLst>
                <a:tab pos="469900" algn="l"/>
              </a:tabLst>
            </a:pPr>
            <a:r>
              <a:rPr sz="1200" b="1" dirty="0">
                <a:latin typeface="Verdana"/>
                <a:cs typeface="Verdana"/>
              </a:rPr>
              <a:t>public</a:t>
            </a:r>
            <a:r>
              <a:rPr sz="1200" b="1" spc="-40" dirty="0">
                <a:latin typeface="Verdana"/>
                <a:cs typeface="Verdana"/>
              </a:rPr>
              <a:t> </a:t>
            </a:r>
            <a:r>
              <a:rPr sz="1200" b="1" dirty="0">
                <a:latin typeface="Verdana"/>
                <a:cs typeface="Verdana"/>
              </a:rPr>
              <a:t>void</a:t>
            </a:r>
            <a:r>
              <a:rPr sz="1200" b="1" spc="-35" dirty="0">
                <a:latin typeface="Verdana"/>
                <a:cs typeface="Verdana"/>
              </a:rPr>
              <a:t> </a:t>
            </a:r>
            <a:r>
              <a:rPr sz="1200" b="1" dirty="0">
                <a:latin typeface="Verdana"/>
                <a:cs typeface="Verdana"/>
              </a:rPr>
              <a:t>stop():</a:t>
            </a:r>
            <a:r>
              <a:rPr sz="1200" b="1" spc="-2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is</a:t>
            </a:r>
            <a:r>
              <a:rPr sz="1200" spc="-4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used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to</a:t>
            </a:r>
            <a:r>
              <a:rPr sz="1200" spc="-4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stop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the</a:t>
            </a:r>
            <a:r>
              <a:rPr sz="1200" spc="-4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Applet.</a:t>
            </a:r>
            <a:r>
              <a:rPr sz="1200" spc="-4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It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is</a:t>
            </a:r>
            <a:r>
              <a:rPr sz="1200" spc="-4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invoked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when</a:t>
            </a:r>
            <a:r>
              <a:rPr sz="1200" spc="-4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Applet</a:t>
            </a:r>
            <a:r>
              <a:rPr sz="1200" spc="-4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is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stop</a:t>
            </a:r>
            <a:r>
              <a:rPr sz="1200" spc="-4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or</a:t>
            </a:r>
            <a:r>
              <a:rPr sz="1200" spc="-4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browser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spc="-25" dirty="0">
                <a:latin typeface="Verdana"/>
                <a:cs typeface="Verdana"/>
              </a:rPr>
              <a:t>is </a:t>
            </a:r>
            <a:r>
              <a:rPr sz="1200" spc="-10" dirty="0">
                <a:latin typeface="Verdana"/>
                <a:cs typeface="Verdana"/>
              </a:rPr>
              <a:t>minimized.</a:t>
            </a:r>
            <a:endParaRPr sz="1200">
              <a:latin typeface="Verdana"/>
              <a:cs typeface="Verdana"/>
            </a:endParaRPr>
          </a:p>
          <a:p>
            <a:pPr marL="469265" indent="-380365">
              <a:lnSpc>
                <a:spcPct val="100000"/>
              </a:lnSpc>
              <a:spcBef>
                <a:spcPts val="810"/>
              </a:spcBef>
              <a:buFont typeface="Verdana"/>
              <a:buAutoNum type="arabicPeriod"/>
              <a:tabLst>
                <a:tab pos="469265" algn="l"/>
              </a:tabLst>
            </a:pPr>
            <a:r>
              <a:rPr sz="1200" b="1" dirty="0">
                <a:latin typeface="Verdana"/>
                <a:cs typeface="Verdana"/>
              </a:rPr>
              <a:t>public</a:t>
            </a:r>
            <a:r>
              <a:rPr sz="1200" b="1" spc="-40" dirty="0">
                <a:latin typeface="Verdana"/>
                <a:cs typeface="Verdana"/>
              </a:rPr>
              <a:t> </a:t>
            </a:r>
            <a:r>
              <a:rPr sz="1200" b="1" dirty="0">
                <a:latin typeface="Verdana"/>
                <a:cs typeface="Verdana"/>
              </a:rPr>
              <a:t>void</a:t>
            </a:r>
            <a:r>
              <a:rPr sz="1200" b="1" spc="-40" dirty="0">
                <a:latin typeface="Verdana"/>
                <a:cs typeface="Verdana"/>
              </a:rPr>
              <a:t> </a:t>
            </a:r>
            <a:r>
              <a:rPr sz="1200" b="1" dirty="0">
                <a:latin typeface="Verdana"/>
                <a:cs typeface="Verdana"/>
              </a:rPr>
              <a:t>destroy():</a:t>
            </a:r>
            <a:r>
              <a:rPr sz="1200" b="1" spc="-1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is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used</a:t>
            </a:r>
            <a:r>
              <a:rPr sz="1200" spc="-4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to</a:t>
            </a:r>
            <a:r>
              <a:rPr sz="1200" spc="-4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destroy</a:t>
            </a:r>
            <a:r>
              <a:rPr sz="1200" spc="-4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the</a:t>
            </a:r>
            <a:r>
              <a:rPr sz="1200" spc="-4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Applet.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It</a:t>
            </a:r>
            <a:r>
              <a:rPr sz="1200" spc="-4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is</a:t>
            </a:r>
            <a:r>
              <a:rPr sz="1200" spc="-4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invoked</a:t>
            </a:r>
            <a:r>
              <a:rPr sz="1200" spc="-4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only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once.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2750" y="889539"/>
            <a:ext cx="272478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10" dirty="0">
                <a:solidFill>
                  <a:srgbClr val="610B4B"/>
                </a:solidFill>
                <a:latin typeface="Arial"/>
                <a:cs typeface="Arial"/>
              </a:rPr>
              <a:t>java.awt.Component</a:t>
            </a:r>
            <a:r>
              <a:rPr sz="1700" b="1" spc="5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700" b="1" spc="-10" dirty="0">
                <a:solidFill>
                  <a:srgbClr val="610B4B"/>
                </a:solidFill>
                <a:latin typeface="Arial"/>
                <a:cs typeface="Arial"/>
              </a:rPr>
              <a:t>class</a:t>
            </a:r>
            <a:endParaRPr sz="17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2750" y="1352961"/>
            <a:ext cx="8292465" cy="2355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Verdana"/>
                <a:cs typeface="Verdana"/>
              </a:rPr>
              <a:t>The</a:t>
            </a:r>
            <a:r>
              <a:rPr sz="1100" b="1" spc="-25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Component</a:t>
            </a:r>
            <a:r>
              <a:rPr sz="1100" b="1" spc="-25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class</a:t>
            </a:r>
            <a:r>
              <a:rPr sz="1100" b="1" spc="-25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provides</a:t>
            </a:r>
            <a:r>
              <a:rPr sz="1100" b="1" spc="-25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1</a:t>
            </a:r>
            <a:r>
              <a:rPr sz="1100" b="1" spc="-25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life</a:t>
            </a:r>
            <a:r>
              <a:rPr sz="1100" b="1" spc="-25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cycle</a:t>
            </a:r>
            <a:r>
              <a:rPr sz="1100" b="1" spc="-25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method</a:t>
            </a:r>
            <a:r>
              <a:rPr sz="1100" b="1" spc="-25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of</a:t>
            </a:r>
            <a:r>
              <a:rPr sz="1100" b="1" spc="-25" dirty="0">
                <a:latin typeface="Verdana"/>
                <a:cs typeface="Verdana"/>
              </a:rPr>
              <a:t> </a:t>
            </a:r>
            <a:r>
              <a:rPr sz="1100" b="1" spc="-10" dirty="0">
                <a:latin typeface="Verdana"/>
                <a:cs typeface="Verdana"/>
              </a:rPr>
              <a:t>applet.</a:t>
            </a:r>
            <a:endParaRPr sz="1100">
              <a:latin typeface="Verdana"/>
              <a:cs typeface="Verdana"/>
            </a:endParaRPr>
          </a:p>
          <a:p>
            <a:pPr marL="469900" marR="5080" indent="-368300">
              <a:lnSpc>
                <a:spcPct val="159100"/>
              </a:lnSpc>
              <a:spcBef>
                <a:spcPts val="750"/>
              </a:spcBef>
              <a:buFont typeface="Verdana"/>
              <a:buAutoNum type="arabicPeriod"/>
              <a:tabLst>
                <a:tab pos="469900" algn="l"/>
              </a:tabLst>
            </a:pPr>
            <a:r>
              <a:rPr sz="1100" b="1" dirty="0">
                <a:latin typeface="Verdana"/>
                <a:cs typeface="Verdana"/>
              </a:rPr>
              <a:t>public</a:t>
            </a:r>
            <a:r>
              <a:rPr sz="1100" b="1" spc="-35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void</a:t>
            </a:r>
            <a:r>
              <a:rPr sz="1100" b="1" spc="-35" dirty="0">
                <a:latin typeface="Verdana"/>
                <a:cs typeface="Verdana"/>
              </a:rPr>
              <a:t> </a:t>
            </a:r>
            <a:r>
              <a:rPr sz="1100" b="1" spc="-10" dirty="0">
                <a:latin typeface="Verdana"/>
                <a:cs typeface="Verdana"/>
              </a:rPr>
              <a:t>paint(Graphics</a:t>
            </a:r>
            <a:r>
              <a:rPr sz="1100" b="1" spc="-30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g):</a:t>
            </a:r>
            <a:r>
              <a:rPr sz="1100" b="1" spc="-35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is</a:t>
            </a:r>
            <a:r>
              <a:rPr sz="1100" b="1" spc="-30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used</a:t>
            </a:r>
            <a:r>
              <a:rPr sz="1100" b="1" spc="-35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to</a:t>
            </a:r>
            <a:r>
              <a:rPr sz="1100" b="1" spc="-35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paint</a:t>
            </a:r>
            <a:r>
              <a:rPr sz="1100" b="1" spc="-30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the</a:t>
            </a:r>
            <a:r>
              <a:rPr sz="1100" b="1" spc="-35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Applet.</a:t>
            </a:r>
            <a:r>
              <a:rPr sz="1100" b="1" spc="-30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It</a:t>
            </a:r>
            <a:r>
              <a:rPr sz="1100" b="1" spc="-35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provides</a:t>
            </a:r>
            <a:r>
              <a:rPr sz="1100" b="1" spc="-35" dirty="0">
                <a:latin typeface="Verdana"/>
                <a:cs typeface="Verdana"/>
              </a:rPr>
              <a:t> </a:t>
            </a:r>
            <a:r>
              <a:rPr sz="1100" b="1" spc="-10" dirty="0">
                <a:latin typeface="Verdana"/>
                <a:cs typeface="Verdana"/>
              </a:rPr>
              <a:t>Graphics</a:t>
            </a:r>
            <a:r>
              <a:rPr sz="1100" b="1" spc="-30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class</a:t>
            </a:r>
            <a:r>
              <a:rPr sz="1100" b="1" spc="-35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object</a:t>
            </a:r>
            <a:r>
              <a:rPr sz="1100" b="1" spc="-30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that</a:t>
            </a:r>
            <a:r>
              <a:rPr sz="1100" b="1" spc="-35" dirty="0">
                <a:latin typeface="Verdana"/>
                <a:cs typeface="Verdana"/>
              </a:rPr>
              <a:t> </a:t>
            </a:r>
            <a:r>
              <a:rPr sz="1100" b="1" spc="-25" dirty="0">
                <a:latin typeface="Verdana"/>
                <a:cs typeface="Verdana"/>
              </a:rPr>
              <a:t>can </a:t>
            </a:r>
            <a:r>
              <a:rPr sz="1100" b="1" dirty="0">
                <a:latin typeface="Verdana"/>
                <a:cs typeface="Verdana"/>
              </a:rPr>
              <a:t>be</a:t>
            </a:r>
            <a:r>
              <a:rPr sz="1100" b="1" spc="-40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used</a:t>
            </a:r>
            <a:r>
              <a:rPr sz="1100" b="1" spc="-35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for</a:t>
            </a:r>
            <a:r>
              <a:rPr sz="1100" b="1" spc="-35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drawing</a:t>
            </a:r>
            <a:r>
              <a:rPr sz="1100" b="1" spc="-35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oval,</a:t>
            </a:r>
            <a:r>
              <a:rPr sz="1100" b="1" spc="-35" dirty="0">
                <a:latin typeface="Verdana"/>
                <a:cs typeface="Verdana"/>
              </a:rPr>
              <a:t> </a:t>
            </a:r>
            <a:r>
              <a:rPr sz="1100" b="1" spc="-10" dirty="0">
                <a:latin typeface="Verdana"/>
                <a:cs typeface="Verdana"/>
              </a:rPr>
              <a:t>rectangle,</a:t>
            </a:r>
            <a:r>
              <a:rPr sz="1100" b="1" spc="-35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arc</a:t>
            </a:r>
            <a:r>
              <a:rPr sz="1100" b="1" spc="-35" dirty="0">
                <a:latin typeface="Verdana"/>
                <a:cs typeface="Verdana"/>
              </a:rPr>
              <a:t> </a:t>
            </a:r>
            <a:r>
              <a:rPr sz="1100" b="1" spc="-20" dirty="0">
                <a:latin typeface="Verdana"/>
                <a:cs typeface="Verdana"/>
              </a:rPr>
              <a:t>etc.</a:t>
            </a: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90"/>
              </a:spcBef>
            </a:pP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00" b="1" dirty="0">
                <a:solidFill>
                  <a:srgbClr val="610B4B"/>
                </a:solidFill>
                <a:latin typeface="Arial"/>
                <a:cs typeface="Arial"/>
              </a:rPr>
              <a:t>How</a:t>
            </a:r>
            <a:r>
              <a:rPr sz="1700" b="1" spc="-20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610B4B"/>
                </a:solidFill>
                <a:latin typeface="Arial"/>
                <a:cs typeface="Arial"/>
              </a:rPr>
              <a:t>to</a:t>
            </a:r>
            <a:r>
              <a:rPr sz="1700" b="1" spc="-20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610B4B"/>
                </a:solidFill>
                <a:latin typeface="Arial"/>
                <a:cs typeface="Arial"/>
              </a:rPr>
              <a:t>run</a:t>
            </a:r>
            <a:r>
              <a:rPr sz="1700" b="1" spc="-15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610B4B"/>
                </a:solidFill>
                <a:latin typeface="Arial"/>
                <a:cs typeface="Arial"/>
              </a:rPr>
              <a:t>an</a:t>
            </a:r>
            <a:r>
              <a:rPr sz="1700" b="1" spc="-80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700" b="1" spc="-10" dirty="0">
                <a:solidFill>
                  <a:srgbClr val="610B4B"/>
                </a:solidFill>
                <a:latin typeface="Arial"/>
                <a:cs typeface="Arial"/>
              </a:rPr>
              <a:t>Applet?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30"/>
              </a:spcBef>
            </a:pPr>
            <a:r>
              <a:rPr sz="1100" b="1" dirty="0">
                <a:latin typeface="Verdana"/>
                <a:cs typeface="Verdana"/>
              </a:rPr>
              <a:t>There</a:t>
            </a:r>
            <a:r>
              <a:rPr sz="1100" b="1" spc="-25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are</a:t>
            </a:r>
            <a:r>
              <a:rPr sz="1100" b="1" spc="-25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two</a:t>
            </a:r>
            <a:r>
              <a:rPr sz="1100" b="1" spc="-25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ways</a:t>
            </a:r>
            <a:r>
              <a:rPr sz="1100" b="1" spc="-25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to</a:t>
            </a:r>
            <a:r>
              <a:rPr sz="1100" b="1" spc="-20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run</a:t>
            </a:r>
            <a:r>
              <a:rPr sz="1100" b="1" spc="-25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an</a:t>
            </a:r>
            <a:r>
              <a:rPr sz="1100" b="1" spc="-25" dirty="0">
                <a:latin typeface="Verdana"/>
                <a:cs typeface="Verdana"/>
              </a:rPr>
              <a:t> </a:t>
            </a:r>
            <a:r>
              <a:rPr sz="1100" b="1" spc="-10" dirty="0">
                <a:latin typeface="Verdana"/>
                <a:cs typeface="Verdana"/>
              </a:rPr>
              <a:t>applet</a:t>
            </a: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100">
              <a:latin typeface="Verdana"/>
              <a:cs typeface="Verdana"/>
            </a:endParaRPr>
          </a:p>
          <a:p>
            <a:pPr marL="469265" indent="-377825">
              <a:lnSpc>
                <a:spcPct val="100000"/>
              </a:lnSpc>
              <a:buAutoNum type="arabicPeriod"/>
              <a:tabLst>
                <a:tab pos="469265" algn="l"/>
              </a:tabLst>
            </a:pPr>
            <a:r>
              <a:rPr sz="1100" b="1" dirty="0">
                <a:latin typeface="Verdana"/>
                <a:cs typeface="Verdana"/>
              </a:rPr>
              <a:t>By</a:t>
            </a:r>
            <a:r>
              <a:rPr sz="1100" b="1" spc="-30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html</a:t>
            </a:r>
            <a:r>
              <a:rPr sz="1100" b="1" spc="-30" dirty="0">
                <a:latin typeface="Verdana"/>
                <a:cs typeface="Verdana"/>
              </a:rPr>
              <a:t> </a:t>
            </a:r>
            <a:r>
              <a:rPr sz="1100" b="1" spc="-20" dirty="0">
                <a:latin typeface="Verdana"/>
                <a:cs typeface="Verdana"/>
              </a:rPr>
              <a:t>file.</a:t>
            </a:r>
            <a:endParaRPr sz="1100">
              <a:latin typeface="Verdana"/>
              <a:cs typeface="Verdana"/>
            </a:endParaRPr>
          </a:p>
          <a:p>
            <a:pPr marL="469265" indent="-377825">
              <a:lnSpc>
                <a:spcPct val="100000"/>
              </a:lnSpc>
              <a:spcBef>
                <a:spcPts val="780"/>
              </a:spcBef>
              <a:buAutoNum type="arabicPeriod"/>
              <a:tabLst>
                <a:tab pos="469265" algn="l"/>
              </a:tabLst>
            </a:pPr>
            <a:r>
              <a:rPr sz="1100" b="1" dirty="0">
                <a:latin typeface="Verdana"/>
                <a:cs typeface="Verdana"/>
              </a:rPr>
              <a:t>By</a:t>
            </a:r>
            <a:r>
              <a:rPr sz="1100" b="1" spc="-30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appletViewer</a:t>
            </a:r>
            <a:r>
              <a:rPr sz="1100" b="1" spc="-30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tool</a:t>
            </a:r>
            <a:r>
              <a:rPr sz="1100" b="1" spc="-30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(for</a:t>
            </a:r>
            <a:r>
              <a:rPr sz="1100" b="1" spc="-30" dirty="0"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testing</a:t>
            </a:r>
            <a:r>
              <a:rPr sz="1100" b="1" spc="-25" dirty="0">
                <a:latin typeface="Verdana"/>
                <a:cs typeface="Verdana"/>
              </a:rPr>
              <a:t> </a:t>
            </a:r>
            <a:r>
              <a:rPr sz="1100" b="1" spc="-10" dirty="0">
                <a:latin typeface="Verdana"/>
                <a:cs typeface="Verdana"/>
              </a:rPr>
              <a:t>purpose).</a:t>
            </a:r>
            <a:endParaRPr sz="1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610B4B"/>
                </a:solidFill>
                <a:latin typeface="Arial"/>
                <a:cs typeface="Arial"/>
              </a:rPr>
              <a:t>Simple</a:t>
            </a:r>
            <a:r>
              <a:rPr sz="1600" b="1" spc="-40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610B4B"/>
                </a:solidFill>
                <a:latin typeface="Arial"/>
                <a:cs typeface="Arial"/>
              </a:rPr>
              <a:t>example</a:t>
            </a:r>
            <a:r>
              <a:rPr sz="1600" b="1" spc="-35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610B4B"/>
                </a:solidFill>
                <a:latin typeface="Arial"/>
                <a:cs typeface="Arial"/>
              </a:rPr>
              <a:t>of</a:t>
            </a:r>
            <a:r>
              <a:rPr sz="1600" b="1" spc="-90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610B4B"/>
                </a:solidFill>
                <a:latin typeface="Arial"/>
                <a:cs typeface="Arial"/>
              </a:rPr>
              <a:t>Applet</a:t>
            </a:r>
            <a:r>
              <a:rPr sz="1600" b="1" spc="-35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610B4B"/>
                </a:solidFill>
                <a:latin typeface="Arial"/>
                <a:cs typeface="Arial"/>
              </a:rPr>
              <a:t>by</a:t>
            </a:r>
            <a:r>
              <a:rPr sz="1600" b="1" spc="-35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610B4B"/>
                </a:solidFill>
                <a:latin typeface="Arial"/>
                <a:cs typeface="Arial"/>
              </a:rPr>
              <a:t>html</a:t>
            </a:r>
            <a:r>
              <a:rPr sz="1600" b="1" spc="-35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610B4B"/>
                </a:solidFill>
                <a:latin typeface="Arial"/>
                <a:cs typeface="Arial"/>
              </a:rPr>
              <a:t>file: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188811"/>
            <a:ext cx="6443980" cy="3275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Verdana"/>
                <a:cs typeface="Verdana"/>
              </a:rPr>
              <a:t>To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execute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the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applet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by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html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file,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create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an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applet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and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compile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spc="-25" dirty="0">
                <a:latin typeface="Verdana"/>
                <a:cs typeface="Verdana"/>
              </a:rPr>
              <a:t>it.</a:t>
            </a:r>
            <a:endParaRPr sz="1100">
              <a:latin typeface="Verdana"/>
              <a:cs typeface="Verdana"/>
            </a:endParaRPr>
          </a:p>
          <a:p>
            <a:pPr marL="61594">
              <a:lnSpc>
                <a:spcPct val="100000"/>
              </a:lnSpc>
              <a:spcBef>
                <a:spcPts val="1205"/>
              </a:spcBef>
            </a:pPr>
            <a:r>
              <a:rPr sz="1100" dirty="0">
                <a:latin typeface="Verdana"/>
                <a:cs typeface="Verdana"/>
              </a:rPr>
              <a:t>After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that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create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an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html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file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and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place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the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applet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code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in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html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file.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Now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click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the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html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file.</a:t>
            </a:r>
            <a:endParaRPr sz="1100">
              <a:latin typeface="Verdana"/>
              <a:cs typeface="Verdana"/>
            </a:endParaRPr>
          </a:p>
          <a:p>
            <a:pPr marL="12700" marR="3886835">
              <a:lnSpc>
                <a:spcPct val="181800"/>
              </a:lnSpc>
              <a:spcBef>
                <a:spcPts val="150"/>
              </a:spcBef>
            </a:pPr>
            <a:r>
              <a:rPr sz="1100" b="1" dirty="0">
                <a:solidFill>
                  <a:srgbClr val="006699"/>
                </a:solidFill>
                <a:latin typeface="Verdana"/>
                <a:cs typeface="Verdana"/>
              </a:rPr>
              <a:t>import</a:t>
            </a:r>
            <a:r>
              <a:rPr sz="1100" b="1" spc="-7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100" b="1" spc="-10" dirty="0">
                <a:latin typeface="Verdana"/>
                <a:cs typeface="Verdana"/>
              </a:rPr>
              <a:t>java.applet.Applet; </a:t>
            </a:r>
            <a:r>
              <a:rPr sz="1100" b="1" dirty="0">
                <a:solidFill>
                  <a:srgbClr val="006699"/>
                </a:solidFill>
                <a:latin typeface="Verdana"/>
                <a:cs typeface="Verdana"/>
              </a:rPr>
              <a:t>import</a:t>
            </a:r>
            <a:r>
              <a:rPr sz="1100" b="1" spc="-7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100" b="1" spc="-10" dirty="0">
                <a:latin typeface="Verdana"/>
                <a:cs typeface="Verdana"/>
              </a:rPr>
              <a:t>java.awt.Graphics;</a:t>
            </a:r>
            <a:r>
              <a:rPr sz="1100" b="1" spc="500" dirty="0"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100" b="1" spc="-4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100" b="1" spc="-4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100" b="1" dirty="0">
                <a:latin typeface="Verdana"/>
                <a:cs typeface="Verdana"/>
              </a:rPr>
              <a:t>First</a:t>
            </a:r>
            <a:r>
              <a:rPr sz="1100" b="1" spc="-30" dirty="0"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006699"/>
                </a:solidFill>
                <a:latin typeface="Verdana"/>
                <a:cs typeface="Verdana"/>
              </a:rPr>
              <a:t>extends</a:t>
            </a:r>
            <a:r>
              <a:rPr sz="1100" b="1" spc="-4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100" b="1" spc="-10" dirty="0">
                <a:latin typeface="Verdana"/>
                <a:cs typeface="Verdana"/>
              </a:rPr>
              <a:t>Applet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100" b="1" spc="-50" dirty="0">
                <a:latin typeface="Verdana"/>
                <a:cs typeface="Verdana"/>
              </a:rPr>
              <a:t>{</a:t>
            </a:r>
            <a:endParaRPr sz="1100">
              <a:latin typeface="Verdana"/>
              <a:cs typeface="Verdana"/>
            </a:endParaRPr>
          </a:p>
          <a:p>
            <a:pPr marL="60325">
              <a:lnSpc>
                <a:spcPct val="100000"/>
              </a:lnSpc>
              <a:spcBef>
                <a:spcPts val="1080"/>
              </a:spcBef>
            </a:pPr>
            <a:r>
              <a:rPr sz="1100" b="1" dirty="0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100" b="1" spc="-4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100" b="1" spc="-3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100" b="1" spc="-10" dirty="0">
                <a:latin typeface="Verdana"/>
                <a:cs typeface="Verdana"/>
              </a:rPr>
              <a:t>paint(Graphics</a:t>
            </a:r>
            <a:r>
              <a:rPr sz="1100" b="1" spc="-35" dirty="0">
                <a:latin typeface="Verdana"/>
                <a:cs typeface="Verdana"/>
              </a:rPr>
              <a:t> </a:t>
            </a:r>
            <a:r>
              <a:rPr sz="1100" b="1" spc="-25" dirty="0">
                <a:latin typeface="Verdana"/>
                <a:cs typeface="Verdana"/>
              </a:rPr>
              <a:t>g)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100" b="1" spc="-50" dirty="0">
                <a:latin typeface="Verdana"/>
                <a:cs typeface="Verdana"/>
              </a:rPr>
              <a:t>{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100" b="1" spc="-10" dirty="0">
                <a:latin typeface="Verdana"/>
                <a:cs typeface="Verdana"/>
              </a:rPr>
              <a:t>g.drawString(</a:t>
            </a:r>
            <a:r>
              <a:rPr sz="1100" b="1" spc="-10" dirty="0">
                <a:solidFill>
                  <a:srgbClr val="0000FF"/>
                </a:solidFill>
                <a:latin typeface="Verdana"/>
                <a:cs typeface="Verdana"/>
              </a:rPr>
              <a:t>"welcome"</a:t>
            </a:r>
            <a:r>
              <a:rPr sz="1100" b="1" spc="-10" dirty="0">
                <a:latin typeface="Verdana"/>
                <a:cs typeface="Verdana"/>
              </a:rPr>
              <a:t>,</a:t>
            </a:r>
            <a:r>
              <a:rPr sz="1100" b="1" spc="-10" dirty="0">
                <a:solidFill>
                  <a:srgbClr val="C00000"/>
                </a:solidFill>
                <a:latin typeface="Verdana"/>
                <a:cs typeface="Verdana"/>
              </a:rPr>
              <a:t>150</a:t>
            </a:r>
            <a:r>
              <a:rPr sz="1100" b="1" spc="-10" dirty="0">
                <a:latin typeface="Verdana"/>
                <a:cs typeface="Verdana"/>
              </a:rPr>
              <a:t>,</a:t>
            </a:r>
            <a:r>
              <a:rPr sz="1100" b="1" spc="-10" dirty="0">
                <a:solidFill>
                  <a:srgbClr val="C00000"/>
                </a:solidFill>
                <a:latin typeface="Verdana"/>
                <a:cs typeface="Verdana"/>
              </a:rPr>
              <a:t>150</a:t>
            </a:r>
            <a:r>
              <a:rPr sz="1100" b="1" spc="-10" dirty="0">
                <a:latin typeface="Verdana"/>
                <a:cs typeface="Verdana"/>
              </a:rPr>
              <a:t>);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100" b="1" spc="-50" dirty="0">
                <a:latin typeface="Verdana"/>
                <a:cs typeface="Verdana"/>
              </a:rPr>
              <a:t>}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100" b="1" spc="-50" dirty="0">
                <a:latin typeface="Verdana"/>
                <a:cs typeface="Verdana"/>
              </a:rPr>
              <a:t>}</a:t>
            </a:r>
            <a:endParaRPr sz="1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1472572"/>
            <a:ext cx="140081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solidFill>
                  <a:srgbClr val="610B4B"/>
                </a:solidFill>
                <a:latin typeface="Arial"/>
                <a:cs typeface="Arial"/>
              </a:rPr>
              <a:t>myapplet.html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904245"/>
            <a:ext cx="3587750" cy="1943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latin typeface="Verdana"/>
                <a:cs typeface="Verdana"/>
              </a:rPr>
              <a:t>&lt;html&gt;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-10" dirty="0">
                <a:latin typeface="Verdana"/>
                <a:cs typeface="Verdana"/>
              </a:rPr>
              <a:t>&lt;body&gt;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dirty="0">
                <a:latin typeface="Verdana"/>
                <a:cs typeface="Verdana"/>
              </a:rPr>
              <a:t>&lt;applet</a:t>
            </a:r>
            <a:r>
              <a:rPr sz="1000" spc="-20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code=</a:t>
            </a:r>
            <a:r>
              <a:rPr sz="1000" spc="-10" dirty="0">
                <a:solidFill>
                  <a:srgbClr val="0000FF"/>
                </a:solidFill>
                <a:latin typeface="Verdana"/>
                <a:cs typeface="Verdana"/>
              </a:rPr>
              <a:t>"First.class"</a:t>
            </a:r>
            <a:r>
              <a:rPr sz="1000" spc="-5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width=</a:t>
            </a:r>
            <a:r>
              <a:rPr sz="1000" spc="-10" dirty="0">
                <a:solidFill>
                  <a:srgbClr val="0000FF"/>
                </a:solidFill>
                <a:latin typeface="Verdana"/>
                <a:cs typeface="Verdana"/>
              </a:rPr>
              <a:t>"300" </a:t>
            </a:r>
            <a:r>
              <a:rPr sz="1000" spc="-10" dirty="0">
                <a:latin typeface="Verdana"/>
                <a:cs typeface="Verdana"/>
              </a:rPr>
              <a:t>height=</a:t>
            </a:r>
            <a:r>
              <a:rPr sz="1000" spc="-10" dirty="0">
                <a:solidFill>
                  <a:srgbClr val="0000FF"/>
                </a:solidFill>
                <a:latin typeface="Verdana"/>
                <a:cs typeface="Verdana"/>
              </a:rPr>
              <a:t>"300"</a:t>
            </a:r>
            <a:r>
              <a:rPr sz="1000" spc="-10" dirty="0">
                <a:latin typeface="Verdana"/>
                <a:cs typeface="Verdana"/>
              </a:rPr>
              <a:t>&gt;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-10" dirty="0">
                <a:latin typeface="Verdana"/>
                <a:cs typeface="Verdana"/>
              </a:rPr>
              <a:t>&lt;/applet&gt;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10" dirty="0">
                <a:latin typeface="Verdana"/>
                <a:cs typeface="Verdana"/>
              </a:rPr>
              <a:t>&lt;/body&gt;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10" dirty="0">
                <a:latin typeface="Verdana"/>
                <a:cs typeface="Verdana"/>
              </a:rPr>
              <a:t>&lt;/html&gt;</a:t>
            </a:r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966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610B4B"/>
                </a:solidFill>
                <a:latin typeface="Arial"/>
                <a:cs typeface="Arial"/>
              </a:rPr>
              <a:t>Simple</a:t>
            </a:r>
            <a:r>
              <a:rPr sz="1800" b="1" spc="-30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610B4B"/>
                </a:solidFill>
                <a:latin typeface="Arial"/>
                <a:cs typeface="Arial"/>
              </a:rPr>
              <a:t>example</a:t>
            </a:r>
            <a:r>
              <a:rPr sz="1800" b="1" spc="-25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610B4B"/>
                </a:solidFill>
                <a:latin typeface="Arial"/>
                <a:cs typeface="Arial"/>
              </a:rPr>
              <a:t>of</a:t>
            </a:r>
            <a:r>
              <a:rPr sz="1800" b="1" spc="-90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610B4B"/>
                </a:solidFill>
                <a:latin typeface="Arial"/>
                <a:cs typeface="Arial"/>
              </a:rPr>
              <a:t>Applet</a:t>
            </a:r>
            <a:r>
              <a:rPr sz="1800" b="1" spc="-30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610B4B"/>
                </a:solidFill>
                <a:latin typeface="Arial"/>
                <a:cs typeface="Arial"/>
              </a:rPr>
              <a:t>by</a:t>
            </a:r>
            <a:r>
              <a:rPr sz="1800" b="1" spc="-25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610B4B"/>
                </a:solidFill>
                <a:latin typeface="Arial"/>
                <a:cs typeface="Arial"/>
              </a:rPr>
              <a:t>appletviewer</a:t>
            </a:r>
            <a:r>
              <a:rPr sz="1800" b="1" spc="-30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610B4B"/>
                </a:solidFill>
                <a:latin typeface="Arial"/>
                <a:cs typeface="Arial"/>
              </a:rPr>
              <a:t>tool: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297820"/>
            <a:ext cx="723900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Verdana"/>
                <a:cs typeface="Verdana"/>
              </a:rPr>
              <a:t>To</a:t>
            </a:r>
            <a:r>
              <a:rPr sz="1000" spc="-4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execute</a:t>
            </a:r>
            <a:r>
              <a:rPr sz="1000" spc="-4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the</a:t>
            </a:r>
            <a:r>
              <a:rPr sz="1000" spc="-35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applet</a:t>
            </a:r>
            <a:r>
              <a:rPr sz="1000" spc="-4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by</a:t>
            </a:r>
            <a:r>
              <a:rPr sz="1000" spc="-35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appletviewer</a:t>
            </a:r>
            <a:r>
              <a:rPr sz="1000" spc="-4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tool,</a:t>
            </a:r>
            <a:r>
              <a:rPr sz="1000" spc="-35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create</a:t>
            </a:r>
            <a:r>
              <a:rPr sz="1000" spc="-4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an</a:t>
            </a:r>
            <a:r>
              <a:rPr sz="1000" spc="-4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applet</a:t>
            </a:r>
            <a:r>
              <a:rPr sz="1000" spc="-35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that</a:t>
            </a:r>
            <a:r>
              <a:rPr sz="1000" spc="-4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contains</a:t>
            </a:r>
            <a:r>
              <a:rPr sz="1000" spc="-35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applet</a:t>
            </a:r>
            <a:r>
              <a:rPr sz="1000" spc="-4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tag</a:t>
            </a:r>
            <a:r>
              <a:rPr sz="1000" spc="-35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in</a:t>
            </a:r>
            <a:r>
              <a:rPr sz="1000" spc="-4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comment</a:t>
            </a:r>
            <a:r>
              <a:rPr sz="1000" spc="-35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and</a:t>
            </a:r>
            <a:r>
              <a:rPr sz="1000" spc="-4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compile</a:t>
            </a:r>
            <a:r>
              <a:rPr sz="1000" spc="-40" dirty="0">
                <a:latin typeface="Verdana"/>
                <a:cs typeface="Verdana"/>
              </a:rPr>
              <a:t> </a:t>
            </a:r>
            <a:r>
              <a:rPr sz="1000" spc="-25" dirty="0">
                <a:latin typeface="Verdana"/>
                <a:cs typeface="Verdana"/>
              </a:rPr>
              <a:t>it.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dirty="0">
                <a:latin typeface="Verdana"/>
                <a:cs typeface="Verdana"/>
              </a:rPr>
              <a:t>After</a:t>
            </a:r>
            <a:r>
              <a:rPr sz="1000" spc="-3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that</a:t>
            </a:r>
            <a:r>
              <a:rPr sz="1000" spc="-3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run</a:t>
            </a:r>
            <a:r>
              <a:rPr sz="1000" spc="-25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it</a:t>
            </a:r>
            <a:r>
              <a:rPr sz="1000" spc="-3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by:</a:t>
            </a:r>
            <a:r>
              <a:rPr sz="1000" spc="-25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appletviewer</a:t>
            </a:r>
            <a:r>
              <a:rPr sz="1000" spc="-30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First.java.</a:t>
            </a:r>
            <a:r>
              <a:rPr sz="1000" spc="-3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Now</a:t>
            </a:r>
            <a:r>
              <a:rPr sz="1000" spc="-25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Html</a:t>
            </a:r>
            <a:r>
              <a:rPr sz="1000" spc="-3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file</a:t>
            </a:r>
            <a:r>
              <a:rPr sz="1000" spc="-25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is</a:t>
            </a:r>
            <a:r>
              <a:rPr sz="1000" spc="-3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not</a:t>
            </a:r>
            <a:r>
              <a:rPr sz="1000" spc="-3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required</a:t>
            </a:r>
            <a:r>
              <a:rPr sz="1000" spc="-25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but</a:t>
            </a:r>
            <a:r>
              <a:rPr sz="1000" spc="-3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it</a:t>
            </a:r>
            <a:r>
              <a:rPr sz="1000" spc="-25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is</a:t>
            </a:r>
            <a:r>
              <a:rPr sz="1000" spc="-3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for</a:t>
            </a:r>
            <a:r>
              <a:rPr sz="1000" spc="-3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testing</a:t>
            </a:r>
            <a:r>
              <a:rPr sz="1000" spc="-25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purpose</a:t>
            </a:r>
            <a:r>
              <a:rPr sz="1000" spc="-30" dirty="0">
                <a:latin typeface="Verdana"/>
                <a:cs typeface="Verdana"/>
              </a:rPr>
              <a:t> </a:t>
            </a:r>
            <a:r>
              <a:rPr sz="1000" spc="-20" dirty="0">
                <a:latin typeface="Verdana"/>
                <a:cs typeface="Verdana"/>
              </a:rPr>
              <a:t>only.</a:t>
            </a:r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4725" y="1335920"/>
            <a:ext cx="4058285" cy="1835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008200"/>
                </a:solidFill>
                <a:latin typeface="Verdana"/>
                <a:cs typeface="Verdana"/>
              </a:rPr>
              <a:t>//First.java</a:t>
            </a:r>
            <a:endParaRPr sz="1000">
              <a:latin typeface="Verdana"/>
              <a:cs typeface="Verdana"/>
            </a:endParaRPr>
          </a:p>
          <a:p>
            <a:pPr marL="12700" marR="2164715">
              <a:lnSpc>
                <a:spcPct val="181300"/>
              </a:lnSpc>
            </a:pPr>
            <a:r>
              <a:rPr sz="1000" b="1" dirty="0">
                <a:solidFill>
                  <a:srgbClr val="006699"/>
                </a:solidFill>
                <a:latin typeface="Verdana"/>
                <a:cs typeface="Verdana"/>
              </a:rPr>
              <a:t>import</a:t>
            </a:r>
            <a:r>
              <a:rPr sz="1000" b="1" spc="-2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 spc="-10" dirty="0">
                <a:latin typeface="Verdana"/>
                <a:cs typeface="Verdana"/>
              </a:rPr>
              <a:t>java.applet.Applet; </a:t>
            </a:r>
            <a:r>
              <a:rPr sz="1000" b="1" dirty="0">
                <a:solidFill>
                  <a:srgbClr val="006699"/>
                </a:solidFill>
                <a:latin typeface="Verdana"/>
                <a:cs typeface="Verdana"/>
              </a:rPr>
              <a:t>import</a:t>
            </a:r>
            <a:r>
              <a:rPr sz="1000" b="1" spc="-2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 spc="-10" dirty="0">
                <a:latin typeface="Verdana"/>
                <a:cs typeface="Verdana"/>
              </a:rPr>
              <a:t>java.awt.Graphics;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 spc="-25" dirty="0">
                <a:solidFill>
                  <a:srgbClr val="008200"/>
                </a:solidFill>
                <a:latin typeface="Verdana"/>
                <a:cs typeface="Verdana"/>
              </a:rPr>
              <a:t>/*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 dirty="0">
                <a:solidFill>
                  <a:srgbClr val="008200"/>
                </a:solidFill>
                <a:latin typeface="Verdana"/>
                <a:cs typeface="Verdana"/>
              </a:rPr>
              <a:t>&lt;applet </a:t>
            </a:r>
            <a:r>
              <a:rPr sz="1000" b="1" spc="-10" dirty="0">
                <a:solidFill>
                  <a:srgbClr val="008200"/>
                </a:solidFill>
                <a:latin typeface="Verdana"/>
                <a:cs typeface="Verdana"/>
              </a:rPr>
              <a:t>code="First.class"</a:t>
            </a:r>
            <a:r>
              <a:rPr sz="1000" b="1" dirty="0">
                <a:solidFill>
                  <a:srgbClr val="008200"/>
                </a:solidFill>
                <a:latin typeface="Verdana"/>
                <a:cs typeface="Verdana"/>
              </a:rPr>
              <a:t> width="300" </a:t>
            </a:r>
            <a:r>
              <a:rPr sz="1000" b="1" spc="-10" dirty="0">
                <a:solidFill>
                  <a:srgbClr val="008200"/>
                </a:solidFill>
                <a:latin typeface="Verdana"/>
                <a:cs typeface="Verdana"/>
              </a:rPr>
              <a:t>height="300"&gt;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 spc="-10" dirty="0">
                <a:solidFill>
                  <a:srgbClr val="008200"/>
                </a:solidFill>
                <a:latin typeface="Verdana"/>
                <a:cs typeface="Verdana"/>
              </a:rPr>
              <a:t>&lt;/applet&gt;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 spc="-25" dirty="0">
                <a:solidFill>
                  <a:srgbClr val="008200"/>
                </a:solidFill>
                <a:latin typeface="Verdana"/>
                <a:cs typeface="Verdana"/>
              </a:rPr>
              <a:t>*/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3545720"/>
            <a:ext cx="2760345" cy="1282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000" b="1" spc="-2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 dirty="0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000" b="1" spc="-3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 dirty="0">
                <a:latin typeface="Verdana"/>
                <a:cs typeface="Verdana"/>
              </a:rPr>
              <a:t>First</a:t>
            </a:r>
            <a:r>
              <a:rPr sz="1000" b="1" spc="-25" dirty="0">
                <a:latin typeface="Verdana"/>
                <a:cs typeface="Verdana"/>
              </a:rPr>
              <a:t> </a:t>
            </a:r>
            <a:r>
              <a:rPr sz="1000" b="1" dirty="0">
                <a:solidFill>
                  <a:srgbClr val="006699"/>
                </a:solidFill>
                <a:latin typeface="Verdana"/>
                <a:cs typeface="Verdana"/>
              </a:rPr>
              <a:t>extends</a:t>
            </a:r>
            <a:r>
              <a:rPr sz="1000" b="1" spc="-2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 spc="-10" dirty="0">
                <a:latin typeface="Verdana"/>
                <a:cs typeface="Verdana"/>
              </a:rPr>
              <a:t>Applet{</a:t>
            </a:r>
            <a:endParaRPr sz="1000">
              <a:latin typeface="Verdana"/>
              <a:cs typeface="Verdana"/>
            </a:endParaRPr>
          </a:p>
          <a:p>
            <a:pPr marL="12700" marR="5080">
              <a:lnSpc>
                <a:spcPct val="181300"/>
              </a:lnSpc>
            </a:pPr>
            <a:r>
              <a:rPr sz="1000" b="1" dirty="0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000" b="1" spc="-4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 dirty="0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000" b="1" spc="-4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00" b="1" dirty="0">
                <a:latin typeface="Verdana"/>
                <a:cs typeface="Verdana"/>
              </a:rPr>
              <a:t>paint(Graphics</a:t>
            </a:r>
            <a:r>
              <a:rPr sz="1000" b="1" spc="-35" dirty="0">
                <a:latin typeface="Verdana"/>
                <a:cs typeface="Verdana"/>
              </a:rPr>
              <a:t> </a:t>
            </a:r>
            <a:r>
              <a:rPr sz="1000" b="1" spc="-25" dirty="0">
                <a:latin typeface="Verdana"/>
                <a:cs typeface="Verdana"/>
              </a:rPr>
              <a:t>g){ </a:t>
            </a:r>
            <a:r>
              <a:rPr sz="1000" b="1" spc="-10" dirty="0">
                <a:latin typeface="Verdana"/>
                <a:cs typeface="Verdana"/>
              </a:rPr>
              <a:t>g.drawString(</a:t>
            </a:r>
            <a:r>
              <a:rPr sz="1000" b="1" spc="-10" dirty="0">
                <a:solidFill>
                  <a:srgbClr val="0000FF"/>
                </a:solidFill>
                <a:latin typeface="Verdana"/>
                <a:cs typeface="Verdana"/>
              </a:rPr>
              <a:t>"Hello</a:t>
            </a:r>
            <a:r>
              <a:rPr sz="1000" b="1" spc="10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000" b="1" spc="-10" dirty="0">
                <a:solidFill>
                  <a:srgbClr val="0000FF"/>
                </a:solidFill>
                <a:latin typeface="Verdana"/>
                <a:cs typeface="Verdana"/>
              </a:rPr>
              <a:t>World"</a:t>
            </a:r>
            <a:r>
              <a:rPr sz="1000" b="1" spc="-10" dirty="0">
                <a:latin typeface="Verdana"/>
                <a:cs typeface="Verdana"/>
              </a:rPr>
              <a:t>,</a:t>
            </a:r>
            <a:r>
              <a:rPr sz="1000" b="1" spc="-10" dirty="0">
                <a:solidFill>
                  <a:srgbClr val="C00000"/>
                </a:solidFill>
                <a:latin typeface="Verdana"/>
                <a:cs typeface="Verdana"/>
              </a:rPr>
              <a:t>150</a:t>
            </a:r>
            <a:r>
              <a:rPr sz="1000" b="1" spc="-10" dirty="0">
                <a:latin typeface="Verdana"/>
                <a:cs typeface="Verdana"/>
              </a:rPr>
              <a:t>,</a:t>
            </a:r>
            <a:r>
              <a:rPr sz="1000" b="1" spc="-10" dirty="0">
                <a:solidFill>
                  <a:srgbClr val="C00000"/>
                </a:solidFill>
                <a:latin typeface="Verdana"/>
                <a:cs typeface="Verdana"/>
              </a:rPr>
              <a:t>150</a:t>
            </a:r>
            <a:r>
              <a:rPr sz="1000" b="1" spc="-10" dirty="0">
                <a:latin typeface="Verdana"/>
                <a:cs typeface="Verdana"/>
              </a:rPr>
              <a:t>);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 spc="-50" dirty="0">
                <a:latin typeface="Verdana"/>
                <a:cs typeface="Verdana"/>
              </a:rPr>
              <a:t>}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000" b="1" spc="-50" dirty="0">
                <a:latin typeface="Verdana"/>
                <a:cs typeface="Verdana"/>
              </a:rPr>
              <a:t>}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79350" y="1577988"/>
            <a:ext cx="165988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c:\&gt;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javac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First.java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79350" y="1997087"/>
            <a:ext cx="22923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c:\&gt;</a:t>
            </a:r>
            <a:r>
              <a:rPr sz="1400" b="1" spc="-4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appletviewer</a:t>
            </a:r>
            <a:r>
              <a:rPr sz="1400" b="1" spc="-4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First.java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4931" y="1229875"/>
            <a:ext cx="4791625" cy="312562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2199" y="219300"/>
            <a:ext cx="5901055" cy="474027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sz="1800" spc="-25" dirty="0">
                <a:solidFill>
                  <a:srgbClr val="434343"/>
                </a:solidFill>
                <a:latin typeface="Times New Roman"/>
                <a:cs typeface="Times New Roman"/>
              </a:rPr>
              <a:t>*/</a:t>
            </a:r>
            <a:endParaRPr sz="1800">
              <a:latin typeface="Times New Roman"/>
              <a:cs typeface="Times New Roman"/>
            </a:endParaRPr>
          </a:p>
          <a:p>
            <a:pPr marL="12700" marR="3985895">
              <a:lnSpc>
                <a:spcPct val="114599"/>
              </a:lnSpc>
            </a:pPr>
            <a:r>
              <a:rPr sz="1800" dirty="0">
                <a:solidFill>
                  <a:srgbClr val="434343"/>
                </a:solidFill>
                <a:latin typeface="Times New Roman"/>
                <a:cs typeface="Times New Roman"/>
              </a:rPr>
              <a:t>import</a:t>
            </a:r>
            <a:r>
              <a:rPr sz="1800" spc="-8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Times New Roman"/>
                <a:cs typeface="Times New Roman"/>
              </a:rPr>
              <a:t>java.awt.*; </a:t>
            </a:r>
            <a:r>
              <a:rPr sz="1800" dirty="0">
                <a:solidFill>
                  <a:srgbClr val="434343"/>
                </a:solidFill>
                <a:latin typeface="Times New Roman"/>
                <a:cs typeface="Times New Roman"/>
              </a:rPr>
              <a:t>import</a:t>
            </a:r>
            <a:r>
              <a:rPr sz="1800" spc="-8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Times New Roman"/>
                <a:cs typeface="Times New Roman"/>
              </a:rPr>
              <a:t>java.applet.*;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solidFill>
                  <a:srgbClr val="434343"/>
                </a:solidFill>
                <a:latin typeface="Times New Roman"/>
                <a:cs typeface="Times New Roman"/>
              </a:rPr>
              <a:t>public</a:t>
            </a:r>
            <a:r>
              <a:rPr sz="1800" spc="-7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34343"/>
                </a:solidFill>
                <a:latin typeface="Times New Roman"/>
                <a:cs typeface="Times New Roman"/>
              </a:rPr>
              <a:t>class</a:t>
            </a:r>
            <a:r>
              <a:rPr sz="1800" spc="-4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Times New Roman"/>
                <a:cs typeface="Times New Roman"/>
              </a:rPr>
              <a:t>DisplayImageInApplet</a:t>
            </a:r>
            <a:r>
              <a:rPr sz="1800" spc="-3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434343"/>
                </a:solidFill>
                <a:latin typeface="Times New Roman"/>
                <a:cs typeface="Times New Roman"/>
              </a:rPr>
              <a:t>extends</a:t>
            </a:r>
            <a:r>
              <a:rPr sz="1800" spc="-10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Times New Roman"/>
                <a:cs typeface="Times New Roman"/>
              </a:rPr>
              <a:t>Applet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spc="-50" dirty="0">
                <a:solidFill>
                  <a:srgbClr val="434343"/>
                </a:solidFill>
                <a:latin typeface="Times New Roman"/>
                <a:cs typeface="Times New Roman"/>
              </a:rPr>
              <a:t>{</a:t>
            </a:r>
            <a:endParaRPr sz="1800">
              <a:latin typeface="Times New Roman"/>
              <a:cs typeface="Times New Roman"/>
            </a:endParaRPr>
          </a:p>
          <a:p>
            <a:pPr marL="469900" marR="3874770">
              <a:lnSpc>
                <a:spcPct val="114599"/>
              </a:lnSpc>
            </a:pPr>
            <a:r>
              <a:rPr sz="1800" dirty="0">
                <a:solidFill>
                  <a:srgbClr val="434343"/>
                </a:solidFill>
                <a:latin typeface="Times New Roman"/>
                <a:cs typeface="Times New Roman"/>
              </a:rPr>
              <a:t>Image</a:t>
            </a:r>
            <a:r>
              <a:rPr sz="1800" spc="-7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434343"/>
                </a:solidFill>
                <a:latin typeface="Times New Roman"/>
                <a:cs typeface="Times New Roman"/>
              </a:rPr>
              <a:t>img; </a:t>
            </a:r>
            <a:r>
              <a:rPr sz="1800" dirty="0">
                <a:solidFill>
                  <a:srgbClr val="434343"/>
                </a:solidFill>
                <a:latin typeface="Times New Roman"/>
                <a:cs typeface="Times New Roman"/>
              </a:rPr>
              <a:t>public</a:t>
            </a:r>
            <a:r>
              <a:rPr sz="1800" spc="-4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34343"/>
                </a:solidFill>
                <a:latin typeface="Times New Roman"/>
                <a:cs typeface="Times New Roman"/>
              </a:rPr>
              <a:t>void</a:t>
            </a:r>
            <a:r>
              <a:rPr sz="1800" spc="-3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Times New Roman"/>
                <a:cs typeface="Times New Roman"/>
              </a:rPr>
              <a:t>init()</a:t>
            </a:r>
            <a:endParaRPr sz="18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315"/>
              </a:spcBef>
            </a:pPr>
            <a:r>
              <a:rPr sz="1800" spc="-50" dirty="0">
                <a:solidFill>
                  <a:srgbClr val="434343"/>
                </a:solidFill>
                <a:latin typeface="Times New Roman"/>
                <a:cs typeface="Times New Roman"/>
              </a:rPr>
              <a:t>{</a:t>
            </a:r>
            <a:endParaRPr sz="18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solidFill>
                  <a:srgbClr val="434343"/>
                </a:solidFill>
                <a:latin typeface="Times New Roman"/>
                <a:cs typeface="Times New Roman"/>
              </a:rPr>
              <a:t>img =</a:t>
            </a:r>
            <a:r>
              <a:rPr sz="1800" spc="-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Times New Roman"/>
                <a:cs typeface="Times New Roman"/>
              </a:rPr>
              <a:t>getImage(getCodeBase(),"Images/Juggler.gif");</a:t>
            </a:r>
            <a:endParaRPr sz="18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315"/>
              </a:spcBef>
            </a:pPr>
            <a:r>
              <a:rPr sz="1800" spc="-50" dirty="0">
                <a:solidFill>
                  <a:srgbClr val="434343"/>
                </a:solidFill>
                <a:latin typeface="Times New Roman"/>
                <a:cs typeface="Times New Roman"/>
              </a:rPr>
              <a:t>}</a:t>
            </a:r>
            <a:endParaRPr sz="18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solidFill>
                  <a:srgbClr val="434343"/>
                </a:solidFill>
                <a:latin typeface="Times New Roman"/>
                <a:cs typeface="Times New Roman"/>
              </a:rPr>
              <a:t>public</a:t>
            </a:r>
            <a:r>
              <a:rPr sz="1800" spc="-4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34343"/>
                </a:solidFill>
                <a:latin typeface="Times New Roman"/>
                <a:cs typeface="Times New Roman"/>
              </a:rPr>
              <a:t>void</a:t>
            </a:r>
            <a:r>
              <a:rPr sz="1800" spc="-35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Times New Roman"/>
                <a:cs typeface="Times New Roman"/>
              </a:rPr>
              <a:t>paint(Graphics</a:t>
            </a:r>
            <a:r>
              <a:rPr sz="1800" spc="-40" dirty="0">
                <a:solidFill>
                  <a:srgbClr val="434343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434343"/>
                </a:solidFill>
                <a:latin typeface="Times New Roman"/>
                <a:cs typeface="Times New Roman"/>
              </a:rPr>
              <a:t>g)</a:t>
            </a:r>
            <a:endParaRPr sz="18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315"/>
              </a:spcBef>
            </a:pPr>
            <a:r>
              <a:rPr sz="1800" spc="-50" dirty="0">
                <a:solidFill>
                  <a:srgbClr val="434343"/>
                </a:solidFill>
                <a:latin typeface="Times New Roman"/>
                <a:cs typeface="Times New Roman"/>
              </a:rPr>
              <a:t>{</a:t>
            </a:r>
            <a:endParaRPr sz="18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315"/>
              </a:spcBef>
            </a:pPr>
            <a:r>
              <a:rPr sz="1800" spc="-10" dirty="0">
                <a:solidFill>
                  <a:srgbClr val="434343"/>
                </a:solidFill>
                <a:latin typeface="Times New Roman"/>
                <a:cs typeface="Times New Roman"/>
              </a:rPr>
              <a:t>g.drawImage(img,10,20,this);</a:t>
            </a:r>
            <a:endParaRPr sz="18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315"/>
              </a:spcBef>
            </a:pPr>
            <a:r>
              <a:rPr sz="1800" spc="-50" dirty="0">
                <a:solidFill>
                  <a:srgbClr val="434343"/>
                </a:solidFill>
                <a:latin typeface="Times New Roman"/>
                <a:cs typeface="Times New Roman"/>
              </a:rPr>
              <a:t>}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spc="-50" dirty="0">
                <a:solidFill>
                  <a:srgbClr val="434343"/>
                </a:solidFill>
                <a:latin typeface="Times New Roman"/>
                <a:cs typeface="Times New Roman"/>
              </a:rPr>
              <a:t>}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475" y="646525"/>
            <a:ext cx="5962874" cy="323967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0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Arial"/>
                <a:cs typeface="Arial"/>
              </a:rPr>
              <a:t>Displaying</a:t>
            </a:r>
            <a:r>
              <a:rPr b="1" spc="-6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Image</a:t>
            </a:r>
            <a:r>
              <a:rPr b="1" spc="-6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in</a:t>
            </a:r>
            <a:r>
              <a:rPr b="1" spc="-135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Applet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95534"/>
            <a:ext cx="7597775" cy="2607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dirty="0">
                <a:latin typeface="Verdana"/>
                <a:cs typeface="Verdana"/>
              </a:rPr>
              <a:t>Applet</a:t>
            </a:r>
            <a:r>
              <a:rPr sz="1450" spc="-30" dirty="0">
                <a:latin typeface="Verdana"/>
                <a:cs typeface="Verdana"/>
              </a:rPr>
              <a:t> </a:t>
            </a:r>
            <a:r>
              <a:rPr sz="1450" dirty="0">
                <a:latin typeface="Verdana"/>
                <a:cs typeface="Verdana"/>
              </a:rPr>
              <a:t>is</a:t>
            </a:r>
            <a:r>
              <a:rPr sz="1450" spc="-25" dirty="0">
                <a:latin typeface="Verdana"/>
                <a:cs typeface="Verdana"/>
              </a:rPr>
              <a:t> </a:t>
            </a:r>
            <a:r>
              <a:rPr sz="1450" dirty="0">
                <a:latin typeface="Verdana"/>
                <a:cs typeface="Verdana"/>
              </a:rPr>
              <a:t>mostly</a:t>
            </a:r>
            <a:r>
              <a:rPr sz="1450" spc="-30" dirty="0">
                <a:latin typeface="Verdana"/>
                <a:cs typeface="Verdana"/>
              </a:rPr>
              <a:t> </a:t>
            </a:r>
            <a:r>
              <a:rPr sz="1450" dirty="0">
                <a:latin typeface="Verdana"/>
                <a:cs typeface="Verdana"/>
              </a:rPr>
              <a:t>used</a:t>
            </a:r>
            <a:r>
              <a:rPr sz="1450" spc="-25" dirty="0">
                <a:latin typeface="Verdana"/>
                <a:cs typeface="Verdana"/>
              </a:rPr>
              <a:t> </a:t>
            </a:r>
            <a:r>
              <a:rPr sz="1450" dirty="0">
                <a:latin typeface="Verdana"/>
                <a:cs typeface="Verdana"/>
              </a:rPr>
              <a:t>in</a:t>
            </a:r>
            <a:r>
              <a:rPr sz="1450" spc="-25" dirty="0">
                <a:latin typeface="Verdana"/>
                <a:cs typeface="Verdana"/>
              </a:rPr>
              <a:t> </a:t>
            </a:r>
            <a:r>
              <a:rPr sz="1450" dirty="0">
                <a:latin typeface="Verdana"/>
                <a:cs typeface="Verdana"/>
              </a:rPr>
              <a:t>games</a:t>
            </a:r>
            <a:r>
              <a:rPr sz="1450" spc="-30" dirty="0">
                <a:latin typeface="Verdana"/>
                <a:cs typeface="Verdana"/>
              </a:rPr>
              <a:t> </a:t>
            </a:r>
            <a:r>
              <a:rPr sz="1450" dirty="0">
                <a:latin typeface="Verdana"/>
                <a:cs typeface="Verdana"/>
              </a:rPr>
              <a:t>and</a:t>
            </a:r>
            <a:r>
              <a:rPr sz="1450" spc="-25" dirty="0">
                <a:latin typeface="Verdana"/>
                <a:cs typeface="Verdana"/>
              </a:rPr>
              <a:t> </a:t>
            </a:r>
            <a:r>
              <a:rPr sz="1450" spc="-10" dirty="0">
                <a:latin typeface="Verdana"/>
                <a:cs typeface="Verdana"/>
              </a:rPr>
              <a:t>animation.</a:t>
            </a:r>
            <a:endParaRPr sz="14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4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50" dirty="0">
                <a:latin typeface="Verdana"/>
                <a:cs typeface="Verdana"/>
              </a:rPr>
              <a:t>For</a:t>
            </a:r>
            <a:r>
              <a:rPr sz="1450" spc="-30" dirty="0">
                <a:latin typeface="Verdana"/>
                <a:cs typeface="Verdana"/>
              </a:rPr>
              <a:t> </a:t>
            </a:r>
            <a:r>
              <a:rPr sz="1450" dirty="0">
                <a:latin typeface="Verdana"/>
                <a:cs typeface="Verdana"/>
              </a:rPr>
              <a:t>this</a:t>
            </a:r>
            <a:r>
              <a:rPr sz="1450" spc="-30" dirty="0">
                <a:latin typeface="Verdana"/>
                <a:cs typeface="Verdana"/>
              </a:rPr>
              <a:t> </a:t>
            </a:r>
            <a:r>
              <a:rPr sz="1450" dirty="0">
                <a:latin typeface="Verdana"/>
                <a:cs typeface="Verdana"/>
              </a:rPr>
              <a:t>purpose</a:t>
            </a:r>
            <a:r>
              <a:rPr sz="1450" spc="-30" dirty="0">
                <a:latin typeface="Verdana"/>
                <a:cs typeface="Verdana"/>
              </a:rPr>
              <a:t> </a:t>
            </a:r>
            <a:r>
              <a:rPr sz="1450" dirty="0">
                <a:latin typeface="Verdana"/>
                <a:cs typeface="Verdana"/>
              </a:rPr>
              <a:t>image</a:t>
            </a:r>
            <a:r>
              <a:rPr sz="1450" spc="-30" dirty="0">
                <a:latin typeface="Verdana"/>
                <a:cs typeface="Verdana"/>
              </a:rPr>
              <a:t> </a:t>
            </a:r>
            <a:r>
              <a:rPr sz="1450" dirty="0">
                <a:latin typeface="Verdana"/>
                <a:cs typeface="Verdana"/>
              </a:rPr>
              <a:t>is</a:t>
            </a:r>
            <a:r>
              <a:rPr sz="1450" spc="-30" dirty="0">
                <a:latin typeface="Verdana"/>
                <a:cs typeface="Verdana"/>
              </a:rPr>
              <a:t> </a:t>
            </a:r>
            <a:r>
              <a:rPr sz="1450" dirty="0">
                <a:latin typeface="Verdana"/>
                <a:cs typeface="Verdana"/>
              </a:rPr>
              <a:t>required</a:t>
            </a:r>
            <a:r>
              <a:rPr sz="1450" spc="-25" dirty="0">
                <a:latin typeface="Verdana"/>
                <a:cs typeface="Verdana"/>
              </a:rPr>
              <a:t> </a:t>
            </a:r>
            <a:r>
              <a:rPr sz="1450" dirty="0">
                <a:latin typeface="Verdana"/>
                <a:cs typeface="Verdana"/>
              </a:rPr>
              <a:t>to</a:t>
            </a:r>
            <a:r>
              <a:rPr sz="1450" spc="-30" dirty="0">
                <a:latin typeface="Verdana"/>
                <a:cs typeface="Verdana"/>
              </a:rPr>
              <a:t> </a:t>
            </a:r>
            <a:r>
              <a:rPr sz="1450" dirty="0">
                <a:latin typeface="Verdana"/>
                <a:cs typeface="Verdana"/>
              </a:rPr>
              <a:t>be</a:t>
            </a:r>
            <a:r>
              <a:rPr sz="1450" spc="-30" dirty="0">
                <a:latin typeface="Verdana"/>
                <a:cs typeface="Verdana"/>
              </a:rPr>
              <a:t> </a:t>
            </a:r>
            <a:r>
              <a:rPr sz="1450" spc="-10" dirty="0">
                <a:latin typeface="Verdana"/>
                <a:cs typeface="Verdana"/>
              </a:rPr>
              <a:t>displayed.</a:t>
            </a:r>
            <a:endParaRPr sz="14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4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50" dirty="0">
                <a:latin typeface="Verdana"/>
                <a:cs typeface="Verdana"/>
              </a:rPr>
              <a:t>The</a:t>
            </a:r>
            <a:r>
              <a:rPr sz="1450" spc="-30" dirty="0">
                <a:latin typeface="Verdana"/>
                <a:cs typeface="Verdana"/>
              </a:rPr>
              <a:t> </a:t>
            </a:r>
            <a:r>
              <a:rPr sz="1450" spc="-10" dirty="0">
                <a:latin typeface="Verdana"/>
                <a:cs typeface="Verdana"/>
              </a:rPr>
              <a:t>java.awt.Graphics</a:t>
            </a:r>
            <a:r>
              <a:rPr sz="1450" spc="-25" dirty="0">
                <a:latin typeface="Verdana"/>
                <a:cs typeface="Verdana"/>
              </a:rPr>
              <a:t> </a:t>
            </a:r>
            <a:r>
              <a:rPr sz="1450" dirty="0">
                <a:latin typeface="Verdana"/>
                <a:cs typeface="Verdana"/>
              </a:rPr>
              <a:t>class</a:t>
            </a:r>
            <a:r>
              <a:rPr sz="1450" spc="-25" dirty="0">
                <a:latin typeface="Verdana"/>
                <a:cs typeface="Verdana"/>
              </a:rPr>
              <a:t> </a:t>
            </a:r>
            <a:r>
              <a:rPr sz="1450" dirty="0">
                <a:latin typeface="Verdana"/>
                <a:cs typeface="Verdana"/>
              </a:rPr>
              <a:t>provide</a:t>
            </a:r>
            <a:r>
              <a:rPr sz="1450" spc="-30" dirty="0">
                <a:latin typeface="Verdana"/>
                <a:cs typeface="Verdana"/>
              </a:rPr>
              <a:t> </a:t>
            </a:r>
            <a:r>
              <a:rPr sz="1450" dirty="0">
                <a:latin typeface="Verdana"/>
                <a:cs typeface="Verdana"/>
              </a:rPr>
              <a:t>a</a:t>
            </a:r>
            <a:r>
              <a:rPr sz="1450" spc="-25" dirty="0">
                <a:latin typeface="Verdana"/>
                <a:cs typeface="Verdana"/>
              </a:rPr>
              <a:t> </a:t>
            </a:r>
            <a:r>
              <a:rPr sz="1450" dirty="0">
                <a:latin typeface="Verdana"/>
                <a:cs typeface="Verdana"/>
              </a:rPr>
              <a:t>method</a:t>
            </a:r>
            <a:r>
              <a:rPr sz="1450" spc="-25" dirty="0">
                <a:latin typeface="Verdana"/>
                <a:cs typeface="Verdana"/>
              </a:rPr>
              <a:t> </a:t>
            </a:r>
            <a:r>
              <a:rPr sz="1450" spc="-10" dirty="0">
                <a:latin typeface="Verdana"/>
                <a:cs typeface="Verdana"/>
              </a:rPr>
              <a:t>drawImage()</a:t>
            </a:r>
            <a:r>
              <a:rPr sz="1450" spc="-30" dirty="0">
                <a:latin typeface="Verdana"/>
                <a:cs typeface="Verdana"/>
              </a:rPr>
              <a:t> </a:t>
            </a:r>
            <a:r>
              <a:rPr sz="1450" dirty="0">
                <a:latin typeface="Verdana"/>
                <a:cs typeface="Verdana"/>
              </a:rPr>
              <a:t>to</a:t>
            </a:r>
            <a:r>
              <a:rPr sz="1450" spc="-25" dirty="0">
                <a:latin typeface="Verdana"/>
                <a:cs typeface="Verdana"/>
              </a:rPr>
              <a:t> </a:t>
            </a:r>
            <a:r>
              <a:rPr sz="1450" dirty="0">
                <a:latin typeface="Verdana"/>
                <a:cs typeface="Verdana"/>
              </a:rPr>
              <a:t>display</a:t>
            </a:r>
            <a:r>
              <a:rPr sz="1450" spc="-25" dirty="0">
                <a:latin typeface="Verdana"/>
                <a:cs typeface="Verdana"/>
              </a:rPr>
              <a:t> </a:t>
            </a:r>
            <a:r>
              <a:rPr sz="1450" dirty="0">
                <a:latin typeface="Verdana"/>
                <a:cs typeface="Verdana"/>
              </a:rPr>
              <a:t>the</a:t>
            </a:r>
            <a:r>
              <a:rPr sz="1450" spc="-30" dirty="0">
                <a:latin typeface="Verdana"/>
                <a:cs typeface="Verdana"/>
              </a:rPr>
              <a:t> </a:t>
            </a:r>
            <a:r>
              <a:rPr sz="1450" spc="-10" dirty="0">
                <a:latin typeface="Verdana"/>
                <a:cs typeface="Verdana"/>
              </a:rPr>
              <a:t>image.</a:t>
            </a:r>
            <a:endParaRPr sz="14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4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900" b="1" dirty="0">
                <a:solidFill>
                  <a:srgbClr val="610B37"/>
                </a:solidFill>
                <a:latin typeface="Arial"/>
                <a:cs typeface="Arial"/>
              </a:rPr>
              <a:t>Syntax</a:t>
            </a:r>
            <a:r>
              <a:rPr sz="1900" b="1" spc="-80" dirty="0">
                <a:solidFill>
                  <a:srgbClr val="610B37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610B37"/>
                </a:solidFill>
                <a:latin typeface="Arial"/>
                <a:cs typeface="Arial"/>
              </a:rPr>
              <a:t>of</a:t>
            </a:r>
            <a:r>
              <a:rPr sz="1900" b="1" spc="-80" dirty="0">
                <a:solidFill>
                  <a:srgbClr val="610B37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610B37"/>
                </a:solidFill>
                <a:latin typeface="Arial"/>
                <a:cs typeface="Arial"/>
              </a:rPr>
              <a:t>drawImage()</a:t>
            </a:r>
            <a:r>
              <a:rPr sz="1900" b="1" spc="-75" dirty="0">
                <a:solidFill>
                  <a:srgbClr val="610B37"/>
                </a:solidFill>
                <a:latin typeface="Arial"/>
                <a:cs typeface="Arial"/>
              </a:rPr>
              <a:t> </a:t>
            </a:r>
            <a:r>
              <a:rPr sz="1900" b="1" spc="-10" dirty="0">
                <a:solidFill>
                  <a:srgbClr val="610B37"/>
                </a:solidFill>
                <a:latin typeface="Arial"/>
                <a:cs typeface="Arial"/>
              </a:rPr>
              <a:t>method:</a:t>
            </a:r>
            <a:endParaRPr sz="1900">
              <a:latin typeface="Arial"/>
              <a:cs typeface="Arial"/>
            </a:endParaRPr>
          </a:p>
          <a:p>
            <a:pPr marL="107950">
              <a:lnSpc>
                <a:spcPct val="100000"/>
              </a:lnSpc>
              <a:spcBef>
                <a:spcPts val="2155"/>
              </a:spcBef>
              <a:tabLst>
                <a:tab pos="469265" algn="l"/>
              </a:tabLst>
            </a:pPr>
            <a:r>
              <a:rPr sz="1050" spc="-25" dirty="0">
                <a:latin typeface="Verdana"/>
                <a:cs typeface="Verdana"/>
              </a:rPr>
              <a:t>1.</a:t>
            </a:r>
            <a:r>
              <a:rPr sz="1050" dirty="0">
                <a:latin typeface="Verdana"/>
                <a:cs typeface="Verdana"/>
              </a:rPr>
              <a:t>	</a:t>
            </a:r>
            <a:r>
              <a:rPr sz="1050" b="1" dirty="0">
                <a:latin typeface="Verdana"/>
                <a:cs typeface="Verdana"/>
              </a:rPr>
              <a:t>public</a:t>
            </a:r>
            <a:r>
              <a:rPr sz="1050" b="1" spc="-40" dirty="0">
                <a:latin typeface="Verdana"/>
                <a:cs typeface="Verdana"/>
              </a:rPr>
              <a:t> </a:t>
            </a:r>
            <a:r>
              <a:rPr sz="1050" b="1" dirty="0">
                <a:latin typeface="Verdana"/>
                <a:cs typeface="Verdana"/>
              </a:rPr>
              <a:t>abstract</a:t>
            </a:r>
            <a:r>
              <a:rPr sz="1050" b="1" spc="-40" dirty="0">
                <a:latin typeface="Verdana"/>
                <a:cs typeface="Verdana"/>
              </a:rPr>
              <a:t> </a:t>
            </a:r>
            <a:r>
              <a:rPr sz="1050" b="1" dirty="0">
                <a:latin typeface="Verdana"/>
                <a:cs typeface="Verdana"/>
              </a:rPr>
              <a:t>boolean</a:t>
            </a:r>
            <a:r>
              <a:rPr sz="1050" b="1" spc="-35" dirty="0">
                <a:latin typeface="Verdana"/>
                <a:cs typeface="Verdana"/>
              </a:rPr>
              <a:t> </a:t>
            </a:r>
            <a:r>
              <a:rPr sz="1050" b="1" spc="-10" dirty="0">
                <a:latin typeface="Verdana"/>
                <a:cs typeface="Verdana"/>
              </a:rPr>
              <a:t>drawImage(Image</a:t>
            </a:r>
            <a:r>
              <a:rPr sz="1050" b="1" spc="-40" dirty="0">
                <a:latin typeface="Verdana"/>
                <a:cs typeface="Verdana"/>
              </a:rPr>
              <a:t> </a:t>
            </a:r>
            <a:r>
              <a:rPr sz="1050" b="1" dirty="0">
                <a:latin typeface="Verdana"/>
                <a:cs typeface="Verdana"/>
              </a:rPr>
              <a:t>img,</a:t>
            </a:r>
            <a:r>
              <a:rPr sz="1050" b="1" spc="-35" dirty="0">
                <a:latin typeface="Verdana"/>
                <a:cs typeface="Verdana"/>
              </a:rPr>
              <a:t> </a:t>
            </a:r>
            <a:r>
              <a:rPr sz="1050" b="1" dirty="0">
                <a:latin typeface="Verdana"/>
                <a:cs typeface="Verdana"/>
              </a:rPr>
              <a:t>int</a:t>
            </a:r>
            <a:r>
              <a:rPr sz="1050" b="1" spc="-40" dirty="0">
                <a:latin typeface="Verdana"/>
                <a:cs typeface="Verdana"/>
              </a:rPr>
              <a:t> </a:t>
            </a:r>
            <a:r>
              <a:rPr sz="1050" b="1" dirty="0">
                <a:latin typeface="Verdana"/>
                <a:cs typeface="Verdana"/>
              </a:rPr>
              <a:t>x,</a:t>
            </a:r>
            <a:r>
              <a:rPr sz="1050" b="1" spc="-40" dirty="0">
                <a:latin typeface="Verdana"/>
                <a:cs typeface="Verdana"/>
              </a:rPr>
              <a:t> </a:t>
            </a:r>
            <a:r>
              <a:rPr sz="1050" b="1" dirty="0">
                <a:latin typeface="Verdana"/>
                <a:cs typeface="Verdana"/>
              </a:rPr>
              <a:t>int</a:t>
            </a:r>
            <a:r>
              <a:rPr sz="1050" b="1" spc="-35" dirty="0">
                <a:latin typeface="Verdana"/>
                <a:cs typeface="Verdana"/>
              </a:rPr>
              <a:t> </a:t>
            </a:r>
            <a:r>
              <a:rPr sz="1050" b="1" dirty="0">
                <a:latin typeface="Verdana"/>
                <a:cs typeface="Verdana"/>
              </a:rPr>
              <a:t>y,</a:t>
            </a:r>
            <a:r>
              <a:rPr sz="1050" b="1" spc="-40" dirty="0">
                <a:latin typeface="Verdana"/>
                <a:cs typeface="Verdana"/>
              </a:rPr>
              <a:t> </a:t>
            </a:r>
            <a:r>
              <a:rPr sz="1050" b="1" spc="-10" dirty="0">
                <a:latin typeface="Verdana"/>
                <a:cs typeface="Verdana"/>
              </a:rPr>
              <a:t>ImageObserver</a:t>
            </a:r>
            <a:r>
              <a:rPr sz="1050" b="1" spc="-35" dirty="0">
                <a:latin typeface="Verdana"/>
                <a:cs typeface="Verdana"/>
              </a:rPr>
              <a:t> </a:t>
            </a:r>
            <a:r>
              <a:rPr sz="1050" b="1" spc="-10" dirty="0">
                <a:latin typeface="Verdana"/>
                <a:cs typeface="Verdana"/>
              </a:rPr>
              <a:t>observer):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110"/>
              </a:spcBef>
            </a:pPr>
            <a:endParaRPr sz="105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</a:pPr>
            <a:r>
              <a:rPr sz="1050" dirty="0">
                <a:latin typeface="Verdana"/>
                <a:cs typeface="Verdana"/>
              </a:rPr>
              <a:t>is</a:t>
            </a:r>
            <a:r>
              <a:rPr sz="1050" spc="-2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used</a:t>
            </a:r>
            <a:r>
              <a:rPr sz="1050" spc="-20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draw</a:t>
            </a:r>
            <a:r>
              <a:rPr sz="1050" spc="-2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the</a:t>
            </a:r>
            <a:r>
              <a:rPr sz="1050" spc="-20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specified</a:t>
            </a:r>
            <a:r>
              <a:rPr sz="1050" spc="-20" dirty="0">
                <a:latin typeface="Verdana"/>
                <a:cs typeface="Verdana"/>
              </a:rPr>
              <a:t> </a:t>
            </a:r>
            <a:r>
              <a:rPr sz="1050" spc="-10" dirty="0">
                <a:latin typeface="Verdana"/>
                <a:cs typeface="Verdana"/>
              </a:rPr>
              <a:t>image.</a:t>
            </a:r>
            <a:endParaRPr sz="10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4725" y="1520831"/>
            <a:ext cx="727265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solidFill>
                  <a:srgbClr val="610B37"/>
                </a:solidFill>
                <a:latin typeface="Arial"/>
                <a:cs typeface="Arial"/>
              </a:rPr>
              <a:t>Other</a:t>
            </a:r>
            <a:r>
              <a:rPr sz="2100" b="1" spc="-50" dirty="0">
                <a:solidFill>
                  <a:srgbClr val="610B37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610B37"/>
                </a:solidFill>
                <a:latin typeface="Arial"/>
                <a:cs typeface="Arial"/>
              </a:rPr>
              <a:t>required</a:t>
            </a:r>
            <a:r>
              <a:rPr sz="2100" b="1" spc="-45" dirty="0">
                <a:solidFill>
                  <a:srgbClr val="610B37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610B37"/>
                </a:solidFill>
                <a:latin typeface="Arial"/>
                <a:cs typeface="Arial"/>
              </a:rPr>
              <a:t>methods</a:t>
            </a:r>
            <a:r>
              <a:rPr sz="2100" b="1" spc="-45" dirty="0">
                <a:solidFill>
                  <a:srgbClr val="610B37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610B37"/>
                </a:solidFill>
                <a:latin typeface="Arial"/>
                <a:cs typeface="Arial"/>
              </a:rPr>
              <a:t>of</a:t>
            </a:r>
            <a:r>
              <a:rPr sz="2100" b="1" spc="-114" dirty="0">
                <a:solidFill>
                  <a:srgbClr val="610B37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610B37"/>
                </a:solidFill>
                <a:latin typeface="Arial"/>
                <a:cs typeface="Arial"/>
              </a:rPr>
              <a:t>Applet</a:t>
            </a:r>
            <a:r>
              <a:rPr sz="2100" b="1" spc="-45" dirty="0">
                <a:solidFill>
                  <a:srgbClr val="610B37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610B37"/>
                </a:solidFill>
                <a:latin typeface="Arial"/>
                <a:cs typeface="Arial"/>
              </a:rPr>
              <a:t>class</a:t>
            </a:r>
            <a:r>
              <a:rPr sz="2100" b="1" spc="-45" dirty="0">
                <a:solidFill>
                  <a:srgbClr val="610B37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610B37"/>
                </a:solidFill>
                <a:latin typeface="Arial"/>
                <a:cs typeface="Arial"/>
              </a:rPr>
              <a:t>to</a:t>
            </a:r>
            <a:r>
              <a:rPr sz="2100" b="1" spc="-45" dirty="0">
                <a:solidFill>
                  <a:srgbClr val="610B37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610B37"/>
                </a:solidFill>
                <a:latin typeface="Arial"/>
                <a:cs typeface="Arial"/>
              </a:rPr>
              <a:t>display</a:t>
            </a:r>
            <a:r>
              <a:rPr sz="2100" b="1" spc="-45" dirty="0">
                <a:solidFill>
                  <a:srgbClr val="610B37"/>
                </a:solidFill>
                <a:latin typeface="Arial"/>
                <a:cs typeface="Arial"/>
              </a:rPr>
              <a:t> </a:t>
            </a:r>
            <a:r>
              <a:rPr sz="2100" b="1" spc="-10" dirty="0">
                <a:solidFill>
                  <a:srgbClr val="610B37"/>
                </a:solidFill>
                <a:latin typeface="Arial"/>
                <a:cs typeface="Arial"/>
              </a:rPr>
              <a:t>image:</a:t>
            </a:r>
            <a:endParaRPr sz="21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4751" y="2118875"/>
            <a:ext cx="8138159" cy="898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9415" indent="-386715">
              <a:lnSpc>
                <a:spcPct val="100000"/>
              </a:lnSpc>
              <a:spcBef>
                <a:spcPts val="100"/>
              </a:spcBef>
              <a:buFont typeface="Verdana"/>
              <a:buAutoNum type="arabicPeriod"/>
              <a:tabLst>
                <a:tab pos="399415" algn="l"/>
              </a:tabLst>
            </a:pPr>
            <a:r>
              <a:rPr sz="1250" b="1" dirty="0">
                <a:latin typeface="Verdana"/>
                <a:cs typeface="Verdana"/>
              </a:rPr>
              <a:t>public</a:t>
            </a:r>
            <a:r>
              <a:rPr sz="1250" b="1" spc="-30" dirty="0">
                <a:latin typeface="Verdana"/>
                <a:cs typeface="Verdana"/>
              </a:rPr>
              <a:t> </a:t>
            </a:r>
            <a:r>
              <a:rPr sz="1250" b="1" dirty="0">
                <a:latin typeface="Verdana"/>
                <a:cs typeface="Verdana"/>
              </a:rPr>
              <a:t>URL</a:t>
            </a:r>
            <a:r>
              <a:rPr sz="1250" b="1" spc="-30" dirty="0">
                <a:latin typeface="Verdana"/>
                <a:cs typeface="Verdana"/>
              </a:rPr>
              <a:t> </a:t>
            </a:r>
            <a:r>
              <a:rPr sz="1250" b="1" dirty="0">
                <a:latin typeface="Verdana"/>
                <a:cs typeface="Verdana"/>
              </a:rPr>
              <a:t>getDocumentBase():</a:t>
            </a:r>
            <a:r>
              <a:rPr sz="1250" b="1" spc="-15" dirty="0">
                <a:latin typeface="Verdana"/>
                <a:cs typeface="Verdana"/>
              </a:rPr>
              <a:t> </a:t>
            </a:r>
            <a:r>
              <a:rPr sz="1250" dirty="0">
                <a:latin typeface="Verdana"/>
                <a:cs typeface="Verdana"/>
              </a:rPr>
              <a:t>is</a:t>
            </a:r>
            <a:r>
              <a:rPr sz="1250" spc="-30" dirty="0">
                <a:latin typeface="Verdana"/>
                <a:cs typeface="Verdana"/>
              </a:rPr>
              <a:t> </a:t>
            </a:r>
            <a:r>
              <a:rPr sz="1250" dirty="0">
                <a:latin typeface="Verdana"/>
                <a:cs typeface="Verdana"/>
              </a:rPr>
              <a:t>used</a:t>
            </a:r>
            <a:r>
              <a:rPr sz="1250" spc="-30" dirty="0">
                <a:latin typeface="Verdana"/>
                <a:cs typeface="Verdana"/>
              </a:rPr>
              <a:t> </a:t>
            </a:r>
            <a:r>
              <a:rPr sz="1250" dirty="0">
                <a:latin typeface="Verdana"/>
                <a:cs typeface="Verdana"/>
              </a:rPr>
              <a:t>to</a:t>
            </a:r>
            <a:r>
              <a:rPr sz="1250" spc="-30" dirty="0">
                <a:latin typeface="Verdana"/>
                <a:cs typeface="Verdana"/>
              </a:rPr>
              <a:t> </a:t>
            </a:r>
            <a:r>
              <a:rPr sz="1250" dirty="0">
                <a:latin typeface="Verdana"/>
                <a:cs typeface="Verdana"/>
              </a:rPr>
              <a:t>return</a:t>
            </a:r>
            <a:r>
              <a:rPr sz="1250" spc="-25" dirty="0">
                <a:latin typeface="Verdana"/>
                <a:cs typeface="Verdana"/>
              </a:rPr>
              <a:t> </a:t>
            </a:r>
            <a:r>
              <a:rPr sz="1250" dirty="0">
                <a:latin typeface="Verdana"/>
                <a:cs typeface="Verdana"/>
              </a:rPr>
              <a:t>the</a:t>
            </a:r>
            <a:r>
              <a:rPr sz="1250" spc="-30" dirty="0">
                <a:latin typeface="Verdana"/>
                <a:cs typeface="Verdana"/>
              </a:rPr>
              <a:t> </a:t>
            </a:r>
            <a:r>
              <a:rPr sz="1250" dirty="0">
                <a:latin typeface="Verdana"/>
                <a:cs typeface="Verdana"/>
              </a:rPr>
              <a:t>URL</a:t>
            </a:r>
            <a:r>
              <a:rPr sz="1250" spc="-30" dirty="0">
                <a:latin typeface="Verdana"/>
                <a:cs typeface="Verdana"/>
              </a:rPr>
              <a:t> </a:t>
            </a:r>
            <a:r>
              <a:rPr sz="1250" dirty="0">
                <a:latin typeface="Verdana"/>
                <a:cs typeface="Verdana"/>
              </a:rPr>
              <a:t>of</a:t>
            </a:r>
            <a:r>
              <a:rPr sz="1250" spc="-30" dirty="0">
                <a:latin typeface="Verdana"/>
                <a:cs typeface="Verdana"/>
              </a:rPr>
              <a:t> </a:t>
            </a:r>
            <a:r>
              <a:rPr sz="1250" dirty="0">
                <a:latin typeface="Verdana"/>
                <a:cs typeface="Verdana"/>
              </a:rPr>
              <a:t>the</a:t>
            </a:r>
            <a:r>
              <a:rPr sz="1250" spc="-30" dirty="0">
                <a:latin typeface="Verdana"/>
                <a:cs typeface="Verdana"/>
              </a:rPr>
              <a:t> </a:t>
            </a:r>
            <a:r>
              <a:rPr sz="1250" dirty="0">
                <a:latin typeface="Verdana"/>
                <a:cs typeface="Verdana"/>
              </a:rPr>
              <a:t>document</a:t>
            </a:r>
            <a:r>
              <a:rPr sz="1250" spc="-30" dirty="0">
                <a:latin typeface="Verdana"/>
                <a:cs typeface="Verdana"/>
              </a:rPr>
              <a:t> </a:t>
            </a:r>
            <a:r>
              <a:rPr sz="1250" dirty="0">
                <a:latin typeface="Verdana"/>
                <a:cs typeface="Verdana"/>
              </a:rPr>
              <a:t>in</a:t>
            </a:r>
            <a:r>
              <a:rPr sz="1250" spc="-30" dirty="0">
                <a:latin typeface="Verdana"/>
                <a:cs typeface="Verdana"/>
              </a:rPr>
              <a:t> </a:t>
            </a:r>
            <a:r>
              <a:rPr sz="1250" dirty="0">
                <a:latin typeface="Verdana"/>
                <a:cs typeface="Verdana"/>
              </a:rPr>
              <a:t>which</a:t>
            </a:r>
            <a:r>
              <a:rPr sz="1250" spc="-30" dirty="0">
                <a:latin typeface="Verdana"/>
                <a:cs typeface="Verdana"/>
              </a:rPr>
              <a:t> </a:t>
            </a:r>
            <a:r>
              <a:rPr sz="1250" dirty="0">
                <a:latin typeface="Verdana"/>
                <a:cs typeface="Verdana"/>
              </a:rPr>
              <a:t>applet</a:t>
            </a:r>
            <a:r>
              <a:rPr sz="1250" spc="-30" dirty="0">
                <a:latin typeface="Verdana"/>
                <a:cs typeface="Verdana"/>
              </a:rPr>
              <a:t> </a:t>
            </a:r>
            <a:r>
              <a:rPr sz="1250" spc="-25" dirty="0">
                <a:latin typeface="Verdana"/>
                <a:cs typeface="Verdana"/>
              </a:rPr>
              <a:t>is</a:t>
            </a:r>
            <a:endParaRPr sz="1250">
              <a:latin typeface="Verdana"/>
              <a:cs typeface="Verdana"/>
            </a:endParaRPr>
          </a:p>
          <a:p>
            <a:pPr marL="399415">
              <a:lnSpc>
                <a:spcPct val="100000"/>
              </a:lnSpc>
              <a:spcBef>
                <a:spcPts val="1175"/>
              </a:spcBef>
            </a:pPr>
            <a:r>
              <a:rPr sz="1250" spc="-10" dirty="0">
                <a:latin typeface="Verdana"/>
                <a:cs typeface="Verdana"/>
              </a:rPr>
              <a:t>embedded.</a:t>
            </a:r>
            <a:endParaRPr sz="1250">
              <a:latin typeface="Verdana"/>
              <a:cs typeface="Verdana"/>
            </a:endParaRPr>
          </a:p>
          <a:p>
            <a:pPr marL="399415" indent="-386715">
              <a:lnSpc>
                <a:spcPct val="100000"/>
              </a:lnSpc>
              <a:spcBef>
                <a:spcPts val="1200"/>
              </a:spcBef>
              <a:buFont typeface="Verdana"/>
              <a:buAutoNum type="arabicPeriod" startAt="2"/>
              <a:tabLst>
                <a:tab pos="399415" algn="l"/>
              </a:tabLst>
            </a:pPr>
            <a:r>
              <a:rPr sz="1250" b="1" dirty="0">
                <a:latin typeface="Verdana"/>
                <a:cs typeface="Verdana"/>
              </a:rPr>
              <a:t>public</a:t>
            </a:r>
            <a:r>
              <a:rPr sz="1250" b="1" spc="-30" dirty="0">
                <a:latin typeface="Verdana"/>
                <a:cs typeface="Verdana"/>
              </a:rPr>
              <a:t> </a:t>
            </a:r>
            <a:r>
              <a:rPr sz="1250" b="1" dirty="0">
                <a:latin typeface="Verdana"/>
                <a:cs typeface="Verdana"/>
              </a:rPr>
              <a:t>URL</a:t>
            </a:r>
            <a:r>
              <a:rPr sz="1250" b="1" spc="-30" dirty="0">
                <a:latin typeface="Verdana"/>
                <a:cs typeface="Verdana"/>
              </a:rPr>
              <a:t> </a:t>
            </a:r>
            <a:r>
              <a:rPr sz="1250" b="1" dirty="0">
                <a:latin typeface="Verdana"/>
                <a:cs typeface="Verdana"/>
              </a:rPr>
              <a:t>getCodeBase():</a:t>
            </a:r>
            <a:r>
              <a:rPr sz="1250" b="1" spc="-15" dirty="0">
                <a:latin typeface="Verdana"/>
                <a:cs typeface="Verdana"/>
              </a:rPr>
              <a:t> </a:t>
            </a:r>
            <a:r>
              <a:rPr sz="1250" dirty="0">
                <a:latin typeface="Verdana"/>
                <a:cs typeface="Verdana"/>
              </a:rPr>
              <a:t>is</a:t>
            </a:r>
            <a:r>
              <a:rPr sz="1250" spc="-25" dirty="0">
                <a:latin typeface="Verdana"/>
                <a:cs typeface="Verdana"/>
              </a:rPr>
              <a:t> </a:t>
            </a:r>
            <a:r>
              <a:rPr sz="1250" dirty="0">
                <a:latin typeface="Verdana"/>
                <a:cs typeface="Verdana"/>
              </a:rPr>
              <a:t>used</a:t>
            </a:r>
            <a:r>
              <a:rPr sz="1250" spc="-30" dirty="0">
                <a:latin typeface="Verdana"/>
                <a:cs typeface="Verdana"/>
              </a:rPr>
              <a:t> </a:t>
            </a:r>
            <a:r>
              <a:rPr sz="1250" dirty="0">
                <a:latin typeface="Verdana"/>
                <a:cs typeface="Verdana"/>
              </a:rPr>
              <a:t>to</a:t>
            </a:r>
            <a:r>
              <a:rPr sz="1250" spc="-30" dirty="0">
                <a:latin typeface="Verdana"/>
                <a:cs typeface="Verdana"/>
              </a:rPr>
              <a:t> </a:t>
            </a:r>
            <a:r>
              <a:rPr sz="1250" dirty="0">
                <a:latin typeface="Verdana"/>
                <a:cs typeface="Verdana"/>
              </a:rPr>
              <a:t>return</a:t>
            </a:r>
            <a:r>
              <a:rPr sz="1250" spc="-30" dirty="0">
                <a:latin typeface="Verdana"/>
                <a:cs typeface="Verdana"/>
              </a:rPr>
              <a:t> </a:t>
            </a:r>
            <a:r>
              <a:rPr sz="1250" dirty="0">
                <a:latin typeface="Verdana"/>
                <a:cs typeface="Verdana"/>
              </a:rPr>
              <a:t>the</a:t>
            </a:r>
            <a:r>
              <a:rPr sz="1250" spc="-25" dirty="0">
                <a:latin typeface="Verdana"/>
                <a:cs typeface="Verdana"/>
              </a:rPr>
              <a:t> </a:t>
            </a:r>
            <a:r>
              <a:rPr sz="1250" dirty="0">
                <a:latin typeface="Verdana"/>
                <a:cs typeface="Verdana"/>
              </a:rPr>
              <a:t>base</a:t>
            </a:r>
            <a:r>
              <a:rPr sz="1250" spc="-30" dirty="0">
                <a:latin typeface="Verdana"/>
                <a:cs typeface="Verdana"/>
              </a:rPr>
              <a:t> </a:t>
            </a:r>
            <a:r>
              <a:rPr sz="1250" spc="-20" dirty="0">
                <a:latin typeface="Verdana"/>
                <a:cs typeface="Verdana"/>
              </a:rPr>
              <a:t>URL.</a:t>
            </a:r>
            <a:endParaRPr sz="1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392122"/>
            <a:ext cx="447357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dirty="0">
                <a:latin typeface="Arial"/>
                <a:cs typeface="Arial"/>
              </a:rPr>
              <a:t>Example</a:t>
            </a:r>
            <a:r>
              <a:rPr sz="1900" b="1" spc="-55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of</a:t>
            </a:r>
            <a:r>
              <a:rPr sz="1900" b="1" spc="-55" dirty="0">
                <a:latin typeface="Arial"/>
                <a:cs typeface="Arial"/>
              </a:rPr>
              <a:t> </a:t>
            </a:r>
            <a:r>
              <a:rPr sz="1900" b="1" spc="-10" dirty="0">
                <a:latin typeface="Arial"/>
                <a:cs typeface="Arial"/>
              </a:rPr>
              <a:t>displaying</a:t>
            </a:r>
            <a:r>
              <a:rPr sz="1900" b="1" spc="-55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image</a:t>
            </a:r>
            <a:r>
              <a:rPr sz="1900" b="1" spc="-55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in</a:t>
            </a:r>
            <a:r>
              <a:rPr sz="1900" b="1" spc="-55" dirty="0">
                <a:latin typeface="Arial"/>
                <a:cs typeface="Arial"/>
              </a:rPr>
              <a:t> </a:t>
            </a:r>
            <a:r>
              <a:rPr sz="1900" b="1" spc="-10" dirty="0">
                <a:latin typeface="Arial"/>
                <a:cs typeface="Arial"/>
              </a:rPr>
              <a:t>applet:</a:t>
            </a:r>
            <a:endParaRPr sz="1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7950" y="850332"/>
            <a:ext cx="4236720" cy="3724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dirty="0">
                <a:solidFill>
                  <a:srgbClr val="006699"/>
                </a:solidFill>
                <a:latin typeface="Verdana"/>
                <a:cs typeface="Verdana"/>
              </a:rPr>
              <a:t>import</a:t>
            </a:r>
            <a:r>
              <a:rPr sz="1150" b="1" spc="-1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150" spc="-10" dirty="0">
                <a:latin typeface="Verdana"/>
                <a:cs typeface="Verdana"/>
              </a:rPr>
              <a:t>java.awt.*;</a:t>
            </a:r>
            <a:endParaRPr sz="11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1150" b="1" dirty="0">
                <a:solidFill>
                  <a:srgbClr val="006699"/>
                </a:solidFill>
                <a:latin typeface="Verdana"/>
                <a:cs typeface="Verdana"/>
              </a:rPr>
              <a:t>import</a:t>
            </a:r>
            <a:r>
              <a:rPr sz="1150" b="1" spc="-1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150" spc="-10" dirty="0">
                <a:latin typeface="Verdana"/>
                <a:cs typeface="Verdana"/>
              </a:rPr>
              <a:t>java.applet.*;</a:t>
            </a:r>
            <a:endParaRPr sz="1150">
              <a:latin typeface="Verdana"/>
              <a:cs typeface="Verdana"/>
            </a:endParaRPr>
          </a:p>
          <a:p>
            <a:pPr marL="217170" marR="743585" indent="-102870">
              <a:lnSpc>
                <a:spcPct val="201100"/>
              </a:lnSpc>
            </a:pPr>
            <a:r>
              <a:rPr sz="1150" b="1" dirty="0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150" b="1" spc="-3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150" b="1" dirty="0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150" b="1" spc="-2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150" dirty="0">
                <a:latin typeface="Verdana"/>
                <a:cs typeface="Verdana"/>
              </a:rPr>
              <a:t>DisplayImage</a:t>
            </a:r>
            <a:r>
              <a:rPr sz="1150" spc="-30" dirty="0">
                <a:latin typeface="Verdana"/>
                <a:cs typeface="Verdana"/>
              </a:rPr>
              <a:t> </a:t>
            </a:r>
            <a:r>
              <a:rPr sz="1150" b="1" dirty="0">
                <a:solidFill>
                  <a:srgbClr val="006699"/>
                </a:solidFill>
                <a:latin typeface="Verdana"/>
                <a:cs typeface="Verdana"/>
              </a:rPr>
              <a:t>extends</a:t>
            </a:r>
            <a:r>
              <a:rPr sz="1150" b="1" spc="-3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150" dirty="0">
                <a:latin typeface="Verdana"/>
                <a:cs typeface="Verdana"/>
              </a:rPr>
              <a:t>Applet</a:t>
            </a:r>
            <a:r>
              <a:rPr sz="1150" spc="-40" dirty="0">
                <a:latin typeface="Verdana"/>
                <a:cs typeface="Verdana"/>
              </a:rPr>
              <a:t> </a:t>
            </a:r>
            <a:r>
              <a:rPr sz="1150" spc="-50" dirty="0">
                <a:latin typeface="Verdana"/>
                <a:cs typeface="Verdana"/>
              </a:rPr>
              <a:t>{ </a:t>
            </a:r>
            <a:r>
              <a:rPr sz="1150" dirty="0">
                <a:latin typeface="Verdana"/>
                <a:cs typeface="Verdana"/>
              </a:rPr>
              <a:t>Image</a:t>
            </a:r>
            <a:r>
              <a:rPr sz="1150" spc="-25" dirty="0">
                <a:latin typeface="Verdana"/>
                <a:cs typeface="Verdana"/>
              </a:rPr>
              <a:t> </a:t>
            </a:r>
            <a:r>
              <a:rPr sz="1150" spc="-10" dirty="0">
                <a:latin typeface="Verdana"/>
                <a:cs typeface="Verdana"/>
              </a:rPr>
              <a:t>picture;</a:t>
            </a:r>
            <a:endParaRPr sz="1150">
              <a:latin typeface="Verdana"/>
              <a:cs typeface="Verdana"/>
            </a:endParaRPr>
          </a:p>
          <a:p>
            <a:pPr marL="217804">
              <a:lnSpc>
                <a:spcPct val="100000"/>
              </a:lnSpc>
              <a:spcBef>
                <a:spcPts val="1395"/>
              </a:spcBef>
            </a:pPr>
            <a:r>
              <a:rPr sz="1150" b="1" dirty="0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150" b="1" spc="-1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150" b="1" dirty="0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150" b="1" spc="-1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150" dirty="0">
                <a:latin typeface="Verdana"/>
                <a:cs typeface="Verdana"/>
              </a:rPr>
              <a:t>init()</a:t>
            </a:r>
            <a:r>
              <a:rPr sz="1150" spc="-25" dirty="0">
                <a:latin typeface="Verdana"/>
                <a:cs typeface="Verdana"/>
              </a:rPr>
              <a:t> </a:t>
            </a:r>
            <a:r>
              <a:rPr sz="1150" spc="-50" dirty="0">
                <a:latin typeface="Verdana"/>
                <a:cs typeface="Verdana"/>
              </a:rPr>
              <a:t>{</a:t>
            </a:r>
            <a:endParaRPr sz="1150">
              <a:latin typeface="Verdana"/>
              <a:cs typeface="Verdana"/>
            </a:endParaRPr>
          </a:p>
          <a:p>
            <a:pPr marL="217170">
              <a:lnSpc>
                <a:spcPct val="100000"/>
              </a:lnSpc>
              <a:spcBef>
                <a:spcPts val="1395"/>
              </a:spcBef>
            </a:pPr>
            <a:r>
              <a:rPr sz="1150" dirty="0">
                <a:latin typeface="Verdana"/>
                <a:cs typeface="Verdana"/>
              </a:rPr>
              <a:t>picture</a:t>
            </a:r>
            <a:r>
              <a:rPr sz="1150" spc="-30" dirty="0">
                <a:latin typeface="Verdana"/>
                <a:cs typeface="Verdana"/>
              </a:rPr>
              <a:t> </a:t>
            </a:r>
            <a:r>
              <a:rPr sz="1150" dirty="0">
                <a:latin typeface="Verdana"/>
                <a:cs typeface="Verdana"/>
              </a:rPr>
              <a:t>=</a:t>
            </a:r>
            <a:r>
              <a:rPr sz="1150" spc="-20" dirty="0">
                <a:latin typeface="Verdana"/>
                <a:cs typeface="Verdana"/>
              </a:rPr>
              <a:t> </a:t>
            </a:r>
            <a:r>
              <a:rPr sz="1150" spc="-10" dirty="0">
                <a:latin typeface="Verdana"/>
                <a:cs typeface="Verdana"/>
              </a:rPr>
              <a:t>getImage(getDocumentBase(),</a:t>
            </a:r>
            <a:r>
              <a:rPr sz="1150" spc="-10" dirty="0">
                <a:solidFill>
                  <a:srgbClr val="0000FF"/>
                </a:solidFill>
                <a:latin typeface="Verdana"/>
                <a:cs typeface="Verdana"/>
              </a:rPr>
              <a:t>"sonoo.jpg"</a:t>
            </a:r>
            <a:r>
              <a:rPr sz="1150" spc="-10" dirty="0">
                <a:latin typeface="Verdana"/>
                <a:cs typeface="Verdana"/>
              </a:rPr>
              <a:t>);</a:t>
            </a:r>
            <a:endParaRPr sz="1150">
              <a:latin typeface="Verdana"/>
              <a:cs typeface="Verdana"/>
            </a:endParaRPr>
          </a:p>
          <a:p>
            <a:pPr marL="114935">
              <a:lnSpc>
                <a:spcPct val="100000"/>
              </a:lnSpc>
              <a:spcBef>
                <a:spcPts val="1395"/>
              </a:spcBef>
            </a:pPr>
            <a:r>
              <a:rPr sz="1150" spc="-50" dirty="0">
                <a:latin typeface="Verdana"/>
                <a:cs typeface="Verdana"/>
              </a:rPr>
              <a:t>}</a:t>
            </a:r>
            <a:endParaRPr sz="1150">
              <a:latin typeface="Verdana"/>
              <a:cs typeface="Verdana"/>
            </a:endParaRPr>
          </a:p>
          <a:p>
            <a:pPr marL="217170" marR="1391920" indent="51435">
              <a:lnSpc>
                <a:spcPct val="201100"/>
              </a:lnSpc>
            </a:pPr>
            <a:r>
              <a:rPr sz="1150" b="1" dirty="0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150" b="1" spc="-2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150" b="1" dirty="0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150" b="1" spc="-2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150" dirty="0">
                <a:latin typeface="Verdana"/>
                <a:cs typeface="Verdana"/>
              </a:rPr>
              <a:t>paint(Graphics</a:t>
            </a:r>
            <a:r>
              <a:rPr sz="1150" spc="-30" dirty="0">
                <a:latin typeface="Verdana"/>
                <a:cs typeface="Verdana"/>
              </a:rPr>
              <a:t> </a:t>
            </a:r>
            <a:r>
              <a:rPr sz="1150" dirty="0">
                <a:latin typeface="Verdana"/>
                <a:cs typeface="Verdana"/>
              </a:rPr>
              <a:t>g)</a:t>
            </a:r>
            <a:r>
              <a:rPr sz="1150" spc="-30" dirty="0">
                <a:latin typeface="Verdana"/>
                <a:cs typeface="Verdana"/>
              </a:rPr>
              <a:t> </a:t>
            </a:r>
            <a:r>
              <a:rPr sz="1150" spc="-50" dirty="0">
                <a:latin typeface="Verdana"/>
                <a:cs typeface="Verdana"/>
              </a:rPr>
              <a:t>{ </a:t>
            </a:r>
            <a:r>
              <a:rPr sz="1150" dirty="0">
                <a:latin typeface="Verdana"/>
                <a:cs typeface="Verdana"/>
              </a:rPr>
              <a:t>g.drawImage(picture,</a:t>
            </a:r>
            <a:r>
              <a:rPr sz="1150" spc="-45" dirty="0">
                <a:latin typeface="Verdana"/>
                <a:cs typeface="Verdana"/>
              </a:rPr>
              <a:t> </a:t>
            </a:r>
            <a:r>
              <a:rPr sz="1150" dirty="0">
                <a:solidFill>
                  <a:srgbClr val="C00000"/>
                </a:solidFill>
                <a:latin typeface="Verdana"/>
                <a:cs typeface="Verdana"/>
              </a:rPr>
              <a:t>30</a:t>
            </a:r>
            <a:r>
              <a:rPr sz="1150" dirty="0">
                <a:latin typeface="Verdana"/>
                <a:cs typeface="Verdana"/>
              </a:rPr>
              <a:t>,</a:t>
            </a:r>
            <a:r>
              <a:rPr sz="1150" dirty="0">
                <a:solidFill>
                  <a:srgbClr val="C00000"/>
                </a:solidFill>
                <a:latin typeface="Verdana"/>
                <a:cs typeface="Verdana"/>
              </a:rPr>
              <a:t>30</a:t>
            </a:r>
            <a:r>
              <a:rPr sz="1150" dirty="0">
                <a:latin typeface="Verdana"/>
                <a:cs typeface="Verdana"/>
              </a:rPr>
              <a:t>,</a:t>
            </a:r>
            <a:r>
              <a:rPr sz="1150" spc="-55" dirty="0">
                <a:latin typeface="Verdana"/>
                <a:cs typeface="Verdana"/>
              </a:rPr>
              <a:t> </a:t>
            </a:r>
            <a:r>
              <a:rPr sz="1150" b="1" spc="-10" dirty="0">
                <a:solidFill>
                  <a:srgbClr val="006699"/>
                </a:solidFill>
                <a:latin typeface="Verdana"/>
                <a:cs typeface="Verdana"/>
              </a:rPr>
              <a:t>this</a:t>
            </a:r>
            <a:r>
              <a:rPr sz="1150" spc="-10" dirty="0">
                <a:latin typeface="Verdana"/>
                <a:cs typeface="Verdana"/>
              </a:rPr>
              <a:t>);</a:t>
            </a:r>
            <a:endParaRPr sz="1150">
              <a:latin typeface="Verdana"/>
              <a:cs typeface="Verdana"/>
            </a:endParaRPr>
          </a:p>
          <a:p>
            <a:pPr marL="114935">
              <a:lnSpc>
                <a:spcPct val="100000"/>
              </a:lnSpc>
              <a:spcBef>
                <a:spcPts val="1395"/>
              </a:spcBef>
            </a:pPr>
            <a:r>
              <a:rPr sz="1150" spc="-50" dirty="0">
                <a:latin typeface="Verdana"/>
                <a:cs typeface="Verdana"/>
              </a:rPr>
              <a:t>}</a:t>
            </a:r>
            <a:endParaRPr sz="1150">
              <a:latin typeface="Verdana"/>
              <a:cs typeface="Verdana"/>
            </a:endParaRPr>
          </a:p>
          <a:p>
            <a:pPr marL="114935">
              <a:lnSpc>
                <a:spcPct val="100000"/>
              </a:lnSpc>
              <a:spcBef>
                <a:spcPts val="1395"/>
              </a:spcBef>
            </a:pPr>
            <a:r>
              <a:rPr sz="1150" spc="-50" dirty="0">
                <a:latin typeface="Verdana"/>
                <a:cs typeface="Verdana"/>
              </a:rPr>
              <a:t>}</a:t>
            </a:r>
            <a:endParaRPr sz="11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4725" y="1334649"/>
            <a:ext cx="5895340" cy="2120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spc="-10" dirty="0">
                <a:latin typeface="Verdana"/>
                <a:cs typeface="Verdana"/>
              </a:rPr>
              <a:t>&lt;html&gt;</a:t>
            </a:r>
            <a:endParaRPr sz="12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sz="1250" b="1" spc="-10" dirty="0">
                <a:latin typeface="Verdana"/>
                <a:cs typeface="Verdana"/>
              </a:rPr>
              <a:t>&lt;body&gt;</a:t>
            </a:r>
            <a:endParaRPr sz="12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sz="1250" b="1" dirty="0">
                <a:latin typeface="Verdana"/>
                <a:cs typeface="Verdana"/>
              </a:rPr>
              <a:t>&lt;applet</a:t>
            </a:r>
            <a:r>
              <a:rPr sz="1250" b="1" spc="-15" dirty="0">
                <a:latin typeface="Verdana"/>
                <a:cs typeface="Verdana"/>
              </a:rPr>
              <a:t> </a:t>
            </a:r>
            <a:r>
              <a:rPr sz="1250" b="1" spc="-10" dirty="0">
                <a:latin typeface="Verdana"/>
                <a:cs typeface="Verdana"/>
              </a:rPr>
              <a:t>code=</a:t>
            </a:r>
            <a:r>
              <a:rPr sz="1250" b="1" spc="-10" dirty="0">
                <a:solidFill>
                  <a:srgbClr val="0000FF"/>
                </a:solidFill>
                <a:latin typeface="Verdana"/>
                <a:cs typeface="Verdana"/>
              </a:rPr>
              <a:t>"DisplayImage.class"</a:t>
            </a:r>
            <a:r>
              <a:rPr sz="1250" b="1" spc="-15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250" b="1" spc="-10" dirty="0">
                <a:latin typeface="Verdana"/>
                <a:cs typeface="Verdana"/>
              </a:rPr>
              <a:t>width=</a:t>
            </a:r>
            <a:r>
              <a:rPr sz="1250" b="1" spc="-10" dirty="0">
                <a:solidFill>
                  <a:srgbClr val="0000FF"/>
                </a:solidFill>
                <a:latin typeface="Verdana"/>
                <a:cs typeface="Verdana"/>
              </a:rPr>
              <a:t>"300"</a:t>
            </a:r>
            <a:r>
              <a:rPr sz="1250" b="1" spc="-15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250" b="1" spc="-10" dirty="0">
                <a:latin typeface="Verdana"/>
                <a:cs typeface="Verdana"/>
              </a:rPr>
              <a:t>height=</a:t>
            </a:r>
            <a:r>
              <a:rPr sz="1250" b="1" spc="-10" dirty="0">
                <a:solidFill>
                  <a:srgbClr val="0000FF"/>
                </a:solidFill>
                <a:latin typeface="Verdana"/>
                <a:cs typeface="Verdana"/>
              </a:rPr>
              <a:t>"300"</a:t>
            </a:r>
            <a:r>
              <a:rPr sz="1250" b="1" spc="-10" dirty="0">
                <a:latin typeface="Verdana"/>
                <a:cs typeface="Verdana"/>
              </a:rPr>
              <a:t>&gt;</a:t>
            </a:r>
            <a:endParaRPr sz="12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sz="1250" b="1" spc="-10" dirty="0">
                <a:latin typeface="Verdana"/>
                <a:cs typeface="Verdana"/>
              </a:rPr>
              <a:t>&lt;/applet&gt;</a:t>
            </a:r>
            <a:endParaRPr sz="12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sz="1250" b="1" spc="-10" dirty="0">
                <a:latin typeface="Verdana"/>
                <a:cs typeface="Verdana"/>
              </a:rPr>
              <a:t>&lt;/body&gt;</a:t>
            </a:r>
            <a:endParaRPr sz="12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sz="1250" b="1" spc="-10" dirty="0">
                <a:latin typeface="Verdana"/>
                <a:cs typeface="Verdana"/>
              </a:rPr>
              <a:t>&lt;/html&gt;</a:t>
            </a:r>
            <a:endParaRPr sz="1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0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Animation</a:t>
            </a:r>
            <a:r>
              <a:rPr spc="-140" dirty="0"/>
              <a:t> </a:t>
            </a:r>
            <a:r>
              <a:rPr dirty="0"/>
              <a:t>in</a:t>
            </a:r>
            <a:r>
              <a:rPr spc="-150" dirty="0"/>
              <a:t> </a:t>
            </a:r>
            <a:r>
              <a:rPr spc="-10" dirty="0"/>
              <a:t>Applet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97566"/>
            <a:ext cx="6455410" cy="251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latin typeface="Verdana"/>
                <a:cs typeface="Verdana"/>
              </a:rPr>
              <a:t>Applet</a:t>
            </a:r>
            <a:r>
              <a:rPr sz="1050" spc="-2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is</a:t>
            </a:r>
            <a:r>
              <a:rPr sz="1050" spc="-20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mostly</a:t>
            </a:r>
            <a:r>
              <a:rPr sz="1050" spc="-20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used</a:t>
            </a:r>
            <a:r>
              <a:rPr sz="1050" spc="-20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in</a:t>
            </a:r>
            <a:r>
              <a:rPr sz="1050" spc="-20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games</a:t>
            </a:r>
            <a:r>
              <a:rPr sz="1050" spc="-20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and</a:t>
            </a:r>
            <a:r>
              <a:rPr sz="1050" spc="-20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animation.</a:t>
            </a:r>
            <a:r>
              <a:rPr sz="1050" spc="-20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For</a:t>
            </a:r>
            <a:r>
              <a:rPr sz="1050" spc="-20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this</a:t>
            </a:r>
            <a:r>
              <a:rPr sz="1050" spc="-20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purpose</a:t>
            </a:r>
            <a:r>
              <a:rPr sz="1050" spc="-20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image</a:t>
            </a:r>
            <a:r>
              <a:rPr sz="1050" spc="-20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is</a:t>
            </a:r>
            <a:r>
              <a:rPr sz="1050" spc="-20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required</a:t>
            </a:r>
            <a:r>
              <a:rPr sz="1050" spc="-20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to</a:t>
            </a:r>
            <a:r>
              <a:rPr sz="1050" spc="-20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be</a:t>
            </a:r>
            <a:r>
              <a:rPr sz="1050" spc="-20" dirty="0">
                <a:latin typeface="Verdana"/>
                <a:cs typeface="Verdana"/>
              </a:rPr>
              <a:t> </a:t>
            </a:r>
            <a:r>
              <a:rPr sz="1050" spc="-10" dirty="0">
                <a:latin typeface="Verdana"/>
                <a:cs typeface="Verdana"/>
              </a:rPr>
              <a:t>moved.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35"/>
              </a:spcBef>
            </a:pPr>
            <a:endParaRPr sz="10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import</a:t>
            </a:r>
            <a:r>
              <a:rPr sz="1050" b="1" spc="-5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latin typeface="Verdana"/>
                <a:cs typeface="Verdana"/>
              </a:rPr>
              <a:t>java.awt.*;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import</a:t>
            </a:r>
            <a:r>
              <a:rPr sz="1050" b="1" spc="-5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latin typeface="Verdana"/>
                <a:cs typeface="Verdana"/>
              </a:rPr>
              <a:t>java.applet.*;</a:t>
            </a:r>
            <a:endParaRPr sz="1050">
              <a:latin typeface="Verdana"/>
              <a:cs typeface="Verdana"/>
            </a:endParaRPr>
          </a:p>
          <a:p>
            <a:pPr marL="153035" marR="3023870" indent="-140970">
              <a:lnSpc>
                <a:spcPct val="202400"/>
              </a:lnSpc>
            </a:pP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050" b="1" spc="-4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050" b="1" spc="-4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AnimationExample</a:t>
            </a:r>
            <a:r>
              <a:rPr sz="1050" spc="-45" dirty="0">
                <a:latin typeface="Verdana"/>
                <a:cs typeface="Verdana"/>
              </a:rPr>
              <a:t> </a:t>
            </a: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extends</a:t>
            </a:r>
            <a:r>
              <a:rPr sz="1050" b="1" spc="-4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Applet</a:t>
            </a:r>
            <a:r>
              <a:rPr sz="1050" spc="-60" dirty="0">
                <a:latin typeface="Verdana"/>
                <a:cs typeface="Verdana"/>
              </a:rPr>
              <a:t> </a:t>
            </a:r>
            <a:r>
              <a:rPr sz="1050" spc="-50" dirty="0">
                <a:latin typeface="Verdana"/>
                <a:cs typeface="Verdana"/>
              </a:rPr>
              <a:t>{ </a:t>
            </a:r>
            <a:r>
              <a:rPr sz="1050" dirty="0">
                <a:latin typeface="Verdana"/>
                <a:cs typeface="Verdana"/>
              </a:rPr>
              <a:t>Image</a:t>
            </a:r>
            <a:r>
              <a:rPr sz="1050" spc="-25" dirty="0">
                <a:latin typeface="Verdana"/>
                <a:cs typeface="Verdana"/>
              </a:rPr>
              <a:t> </a:t>
            </a:r>
            <a:r>
              <a:rPr sz="1050" spc="-10" dirty="0">
                <a:latin typeface="Verdana"/>
                <a:cs typeface="Verdana"/>
              </a:rPr>
              <a:t>picture;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106045">
              <a:lnSpc>
                <a:spcPct val="100000"/>
              </a:lnSpc>
            </a:pP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050" b="1" spc="-3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050" b="1" spc="-3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init()</a:t>
            </a:r>
            <a:r>
              <a:rPr sz="1050" spc="-50" dirty="0">
                <a:latin typeface="Verdana"/>
                <a:cs typeface="Verdana"/>
              </a:rPr>
              <a:t> {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199390">
              <a:lnSpc>
                <a:spcPct val="100000"/>
              </a:lnSpc>
            </a:pPr>
            <a:r>
              <a:rPr sz="1050" dirty="0">
                <a:latin typeface="Verdana"/>
                <a:cs typeface="Verdana"/>
              </a:rPr>
              <a:t>picture</a:t>
            </a:r>
            <a:r>
              <a:rPr sz="1050" spc="-45" dirty="0">
                <a:latin typeface="Verdana"/>
                <a:cs typeface="Verdana"/>
              </a:rPr>
              <a:t> </a:t>
            </a:r>
            <a:r>
              <a:rPr sz="1050" spc="-10" dirty="0">
                <a:latin typeface="Verdana"/>
                <a:cs typeface="Verdana"/>
              </a:rPr>
              <a:t>=getImage(getDocumentBase(),</a:t>
            </a:r>
            <a:r>
              <a:rPr sz="1050" spc="-10" dirty="0">
                <a:solidFill>
                  <a:srgbClr val="0000FF"/>
                </a:solidFill>
                <a:latin typeface="Verdana"/>
                <a:cs typeface="Verdana"/>
              </a:rPr>
              <a:t>"bike_1.gif"</a:t>
            </a:r>
            <a:r>
              <a:rPr sz="1050" spc="-10" dirty="0">
                <a:latin typeface="Verdana"/>
                <a:cs typeface="Verdana"/>
              </a:rPr>
              <a:t>);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Verdana"/>
              <a:cs typeface="Verdana"/>
            </a:endParaRPr>
          </a:p>
          <a:p>
            <a:pPr marL="106045">
              <a:lnSpc>
                <a:spcPct val="100000"/>
              </a:lnSpc>
              <a:spcBef>
                <a:spcPts val="5"/>
              </a:spcBef>
            </a:pPr>
            <a:r>
              <a:rPr sz="1050" spc="-50" dirty="0">
                <a:latin typeface="Verdana"/>
                <a:cs typeface="Verdana"/>
              </a:rPr>
              <a:t>}</a:t>
            </a:r>
            <a:endParaRPr sz="10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4725" y="1335666"/>
            <a:ext cx="3314700" cy="2128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100"/>
              </a:spcBef>
            </a:pP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050" b="1" spc="-3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050" b="1" spc="-3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paint(Graphics</a:t>
            </a:r>
            <a:r>
              <a:rPr sz="1050" spc="-4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g)</a:t>
            </a:r>
            <a:r>
              <a:rPr sz="1050" spc="-50" dirty="0">
                <a:latin typeface="Verdana"/>
                <a:cs typeface="Verdana"/>
              </a:rPr>
              <a:t> {</a:t>
            </a:r>
            <a:endParaRPr sz="1050">
              <a:latin typeface="Verdana"/>
              <a:cs typeface="Verdana"/>
            </a:endParaRPr>
          </a:p>
          <a:p>
            <a:pPr marL="293370" marR="753110" indent="-93345">
              <a:lnSpc>
                <a:spcPct val="202400"/>
              </a:lnSpc>
            </a:pP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for</a:t>
            </a:r>
            <a:r>
              <a:rPr sz="1050" dirty="0">
                <a:latin typeface="Verdana"/>
                <a:cs typeface="Verdana"/>
              </a:rPr>
              <a:t>(</a:t>
            </a: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int</a:t>
            </a:r>
            <a:r>
              <a:rPr sz="1050" b="1" spc="-4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latin typeface="Verdana"/>
                <a:cs typeface="Verdana"/>
              </a:rPr>
              <a:t>i=</a:t>
            </a:r>
            <a:r>
              <a:rPr sz="1050" spc="-10" dirty="0">
                <a:solidFill>
                  <a:srgbClr val="C00000"/>
                </a:solidFill>
                <a:latin typeface="Verdana"/>
                <a:cs typeface="Verdana"/>
              </a:rPr>
              <a:t>0</a:t>
            </a:r>
            <a:r>
              <a:rPr sz="1050" spc="-10" dirty="0">
                <a:latin typeface="Verdana"/>
                <a:cs typeface="Verdana"/>
              </a:rPr>
              <a:t>;i&lt;</a:t>
            </a:r>
            <a:r>
              <a:rPr sz="1050" spc="-10" dirty="0">
                <a:solidFill>
                  <a:srgbClr val="C00000"/>
                </a:solidFill>
                <a:latin typeface="Verdana"/>
                <a:cs typeface="Verdana"/>
              </a:rPr>
              <a:t>500</a:t>
            </a:r>
            <a:r>
              <a:rPr sz="1050" spc="-10" dirty="0">
                <a:latin typeface="Verdana"/>
                <a:cs typeface="Verdana"/>
              </a:rPr>
              <a:t>;i++){ g.drawImage(picture,</a:t>
            </a:r>
            <a:r>
              <a:rPr sz="1050" spc="40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i,</a:t>
            </a:r>
            <a:r>
              <a:rPr sz="1050" dirty="0">
                <a:solidFill>
                  <a:srgbClr val="C00000"/>
                </a:solidFill>
                <a:latin typeface="Verdana"/>
                <a:cs typeface="Verdana"/>
              </a:rPr>
              <a:t>30</a:t>
            </a:r>
            <a:r>
              <a:rPr sz="1050" dirty="0">
                <a:latin typeface="Verdana"/>
                <a:cs typeface="Verdana"/>
              </a:rPr>
              <a:t>,</a:t>
            </a:r>
            <a:r>
              <a:rPr sz="1050" spc="55" dirty="0">
                <a:latin typeface="Verdana"/>
                <a:cs typeface="Verdana"/>
              </a:rPr>
              <a:t> </a:t>
            </a:r>
            <a:r>
              <a:rPr sz="1050" b="1" spc="-10" dirty="0">
                <a:solidFill>
                  <a:srgbClr val="006699"/>
                </a:solidFill>
                <a:latin typeface="Verdana"/>
                <a:cs typeface="Verdana"/>
              </a:rPr>
              <a:t>this</a:t>
            </a:r>
            <a:r>
              <a:rPr sz="1050" spc="-10" dirty="0">
                <a:latin typeface="Verdana"/>
                <a:cs typeface="Verdana"/>
              </a:rPr>
              <a:t>);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Verdana"/>
              <a:cs typeface="Verdana"/>
            </a:endParaRPr>
          </a:p>
          <a:p>
            <a:pPr marL="153035">
              <a:lnSpc>
                <a:spcPct val="100000"/>
              </a:lnSpc>
            </a:pPr>
            <a:r>
              <a:rPr sz="1050" b="1" spc="-10" dirty="0">
                <a:solidFill>
                  <a:srgbClr val="006699"/>
                </a:solidFill>
                <a:latin typeface="Verdana"/>
                <a:cs typeface="Verdana"/>
              </a:rPr>
              <a:t>try</a:t>
            </a:r>
            <a:r>
              <a:rPr sz="1050" spc="-10" dirty="0">
                <a:latin typeface="Verdana"/>
                <a:cs typeface="Verdana"/>
              </a:rPr>
              <a:t>{Thread.sleep(</a:t>
            </a:r>
            <a:r>
              <a:rPr sz="1050" spc="-10" dirty="0">
                <a:solidFill>
                  <a:srgbClr val="C00000"/>
                </a:solidFill>
                <a:latin typeface="Verdana"/>
                <a:cs typeface="Verdana"/>
              </a:rPr>
              <a:t>100</a:t>
            </a:r>
            <a:r>
              <a:rPr sz="1050" spc="-10" dirty="0">
                <a:latin typeface="Verdana"/>
                <a:cs typeface="Verdana"/>
              </a:rPr>
              <a:t>);}</a:t>
            </a:r>
            <a:r>
              <a:rPr sz="1050" b="1" spc="-10" dirty="0">
                <a:solidFill>
                  <a:srgbClr val="006699"/>
                </a:solidFill>
                <a:latin typeface="Verdana"/>
                <a:cs typeface="Verdana"/>
              </a:rPr>
              <a:t>catch</a:t>
            </a:r>
            <a:r>
              <a:rPr sz="1050" spc="-10" dirty="0">
                <a:latin typeface="Verdana"/>
                <a:cs typeface="Verdana"/>
              </a:rPr>
              <a:t>(Exception</a:t>
            </a:r>
            <a:r>
              <a:rPr sz="1050" spc="195" dirty="0">
                <a:latin typeface="Verdana"/>
                <a:cs typeface="Verdana"/>
              </a:rPr>
              <a:t> </a:t>
            </a:r>
            <a:r>
              <a:rPr sz="1050" spc="-20" dirty="0">
                <a:latin typeface="Verdana"/>
                <a:cs typeface="Verdana"/>
              </a:rPr>
              <a:t>e){}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199390">
              <a:lnSpc>
                <a:spcPct val="100000"/>
              </a:lnSpc>
            </a:pPr>
            <a:r>
              <a:rPr sz="1050" spc="-50" dirty="0">
                <a:latin typeface="Verdana"/>
                <a:cs typeface="Verdana"/>
              </a:rPr>
              <a:t>}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106045">
              <a:lnSpc>
                <a:spcPct val="100000"/>
              </a:lnSpc>
            </a:pPr>
            <a:r>
              <a:rPr sz="1050" spc="-50" dirty="0">
                <a:latin typeface="Verdana"/>
                <a:cs typeface="Verdana"/>
              </a:rPr>
              <a:t>}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50" spc="-50" dirty="0">
                <a:latin typeface="Verdana"/>
                <a:cs typeface="Verdana"/>
              </a:rPr>
              <a:t>}</a:t>
            </a:r>
            <a:endParaRPr sz="10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1472572"/>
            <a:ext cx="12903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610B4B"/>
                </a:solidFill>
              </a:rPr>
              <a:t>myapplet.html</a:t>
            </a:r>
            <a:endParaRPr sz="1600"/>
          </a:p>
        </p:txBody>
      </p:sp>
      <p:sp>
        <p:nvSpPr>
          <p:cNvPr id="3" name="object 3"/>
          <p:cNvSpPr txBox="1"/>
          <p:nvPr/>
        </p:nvSpPr>
        <p:spPr>
          <a:xfrm>
            <a:off x="384725" y="1903991"/>
            <a:ext cx="4391660" cy="2188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Verdana"/>
                <a:cs typeface="Verdana"/>
              </a:rPr>
              <a:t>&lt;html&gt;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0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50" spc="-10" dirty="0">
                <a:latin typeface="Verdana"/>
                <a:cs typeface="Verdana"/>
              </a:rPr>
              <a:t>&lt;body&gt;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sz="10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50" dirty="0">
                <a:latin typeface="Verdana"/>
                <a:cs typeface="Verdana"/>
              </a:rPr>
              <a:t>&lt;applet</a:t>
            </a:r>
            <a:r>
              <a:rPr sz="1050" spc="-25" dirty="0">
                <a:latin typeface="Verdana"/>
                <a:cs typeface="Verdana"/>
              </a:rPr>
              <a:t> </a:t>
            </a:r>
            <a:r>
              <a:rPr sz="1050" spc="-10" dirty="0">
                <a:latin typeface="Verdana"/>
                <a:cs typeface="Verdana"/>
              </a:rPr>
              <a:t>code=</a:t>
            </a:r>
            <a:r>
              <a:rPr sz="1050" spc="-10" dirty="0">
                <a:solidFill>
                  <a:srgbClr val="0000FF"/>
                </a:solidFill>
                <a:latin typeface="Verdana"/>
                <a:cs typeface="Verdana"/>
              </a:rPr>
              <a:t>"DisplayImage.class"</a:t>
            </a:r>
            <a:r>
              <a:rPr sz="1050" spc="-5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width=</a:t>
            </a:r>
            <a:r>
              <a:rPr sz="1050" dirty="0">
                <a:solidFill>
                  <a:srgbClr val="0000FF"/>
                </a:solidFill>
                <a:latin typeface="Verdana"/>
                <a:cs typeface="Verdana"/>
              </a:rPr>
              <a:t>"300"</a:t>
            </a:r>
            <a:r>
              <a:rPr sz="1050" spc="-15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latin typeface="Verdana"/>
                <a:cs typeface="Verdana"/>
              </a:rPr>
              <a:t>height=</a:t>
            </a:r>
            <a:r>
              <a:rPr sz="1050" spc="-10" dirty="0">
                <a:solidFill>
                  <a:srgbClr val="0000FF"/>
                </a:solidFill>
                <a:latin typeface="Verdana"/>
                <a:cs typeface="Verdana"/>
              </a:rPr>
              <a:t>"300"</a:t>
            </a:r>
            <a:r>
              <a:rPr sz="1050" spc="-10" dirty="0">
                <a:latin typeface="Verdana"/>
                <a:cs typeface="Verdana"/>
              </a:rPr>
              <a:t>&gt;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sz="10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50" spc="-10" dirty="0">
                <a:latin typeface="Verdana"/>
                <a:cs typeface="Verdana"/>
              </a:rPr>
              <a:t>&lt;/applet&gt;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sz="10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50" spc="-10" dirty="0">
                <a:latin typeface="Verdana"/>
                <a:cs typeface="Verdana"/>
              </a:rPr>
              <a:t>&lt;/body&gt;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10"/>
              </a:spcBef>
            </a:pPr>
            <a:endParaRPr sz="10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50" spc="-10" dirty="0">
                <a:latin typeface="Verdana"/>
                <a:cs typeface="Verdana"/>
              </a:rPr>
              <a:t>&lt;/html&gt;</a:t>
            </a:r>
            <a:endParaRPr sz="10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40775" y="4246182"/>
            <a:ext cx="2846070" cy="182880"/>
          </a:xfrm>
          <a:custGeom>
            <a:avLst/>
            <a:gdLst/>
            <a:ahLst/>
            <a:cxnLst/>
            <a:rect l="l" t="t" r="r" b="b"/>
            <a:pathLst>
              <a:path w="2846070" h="182879">
                <a:moveTo>
                  <a:pt x="2846040" y="182879"/>
                </a:moveTo>
                <a:lnTo>
                  <a:pt x="0" y="182879"/>
                </a:lnTo>
                <a:lnTo>
                  <a:pt x="0" y="0"/>
                </a:lnTo>
                <a:lnTo>
                  <a:pt x="2846040" y="0"/>
                </a:lnTo>
                <a:lnTo>
                  <a:pt x="2846040" y="1828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5" y="133134"/>
            <a:ext cx="222694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solidFill>
                  <a:srgbClr val="2A3890"/>
                </a:solidFill>
                <a:latin typeface="Roboto"/>
                <a:cs typeface="Roboto"/>
              </a:rPr>
              <a:t>Smiling</a:t>
            </a:r>
            <a:r>
              <a:rPr sz="3000" b="1" spc="-140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3000" b="1" spc="-20" dirty="0">
                <a:solidFill>
                  <a:srgbClr val="2A3890"/>
                </a:solidFill>
                <a:latin typeface="Roboto"/>
                <a:cs typeface="Roboto"/>
              </a:rPr>
              <a:t>Face</a:t>
            </a:r>
            <a:endParaRPr sz="30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902479"/>
            <a:ext cx="17653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imes New Roman"/>
                <a:cs typeface="Times New Roman"/>
              </a:rPr>
              <a:t>import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java.applet.Applet;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725" y="1302529"/>
            <a:ext cx="12319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imes New Roman"/>
                <a:cs typeface="Times New Roman"/>
              </a:rPr>
              <a:t>import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java.awt.*;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4725" y="1702579"/>
            <a:ext cx="42037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imes New Roman"/>
                <a:cs typeface="Times New Roman"/>
              </a:rPr>
              <a:t>/*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&lt;applet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code="SmileyExc.class"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width="200"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height="200"&gt;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0925" y="2102629"/>
            <a:ext cx="6470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Times New Roman"/>
                <a:cs typeface="Times New Roman"/>
              </a:rPr>
              <a:t>&lt;/applet&gt;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4725" y="2502679"/>
            <a:ext cx="1441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latin typeface="Times New Roman"/>
                <a:cs typeface="Times New Roman"/>
              </a:rPr>
              <a:t>*/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2825" y="2902729"/>
            <a:ext cx="2593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imes New Roman"/>
                <a:cs typeface="Times New Roman"/>
              </a:rPr>
              <a:t>public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class</a:t>
            </a:r>
            <a:r>
              <a:rPr sz="1200" b="1" spc="-10" dirty="0">
                <a:latin typeface="Times New Roman"/>
                <a:cs typeface="Times New Roman"/>
              </a:rPr>
              <a:t> SmileyExc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extends</a:t>
            </a:r>
            <a:r>
              <a:rPr sz="1200" b="1" spc="-7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Applet </a:t>
            </a:r>
            <a:r>
              <a:rPr sz="1200" b="1" spc="-50" dirty="0">
                <a:latin typeface="Times New Roman"/>
                <a:cs typeface="Times New Roman"/>
              </a:rPr>
              <a:t>{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2825" y="3302779"/>
            <a:ext cx="20408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imes New Roman"/>
                <a:cs typeface="Times New Roman"/>
              </a:rPr>
              <a:t>public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void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paint(Graphics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g)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50" dirty="0">
                <a:latin typeface="Times New Roman"/>
                <a:cs typeface="Times New Roman"/>
              </a:rPr>
              <a:t>{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2825" y="3702829"/>
            <a:ext cx="16516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Times New Roman"/>
                <a:cs typeface="Times New Roman"/>
              </a:rPr>
              <a:t>g.setColor(Color.yellow);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2825" y="4102879"/>
            <a:ext cx="16598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Times New Roman"/>
                <a:cs typeface="Times New Roman"/>
              </a:rPr>
              <a:t>g.fillOval(20,20,150,150);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71003" y="4102879"/>
            <a:ext cx="6819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imes New Roman"/>
                <a:cs typeface="Times New Roman"/>
              </a:rPr>
              <a:t>//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For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face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2825" y="4502929"/>
            <a:ext cx="15925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Times New Roman"/>
                <a:cs typeface="Times New Roman"/>
              </a:rPr>
              <a:t>g.setColor(Color.black);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28075" y="810579"/>
            <a:ext cx="23742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84020" algn="l"/>
              </a:tabLst>
            </a:pPr>
            <a:r>
              <a:rPr sz="1200" b="1" spc="-10" dirty="0">
                <a:latin typeface="Times New Roman"/>
                <a:cs typeface="Times New Roman"/>
              </a:rPr>
              <a:t>g.fillOval(50,60,15,25);</a:t>
            </a:r>
            <a:r>
              <a:rPr sz="1200" b="1" dirty="0">
                <a:latin typeface="Times New Roman"/>
                <a:cs typeface="Times New Roman"/>
              </a:rPr>
              <a:t>	//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Left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25" dirty="0">
                <a:latin typeface="Times New Roman"/>
                <a:cs typeface="Times New Roman"/>
              </a:rPr>
              <a:t>Eye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366175" y="1211391"/>
            <a:ext cx="25057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22120" algn="l"/>
              </a:tabLst>
            </a:pPr>
            <a:r>
              <a:rPr sz="1200" b="1" spc="-10" dirty="0">
                <a:latin typeface="Times New Roman"/>
                <a:cs typeface="Times New Roman"/>
              </a:rPr>
              <a:t>g.fillOval(120,60,15,25);</a:t>
            </a:r>
            <a:r>
              <a:rPr sz="1200" b="1" dirty="0">
                <a:latin typeface="Times New Roman"/>
                <a:cs typeface="Times New Roman"/>
              </a:rPr>
              <a:t>	//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Right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spc="-25" dirty="0">
                <a:latin typeface="Times New Roman"/>
                <a:cs typeface="Times New Roman"/>
              </a:rPr>
              <a:t>Eye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366175" y="1612203"/>
            <a:ext cx="15532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imes New Roman"/>
                <a:cs typeface="Times New Roman"/>
              </a:rPr>
              <a:t>int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x[]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=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{95,85,106,95};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366175" y="2013014"/>
            <a:ext cx="2590165" cy="1010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imes New Roman"/>
                <a:cs typeface="Times New Roman"/>
              </a:rPr>
              <a:t>int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y[]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=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{85,104,104,85};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ct val="219200"/>
              </a:lnSpc>
              <a:tabLst>
                <a:tab pos="1743710" algn="l"/>
              </a:tabLst>
            </a:pPr>
            <a:r>
              <a:rPr sz="1200" b="1" dirty="0">
                <a:latin typeface="Times New Roman"/>
                <a:cs typeface="Times New Roman"/>
              </a:rPr>
              <a:t>g.drawPolygon(x,</a:t>
            </a:r>
            <a:r>
              <a:rPr sz="1200" b="1" spc="-7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y,</a:t>
            </a:r>
            <a:r>
              <a:rPr sz="1200" b="1" spc="-70" dirty="0">
                <a:latin typeface="Times New Roman"/>
                <a:cs typeface="Times New Roman"/>
              </a:rPr>
              <a:t> </a:t>
            </a:r>
            <a:r>
              <a:rPr sz="1200" b="1" spc="-25" dirty="0">
                <a:latin typeface="Times New Roman"/>
                <a:cs typeface="Times New Roman"/>
              </a:rPr>
              <a:t>4);</a:t>
            </a:r>
            <a:r>
              <a:rPr sz="1200" b="1" dirty="0">
                <a:latin typeface="Times New Roman"/>
                <a:cs typeface="Times New Roman"/>
              </a:rPr>
              <a:t>	//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Nose </a:t>
            </a:r>
            <a:r>
              <a:rPr sz="1200" b="1" spc="-10" dirty="0">
                <a:latin typeface="Times New Roman"/>
                <a:cs typeface="Times New Roman"/>
              </a:rPr>
              <a:t>g.drawArc(55,95,78,50,0,-</a:t>
            </a:r>
            <a:r>
              <a:rPr sz="1200" b="1" dirty="0">
                <a:latin typeface="Times New Roman"/>
                <a:cs typeface="Times New Roman"/>
              </a:rPr>
              <a:t>180);</a:t>
            </a:r>
            <a:r>
              <a:rPr sz="1200" b="1" spc="3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//</a:t>
            </a:r>
            <a:r>
              <a:rPr sz="1200" b="1" spc="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Smile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28075" y="3188018"/>
            <a:ext cx="3608704" cy="1247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200" b="1" dirty="0">
                <a:solidFill>
                  <a:srgbClr val="0000FF"/>
                </a:solidFill>
                <a:latin typeface="Times New Roman"/>
                <a:cs typeface="Times New Roman"/>
              </a:rPr>
              <a:t>//</a:t>
            </a:r>
            <a:r>
              <a:rPr sz="1200" b="1" spc="-3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0000FF"/>
                </a:solidFill>
                <a:latin typeface="Times New Roman"/>
                <a:cs typeface="Times New Roman"/>
              </a:rPr>
              <a:t>drawArc(RectF</a:t>
            </a:r>
            <a:r>
              <a:rPr sz="1200" spc="-3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000FF"/>
                </a:solidFill>
                <a:latin typeface="Times New Roman"/>
                <a:cs typeface="Times New Roman"/>
              </a:rPr>
              <a:t>oval,</a:t>
            </a:r>
            <a:r>
              <a:rPr sz="1200" spc="-3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000FF"/>
                </a:solidFill>
                <a:latin typeface="Times New Roman"/>
                <a:cs typeface="Times New Roman"/>
              </a:rPr>
              <a:t>float</a:t>
            </a:r>
            <a:r>
              <a:rPr sz="1200" spc="-3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000FF"/>
                </a:solidFill>
                <a:latin typeface="Times New Roman"/>
                <a:cs typeface="Times New Roman"/>
              </a:rPr>
              <a:t>startAngle,</a:t>
            </a:r>
            <a:r>
              <a:rPr sz="1200" spc="-3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000FF"/>
                </a:solidFill>
                <a:latin typeface="Times New Roman"/>
                <a:cs typeface="Times New Roman"/>
              </a:rPr>
              <a:t>float</a:t>
            </a:r>
            <a:r>
              <a:rPr sz="1200" spc="-3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0000FF"/>
                </a:solidFill>
                <a:latin typeface="Times New Roman"/>
                <a:cs typeface="Times New Roman"/>
              </a:rPr>
              <a:t>sweepAngle, </a:t>
            </a:r>
            <a:r>
              <a:rPr sz="1200" dirty="0">
                <a:solidFill>
                  <a:srgbClr val="0000FF"/>
                </a:solidFill>
                <a:latin typeface="Times New Roman"/>
                <a:cs typeface="Times New Roman"/>
              </a:rPr>
              <a:t>boolean</a:t>
            </a:r>
            <a:r>
              <a:rPr sz="1200" spc="-3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0000FF"/>
                </a:solidFill>
                <a:latin typeface="Times New Roman"/>
                <a:cs typeface="Times New Roman"/>
              </a:rPr>
              <a:t>useCenter,</a:t>
            </a:r>
            <a:r>
              <a:rPr sz="1200" spc="-2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000FF"/>
                </a:solidFill>
                <a:latin typeface="Times New Roman"/>
                <a:cs typeface="Times New Roman"/>
              </a:rPr>
              <a:t>Paint</a:t>
            </a:r>
            <a:r>
              <a:rPr sz="1200" spc="-3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0000FF"/>
                </a:solidFill>
                <a:latin typeface="Times New Roman"/>
                <a:cs typeface="Times New Roman"/>
              </a:rPr>
              <a:t>paint)</a:t>
            </a:r>
            <a:endParaRPr sz="1200">
              <a:latin typeface="Times New Roman"/>
              <a:cs typeface="Times New Roman"/>
            </a:endParaRPr>
          </a:p>
          <a:p>
            <a:pPr marL="50800" marR="742950">
              <a:lnSpc>
                <a:spcPct val="219200"/>
              </a:lnSpc>
            </a:pPr>
            <a:r>
              <a:rPr sz="1200" b="1" dirty="0">
                <a:latin typeface="Times New Roman"/>
                <a:cs typeface="Times New Roman"/>
              </a:rPr>
              <a:t>g.drawLine(50,126,60,116);</a:t>
            </a:r>
            <a:r>
              <a:rPr sz="1200" b="1" spc="4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//</a:t>
            </a:r>
            <a:r>
              <a:rPr sz="1200" b="1" spc="-5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Smile</a:t>
            </a:r>
            <a:r>
              <a:rPr sz="1200" b="1" spc="-60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arc1 </a:t>
            </a:r>
            <a:r>
              <a:rPr sz="1200" b="1" dirty="0">
                <a:latin typeface="Times New Roman"/>
                <a:cs typeface="Times New Roman"/>
              </a:rPr>
              <a:t>g.drawLine(128,115,139,126);</a:t>
            </a:r>
            <a:r>
              <a:rPr sz="1200" b="1" spc="19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//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Smile</a:t>
            </a:r>
            <a:r>
              <a:rPr sz="1200" b="1" spc="-55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arc2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28075" y="4628198"/>
            <a:ext cx="857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340775" y="5047806"/>
            <a:ext cx="60325" cy="95885"/>
          </a:xfrm>
          <a:custGeom>
            <a:avLst/>
            <a:gdLst/>
            <a:ahLst/>
            <a:cxnLst/>
            <a:rect l="l" t="t" r="r" b="b"/>
            <a:pathLst>
              <a:path w="60325" h="95885">
                <a:moveTo>
                  <a:pt x="60052" y="95693"/>
                </a:moveTo>
                <a:lnTo>
                  <a:pt x="0" y="95693"/>
                </a:lnTo>
                <a:lnTo>
                  <a:pt x="0" y="0"/>
                </a:lnTo>
                <a:lnTo>
                  <a:pt x="60052" y="0"/>
                </a:lnTo>
                <a:lnTo>
                  <a:pt x="60052" y="9569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328075" y="5029010"/>
            <a:ext cx="857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40754" y="667416"/>
            <a:ext cx="2998849" cy="380867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4725" y="191370"/>
            <a:ext cx="509079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40424E"/>
                </a:solidFill>
                <a:latin typeface="Arial"/>
                <a:cs typeface="Arial"/>
              </a:rPr>
              <a:t>Draw</a:t>
            </a:r>
            <a:r>
              <a:rPr sz="1300" b="1" spc="-40" dirty="0">
                <a:solidFill>
                  <a:srgbClr val="40424E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40424E"/>
                </a:solidFill>
                <a:latin typeface="Arial"/>
                <a:cs typeface="Arial"/>
              </a:rPr>
              <a:t>a</a:t>
            </a:r>
            <a:r>
              <a:rPr sz="1300" b="1" spc="-35" dirty="0">
                <a:solidFill>
                  <a:srgbClr val="40424E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40424E"/>
                </a:solidFill>
                <a:latin typeface="Arial"/>
                <a:cs typeface="Arial"/>
              </a:rPr>
              <a:t>rectangle</a:t>
            </a:r>
            <a:r>
              <a:rPr sz="1300" b="1" spc="-35" dirty="0">
                <a:solidFill>
                  <a:srgbClr val="40424E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40424E"/>
                </a:solidFill>
                <a:latin typeface="Arial"/>
                <a:cs typeface="Arial"/>
              </a:rPr>
              <a:t>using</a:t>
            </a:r>
            <a:r>
              <a:rPr sz="1300" b="1" spc="-35" dirty="0">
                <a:solidFill>
                  <a:srgbClr val="40424E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40424E"/>
                </a:solidFill>
                <a:latin typeface="Arial"/>
                <a:cs typeface="Arial"/>
              </a:rPr>
              <a:t>drawRect(int</a:t>
            </a:r>
            <a:r>
              <a:rPr sz="1300" b="1" spc="-40" dirty="0">
                <a:solidFill>
                  <a:srgbClr val="40424E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40424E"/>
                </a:solidFill>
                <a:latin typeface="Arial"/>
                <a:cs typeface="Arial"/>
              </a:rPr>
              <a:t>x,</a:t>
            </a:r>
            <a:r>
              <a:rPr sz="1300" b="1" spc="-35" dirty="0">
                <a:solidFill>
                  <a:srgbClr val="40424E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40424E"/>
                </a:solidFill>
                <a:latin typeface="Arial"/>
                <a:cs typeface="Arial"/>
              </a:rPr>
              <a:t>int</a:t>
            </a:r>
            <a:r>
              <a:rPr sz="1300" b="1" spc="-35" dirty="0">
                <a:solidFill>
                  <a:srgbClr val="40424E"/>
                </a:solidFill>
                <a:latin typeface="Arial"/>
                <a:cs typeface="Arial"/>
              </a:rPr>
              <a:t> </a:t>
            </a:r>
            <a:r>
              <a:rPr sz="1300" b="1" spc="-30" dirty="0">
                <a:solidFill>
                  <a:srgbClr val="40424E"/>
                </a:solidFill>
                <a:latin typeface="Arial"/>
                <a:cs typeface="Arial"/>
              </a:rPr>
              <a:t>y,</a:t>
            </a:r>
            <a:r>
              <a:rPr sz="1300" b="1" spc="-35" dirty="0">
                <a:solidFill>
                  <a:srgbClr val="40424E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40424E"/>
                </a:solidFill>
                <a:latin typeface="Arial"/>
                <a:cs typeface="Arial"/>
              </a:rPr>
              <a:t>int</a:t>
            </a:r>
            <a:r>
              <a:rPr sz="1300" b="1" spc="-35" dirty="0">
                <a:solidFill>
                  <a:srgbClr val="40424E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40424E"/>
                </a:solidFill>
                <a:latin typeface="Arial"/>
                <a:cs typeface="Arial"/>
              </a:rPr>
              <a:t>width,</a:t>
            </a:r>
            <a:r>
              <a:rPr sz="1300" b="1" spc="-40" dirty="0">
                <a:solidFill>
                  <a:srgbClr val="40424E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40424E"/>
                </a:solidFill>
                <a:latin typeface="Arial"/>
                <a:cs typeface="Arial"/>
              </a:rPr>
              <a:t>int</a:t>
            </a:r>
            <a:r>
              <a:rPr sz="1300" b="1" spc="-35" dirty="0">
                <a:solidFill>
                  <a:srgbClr val="40424E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40424E"/>
                </a:solidFill>
                <a:latin typeface="Arial"/>
                <a:cs typeface="Arial"/>
              </a:rPr>
              <a:t>height)</a:t>
            </a:r>
            <a:endParaRPr sz="13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5" y="557729"/>
            <a:ext cx="3232150" cy="825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438910">
              <a:lnSpc>
                <a:spcPct val="116700"/>
              </a:lnSpc>
              <a:spcBef>
                <a:spcPts val="100"/>
              </a:spcBef>
            </a:pPr>
            <a:r>
              <a:rPr sz="1500" b="1" dirty="0">
                <a:solidFill>
                  <a:srgbClr val="40424E"/>
                </a:solidFill>
                <a:latin typeface="Times New Roman"/>
                <a:cs typeface="Times New Roman"/>
              </a:rPr>
              <a:t>import </a:t>
            </a:r>
            <a:r>
              <a:rPr sz="1500" b="1" spc="-10" dirty="0">
                <a:solidFill>
                  <a:srgbClr val="40424E"/>
                </a:solidFill>
                <a:latin typeface="Times New Roman"/>
                <a:cs typeface="Times New Roman"/>
              </a:rPr>
              <a:t>java.awt.*; </a:t>
            </a:r>
            <a:r>
              <a:rPr sz="1500" b="1" dirty="0">
                <a:solidFill>
                  <a:srgbClr val="40424E"/>
                </a:solidFill>
                <a:latin typeface="Times New Roman"/>
                <a:cs typeface="Times New Roman"/>
              </a:rPr>
              <a:t>import </a:t>
            </a:r>
            <a:r>
              <a:rPr sz="1500" b="1" spc="-10" dirty="0">
                <a:solidFill>
                  <a:srgbClr val="40424E"/>
                </a:solidFill>
                <a:latin typeface="Times New Roman"/>
                <a:cs typeface="Times New Roman"/>
              </a:rPr>
              <a:t>javax.swing.*;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500" b="1" dirty="0">
                <a:solidFill>
                  <a:srgbClr val="40424E"/>
                </a:solidFill>
                <a:latin typeface="Times New Roman"/>
                <a:cs typeface="Times New Roman"/>
              </a:rPr>
              <a:t>public</a:t>
            </a:r>
            <a:r>
              <a:rPr sz="1500" b="1" spc="-55" dirty="0">
                <a:solidFill>
                  <a:srgbClr val="40424E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40424E"/>
                </a:solidFill>
                <a:latin typeface="Times New Roman"/>
                <a:cs typeface="Times New Roman"/>
              </a:rPr>
              <a:t>class</a:t>
            </a:r>
            <a:r>
              <a:rPr sz="1500" b="1" spc="-55" dirty="0">
                <a:solidFill>
                  <a:srgbClr val="40424E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40424E"/>
                </a:solidFill>
                <a:latin typeface="Times New Roman"/>
                <a:cs typeface="Times New Roman"/>
              </a:rPr>
              <a:t>rectangle</a:t>
            </a:r>
            <a:r>
              <a:rPr sz="1500" b="1" spc="-50" dirty="0">
                <a:solidFill>
                  <a:srgbClr val="40424E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40424E"/>
                </a:solidFill>
                <a:latin typeface="Times New Roman"/>
                <a:cs typeface="Times New Roman"/>
              </a:rPr>
              <a:t>extends</a:t>
            </a:r>
            <a:r>
              <a:rPr sz="1500" b="1" spc="-55" dirty="0">
                <a:solidFill>
                  <a:srgbClr val="40424E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40424E"/>
                </a:solidFill>
                <a:latin typeface="Times New Roman"/>
                <a:cs typeface="Times New Roman"/>
              </a:rPr>
              <a:t>JApplet</a:t>
            </a:r>
            <a:r>
              <a:rPr sz="1500" b="1" spc="-45" dirty="0">
                <a:solidFill>
                  <a:srgbClr val="40424E"/>
                </a:solidFill>
                <a:latin typeface="Times New Roman"/>
                <a:cs typeface="Times New Roman"/>
              </a:rPr>
              <a:t> </a:t>
            </a:r>
            <a:r>
              <a:rPr sz="1500" b="1" spc="-50" dirty="0">
                <a:solidFill>
                  <a:srgbClr val="40424E"/>
                </a:solidFill>
                <a:latin typeface="Times New Roman"/>
                <a:cs typeface="Times New Roman"/>
              </a:rPr>
              <a:t>{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5225" y="1624529"/>
            <a:ext cx="1623060" cy="162560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500" b="1" dirty="0">
                <a:solidFill>
                  <a:srgbClr val="40424E"/>
                </a:solidFill>
                <a:latin typeface="Times New Roman"/>
                <a:cs typeface="Times New Roman"/>
              </a:rPr>
              <a:t>public</a:t>
            </a:r>
            <a:r>
              <a:rPr sz="1500" b="1" spc="-25" dirty="0">
                <a:solidFill>
                  <a:srgbClr val="40424E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40424E"/>
                </a:solidFill>
                <a:latin typeface="Times New Roman"/>
                <a:cs typeface="Times New Roman"/>
              </a:rPr>
              <a:t>void</a:t>
            </a:r>
            <a:r>
              <a:rPr sz="1500" b="1" spc="-25" dirty="0">
                <a:solidFill>
                  <a:srgbClr val="40424E"/>
                </a:solidFill>
                <a:latin typeface="Times New Roman"/>
                <a:cs typeface="Times New Roman"/>
              </a:rPr>
              <a:t> </a:t>
            </a:r>
            <a:r>
              <a:rPr sz="1500" b="1" spc="-10" dirty="0">
                <a:solidFill>
                  <a:srgbClr val="40424E"/>
                </a:solidFill>
                <a:latin typeface="Times New Roman"/>
                <a:cs typeface="Times New Roman"/>
              </a:rPr>
              <a:t>init()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500" b="1" spc="-50" dirty="0">
                <a:solidFill>
                  <a:srgbClr val="40424E"/>
                </a:solidFill>
                <a:latin typeface="Times New Roman"/>
                <a:cs typeface="Times New Roman"/>
              </a:rPr>
              <a:t>{</a:t>
            </a:r>
            <a:endParaRPr sz="1500">
              <a:latin typeface="Times New Roman"/>
              <a:cs typeface="Times New Roman"/>
            </a:endParaRPr>
          </a:p>
          <a:p>
            <a:pPr marL="203200" marR="5080">
              <a:lnSpc>
                <a:spcPct val="116700"/>
              </a:lnSpc>
            </a:pPr>
            <a:r>
              <a:rPr sz="1500" b="1" dirty="0">
                <a:solidFill>
                  <a:srgbClr val="40424E"/>
                </a:solidFill>
                <a:latin typeface="Times New Roman"/>
                <a:cs typeface="Times New Roman"/>
              </a:rPr>
              <a:t>//</a:t>
            </a:r>
            <a:r>
              <a:rPr sz="1500" b="1" spc="-15" dirty="0">
                <a:solidFill>
                  <a:srgbClr val="40424E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40424E"/>
                </a:solidFill>
                <a:latin typeface="Times New Roman"/>
                <a:cs typeface="Times New Roman"/>
              </a:rPr>
              <a:t>set</a:t>
            </a:r>
            <a:r>
              <a:rPr sz="1500" b="1" spc="-5" dirty="0">
                <a:solidFill>
                  <a:srgbClr val="40424E"/>
                </a:solidFill>
                <a:latin typeface="Times New Roman"/>
                <a:cs typeface="Times New Roman"/>
              </a:rPr>
              <a:t> </a:t>
            </a:r>
            <a:r>
              <a:rPr sz="1500" b="1" spc="-20" dirty="0">
                <a:solidFill>
                  <a:srgbClr val="40424E"/>
                </a:solidFill>
                <a:latin typeface="Times New Roman"/>
                <a:cs typeface="Times New Roman"/>
              </a:rPr>
              <a:t>size </a:t>
            </a:r>
            <a:r>
              <a:rPr sz="1500" b="1" dirty="0">
                <a:solidFill>
                  <a:srgbClr val="40424E"/>
                </a:solidFill>
                <a:latin typeface="Times New Roman"/>
                <a:cs typeface="Times New Roman"/>
              </a:rPr>
              <a:t>setSize(400, </a:t>
            </a:r>
            <a:r>
              <a:rPr sz="1500" b="1" spc="-10" dirty="0">
                <a:solidFill>
                  <a:srgbClr val="40424E"/>
                </a:solidFill>
                <a:latin typeface="Times New Roman"/>
                <a:cs typeface="Times New Roman"/>
              </a:rPr>
              <a:t>400); repaint();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500" b="1" spc="-50" dirty="0">
                <a:solidFill>
                  <a:srgbClr val="40424E"/>
                </a:solidFill>
                <a:latin typeface="Times New Roman"/>
                <a:cs typeface="Times New Roman"/>
              </a:rPr>
              <a:t>}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53700" y="787140"/>
            <a:ext cx="2962275" cy="239141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500" b="1" dirty="0">
                <a:solidFill>
                  <a:srgbClr val="40424E"/>
                </a:solidFill>
                <a:latin typeface="Times New Roman"/>
                <a:cs typeface="Times New Roman"/>
              </a:rPr>
              <a:t>//</a:t>
            </a:r>
            <a:r>
              <a:rPr sz="1500" b="1" spc="-25" dirty="0">
                <a:solidFill>
                  <a:srgbClr val="40424E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40424E"/>
                </a:solidFill>
                <a:latin typeface="Times New Roman"/>
                <a:cs typeface="Times New Roman"/>
              </a:rPr>
              <a:t>paint</a:t>
            </a:r>
            <a:r>
              <a:rPr sz="1500" b="1" spc="-25" dirty="0">
                <a:solidFill>
                  <a:srgbClr val="40424E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40424E"/>
                </a:solidFill>
                <a:latin typeface="Times New Roman"/>
                <a:cs typeface="Times New Roman"/>
              </a:rPr>
              <a:t>the</a:t>
            </a:r>
            <a:r>
              <a:rPr sz="1500" b="1" spc="-25" dirty="0">
                <a:solidFill>
                  <a:srgbClr val="40424E"/>
                </a:solidFill>
                <a:latin typeface="Times New Roman"/>
                <a:cs typeface="Times New Roman"/>
              </a:rPr>
              <a:t> </a:t>
            </a:r>
            <a:r>
              <a:rPr sz="1500" b="1" spc="-10" dirty="0">
                <a:solidFill>
                  <a:srgbClr val="40424E"/>
                </a:solidFill>
                <a:latin typeface="Times New Roman"/>
                <a:cs typeface="Times New Roman"/>
              </a:rPr>
              <a:t>applet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500" b="1" dirty="0">
                <a:solidFill>
                  <a:srgbClr val="40424E"/>
                </a:solidFill>
                <a:latin typeface="Times New Roman"/>
                <a:cs typeface="Times New Roman"/>
              </a:rPr>
              <a:t>public</a:t>
            </a:r>
            <a:r>
              <a:rPr sz="1500" b="1" spc="-40" dirty="0">
                <a:solidFill>
                  <a:srgbClr val="40424E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40424E"/>
                </a:solidFill>
                <a:latin typeface="Times New Roman"/>
                <a:cs typeface="Times New Roman"/>
              </a:rPr>
              <a:t>void</a:t>
            </a:r>
            <a:r>
              <a:rPr sz="1500" b="1" spc="-40" dirty="0">
                <a:solidFill>
                  <a:srgbClr val="40424E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40424E"/>
                </a:solidFill>
                <a:latin typeface="Times New Roman"/>
                <a:cs typeface="Times New Roman"/>
              </a:rPr>
              <a:t>paint(Graphics</a:t>
            </a:r>
            <a:r>
              <a:rPr sz="1500" b="1" spc="-40" dirty="0">
                <a:solidFill>
                  <a:srgbClr val="40424E"/>
                </a:solidFill>
                <a:latin typeface="Times New Roman"/>
                <a:cs typeface="Times New Roman"/>
              </a:rPr>
              <a:t> </a:t>
            </a:r>
            <a:r>
              <a:rPr sz="1500" b="1" spc="-25" dirty="0">
                <a:solidFill>
                  <a:srgbClr val="40424E"/>
                </a:solidFill>
                <a:latin typeface="Times New Roman"/>
                <a:cs typeface="Times New Roman"/>
              </a:rPr>
              <a:t>g)</a:t>
            </a:r>
            <a:endParaRPr sz="1500">
              <a:latin typeface="Times New Roman"/>
              <a:cs typeface="Times New Roman"/>
            </a:endParaRPr>
          </a:p>
          <a:p>
            <a:pPr marL="203200">
              <a:lnSpc>
                <a:spcPct val="100000"/>
              </a:lnSpc>
              <a:spcBef>
                <a:spcPts val="270"/>
              </a:spcBef>
            </a:pPr>
            <a:r>
              <a:rPr sz="1500" b="1" spc="-50" dirty="0">
                <a:solidFill>
                  <a:srgbClr val="40424E"/>
                </a:solidFill>
                <a:latin typeface="Times New Roman"/>
                <a:cs typeface="Times New Roman"/>
              </a:rPr>
              <a:t>{</a:t>
            </a:r>
            <a:endParaRPr sz="1500">
              <a:latin typeface="Times New Roman"/>
              <a:cs typeface="Times New Roman"/>
            </a:endParaRPr>
          </a:p>
          <a:p>
            <a:pPr marL="393700" marR="594995">
              <a:lnSpc>
                <a:spcPct val="114999"/>
              </a:lnSpc>
            </a:pPr>
            <a:r>
              <a:rPr sz="1500" b="1" dirty="0">
                <a:solidFill>
                  <a:srgbClr val="40424E"/>
                </a:solidFill>
                <a:latin typeface="Times New Roman"/>
                <a:cs typeface="Times New Roman"/>
              </a:rPr>
              <a:t>//</a:t>
            </a:r>
            <a:r>
              <a:rPr sz="1500" b="1" spc="-20" dirty="0">
                <a:solidFill>
                  <a:srgbClr val="40424E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40424E"/>
                </a:solidFill>
                <a:latin typeface="Times New Roman"/>
                <a:cs typeface="Times New Roman"/>
              </a:rPr>
              <a:t>set</a:t>
            </a:r>
            <a:r>
              <a:rPr sz="1500" b="1" spc="-10" dirty="0">
                <a:solidFill>
                  <a:srgbClr val="40424E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40424E"/>
                </a:solidFill>
                <a:latin typeface="Times New Roman"/>
                <a:cs typeface="Times New Roman"/>
              </a:rPr>
              <a:t>Color</a:t>
            </a:r>
            <a:r>
              <a:rPr sz="1500" b="1" spc="-40" dirty="0">
                <a:solidFill>
                  <a:srgbClr val="40424E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40424E"/>
                </a:solidFill>
                <a:latin typeface="Times New Roman"/>
                <a:cs typeface="Times New Roman"/>
              </a:rPr>
              <a:t>for</a:t>
            </a:r>
            <a:r>
              <a:rPr sz="1500" b="1" spc="-40" dirty="0">
                <a:solidFill>
                  <a:srgbClr val="40424E"/>
                </a:solidFill>
                <a:latin typeface="Times New Roman"/>
                <a:cs typeface="Times New Roman"/>
              </a:rPr>
              <a:t> </a:t>
            </a:r>
            <a:r>
              <a:rPr sz="1500" b="1" spc="-10" dirty="0">
                <a:solidFill>
                  <a:srgbClr val="40424E"/>
                </a:solidFill>
                <a:latin typeface="Times New Roman"/>
                <a:cs typeface="Times New Roman"/>
              </a:rPr>
              <a:t>rectangle g.setColor(Color.red);</a:t>
            </a:r>
            <a:endParaRPr sz="1500">
              <a:latin typeface="Times New Roman"/>
              <a:cs typeface="Times New Roman"/>
            </a:endParaRPr>
          </a:p>
          <a:p>
            <a:pPr marL="393700" marR="5080">
              <a:lnSpc>
                <a:spcPct val="114999"/>
              </a:lnSpc>
            </a:pPr>
            <a:r>
              <a:rPr sz="1500" b="1" dirty="0">
                <a:solidFill>
                  <a:srgbClr val="40424E"/>
                </a:solidFill>
                <a:latin typeface="Times New Roman"/>
                <a:cs typeface="Times New Roman"/>
              </a:rPr>
              <a:t>//</a:t>
            </a:r>
            <a:r>
              <a:rPr sz="1500" b="1" spc="-20" dirty="0">
                <a:solidFill>
                  <a:srgbClr val="40424E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40424E"/>
                </a:solidFill>
                <a:latin typeface="Times New Roman"/>
                <a:cs typeface="Times New Roman"/>
              </a:rPr>
              <a:t>draw</a:t>
            </a:r>
            <a:r>
              <a:rPr sz="1500" b="1" spc="-20" dirty="0">
                <a:solidFill>
                  <a:srgbClr val="40424E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40424E"/>
                </a:solidFill>
                <a:latin typeface="Times New Roman"/>
                <a:cs typeface="Times New Roman"/>
              </a:rPr>
              <a:t>a</a:t>
            </a:r>
            <a:r>
              <a:rPr sz="1500" b="1" spc="-20" dirty="0">
                <a:solidFill>
                  <a:srgbClr val="40424E"/>
                </a:solidFill>
                <a:latin typeface="Times New Roman"/>
                <a:cs typeface="Times New Roman"/>
              </a:rPr>
              <a:t> </a:t>
            </a:r>
            <a:r>
              <a:rPr sz="1500" b="1" spc="-10" dirty="0">
                <a:solidFill>
                  <a:srgbClr val="40424E"/>
                </a:solidFill>
                <a:latin typeface="Times New Roman"/>
                <a:cs typeface="Times New Roman"/>
              </a:rPr>
              <a:t>rectangle g.drawRect(100,</a:t>
            </a:r>
            <a:r>
              <a:rPr sz="1500" b="1" spc="5" dirty="0">
                <a:solidFill>
                  <a:srgbClr val="40424E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40424E"/>
                </a:solidFill>
                <a:latin typeface="Times New Roman"/>
                <a:cs typeface="Times New Roman"/>
              </a:rPr>
              <a:t>100,</a:t>
            </a:r>
            <a:r>
              <a:rPr sz="1500" b="1" spc="15" dirty="0">
                <a:solidFill>
                  <a:srgbClr val="40424E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40424E"/>
                </a:solidFill>
                <a:latin typeface="Times New Roman"/>
                <a:cs typeface="Times New Roman"/>
              </a:rPr>
              <a:t>200,</a:t>
            </a:r>
            <a:r>
              <a:rPr sz="1500" b="1" spc="15" dirty="0">
                <a:solidFill>
                  <a:srgbClr val="40424E"/>
                </a:solidFill>
                <a:latin typeface="Times New Roman"/>
                <a:cs typeface="Times New Roman"/>
              </a:rPr>
              <a:t> </a:t>
            </a:r>
            <a:r>
              <a:rPr sz="1500" b="1" spc="-10" dirty="0">
                <a:solidFill>
                  <a:srgbClr val="40424E"/>
                </a:solidFill>
                <a:latin typeface="Times New Roman"/>
                <a:cs typeface="Times New Roman"/>
              </a:rPr>
              <a:t>200);</a:t>
            </a:r>
            <a:endParaRPr sz="1500">
              <a:latin typeface="Times New Roman"/>
              <a:cs typeface="Times New Roman"/>
            </a:endParaRPr>
          </a:p>
          <a:p>
            <a:pPr marL="203200">
              <a:lnSpc>
                <a:spcPct val="100000"/>
              </a:lnSpc>
              <a:spcBef>
                <a:spcPts val="270"/>
              </a:spcBef>
            </a:pPr>
            <a:r>
              <a:rPr sz="1500" b="1" spc="-50" dirty="0">
                <a:solidFill>
                  <a:srgbClr val="40424E"/>
                </a:solidFill>
                <a:latin typeface="Times New Roman"/>
                <a:cs typeface="Times New Roman"/>
              </a:rPr>
              <a:t>}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500" b="1" spc="-50" dirty="0">
                <a:solidFill>
                  <a:srgbClr val="40424E"/>
                </a:solidFill>
                <a:latin typeface="Times New Roman"/>
                <a:cs typeface="Times New Roman"/>
              </a:rPr>
              <a:t>}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28378" y="330128"/>
            <a:ext cx="3230657" cy="375134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import </a:t>
            </a:r>
            <a:r>
              <a:rPr sz="14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java.applet.*;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import </a:t>
            </a:r>
            <a:r>
              <a:rPr sz="14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java.awt.*;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789443" y="1138424"/>
            <a:ext cx="804545" cy="213360"/>
          </a:xfrm>
          <a:custGeom>
            <a:avLst/>
            <a:gdLst/>
            <a:ahLst/>
            <a:cxnLst/>
            <a:rect l="l" t="t" r="r" b="b"/>
            <a:pathLst>
              <a:path w="804544" h="213359">
                <a:moveTo>
                  <a:pt x="804425" y="213359"/>
                </a:moveTo>
                <a:lnTo>
                  <a:pt x="0" y="213359"/>
                </a:lnTo>
                <a:lnTo>
                  <a:pt x="0" y="0"/>
                </a:lnTo>
                <a:lnTo>
                  <a:pt x="804425" y="0"/>
                </a:lnTo>
                <a:lnTo>
                  <a:pt x="804425" y="21335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29175" y="1118613"/>
            <a:ext cx="4100195" cy="600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/*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&lt;applet</a:t>
            </a:r>
            <a:r>
              <a:rPr sz="1400" b="1" spc="-10" dirty="0">
                <a:latin typeface="Times New Roman"/>
                <a:cs typeface="Times New Roman"/>
              </a:rPr>
              <a:t> code="Geo.class"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width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=300</a:t>
            </a:r>
            <a:r>
              <a:rPr sz="1400" b="1" spc="32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height=300&gt;</a:t>
            </a:r>
            <a:endParaRPr sz="1400">
              <a:latin typeface="Times New Roman"/>
              <a:cs typeface="Times New Roman"/>
            </a:endParaRPr>
          </a:p>
          <a:p>
            <a:pPr marL="101600">
              <a:lnSpc>
                <a:spcPct val="100000"/>
              </a:lnSpc>
              <a:spcBef>
                <a:spcPts val="1170"/>
              </a:spcBef>
            </a:pPr>
            <a:r>
              <a:rPr sz="1400" b="1" spc="-10" dirty="0">
                <a:latin typeface="Times New Roman"/>
                <a:cs typeface="Times New Roman"/>
              </a:rPr>
              <a:t>&lt;/applet&gt;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725" y="1842513"/>
            <a:ext cx="899160" cy="600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latin typeface="Times New Roman"/>
                <a:cs typeface="Times New Roman"/>
              </a:rPr>
              <a:t>*/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1400" b="1" dirty="0">
                <a:latin typeface="Times New Roman"/>
                <a:cs typeface="Times New Roman"/>
              </a:rPr>
              <a:t>public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class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15777" y="2224275"/>
            <a:ext cx="318770" cy="21336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25"/>
              </a:lnSpc>
            </a:pPr>
            <a:r>
              <a:rPr sz="1400" b="1" spc="-25" dirty="0">
                <a:latin typeface="Times New Roman"/>
                <a:cs typeface="Times New Roman"/>
              </a:rPr>
              <a:t>Geo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53470" y="2204463"/>
            <a:ext cx="11468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latin typeface="Times New Roman"/>
                <a:cs typeface="Times New Roman"/>
              </a:rPr>
              <a:t>extends </a:t>
            </a:r>
            <a:r>
              <a:rPr sz="1400" b="1" spc="-10" dirty="0">
                <a:latin typeface="Times New Roman"/>
                <a:cs typeface="Times New Roman"/>
              </a:rPr>
              <a:t>Applet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4725" y="2566412"/>
            <a:ext cx="2306320" cy="962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latin typeface="Times New Roman"/>
                <a:cs typeface="Times New Roman"/>
              </a:rPr>
              <a:t>{</a:t>
            </a:r>
            <a:endParaRPr sz="1400">
              <a:latin typeface="Times New Roman"/>
              <a:cs typeface="Times New Roman"/>
            </a:endParaRPr>
          </a:p>
          <a:p>
            <a:pPr marL="57150">
              <a:lnSpc>
                <a:spcPct val="100000"/>
              </a:lnSpc>
              <a:spcBef>
                <a:spcPts val="1170"/>
              </a:spcBef>
            </a:pPr>
            <a:r>
              <a:rPr sz="1400" b="1" dirty="0">
                <a:latin typeface="Times New Roman"/>
                <a:cs typeface="Times New Roman"/>
              </a:rPr>
              <a:t>public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void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paint(Graphics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spc="-25" dirty="0">
                <a:latin typeface="Times New Roman"/>
                <a:cs typeface="Times New Roman"/>
              </a:rPr>
              <a:t>g)</a:t>
            </a:r>
            <a:endParaRPr sz="1400">
              <a:latin typeface="Times New Roman"/>
              <a:cs typeface="Times New Roman"/>
            </a:endParaRPr>
          </a:p>
          <a:p>
            <a:pPr marL="57150">
              <a:lnSpc>
                <a:spcPct val="100000"/>
              </a:lnSpc>
              <a:spcBef>
                <a:spcPts val="1170"/>
              </a:spcBef>
            </a:pPr>
            <a:r>
              <a:rPr sz="1400" b="1" spc="-50" dirty="0">
                <a:latin typeface="Times New Roman"/>
                <a:cs typeface="Times New Roman"/>
              </a:rPr>
              <a:t>{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0700" y="3672075"/>
            <a:ext cx="2046605" cy="21336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25"/>
              </a:lnSpc>
            </a:pPr>
            <a:r>
              <a:rPr sz="1400" b="1" spc="-10" dirty="0">
                <a:latin typeface="Times New Roman"/>
                <a:cs typeface="Times New Roman"/>
              </a:rPr>
              <a:t>g.setColor(Color.GREEN);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8075" y="4014213"/>
            <a:ext cx="2011045" cy="600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Times New Roman"/>
                <a:cs typeface="Times New Roman"/>
              </a:rPr>
              <a:t>g.drawLine(20,20,100,20);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1400" b="1" spc="-10" dirty="0">
                <a:latin typeface="Times New Roman"/>
                <a:cs typeface="Times New Roman"/>
              </a:rPr>
              <a:t>g.drawRect(20,50,90,90);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40474" y="1001797"/>
            <a:ext cx="3263265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5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Times New Roman"/>
                <a:cs typeface="Times New Roman"/>
              </a:rPr>
              <a:t>g.fillRoundRect(130,50,120,70,15,15);</a:t>
            </a:r>
            <a:endParaRPr sz="1400">
              <a:latin typeface="Times New Roman"/>
              <a:cs typeface="Times New Roman"/>
            </a:endParaRPr>
          </a:p>
          <a:p>
            <a:pPr marL="146050" marR="926465">
              <a:lnSpc>
                <a:spcPct val="171400"/>
              </a:lnSpc>
            </a:pPr>
            <a:r>
              <a:rPr sz="1400" b="1" spc="-10" dirty="0">
                <a:latin typeface="Times New Roman"/>
                <a:cs typeface="Times New Roman"/>
              </a:rPr>
              <a:t>g.setColor(Color.RED); g.drawOval(20,160,160,100);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1200" b="1" dirty="0">
                <a:solidFill>
                  <a:srgbClr val="0000FF"/>
                </a:solidFill>
                <a:latin typeface="Times New Roman"/>
                <a:cs typeface="Times New Roman"/>
              </a:rPr>
              <a:t>//</a:t>
            </a:r>
            <a:r>
              <a:rPr sz="1200" b="1" spc="26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0000FF"/>
                </a:solidFill>
                <a:latin typeface="Arial"/>
                <a:cs typeface="Arial"/>
              </a:rPr>
              <a:t>drawOval(</a:t>
            </a:r>
            <a:r>
              <a:rPr sz="12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12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00FF"/>
                </a:solidFill>
                <a:latin typeface="Arial"/>
                <a:cs typeface="Arial"/>
              </a:rPr>
              <a:t>X,</a:t>
            </a:r>
            <a:r>
              <a:rPr sz="1200" b="1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1200" b="1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b="1" spc="-65" dirty="0">
                <a:solidFill>
                  <a:srgbClr val="0000FF"/>
                </a:solidFill>
                <a:latin typeface="Arial"/>
                <a:cs typeface="Arial"/>
              </a:rPr>
              <a:t>Y,</a:t>
            </a:r>
            <a:r>
              <a:rPr sz="1200" b="1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12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00FF"/>
                </a:solidFill>
                <a:latin typeface="Arial"/>
                <a:cs typeface="Arial"/>
              </a:rPr>
              <a:t>width,</a:t>
            </a:r>
            <a:r>
              <a:rPr sz="1200" b="1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12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00FF"/>
                </a:solidFill>
                <a:latin typeface="Arial"/>
                <a:cs typeface="Arial"/>
              </a:rPr>
              <a:t>height</a:t>
            </a:r>
            <a:r>
              <a:rPr sz="12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b="1" spc="-50" dirty="0">
                <a:solidFill>
                  <a:srgbClr val="0000FF"/>
                </a:solidFill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  <a:p>
            <a:pPr marL="146050">
              <a:lnSpc>
                <a:spcPct val="100000"/>
              </a:lnSpc>
              <a:spcBef>
                <a:spcPts val="1195"/>
              </a:spcBef>
            </a:pPr>
            <a:r>
              <a:rPr sz="1400" b="1" spc="-10" dirty="0">
                <a:latin typeface="Times New Roman"/>
                <a:cs typeface="Times New Roman"/>
              </a:rPr>
              <a:t>g.fillOval(180,160,160,100);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29374" y="2800117"/>
            <a:ext cx="958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latin typeface="Times New Roman"/>
                <a:cs typeface="Times New Roman"/>
              </a:rPr>
              <a:t>}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40474" y="3165877"/>
            <a:ext cx="958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latin typeface="Times New Roman"/>
                <a:cs typeface="Times New Roman"/>
              </a:rPr>
              <a:t>}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92875" y="135651"/>
            <a:ext cx="4146025" cy="443159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4725" y="259397"/>
            <a:ext cx="8105775" cy="3138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Write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an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applet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that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draws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four</a:t>
            </a:r>
            <a:r>
              <a:rPr sz="1400" b="1" spc="-75" dirty="0">
                <a:latin typeface="Times New Roman"/>
                <a:cs typeface="Times New Roman"/>
              </a:rPr>
              <a:t> </a:t>
            </a:r>
            <a:r>
              <a:rPr sz="1400" b="1" spc="-25" dirty="0">
                <a:latin typeface="Times New Roman"/>
                <a:cs typeface="Times New Roman"/>
              </a:rPr>
              <a:t>Vertical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bars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equal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size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&amp;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different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colors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such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that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they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cover</a:t>
            </a:r>
            <a:r>
              <a:rPr sz="1400" b="1" spc="-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up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spc="-25" dirty="0">
                <a:latin typeface="Times New Roman"/>
                <a:cs typeface="Times New Roman"/>
              </a:rPr>
              <a:t>the </a:t>
            </a:r>
            <a:r>
              <a:rPr sz="1400" b="1" dirty="0">
                <a:latin typeface="Times New Roman"/>
                <a:cs typeface="Times New Roman"/>
              </a:rPr>
              <a:t>whole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applet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latin typeface="Times New Roman"/>
                <a:cs typeface="Times New Roman"/>
              </a:rPr>
              <a:t>area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 marR="6479540">
              <a:lnSpc>
                <a:spcPct val="169600"/>
              </a:lnSpc>
            </a:pPr>
            <a:r>
              <a:rPr sz="1400" b="1" dirty="0">
                <a:latin typeface="Times New Roman"/>
                <a:cs typeface="Times New Roman"/>
              </a:rPr>
              <a:t>import </a:t>
            </a:r>
            <a:r>
              <a:rPr sz="1400" b="1" spc="-10" dirty="0">
                <a:latin typeface="Times New Roman"/>
                <a:cs typeface="Times New Roman"/>
              </a:rPr>
              <a:t>java.applet.*; </a:t>
            </a:r>
            <a:r>
              <a:rPr sz="1400" b="1" dirty="0">
                <a:latin typeface="Times New Roman"/>
                <a:cs typeface="Times New Roman"/>
              </a:rPr>
              <a:t>import </a:t>
            </a:r>
            <a:r>
              <a:rPr sz="1400" b="1" spc="-10" dirty="0">
                <a:latin typeface="Times New Roman"/>
                <a:cs typeface="Times New Roman"/>
              </a:rPr>
              <a:t>java.awt.*;</a:t>
            </a:r>
            <a:endParaRPr sz="1400">
              <a:latin typeface="Times New Roman"/>
              <a:cs typeface="Times New Roman"/>
            </a:endParaRPr>
          </a:p>
          <a:p>
            <a:pPr marL="57150">
              <a:lnSpc>
                <a:spcPts val="1635"/>
              </a:lnSpc>
            </a:pPr>
            <a:r>
              <a:rPr sz="1400" b="1" spc="-25" dirty="0">
                <a:latin typeface="Times New Roman"/>
                <a:cs typeface="Times New Roman"/>
              </a:rPr>
              <a:t>/*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ts val="1650"/>
              </a:lnSpc>
            </a:pPr>
            <a:r>
              <a:rPr sz="1400" b="1" dirty="0">
                <a:latin typeface="Times New Roman"/>
                <a:cs typeface="Times New Roman"/>
              </a:rPr>
              <a:t>&lt;applet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code="equalBars.class"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width="500"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height="500"&gt;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ts val="1650"/>
              </a:lnSpc>
            </a:pPr>
            <a:r>
              <a:rPr sz="1400" b="1" spc="-10" dirty="0">
                <a:latin typeface="Times New Roman"/>
                <a:cs typeface="Times New Roman"/>
              </a:rPr>
              <a:t>&lt;/applet&gt;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ts val="1650"/>
              </a:lnSpc>
            </a:pPr>
            <a:r>
              <a:rPr sz="1400" b="1" spc="-25" dirty="0">
                <a:latin typeface="Times New Roman"/>
                <a:cs typeface="Times New Roman"/>
              </a:rPr>
              <a:t>*/</a:t>
            </a:r>
            <a:endParaRPr sz="1400">
              <a:latin typeface="Times New Roman"/>
              <a:cs typeface="Times New Roman"/>
            </a:endParaRPr>
          </a:p>
          <a:p>
            <a:pPr marL="57150">
              <a:lnSpc>
                <a:spcPts val="1650"/>
              </a:lnSpc>
            </a:pPr>
            <a:r>
              <a:rPr sz="1400" b="1" dirty="0">
                <a:latin typeface="Times New Roman"/>
                <a:cs typeface="Times New Roman"/>
              </a:rPr>
              <a:t>public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class</a:t>
            </a:r>
            <a:r>
              <a:rPr sz="1400" b="1" spc="-10" dirty="0">
                <a:latin typeface="Times New Roman"/>
                <a:cs typeface="Times New Roman"/>
              </a:rPr>
              <a:t> equalBars </a:t>
            </a:r>
            <a:r>
              <a:rPr sz="1400" b="1" spc="-20" dirty="0">
                <a:latin typeface="Times New Roman"/>
                <a:cs typeface="Times New Roman"/>
              </a:rPr>
              <a:t>extends</a:t>
            </a:r>
            <a:r>
              <a:rPr sz="1400" b="1" spc="-8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Applet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ts val="1650"/>
              </a:lnSpc>
            </a:pPr>
            <a:r>
              <a:rPr sz="1400" b="1" spc="-50" dirty="0">
                <a:latin typeface="Times New Roman"/>
                <a:cs typeface="Times New Roman"/>
              </a:rPr>
              <a:t>{</a:t>
            </a:r>
            <a:endParaRPr sz="1400">
              <a:latin typeface="Times New Roman"/>
              <a:cs typeface="Times New Roman"/>
            </a:endParaRPr>
          </a:p>
          <a:p>
            <a:pPr marL="190500" marR="3255645">
              <a:lnSpc>
                <a:spcPts val="1650"/>
              </a:lnSpc>
              <a:spcBef>
                <a:spcPts val="65"/>
              </a:spcBef>
            </a:pPr>
            <a:r>
              <a:rPr sz="1400" b="1" dirty="0">
                <a:latin typeface="Times New Roman"/>
                <a:cs typeface="Times New Roman"/>
              </a:rPr>
              <a:t>Color[]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clr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=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latin typeface="Times New Roman"/>
                <a:cs typeface="Times New Roman"/>
              </a:rPr>
              <a:t>{Color.red,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latin typeface="Times New Roman"/>
                <a:cs typeface="Times New Roman"/>
              </a:rPr>
              <a:t>Color.green,</a:t>
            </a:r>
            <a:r>
              <a:rPr sz="1400" b="1" spc="-10" dirty="0">
                <a:latin typeface="Times New Roman"/>
                <a:cs typeface="Times New Roman"/>
              </a:rPr>
              <a:t> Color.pink, Color.blue}; </a:t>
            </a:r>
            <a:r>
              <a:rPr sz="1400" b="1" dirty="0">
                <a:latin typeface="Times New Roman"/>
                <a:cs typeface="Times New Roman"/>
              </a:rPr>
              <a:t>int</a:t>
            </a:r>
            <a:r>
              <a:rPr sz="1400" b="1" spc="-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cnt</a:t>
            </a:r>
            <a:r>
              <a:rPr sz="1400" b="1" spc="-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=</a:t>
            </a:r>
            <a:r>
              <a:rPr sz="1400" b="1" spc="-5" dirty="0">
                <a:latin typeface="Times New Roman"/>
                <a:cs typeface="Times New Roman"/>
              </a:rPr>
              <a:t> </a:t>
            </a:r>
            <a:r>
              <a:rPr sz="1400" b="1" spc="-25" dirty="0">
                <a:latin typeface="Times New Roman"/>
                <a:cs typeface="Times New Roman"/>
              </a:rPr>
              <a:t>0;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345137"/>
            <a:ext cx="12890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public</a:t>
            </a:r>
            <a:r>
              <a:rPr sz="1400" b="1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void</a:t>
            </a:r>
            <a:r>
              <a:rPr sz="1400" b="1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init()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62525" y="554687"/>
            <a:ext cx="2399030" cy="657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64"/>
              </a:lnSpc>
              <a:spcBef>
                <a:spcPts val="100"/>
              </a:spcBef>
            </a:pPr>
            <a:r>
              <a:rPr sz="1400" b="1" spc="-50" dirty="0">
                <a:latin typeface="Times New Roman"/>
                <a:cs typeface="Times New Roman"/>
              </a:rPr>
              <a:t>{</a:t>
            </a:r>
            <a:endParaRPr sz="1400">
              <a:latin typeface="Times New Roman"/>
              <a:cs typeface="Times New Roman"/>
            </a:endParaRPr>
          </a:p>
          <a:p>
            <a:pPr marL="190500">
              <a:lnSpc>
                <a:spcPts val="1650"/>
              </a:lnSpc>
            </a:pPr>
            <a:r>
              <a:rPr sz="1400" b="1" spc="-10" dirty="0">
                <a:latin typeface="Times New Roman"/>
                <a:cs typeface="Times New Roman"/>
              </a:rPr>
              <a:t>setBackground(Color.black);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ts val="1664"/>
              </a:lnSpc>
            </a:pPr>
            <a:r>
              <a:rPr sz="1400" b="1" spc="-50" dirty="0">
                <a:latin typeface="Times New Roman"/>
                <a:cs typeface="Times New Roman"/>
              </a:rPr>
              <a:t>}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2525" y="1335738"/>
            <a:ext cx="2261870" cy="20472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public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void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paint(Graphics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spc="-25" dirty="0">
                <a:latin typeface="Times New Roman"/>
                <a:cs typeface="Times New Roman"/>
              </a:rPr>
              <a:t>g)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ts val="1664"/>
              </a:lnSpc>
              <a:spcBef>
                <a:spcPts val="1170"/>
              </a:spcBef>
            </a:pPr>
            <a:r>
              <a:rPr sz="1400" b="1" spc="-50" dirty="0">
                <a:latin typeface="Times New Roman"/>
                <a:cs typeface="Times New Roman"/>
              </a:rPr>
              <a:t>{</a:t>
            </a:r>
            <a:endParaRPr sz="1400">
              <a:latin typeface="Times New Roman"/>
              <a:cs typeface="Times New Roman"/>
            </a:endParaRPr>
          </a:p>
          <a:p>
            <a:pPr marL="190500" marR="572135" algn="just">
              <a:lnSpc>
                <a:spcPts val="1650"/>
              </a:lnSpc>
              <a:spcBef>
                <a:spcPts val="65"/>
              </a:spcBef>
            </a:pPr>
            <a:r>
              <a:rPr sz="1400" b="1" dirty="0">
                <a:latin typeface="Times New Roman"/>
                <a:cs typeface="Times New Roman"/>
              </a:rPr>
              <a:t>int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w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=</a:t>
            </a:r>
            <a:r>
              <a:rPr sz="1400" b="1" spc="-10" dirty="0">
                <a:latin typeface="Times New Roman"/>
                <a:cs typeface="Times New Roman"/>
              </a:rPr>
              <a:t> getWidth(); </a:t>
            </a:r>
            <a:r>
              <a:rPr sz="1400" b="1" dirty="0">
                <a:latin typeface="Times New Roman"/>
                <a:cs typeface="Times New Roman"/>
              </a:rPr>
              <a:t>int</a:t>
            </a:r>
            <a:r>
              <a:rPr sz="1400" b="1" spc="-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h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=</a:t>
            </a:r>
            <a:r>
              <a:rPr sz="1400" b="1" spc="-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getHeight(); </a:t>
            </a:r>
            <a:r>
              <a:rPr sz="1400" b="1" dirty="0">
                <a:latin typeface="Times New Roman"/>
                <a:cs typeface="Times New Roman"/>
              </a:rPr>
              <a:t>for(int </a:t>
            </a:r>
            <a:r>
              <a:rPr sz="1400" b="1" spc="-10" dirty="0">
                <a:latin typeface="Times New Roman"/>
                <a:cs typeface="Times New Roman"/>
              </a:rPr>
              <a:t>i=0;i&lt;4;i++)</a:t>
            </a:r>
            <a:endParaRPr sz="1400">
              <a:latin typeface="Times New Roman"/>
              <a:cs typeface="Times New Roman"/>
            </a:endParaRPr>
          </a:p>
          <a:p>
            <a:pPr marL="190500">
              <a:lnSpc>
                <a:spcPts val="1664"/>
              </a:lnSpc>
              <a:spcBef>
                <a:spcPts val="1120"/>
              </a:spcBef>
            </a:pPr>
            <a:r>
              <a:rPr sz="1400" b="1" spc="-50" dirty="0">
                <a:latin typeface="Times New Roman"/>
                <a:cs typeface="Times New Roman"/>
              </a:rPr>
              <a:t>{</a:t>
            </a:r>
            <a:endParaRPr sz="1400">
              <a:latin typeface="Times New Roman"/>
              <a:cs typeface="Times New Roman"/>
            </a:endParaRPr>
          </a:p>
          <a:p>
            <a:pPr marL="368300">
              <a:lnSpc>
                <a:spcPts val="1664"/>
              </a:lnSpc>
            </a:pPr>
            <a:r>
              <a:rPr sz="1400" b="1" spc="-10" dirty="0">
                <a:latin typeface="Times New Roman"/>
                <a:cs typeface="Times New Roman"/>
              </a:rPr>
              <a:t>g.setColor(clr[i]);</a:t>
            </a:r>
            <a:endParaRPr sz="1400">
              <a:latin typeface="Times New Roman"/>
              <a:cs typeface="Times New Roman"/>
            </a:endParaRPr>
          </a:p>
          <a:p>
            <a:pPr marL="368300">
              <a:lnSpc>
                <a:spcPct val="100000"/>
              </a:lnSpc>
              <a:spcBef>
                <a:spcPts val="254"/>
              </a:spcBef>
            </a:pPr>
            <a:r>
              <a:rPr sz="1400" b="1" spc="-10" dirty="0">
                <a:latin typeface="Times New Roman"/>
                <a:cs typeface="Times New Roman"/>
              </a:rPr>
              <a:t>g.fillRect(w/4*i,0,w/4,h);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96994" y="3105864"/>
            <a:ext cx="3418204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2729" algn="l"/>
              </a:tabLst>
            </a:pPr>
            <a:r>
              <a:rPr sz="1400" b="1" spc="-25" dirty="0">
                <a:latin typeface="Times New Roman"/>
                <a:cs typeface="Times New Roman"/>
              </a:rPr>
              <a:t>//</a:t>
            </a:r>
            <a:r>
              <a:rPr sz="1400" b="1" dirty="0">
                <a:latin typeface="Times New Roman"/>
                <a:cs typeface="Times New Roman"/>
              </a:rPr>
              <a:t>	</a:t>
            </a:r>
            <a:r>
              <a:rPr sz="1700" b="1" dirty="0">
                <a:latin typeface="Times New Roman"/>
                <a:cs typeface="Times New Roman"/>
              </a:rPr>
              <a:t>f</a:t>
            </a:r>
            <a:r>
              <a:rPr sz="1350" b="1" dirty="0">
                <a:latin typeface="Arial"/>
                <a:cs typeface="Arial"/>
              </a:rPr>
              <a:t>illRect(int</a:t>
            </a:r>
            <a:r>
              <a:rPr sz="1350" b="1" spc="-35" dirty="0">
                <a:latin typeface="Arial"/>
                <a:cs typeface="Arial"/>
              </a:rPr>
              <a:t> </a:t>
            </a:r>
            <a:r>
              <a:rPr sz="1350" b="1" dirty="0">
                <a:latin typeface="Arial"/>
                <a:cs typeface="Arial"/>
              </a:rPr>
              <a:t>x,</a:t>
            </a:r>
            <a:r>
              <a:rPr sz="1350" b="1" spc="-30" dirty="0">
                <a:latin typeface="Arial"/>
                <a:cs typeface="Arial"/>
              </a:rPr>
              <a:t> </a:t>
            </a:r>
            <a:r>
              <a:rPr sz="1350" b="1" dirty="0">
                <a:latin typeface="Arial"/>
                <a:cs typeface="Arial"/>
              </a:rPr>
              <a:t>int</a:t>
            </a:r>
            <a:r>
              <a:rPr sz="1350" b="1" spc="-35" dirty="0">
                <a:latin typeface="Arial"/>
                <a:cs typeface="Arial"/>
              </a:rPr>
              <a:t> </a:t>
            </a:r>
            <a:r>
              <a:rPr sz="1350" b="1" spc="-20" dirty="0">
                <a:latin typeface="Arial"/>
                <a:cs typeface="Arial"/>
              </a:rPr>
              <a:t>y,</a:t>
            </a:r>
            <a:r>
              <a:rPr sz="1350" b="1" spc="-30" dirty="0">
                <a:latin typeface="Arial"/>
                <a:cs typeface="Arial"/>
              </a:rPr>
              <a:t> </a:t>
            </a:r>
            <a:r>
              <a:rPr sz="1350" b="1" dirty="0">
                <a:latin typeface="Arial"/>
                <a:cs typeface="Arial"/>
              </a:rPr>
              <a:t>int</a:t>
            </a:r>
            <a:r>
              <a:rPr sz="1350" b="1" spc="-30" dirty="0">
                <a:latin typeface="Arial"/>
                <a:cs typeface="Arial"/>
              </a:rPr>
              <a:t> </a:t>
            </a:r>
            <a:r>
              <a:rPr sz="1350" b="1" dirty="0">
                <a:latin typeface="Arial"/>
                <a:cs typeface="Arial"/>
              </a:rPr>
              <a:t>width,</a:t>
            </a:r>
            <a:r>
              <a:rPr sz="1350" b="1" spc="-35" dirty="0">
                <a:latin typeface="Arial"/>
                <a:cs typeface="Arial"/>
              </a:rPr>
              <a:t> </a:t>
            </a:r>
            <a:r>
              <a:rPr sz="1350" b="1" dirty="0">
                <a:latin typeface="Arial"/>
                <a:cs typeface="Arial"/>
              </a:rPr>
              <a:t>int</a:t>
            </a:r>
            <a:r>
              <a:rPr sz="1350" b="1" spc="-30" dirty="0">
                <a:latin typeface="Arial"/>
                <a:cs typeface="Arial"/>
              </a:rPr>
              <a:t> </a:t>
            </a:r>
            <a:r>
              <a:rPr sz="1350" b="1" spc="-10" dirty="0">
                <a:latin typeface="Arial"/>
                <a:cs typeface="Arial"/>
              </a:rPr>
              <a:t>height)</a:t>
            </a:r>
            <a:endParaRPr sz="13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4725" y="3516962"/>
            <a:ext cx="451484" cy="962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latin typeface="Times New Roman"/>
                <a:cs typeface="Times New Roman"/>
              </a:rPr>
              <a:t>}</a:t>
            </a: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170"/>
              </a:spcBef>
            </a:pPr>
            <a:r>
              <a:rPr sz="1400" b="1" spc="-50" dirty="0">
                <a:latin typeface="Times New Roman"/>
                <a:cs typeface="Times New Roman"/>
              </a:rPr>
              <a:t>}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1400" b="1" spc="-50" dirty="0">
                <a:latin typeface="Times New Roman"/>
                <a:cs typeface="Times New Roman"/>
              </a:rPr>
              <a:t>}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95550" y="661987"/>
            <a:ext cx="4152899" cy="381952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620185"/>
            <a:ext cx="60039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2A3890"/>
                </a:solidFill>
                <a:latin typeface="Roboto"/>
                <a:cs typeface="Roboto"/>
              </a:rPr>
              <a:t>Cartoon</a:t>
            </a:r>
            <a:r>
              <a:rPr sz="3000" spc="-140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3000" spc="-20" dirty="0">
                <a:solidFill>
                  <a:srgbClr val="2A3890"/>
                </a:solidFill>
                <a:latin typeface="Roboto"/>
                <a:cs typeface="Roboto"/>
              </a:rPr>
              <a:t>Character</a:t>
            </a:r>
            <a:r>
              <a:rPr sz="3000" spc="-140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3000" dirty="0">
                <a:solidFill>
                  <a:srgbClr val="2A3890"/>
                </a:solidFill>
                <a:latin typeface="Roboto"/>
                <a:cs typeface="Roboto"/>
              </a:rPr>
              <a:t>–</a:t>
            </a:r>
            <a:r>
              <a:rPr sz="3000" spc="-135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3000" spc="-10" dirty="0">
                <a:solidFill>
                  <a:srgbClr val="2A3890"/>
                </a:solidFill>
                <a:latin typeface="Roboto"/>
                <a:cs typeface="Roboto"/>
              </a:rPr>
              <a:t>Moving</a:t>
            </a:r>
            <a:r>
              <a:rPr sz="3000" spc="-135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3000" spc="-10" dirty="0">
                <a:solidFill>
                  <a:srgbClr val="2A3890"/>
                </a:solidFill>
                <a:latin typeface="Roboto"/>
                <a:cs typeface="Roboto"/>
              </a:rPr>
              <a:t>Hands</a:t>
            </a:r>
            <a:endParaRPr sz="30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257179"/>
            <a:ext cx="4872355" cy="3492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131820">
              <a:lnSpc>
                <a:spcPct val="116700"/>
              </a:lnSpc>
              <a:spcBef>
                <a:spcPts val="100"/>
              </a:spcBef>
            </a:pPr>
            <a:r>
              <a:rPr sz="1500" b="1" dirty="0">
                <a:latin typeface="Times New Roman"/>
                <a:cs typeface="Times New Roman"/>
              </a:rPr>
              <a:t>import </a:t>
            </a:r>
            <a:r>
              <a:rPr sz="1500" b="1" spc="-10" dirty="0">
                <a:latin typeface="Times New Roman"/>
                <a:cs typeface="Times New Roman"/>
              </a:rPr>
              <a:t>java.applet.*; </a:t>
            </a:r>
            <a:r>
              <a:rPr sz="1500" b="1" dirty="0">
                <a:latin typeface="Times New Roman"/>
                <a:cs typeface="Times New Roman"/>
              </a:rPr>
              <a:t>import </a:t>
            </a:r>
            <a:r>
              <a:rPr sz="1500" b="1" spc="-10" dirty="0">
                <a:latin typeface="Times New Roman"/>
                <a:cs typeface="Times New Roman"/>
              </a:rPr>
              <a:t>java.awt.*;</a:t>
            </a:r>
            <a:endParaRPr sz="1500">
              <a:latin typeface="Times New Roman"/>
              <a:cs typeface="Times New Roman"/>
            </a:endParaRPr>
          </a:p>
          <a:p>
            <a:pPr marL="60325">
              <a:lnSpc>
                <a:spcPct val="100000"/>
              </a:lnSpc>
              <a:spcBef>
                <a:spcPts val="300"/>
              </a:spcBef>
            </a:pPr>
            <a:r>
              <a:rPr sz="1500" b="1" spc="-25" dirty="0">
                <a:latin typeface="Times New Roman"/>
                <a:cs typeface="Times New Roman"/>
              </a:rPr>
              <a:t>/*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500" b="1" dirty="0">
                <a:latin typeface="Times New Roman"/>
                <a:cs typeface="Times New Roman"/>
              </a:rPr>
              <a:t>&lt;applet</a:t>
            </a:r>
            <a:r>
              <a:rPr sz="1500" b="1" spc="-2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code="Cartoon.class"</a:t>
            </a:r>
            <a:r>
              <a:rPr sz="1500" b="1" spc="-2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width="500"</a:t>
            </a:r>
            <a:r>
              <a:rPr sz="1500" b="1" spc="-2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height="700"&gt;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500" b="1" spc="-10" dirty="0">
                <a:latin typeface="Times New Roman"/>
                <a:cs typeface="Times New Roman"/>
              </a:rPr>
              <a:t>&lt;/applet&gt;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500" b="1" spc="-25" dirty="0">
                <a:latin typeface="Times New Roman"/>
                <a:cs typeface="Times New Roman"/>
              </a:rPr>
              <a:t>*/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500" b="1" dirty="0">
                <a:latin typeface="Times New Roman"/>
                <a:cs typeface="Times New Roman"/>
              </a:rPr>
              <a:t>public</a:t>
            </a:r>
            <a:r>
              <a:rPr sz="1500" b="1" spc="-3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class</a:t>
            </a:r>
            <a:r>
              <a:rPr sz="1500" b="1" spc="-2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Cartoon</a:t>
            </a:r>
            <a:r>
              <a:rPr sz="1500" b="1" spc="340" dirty="0">
                <a:latin typeface="Times New Roman"/>
                <a:cs typeface="Times New Roman"/>
              </a:rPr>
              <a:t> </a:t>
            </a:r>
            <a:r>
              <a:rPr sz="1500" b="1" spc="-20" dirty="0">
                <a:latin typeface="Times New Roman"/>
                <a:cs typeface="Times New Roman"/>
              </a:rPr>
              <a:t>extends</a:t>
            </a:r>
            <a:r>
              <a:rPr sz="1500" b="1" spc="-8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Applet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500" b="1" spc="-50" dirty="0">
                <a:latin typeface="Times New Roman"/>
                <a:cs typeface="Times New Roman"/>
              </a:rPr>
              <a:t>{</a:t>
            </a:r>
            <a:endParaRPr sz="1500">
              <a:latin typeface="Times New Roman"/>
              <a:cs typeface="Times New Roman"/>
            </a:endParaRPr>
          </a:p>
          <a:p>
            <a:pPr marL="469900" marR="3040380">
              <a:lnSpc>
                <a:spcPct val="116700"/>
              </a:lnSpc>
            </a:pPr>
            <a:r>
              <a:rPr sz="1500" b="1" dirty="0">
                <a:latin typeface="Times New Roman"/>
                <a:cs typeface="Times New Roman"/>
              </a:rPr>
              <a:t>int y =</a:t>
            </a:r>
            <a:r>
              <a:rPr sz="1500" b="1" spc="-5" dirty="0">
                <a:latin typeface="Times New Roman"/>
                <a:cs typeface="Times New Roman"/>
              </a:rPr>
              <a:t> </a:t>
            </a:r>
            <a:r>
              <a:rPr sz="1500" b="1" spc="-20" dirty="0">
                <a:latin typeface="Times New Roman"/>
                <a:cs typeface="Times New Roman"/>
              </a:rPr>
              <a:t>200; </a:t>
            </a:r>
            <a:r>
              <a:rPr sz="1500" b="1" dirty="0">
                <a:latin typeface="Times New Roman"/>
                <a:cs typeface="Times New Roman"/>
              </a:rPr>
              <a:t>public</a:t>
            </a:r>
            <a:r>
              <a:rPr sz="1500" b="1" spc="-2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void</a:t>
            </a:r>
            <a:r>
              <a:rPr sz="1500" b="1" spc="-2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init()</a:t>
            </a:r>
            <a:endParaRPr sz="15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295"/>
              </a:spcBef>
            </a:pPr>
            <a:r>
              <a:rPr sz="1500" b="1" spc="-50" dirty="0">
                <a:latin typeface="Times New Roman"/>
                <a:cs typeface="Times New Roman"/>
              </a:rPr>
              <a:t>{</a:t>
            </a:r>
            <a:endParaRPr sz="1500">
              <a:latin typeface="Times New Roman"/>
              <a:cs typeface="Times New Roman"/>
            </a:endParaRPr>
          </a:p>
          <a:p>
            <a:pPr marL="393700">
              <a:lnSpc>
                <a:spcPct val="100000"/>
              </a:lnSpc>
              <a:spcBef>
                <a:spcPts val="300"/>
              </a:spcBef>
            </a:pPr>
            <a:r>
              <a:rPr sz="1500" b="1" spc="-10" dirty="0">
                <a:latin typeface="Times New Roman"/>
                <a:cs typeface="Times New Roman"/>
              </a:rPr>
              <a:t>setBackground(Color.YELLOW);</a:t>
            </a:r>
            <a:endParaRPr sz="15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300"/>
              </a:spcBef>
            </a:pPr>
            <a:r>
              <a:rPr sz="1500" b="1" spc="-50" dirty="0">
                <a:latin typeface="Times New Roman"/>
                <a:cs typeface="Times New Roman"/>
              </a:rPr>
              <a:t>}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9525" y="368898"/>
            <a:ext cx="2407920" cy="459740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58750">
              <a:lnSpc>
                <a:spcPct val="100000"/>
              </a:lnSpc>
              <a:spcBef>
                <a:spcPts val="370"/>
              </a:spcBef>
            </a:pPr>
            <a:r>
              <a:rPr sz="1400" b="1" dirty="0">
                <a:latin typeface="Times New Roman"/>
                <a:cs typeface="Times New Roman"/>
              </a:rPr>
              <a:t>public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void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stop()</a:t>
            </a:r>
            <a:endParaRPr sz="1400">
              <a:latin typeface="Times New Roman"/>
              <a:cs typeface="Times New Roman"/>
            </a:endParaRPr>
          </a:p>
          <a:p>
            <a:pPr marL="158750">
              <a:lnSpc>
                <a:spcPct val="100000"/>
              </a:lnSpc>
              <a:spcBef>
                <a:spcPts val="270"/>
              </a:spcBef>
            </a:pPr>
            <a:r>
              <a:rPr sz="1400" b="1" spc="-50" dirty="0">
                <a:latin typeface="Times New Roman"/>
                <a:cs typeface="Times New Roman"/>
              </a:rPr>
              <a:t>{</a:t>
            </a:r>
            <a:endParaRPr sz="1400">
              <a:latin typeface="Times New Roman"/>
              <a:cs typeface="Times New Roman"/>
            </a:endParaRPr>
          </a:p>
          <a:p>
            <a:pPr marL="615950" marR="1202055" indent="-247650">
              <a:lnSpc>
                <a:spcPct val="116100"/>
              </a:lnSpc>
            </a:pPr>
            <a:r>
              <a:rPr sz="1400" b="1" dirty="0">
                <a:latin typeface="Times New Roman"/>
                <a:cs typeface="Times New Roman"/>
              </a:rPr>
              <a:t>if </a:t>
            </a:r>
            <a:r>
              <a:rPr sz="1400" b="1" spc="-10" dirty="0">
                <a:latin typeface="Times New Roman"/>
                <a:cs typeface="Times New Roman"/>
              </a:rPr>
              <a:t>(y==200) </a:t>
            </a:r>
            <a:r>
              <a:rPr sz="1400" b="1" dirty="0">
                <a:latin typeface="Times New Roman"/>
                <a:cs typeface="Times New Roman"/>
              </a:rPr>
              <a:t>y</a:t>
            </a:r>
            <a:r>
              <a:rPr sz="1400" b="1" spc="-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=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b="1" spc="-25" dirty="0">
                <a:latin typeface="Times New Roman"/>
                <a:cs typeface="Times New Roman"/>
              </a:rPr>
              <a:t>50;</a:t>
            </a:r>
            <a:endParaRPr sz="1400">
              <a:latin typeface="Times New Roman"/>
              <a:cs typeface="Times New Roman"/>
            </a:endParaRPr>
          </a:p>
          <a:p>
            <a:pPr marL="336550">
              <a:lnSpc>
                <a:spcPct val="100000"/>
              </a:lnSpc>
              <a:spcBef>
                <a:spcPts val="270"/>
              </a:spcBef>
            </a:pPr>
            <a:r>
              <a:rPr sz="1400" b="1" spc="-20" dirty="0">
                <a:latin typeface="Times New Roman"/>
                <a:cs typeface="Times New Roman"/>
              </a:rPr>
              <a:t>else</a:t>
            </a:r>
            <a:endParaRPr sz="1400">
              <a:latin typeface="Times New Roman"/>
              <a:cs typeface="Times New Roman"/>
            </a:endParaRPr>
          </a:p>
          <a:p>
            <a:pPr marL="615950">
              <a:lnSpc>
                <a:spcPct val="100000"/>
              </a:lnSpc>
              <a:spcBef>
                <a:spcPts val="270"/>
              </a:spcBef>
            </a:pPr>
            <a:r>
              <a:rPr sz="1400" b="1" dirty="0">
                <a:latin typeface="Times New Roman"/>
                <a:cs typeface="Times New Roman"/>
              </a:rPr>
              <a:t>y</a:t>
            </a:r>
            <a:r>
              <a:rPr sz="1400" b="1" spc="-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=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latin typeface="Times New Roman"/>
                <a:cs typeface="Times New Roman"/>
              </a:rPr>
              <a:t>200;</a:t>
            </a:r>
            <a:endParaRPr sz="1400">
              <a:latin typeface="Times New Roman"/>
              <a:cs typeface="Times New Roman"/>
            </a:endParaRPr>
          </a:p>
          <a:p>
            <a:pPr marL="158750">
              <a:lnSpc>
                <a:spcPct val="100000"/>
              </a:lnSpc>
              <a:spcBef>
                <a:spcPts val="270"/>
              </a:spcBef>
            </a:pPr>
            <a:r>
              <a:rPr sz="1400" b="1" spc="-50" dirty="0">
                <a:latin typeface="Times New Roman"/>
                <a:cs typeface="Times New Roman"/>
              </a:rPr>
              <a:t>}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1400">
              <a:latin typeface="Times New Roman"/>
              <a:cs typeface="Times New Roman"/>
            </a:endParaRPr>
          </a:p>
          <a:p>
            <a:pPr marL="158750">
              <a:lnSpc>
                <a:spcPct val="100000"/>
              </a:lnSpc>
              <a:spcBef>
                <a:spcPts val="5"/>
              </a:spcBef>
            </a:pPr>
            <a:r>
              <a:rPr sz="1400" b="1" dirty="0">
                <a:latin typeface="Times New Roman"/>
                <a:cs typeface="Times New Roman"/>
              </a:rPr>
              <a:t>public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void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paint(Graphics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spc="-25" dirty="0">
                <a:latin typeface="Times New Roman"/>
                <a:cs typeface="Times New Roman"/>
              </a:rPr>
              <a:t>g)</a:t>
            </a:r>
            <a:endParaRPr sz="1400">
              <a:latin typeface="Times New Roman"/>
              <a:cs typeface="Times New Roman"/>
            </a:endParaRPr>
          </a:p>
          <a:p>
            <a:pPr marL="57150" marR="160020" indent="101600">
              <a:lnSpc>
                <a:spcPct val="116100"/>
              </a:lnSpc>
            </a:pPr>
            <a:r>
              <a:rPr sz="1400" b="1" spc="-50" dirty="0">
                <a:latin typeface="Times New Roman"/>
                <a:cs typeface="Times New Roman"/>
              </a:rPr>
              <a:t>{ </a:t>
            </a:r>
            <a:r>
              <a:rPr sz="1400" b="1" spc="-10" dirty="0">
                <a:latin typeface="Times New Roman"/>
                <a:cs typeface="Times New Roman"/>
              </a:rPr>
              <a:t>g.drawOval(200,50,100,100);</a:t>
            </a:r>
            <a:endParaRPr sz="1400">
              <a:latin typeface="Times New Roman"/>
              <a:cs typeface="Times New Roman"/>
            </a:endParaRPr>
          </a:p>
          <a:p>
            <a:pPr marL="12700" marR="90805" indent="44450">
              <a:lnSpc>
                <a:spcPct val="116100"/>
              </a:lnSpc>
            </a:pPr>
            <a:r>
              <a:rPr sz="1400" b="1" spc="-10" dirty="0">
                <a:latin typeface="Times New Roman"/>
                <a:cs typeface="Times New Roman"/>
              </a:rPr>
              <a:t>g.drawRect(50,150,400,50); g.drawRect(50,y,50,100); g.drawRect(400,y,50,100); g.drawRect(150,200,200,300); g.drawRect(150,500,50,100); g.drawRect(300,500,50,100);</a:t>
            </a:r>
            <a:endParaRPr sz="1400">
              <a:latin typeface="Times New Roman"/>
              <a:cs typeface="Times New Roman"/>
            </a:endParaRPr>
          </a:p>
          <a:p>
            <a:pPr marL="158750">
              <a:lnSpc>
                <a:spcPct val="100000"/>
              </a:lnSpc>
              <a:spcBef>
                <a:spcPts val="1165"/>
              </a:spcBef>
            </a:pPr>
            <a:r>
              <a:rPr sz="1400" b="1" spc="-50" dirty="0">
                <a:latin typeface="Times New Roman"/>
                <a:cs typeface="Times New Roman"/>
              </a:rPr>
              <a:t>}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67012" y="547687"/>
            <a:ext cx="3609974" cy="404812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0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Analog</a:t>
            </a:r>
            <a:r>
              <a:rPr spc="-25" dirty="0"/>
              <a:t> </a:t>
            </a:r>
            <a:r>
              <a:rPr dirty="0"/>
              <a:t>clock</a:t>
            </a:r>
            <a:r>
              <a:rPr spc="-20" dirty="0"/>
              <a:t> </a:t>
            </a:r>
            <a:r>
              <a:rPr dirty="0"/>
              <a:t>in</a:t>
            </a:r>
            <a:r>
              <a:rPr spc="-140" dirty="0"/>
              <a:t> </a:t>
            </a:r>
            <a:r>
              <a:rPr spc="-10" dirty="0"/>
              <a:t>Applet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335666"/>
            <a:ext cx="4427855" cy="3100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import</a:t>
            </a:r>
            <a:r>
              <a:rPr sz="1050" b="1" spc="-5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latin typeface="Verdana"/>
                <a:cs typeface="Verdana"/>
              </a:rPr>
              <a:t>java.applet.*;</a:t>
            </a:r>
            <a:endParaRPr sz="1050">
              <a:latin typeface="Verdana"/>
              <a:cs typeface="Verdana"/>
            </a:endParaRPr>
          </a:p>
          <a:p>
            <a:pPr marL="12700" marR="3071495" algn="just">
              <a:lnSpc>
                <a:spcPct val="202400"/>
              </a:lnSpc>
            </a:pP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import</a:t>
            </a:r>
            <a:r>
              <a:rPr sz="1050" b="1" spc="-5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latin typeface="Verdana"/>
                <a:cs typeface="Verdana"/>
              </a:rPr>
              <a:t>java.awt.*; </a:t>
            </a: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import</a:t>
            </a:r>
            <a:r>
              <a:rPr sz="1050" b="1" spc="-5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latin typeface="Verdana"/>
                <a:cs typeface="Verdana"/>
              </a:rPr>
              <a:t>java.util.*; </a:t>
            </a: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import</a:t>
            </a:r>
            <a:r>
              <a:rPr sz="1050" b="1" spc="-5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latin typeface="Verdana"/>
                <a:cs typeface="Verdana"/>
              </a:rPr>
              <a:t>java.text.*;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Verdana"/>
              <a:cs typeface="Verdana"/>
            </a:endParaRPr>
          </a:p>
          <a:p>
            <a:pPr marL="106045">
              <a:lnSpc>
                <a:spcPct val="100000"/>
              </a:lnSpc>
            </a:pP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050" b="1" spc="-3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050" b="1" spc="-3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MyClock</a:t>
            </a:r>
            <a:r>
              <a:rPr sz="1050" spc="-40" dirty="0">
                <a:latin typeface="Verdana"/>
                <a:cs typeface="Verdana"/>
              </a:rPr>
              <a:t> </a:t>
            </a: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extends</a:t>
            </a:r>
            <a:r>
              <a:rPr sz="1050" b="1" spc="-3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Applet</a:t>
            </a:r>
            <a:r>
              <a:rPr sz="1050" spc="-45" dirty="0">
                <a:latin typeface="Verdana"/>
                <a:cs typeface="Verdana"/>
              </a:rPr>
              <a:t> </a:t>
            </a:r>
            <a:r>
              <a:rPr sz="1050" b="1" spc="-10" dirty="0">
                <a:solidFill>
                  <a:srgbClr val="006699"/>
                </a:solidFill>
                <a:latin typeface="Verdana"/>
                <a:cs typeface="Verdana"/>
              </a:rPr>
              <a:t>implements</a:t>
            </a:r>
            <a:r>
              <a:rPr sz="1050" b="1" spc="-3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Runnable</a:t>
            </a:r>
            <a:r>
              <a:rPr sz="1050" spc="-45" dirty="0">
                <a:latin typeface="Verdana"/>
                <a:cs typeface="Verdana"/>
              </a:rPr>
              <a:t> </a:t>
            </a:r>
            <a:r>
              <a:rPr sz="1050" spc="-50" dirty="0">
                <a:latin typeface="Verdana"/>
                <a:cs typeface="Verdana"/>
              </a:rPr>
              <a:t>{</a:t>
            </a:r>
            <a:endParaRPr sz="1050">
              <a:latin typeface="Verdana"/>
              <a:cs typeface="Verdana"/>
            </a:endParaRPr>
          </a:p>
          <a:p>
            <a:pPr marL="12700" marR="3030220" indent="187325">
              <a:lnSpc>
                <a:spcPct val="202400"/>
              </a:lnSpc>
            </a:pP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int</a:t>
            </a:r>
            <a:r>
              <a:rPr sz="1050" b="1" spc="-3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width,</a:t>
            </a:r>
            <a:r>
              <a:rPr sz="1050" spc="-45" dirty="0">
                <a:latin typeface="Verdana"/>
                <a:cs typeface="Verdana"/>
              </a:rPr>
              <a:t> </a:t>
            </a:r>
            <a:r>
              <a:rPr sz="1050" spc="-10" dirty="0">
                <a:latin typeface="Verdana"/>
                <a:cs typeface="Verdana"/>
              </a:rPr>
              <a:t>height; </a:t>
            </a:r>
            <a:r>
              <a:rPr sz="1050" dirty="0">
                <a:latin typeface="Verdana"/>
                <a:cs typeface="Verdana"/>
              </a:rPr>
              <a:t>Thread</a:t>
            </a:r>
            <a:r>
              <a:rPr sz="1050" spc="-10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t</a:t>
            </a:r>
            <a:r>
              <a:rPr sz="1050" spc="-10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= </a:t>
            </a:r>
            <a:r>
              <a:rPr sz="1050" b="1" spc="-20" dirty="0">
                <a:solidFill>
                  <a:srgbClr val="006699"/>
                </a:solidFill>
                <a:latin typeface="Verdana"/>
                <a:cs typeface="Verdana"/>
              </a:rPr>
              <a:t>null</a:t>
            </a:r>
            <a:r>
              <a:rPr sz="1050" spc="-20" dirty="0">
                <a:latin typeface="Verdana"/>
                <a:cs typeface="Verdana"/>
              </a:rPr>
              <a:t>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153035">
              <a:lnSpc>
                <a:spcPct val="100000"/>
              </a:lnSpc>
            </a:pP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boolean</a:t>
            </a:r>
            <a:r>
              <a:rPr sz="1050" b="1" spc="-7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latin typeface="Verdana"/>
                <a:cs typeface="Verdana"/>
              </a:rPr>
              <a:t>threadSuspended;</a:t>
            </a:r>
            <a:endParaRPr sz="1050">
              <a:latin typeface="Verdana"/>
              <a:cs typeface="Verdana"/>
            </a:endParaRPr>
          </a:p>
          <a:p>
            <a:pPr marL="153035" marR="1736089">
              <a:lnSpc>
                <a:spcPct val="202400"/>
              </a:lnSpc>
            </a:pP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int</a:t>
            </a:r>
            <a:r>
              <a:rPr sz="1050" b="1" spc="-2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hours=</a:t>
            </a:r>
            <a:r>
              <a:rPr sz="1050" dirty="0">
                <a:solidFill>
                  <a:srgbClr val="C00000"/>
                </a:solidFill>
                <a:latin typeface="Verdana"/>
                <a:cs typeface="Verdana"/>
              </a:rPr>
              <a:t>0</a:t>
            </a:r>
            <a:r>
              <a:rPr sz="1050" dirty="0">
                <a:latin typeface="Verdana"/>
                <a:cs typeface="Verdana"/>
              </a:rPr>
              <a:t>,</a:t>
            </a:r>
            <a:r>
              <a:rPr sz="1050" spc="-35" dirty="0">
                <a:latin typeface="Verdana"/>
                <a:cs typeface="Verdana"/>
              </a:rPr>
              <a:t> </a:t>
            </a:r>
            <a:r>
              <a:rPr sz="1050" spc="-10" dirty="0">
                <a:latin typeface="Verdana"/>
                <a:cs typeface="Verdana"/>
              </a:rPr>
              <a:t>minutes=</a:t>
            </a:r>
            <a:r>
              <a:rPr sz="1050" spc="-10" dirty="0">
                <a:solidFill>
                  <a:srgbClr val="C00000"/>
                </a:solidFill>
                <a:latin typeface="Verdana"/>
                <a:cs typeface="Verdana"/>
              </a:rPr>
              <a:t>0</a:t>
            </a:r>
            <a:r>
              <a:rPr sz="1050" spc="-10" dirty="0">
                <a:latin typeface="Verdana"/>
                <a:cs typeface="Verdana"/>
              </a:rPr>
              <a:t>,</a:t>
            </a:r>
            <a:r>
              <a:rPr sz="1050" spc="-35" dirty="0">
                <a:latin typeface="Verdana"/>
                <a:cs typeface="Verdana"/>
              </a:rPr>
              <a:t> </a:t>
            </a:r>
            <a:r>
              <a:rPr sz="1050" spc="-10" dirty="0">
                <a:latin typeface="Verdana"/>
                <a:cs typeface="Verdana"/>
              </a:rPr>
              <a:t>seconds=</a:t>
            </a:r>
            <a:r>
              <a:rPr sz="1050" spc="-10" dirty="0">
                <a:solidFill>
                  <a:srgbClr val="C00000"/>
                </a:solidFill>
                <a:latin typeface="Verdana"/>
                <a:cs typeface="Verdana"/>
              </a:rPr>
              <a:t>0</a:t>
            </a:r>
            <a:r>
              <a:rPr sz="1050" spc="-10" dirty="0">
                <a:latin typeface="Verdana"/>
                <a:cs typeface="Verdana"/>
              </a:rPr>
              <a:t>; </a:t>
            </a:r>
            <a:r>
              <a:rPr sz="1050" dirty="0">
                <a:latin typeface="Verdana"/>
                <a:cs typeface="Verdana"/>
              </a:rPr>
              <a:t>String</a:t>
            </a:r>
            <a:r>
              <a:rPr sz="1050" spc="-10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timeString</a:t>
            </a:r>
            <a:r>
              <a:rPr sz="1050" spc="-10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= </a:t>
            </a:r>
            <a:r>
              <a:rPr sz="1050" spc="-25" dirty="0">
                <a:solidFill>
                  <a:srgbClr val="0000FF"/>
                </a:solidFill>
                <a:latin typeface="Verdana"/>
                <a:cs typeface="Verdana"/>
              </a:rPr>
              <a:t>""</a:t>
            </a:r>
            <a:r>
              <a:rPr sz="1050" spc="-25" dirty="0">
                <a:latin typeface="Verdana"/>
                <a:cs typeface="Verdana"/>
              </a:rPr>
              <a:t>;</a:t>
            </a:r>
            <a:endParaRPr sz="10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1605" y="1335666"/>
            <a:ext cx="2971800" cy="3423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050" b="1" spc="-3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050" b="1" spc="-3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init()</a:t>
            </a:r>
            <a:r>
              <a:rPr sz="1050" spc="-50" dirty="0">
                <a:latin typeface="Verdana"/>
                <a:cs typeface="Verdana"/>
              </a:rPr>
              <a:t> {</a:t>
            </a:r>
            <a:endParaRPr sz="1050">
              <a:latin typeface="Verdana"/>
              <a:cs typeface="Verdana"/>
            </a:endParaRPr>
          </a:p>
          <a:p>
            <a:pPr marL="246379" marR="951230">
              <a:lnSpc>
                <a:spcPct val="202400"/>
              </a:lnSpc>
            </a:pPr>
            <a:r>
              <a:rPr sz="1050" dirty="0">
                <a:latin typeface="Verdana"/>
                <a:cs typeface="Verdana"/>
              </a:rPr>
              <a:t>width</a:t>
            </a:r>
            <a:r>
              <a:rPr sz="1050" spc="-20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=</a:t>
            </a:r>
            <a:r>
              <a:rPr sz="1050" spc="-20" dirty="0">
                <a:latin typeface="Verdana"/>
                <a:cs typeface="Verdana"/>
              </a:rPr>
              <a:t> </a:t>
            </a:r>
            <a:r>
              <a:rPr sz="1050" spc="-10" dirty="0">
                <a:latin typeface="Verdana"/>
                <a:cs typeface="Verdana"/>
              </a:rPr>
              <a:t>getSize().width; </a:t>
            </a:r>
            <a:r>
              <a:rPr sz="1050" dirty="0">
                <a:latin typeface="Verdana"/>
                <a:cs typeface="Verdana"/>
              </a:rPr>
              <a:t>height</a:t>
            </a:r>
            <a:r>
              <a:rPr sz="1050" spc="-10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=</a:t>
            </a:r>
            <a:r>
              <a:rPr sz="1050" spc="-10" dirty="0">
                <a:latin typeface="Verdana"/>
                <a:cs typeface="Verdana"/>
              </a:rPr>
              <a:t> getSize().height;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Verdana"/>
              <a:cs typeface="Verdana"/>
            </a:endParaRPr>
          </a:p>
          <a:p>
            <a:pPr marL="246379">
              <a:lnSpc>
                <a:spcPct val="100000"/>
              </a:lnSpc>
              <a:tabLst>
                <a:tab pos="2399665" algn="l"/>
              </a:tabLst>
            </a:pPr>
            <a:r>
              <a:rPr sz="1050" dirty="0">
                <a:latin typeface="Verdana"/>
                <a:cs typeface="Verdana"/>
              </a:rPr>
              <a:t>setBackground(</a:t>
            </a:r>
            <a:r>
              <a:rPr sz="1050" spc="-40" dirty="0">
                <a:latin typeface="Verdana"/>
                <a:cs typeface="Verdana"/>
              </a:rPr>
              <a:t> </a:t>
            </a:r>
            <a:r>
              <a:rPr sz="1050" spc="-10" dirty="0">
                <a:latin typeface="Verdana"/>
                <a:cs typeface="Verdana"/>
              </a:rPr>
              <a:t>Color.black</a:t>
            </a:r>
            <a:r>
              <a:rPr sz="1050" spc="-35" dirty="0">
                <a:latin typeface="Verdana"/>
                <a:cs typeface="Verdana"/>
              </a:rPr>
              <a:t> </a:t>
            </a:r>
            <a:r>
              <a:rPr sz="1050" spc="-25" dirty="0">
                <a:latin typeface="Verdana"/>
                <a:cs typeface="Verdana"/>
              </a:rPr>
              <a:t>);</a:t>
            </a:r>
            <a:r>
              <a:rPr sz="1050" dirty="0">
                <a:latin typeface="Verdana"/>
                <a:cs typeface="Verdana"/>
              </a:rPr>
              <a:t>	</a:t>
            </a:r>
            <a:r>
              <a:rPr sz="1050" spc="-50" dirty="0">
                <a:latin typeface="Verdana"/>
                <a:cs typeface="Verdana"/>
              </a:rPr>
              <a:t>}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050" b="1" spc="-3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050" b="1" spc="-3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start()</a:t>
            </a:r>
            <a:r>
              <a:rPr sz="1050" spc="-50" dirty="0">
                <a:latin typeface="Verdana"/>
                <a:cs typeface="Verdana"/>
              </a:rPr>
              <a:t> {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247015">
              <a:lnSpc>
                <a:spcPct val="100000"/>
              </a:lnSpc>
            </a:pP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if</a:t>
            </a:r>
            <a:r>
              <a:rPr sz="1050" b="1" spc="-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(</a:t>
            </a:r>
            <a:r>
              <a:rPr sz="1050" spc="-1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t</a:t>
            </a:r>
            <a:r>
              <a:rPr sz="1050" spc="-1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==</a:t>
            </a:r>
            <a:r>
              <a:rPr sz="1050" spc="-10" dirty="0">
                <a:latin typeface="Verdana"/>
                <a:cs typeface="Verdana"/>
              </a:rPr>
              <a:t> </a:t>
            </a: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null </a:t>
            </a:r>
            <a:r>
              <a:rPr sz="1050" dirty="0">
                <a:latin typeface="Verdana"/>
                <a:cs typeface="Verdana"/>
              </a:rPr>
              <a:t>)</a:t>
            </a:r>
            <a:r>
              <a:rPr sz="1050" spc="-15" dirty="0">
                <a:latin typeface="Verdana"/>
                <a:cs typeface="Verdana"/>
              </a:rPr>
              <a:t> </a:t>
            </a:r>
            <a:r>
              <a:rPr sz="1050" spc="-50" dirty="0">
                <a:latin typeface="Verdana"/>
                <a:cs typeface="Verdana"/>
              </a:rPr>
              <a:t>{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386715">
              <a:lnSpc>
                <a:spcPct val="100000"/>
              </a:lnSpc>
            </a:pPr>
            <a:r>
              <a:rPr sz="1050" dirty="0">
                <a:latin typeface="Verdana"/>
                <a:cs typeface="Verdana"/>
              </a:rPr>
              <a:t>t</a:t>
            </a:r>
            <a:r>
              <a:rPr sz="1050" spc="-30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=</a:t>
            </a:r>
            <a:r>
              <a:rPr sz="1050" spc="-15" dirty="0">
                <a:latin typeface="Verdana"/>
                <a:cs typeface="Verdana"/>
              </a:rPr>
              <a:t> </a:t>
            </a: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new</a:t>
            </a:r>
            <a:r>
              <a:rPr sz="1050" b="1" spc="-1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Thread(</a:t>
            </a:r>
            <a:r>
              <a:rPr sz="1050" spc="-20" dirty="0">
                <a:latin typeface="Verdana"/>
                <a:cs typeface="Verdana"/>
              </a:rPr>
              <a:t> </a:t>
            </a: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this</a:t>
            </a:r>
            <a:r>
              <a:rPr sz="1050" b="1" spc="-1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spc="-25" dirty="0">
                <a:latin typeface="Verdana"/>
                <a:cs typeface="Verdana"/>
              </a:rPr>
              <a:t>);</a:t>
            </a:r>
            <a:endParaRPr sz="1050">
              <a:latin typeface="Verdana"/>
              <a:cs typeface="Verdana"/>
            </a:endParaRPr>
          </a:p>
          <a:p>
            <a:pPr marL="386715" marR="5080">
              <a:lnSpc>
                <a:spcPct val="202400"/>
              </a:lnSpc>
            </a:pPr>
            <a:r>
              <a:rPr sz="1050" spc="-10" dirty="0">
                <a:latin typeface="Verdana"/>
                <a:cs typeface="Verdana"/>
              </a:rPr>
              <a:t>t.setPriority(</a:t>
            </a:r>
            <a:r>
              <a:rPr sz="1050" spc="45" dirty="0">
                <a:latin typeface="Verdana"/>
                <a:cs typeface="Verdana"/>
              </a:rPr>
              <a:t> </a:t>
            </a:r>
            <a:r>
              <a:rPr sz="1050" spc="-10" dirty="0">
                <a:latin typeface="Verdana"/>
                <a:cs typeface="Verdana"/>
              </a:rPr>
              <a:t>Thread.MIN_PRIORITY</a:t>
            </a:r>
            <a:r>
              <a:rPr sz="1050" spc="50" dirty="0">
                <a:latin typeface="Verdana"/>
                <a:cs typeface="Verdana"/>
              </a:rPr>
              <a:t> </a:t>
            </a:r>
            <a:r>
              <a:rPr sz="1050" spc="-25" dirty="0">
                <a:latin typeface="Verdana"/>
                <a:cs typeface="Verdana"/>
              </a:rPr>
              <a:t>); </a:t>
            </a:r>
            <a:r>
              <a:rPr sz="1050" dirty="0">
                <a:latin typeface="Verdana"/>
                <a:cs typeface="Verdana"/>
              </a:rPr>
              <a:t>threadSuspended</a:t>
            </a:r>
            <a:r>
              <a:rPr sz="1050" spc="-10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= </a:t>
            </a:r>
            <a:r>
              <a:rPr sz="1050" b="1" spc="-10" dirty="0">
                <a:solidFill>
                  <a:srgbClr val="006699"/>
                </a:solidFill>
                <a:latin typeface="Verdana"/>
                <a:cs typeface="Verdana"/>
              </a:rPr>
              <a:t>false</a:t>
            </a:r>
            <a:r>
              <a:rPr sz="1050" spc="-10" dirty="0">
                <a:latin typeface="Verdana"/>
                <a:cs typeface="Verdana"/>
              </a:rPr>
              <a:t>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Verdana"/>
              <a:cs typeface="Verdana"/>
            </a:endParaRPr>
          </a:p>
          <a:p>
            <a:pPr marL="386715">
              <a:lnSpc>
                <a:spcPct val="100000"/>
              </a:lnSpc>
              <a:spcBef>
                <a:spcPts val="5"/>
              </a:spcBef>
            </a:pPr>
            <a:r>
              <a:rPr sz="1050" spc="-10" dirty="0">
                <a:latin typeface="Verdana"/>
                <a:cs typeface="Verdana"/>
              </a:rPr>
              <a:t>t.start();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Verdana"/>
              <a:cs typeface="Verdana"/>
            </a:endParaRPr>
          </a:p>
          <a:p>
            <a:pPr marL="246379">
              <a:lnSpc>
                <a:spcPct val="100000"/>
              </a:lnSpc>
            </a:pPr>
            <a:r>
              <a:rPr sz="1050" spc="-50" dirty="0">
                <a:latin typeface="Verdana"/>
                <a:cs typeface="Verdana"/>
              </a:rPr>
              <a:t>}</a:t>
            </a:r>
            <a:endParaRPr sz="10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4725" y="1335666"/>
            <a:ext cx="2384425" cy="3100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else</a:t>
            </a:r>
            <a:r>
              <a:rPr sz="1050" b="1" spc="-3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spc="-50" dirty="0">
                <a:latin typeface="Verdana"/>
                <a:cs typeface="Verdana"/>
              </a:rPr>
              <a:t>{</a:t>
            </a:r>
            <a:endParaRPr sz="1050">
              <a:latin typeface="Verdana"/>
              <a:cs typeface="Verdana"/>
            </a:endParaRPr>
          </a:p>
          <a:p>
            <a:pPr marL="574040" marR="5080" indent="-140335">
              <a:lnSpc>
                <a:spcPct val="202400"/>
              </a:lnSpc>
            </a:pP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if</a:t>
            </a:r>
            <a:r>
              <a:rPr sz="1050" b="1" spc="-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(</a:t>
            </a:r>
            <a:r>
              <a:rPr sz="1050" spc="-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threadSuspended</a:t>
            </a:r>
            <a:r>
              <a:rPr sz="1050" spc="-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)</a:t>
            </a:r>
            <a:r>
              <a:rPr sz="1050" spc="-5" dirty="0">
                <a:latin typeface="Verdana"/>
                <a:cs typeface="Verdana"/>
              </a:rPr>
              <a:t> </a:t>
            </a:r>
            <a:r>
              <a:rPr sz="1050" spc="-50" dirty="0">
                <a:latin typeface="Verdana"/>
                <a:cs typeface="Verdana"/>
              </a:rPr>
              <a:t>{ </a:t>
            </a:r>
            <a:r>
              <a:rPr sz="1050" dirty="0">
                <a:latin typeface="Verdana"/>
                <a:cs typeface="Verdana"/>
              </a:rPr>
              <a:t>threadSuspended</a:t>
            </a:r>
            <a:r>
              <a:rPr sz="1050" spc="-10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= </a:t>
            </a:r>
            <a:r>
              <a:rPr sz="1050" b="1" spc="-10" dirty="0">
                <a:solidFill>
                  <a:srgbClr val="006699"/>
                </a:solidFill>
                <a:latin typeface="Verdana"/>
                <a:cs typeface="Verdana"/>
              </a:rPr>
              <a:t>false</a:t>
            </a:r>
            <a:r>
              <a:rPr sz="1050" spc="-10" dirty="0">
                <a:latin typeface="Verdana"/>
                <a:cs typeface="Verdana"/>
              </a:rPr>
              <a:t>; </a:t>
            </a:r>
            <a:r>
              <a:rPr sz="1050" b="1" spc="-10" dirty="0">
                <a:solidFill>
                  <a:srgbClr val="006699"/>
                </a:solidFill>
                <a:latin typeface="Verdana"/>
                <a:cs typeface="Verdana"/>
              </a:rPr>
              <a:t>synchronized</a:t>
            </a:r>
            <a:r>
              <a:rPr sz="1050" spc="-10" dirty="0">
                <a:latin typeface="Verdana"/>
                <a:cs typeface="Verdana"/>
              </a:rPr>
              <a:t>(</a:t>
            </a:r>
            <a:r>
              <a:rPr sz="1050" spc="-15" dirty="0">
                <a:latin typeface="Verdana"/>
                <a:cs typeface="Verdana"/>
              </a:rPr>
              <a:t> </a:t>
            </a: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this</a:t>
            </a:r>
            <a:r>
              <a:rPr sz="1050" b="1" spc="-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)</a:t>
            </a:r>
            <a:r>
              <a:rPr sz="1050" spc="-20" dirty="0">
                <a:latin typeface="Verdana"/>
                <a:cs typeface="Verdana"/>
              </a:rPr>
              <a:t> </a:t>
            </a:r>
            <a:r>
              <a:rPr sz="1050" spc="-50" dirty="0">
                <a:latin typeface="Verdana"/>
                <a:cs typeface="Verdana"/>
              </a:rPr>
              <a:t>{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Verdana"/>
              <a:cs typeface="Verdana"/>
            </a:endParaRPr>
          </a:p>
          <a:p>
            <a:pPr marL="714375">
              <a:lnSpc>
                <a:spcPct val="100000"/>
              </a:lnSpc>
              <a:tabLst>
                <a:tab pos="1416685" algn="l"/>
              </a:tabLst>
            </a:pPr>
            <a:r>
              <a:rPr sz="1050" spc="-10" dirty="0">
                <a:latin typeface="Verdana"/>
                <a:cs typeface="Verdana"/>
              </a:rPr>
              <a:t>notify();</a:t>
            </a:r>
            <a:r>
              <a:rPr sz="1050" dirty="0">
                <a:latin typeface="Verdana"/>
                <a:cs typeface="Verdana"/>
              </a:rPr>
              <a:t>	</a:t>
            </a:r>
            <a:r>
              <a:rPr sz="1050" spc="-50" dirty="0">
                <a:latin typeface="Verdana"/>
                <a:cs typeface="Verdana"/>
              </a:rPr>
              <a:t>}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433705">
              <a:lnSpc>
                <a:spcPct val="100000"/>
              </a:lnSpc>
              <a:tabLst>
                <a:tab pos="658495" algn="l"/>
                <a:tab pos="883285" algn="l"/>
              </a:tabLst>
            </a:pPr>
            <a:r>
              <a:rPr sz="1050" spc="-50" dirty="0">
                <a:latin typeface="Verdana"/>
                <a:cs typeface="Verdana"/>
              </a:rPr>
              <a:t>}</a:t>
            </a:r>
            <a:r>
              <a:rPr sz="1050" dirty="0">
                <a:latin typeface="Verdana"/>
                <a:cs typeface="Verdana"/>
              </a:rPr>
              <a:t>	</a:t>
            </a:r>
            <a:r>
              <a:rPr sz="1050" spc="-50" dirty="0">
                <a:latin typeface="Verdana"/>
                <a:cs typeface="Verdana"/>
              </a:rPr>
              <a:t>}</a:t>
            </a:r>
            <a:r>
              <a:rPr sz="1050" dirty="0">
                <a:latin typeface="Verdana"/>
                <a:cs typeface="Verdana"/>
              </a:rPr>
              <a:t>	</a:t>
            </a:r>
            <a:r>
              <a:rPr sz="1050" spc="-50" dirty="0">
                <a:latin typeface="Verdana"/>
                <a:cs typeface="Verdana"/>
              </a:rPr>
              <a:t>}</a:t>
            </a:r>
            <a:endParaRPr sz="1050">
              <a:latin typeface="Verdana"/>
              <a:cs typeface="Verdana"/>
            </a:endParaRPr>
          </a:p>
          <a:p>
            <a:pPr marL="293370" marR="334010" indent="-281305">
              <a:lnSpc>
                <a:spcPct val="202400"/>
              </a:lnSpc>
            </a:pP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050" b="1" spc="-3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050" b="1" spc="-3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stop()</a:t>
            </a:r>
            <a:r>
              <a:rPr sz="1050" spc="-50" dirty="0">
                <a:latin typeface="Verdana"/>
                <a:cs typeface="Verdana"/>
              </a:rPr>
              <a:t> { </a:t>
            </a:r>
            <a:r>
              <a:rPr sz="1050" dirty="0">
                <a:latin typeface="Verdana"/>
                <a:cs typeface="Verdana"/>
              </a:rPr>
              <a:t>threadSuspended</a:t>
            </a:r>
            <a:r>
              <a:rPr sz="1050" spc="-10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=</a:t>
            </a:r>
            <a:r>
              <a:rPr sz="1050" spc="-5" dirty="0">
                <a:latin typeface="Verdana"/>
                <a:cs typeface="Verdana"/>
              </a:rPr>
              <a:t> </a:t>
            </a:r>
            <a:r>
              <a:rPr sz="1050" b="1" spc="-10" dirty="0">
                <a:solidFill>
                  <a:srgbClr val="006699"/>
                </a:solidFill>
                <a:latin typeface="Verdana"/>
                <a:cs typeface="Verdana"/>
              </a:rPr>
              <a:t>true</a:t>
            </a:r>
            <a:r>
              <a:rPr sz="1050" spc="-10" dirty="0">
                <a:latin typeface="Verdana"/>
                <a:cs typeface="Verdana"/>
              </a:rPr>
              <a:t>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153035">
              <a:lnSpc>
                <a:spcPct val="100000"/>
              </a:lnSpc>
            </a:pPr>
            <a:r>
              <a:rPr sz="1050" spc="-50" dirty="0">
                <a:latin typeface="Verdana"/>
                <a:cs typeface="Verdana"/>
              </a:rPr>
              <a:t>}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153035">
              <a:lnSpc>
                <a:spcPct val="100000"/>
              </a:lnSpc>
            </a:pP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050" b="1" spc="-3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050" b="1" spc="-3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run()</a:t>
            </a:r>
            <a:r>
              <a:rPr sz="1050" spc="-45" dirty="0">
                <a:latin typeface="Verdana"/>
                <a:cs typeface="Verdana"/>
              </a:rPr>
              <a:t> </a:t>
            </a:r>
            <a:r>
              <a:rPr sz="1050" spc="-50" dirty="0">
                <a:latin typeface="Verdana"/>
                <a:cs typeface="Verdana"/>
              </a:rPr>
              <a:t>{</a:t>
            </a:r>
            <a:endParaRPr sz="10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1530" y="1335666"/>
            <a:ext cx="4916170" cy="2776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latin typeface="Verdana"/>
                <a:cs typeface="Verdana"/>
              </a:rPr>
              <a:t>Calendar</a:t>
            </a:r>
            <a:r>
              <a:rPr sz="1050" spc="-2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cal</a:t>
            </a:r>
            <a:r>
              <a:rPr sz="1050" spc="-2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=</a:t>
            </a:r>
            <a:r>
              <a:rPr sz="1050" spc="-20" dirty="0">
                <a:latin typeface="Verdana"/>
                <a:cs typeface="Verdana"/>
              </a:rPr>
              <a:t> </a:t>
            </a:r>
            <a:r>
              <a:rPr sz="1050" spc="-10" dirty="0">
                <a:latin typeface="Verdana"/>
                <a:cs typeface="Verdana"/>
              </a:rPr>
              <a:t>Calendar.getInstance();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Verdana"/>
              <a:cs typeface="Verdana"/>
            </a:endParaRPr>
          </a:p>
          <a:p>
            <a:pPr marL="527050">
              <a:lnSpc>
                <a:spcPct val="100000"/>
              </a:lnSpc>
            </a:pPr>
            <a:r>
              <a:rPr sz="1050" dirty="0">
                <a:latin typeface="Verdana"/>
                <a:cs typeface="Verdana"/>
              </a:rPr>
              <a:t>hours</a:t>
            </a:r>
            <a:r>
              <a:rPr sz="1050" spc="-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= cal.get(</a:t>
            </a:r>
            <a:r>
              <a:rPr sz="1050" spc="-5" dirty="0">
                <a:latin typeface="Verdana"/>
                <a:cs typeface="Verdana"/>
              </a:rPr>
              <a:t> </a:t>
            </a:r>
            <a:r>
              <a:rPr sz="1050" spc="-10" dirty="0">
                <a:latin typeface="Verdana"/>
                <a:cs typeface="Verdana"/>
              </a:rPr>
              <a:t>Calendar.HOUR_OF_DAY</a:t>
            </a:r>
            <a:r>
              <a:rPr sz="1050" dirty="0">
                <a:latin typeface="Verdana"/>
                <a:cs typeface="Verdana"/>
              </a:rPr>
              <a:t> </a:t>
            </a:r>
            <a:r>
              <a:rPr sz="1050" spc="-25" dirty="0">
                <a:latin typeface="Verdana"/>
                <a:cs typeface="Verdana"/>
              </a:rPr>
              <a:t>);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528320">
              <a:lnSpc>
                <a:spcPct val="100000"/>
              </a:lnSpc>
            </a:pP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if</a:t>
            </a:r>
            <a:r>
              <a:rPr sz="1050" b="1" spc="-1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(</a:t>
            </a:r>
            <a:r>
              <a:rPr sz="1050" spc="-20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hours</a:t>
            </a:r>
            <a:r>
              <a:rPr sz="1050" spc="-20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&gt;</a:t>
            </a:r>
            <a:r>
              <a:rPr sz="1050" spc="-10" dirty="0"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C00000"/>
                </a:solidFill>
                <a:latin typeface="Verdana"/>
                <a:cs typeface="Verdana"/>
              </a:rPr>
              <a:t>12</a:t>
            </a:r>
            <a:r>
              <a:rPr sz="1050" spc="-1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)</a:t>
            </a:r>
            <a:r>
              <a:rPr sz="1050" spc="-20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hours</a:t>
            </a:r>
            <a:r>
              <a:rPr sz="1050" spc="-25" dirty="0">
                <a:latin typeface="Verdana"/>
                <a:cs typeface="Verdana"/>
              </a:rPr>
              <a:t> </a:t>
            </a:r>
            <a:r>
              <a:rPr sz="1050" spc="-10" dirty="0">
                <a:latin typeface="Verdana"/>
                <a:cs typeface="Verdana"/>
              </a:rPr>
              <a:t>-</a:t>
            </a:r>
            <a:r>
              <a:rPr sz="1050" dirty="0">
                <a:latin typeface="Verdana"/>
                <a:cs typeface="Verdana"/>
              </a:rPr>
              <a:t>=</a:t>
            </a:r>
            <a:r>
              <a:rPr sz="1050" spc="-10" dirty="0">
                <a:latin typeface="Verdana"/>
                <a:cs typeface="Verdana"/>
              </a:rPr>
              <a:t> </a:t>
            </a:r>
            <a:r>
              <a:rPr sz="1050" spc="-25" dirty="0">
                <a:solidFill>
                  <a:srgbClr val="C00000"/>
                </a:solidFill>
                <a:latin typeface="Verdana"/>
                <a:cs typeface="Verdana"/>
              </a:rPr>
              <a:t>12</a:t>
            </a:r>
            <a:r>
              <a:rPr sz="1050" spc="-25" dirty="0">
                <a:latin typeface="Verdana"/>
                <a:cs typeface="Verdana"/>
              </a:rPr>
              <a:t>;</a:t>
            </a:r>
            <a:endParaRPr sz="1050">
              <a:latin typeface="Verdana"/>
              <a:cs typeface="Verdana"/>
            </a:endParaRPr>
          </a:p>
          <a:p>
            <a:pPr marL="527050" marR="1700530">
              <a:lnSpc>
                <a:spcPct val="202400"/>
              </a:lnSpc>
            </a:pPr>
            <a:r>
              <a:rPr sz="1050" dirty="0">
                <a:latin typeface="Verdana"/>
                <a:cs typeface="Verdana"/>
              </a:rPr>
              <a:t>minutes</a:t>
            </a:r>
            <a:r>
              <a:rPr sz="1050" spc="-60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=</a:t>
            </a:r>
            <a:r>
              <a:rPr sz="1050" spc="-50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cal.get(</a:t>
            </a:r>
            <a:r>
              <a:rPr sz="1050" spc="-50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Calendar.MINUTE</a:t>
            </a:r>
            <a:r>
              <a:rPr sz="1050" spc="-50" dirty="0">
                <a:latin typeface="Verdana"/>
                <a:cs typeface="Verdana"/>
              </a:rPr>
              <a:t> </a:t>
            </a:r>
            <a:r>
              <a:rPr sz="1050" spc="-25" dirty="0">
                <a:latin typeface="Verdana"/>
                <a:cs typeface="Verdana"/>
              </a:rPr>
              <a:t>); </a:t>
            </a:r>
            <a:r>
              <a:rPr sz="1050" dirty="0">
                <a:latin typeface="Verdana"/>
                <a:cs typeface="Verdana"/>
              </a:rPr>
              <a:t>seconds</a:t>
            </a:r>
            <a:r>
              <a:rPr sz="1050" spc="-5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=</a:t>
            </a:r>
            <a:r>
              <a:rPr sz="1050" spc="-50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cal.get(</a:t>
            </a:r>
            <a:r>
              <a:rPr sz="1050" spc="-50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Calendar.SECOND</a:t>
            </a:r>
            <a:r>
              <a:rPr sz="1050" spc="-55" dirty="0">
                <a:latin typeface="Verdana"/>
                <a:cs typeface="Verdana"/>
              </a:rPr>
              <a:t> </a:t>
            </a:r>
            <a:r>
              <a:rPr sz="1050" spc="-25" dirty="0">
                <a:latin typeface="Verdana"/>
                <a:cs typeface="Verdana"/>
              </a:rPr>
              <a:t>);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50" dirty="0">
                <a:latin typeface="Verdana"/>
                <a:cs typeface="Verdana"/>
              </a:rPr>
              <a:t>SimpleDateFormat</a:t>
            </a:r>
            <a:r>
              <a:rPr sz="1050" spc="-5" dirty="0">
                <a:latin typeface="Verdana"/>
                <a:cs typeface="Verdana"/>
              </a:rPr>
              <a:t> </a:t>
            </a:r>
            <a:r>
              <a:rPr sz="1050" spc="-10" dirty="0">
                <a:latin typeface="Verdana"/>
                <a:cs typeface="Verdana"/>
              </a:rPr>
              <a:t>formatter</a:t>
            </a:r>
            <a:endParaRPr sz="1050">
              <a:latin typeface="Verdana"/>
              <a:cs typeface="Verdana"/>
            </a:endParaRPr>
          </a:p>
          <a:p>
            <a:pPr marL="527050" marR="5080" indent="140335">
              <a:lnSpc>
                <a:spcPct val="202400"/>
              </a:lnSpc>
            </a:pPr>
            <a:r>
              <a:rPr sz="1050" dirty="0">
                <a:latin typeface="Verdana"/>
                <a:cs typeface="Verdana"/>
              </a:rPr>
              <a:t>=</a:t>
            </a:r>
            <a:r>
              <a:rPr sz="1050" spc="-5" dirty="0">
                <a:latin typeface="Verdana"/>
                <a:cs typeface="Verdana"/>
              </a:rPr>
              <a:t> </a:t>
            </a: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new</a:t>
            </a:r>
            <a:r>
              <a:rPr sz="1050" b="1" spc="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SimpleDateFormat(</a:t>
            </a:r>
            <a:r>
              <a:rPr sz="1050" spc="-5" dirty="0"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0000FF"/>
                </a:solidFill>
                <a:latin typeface="Verdana"/>
                <a:cs typeface="Verdana"/>
              </a:rPr>
              <a:t>"hh:mm:ss"</a:t>
            </a:r>
            <a:r>
              <a:rPr sz="1050" spc="-10" dirty="0">
                <a:latin typeface="Verdana"/>
                <a:cs typeface="Verdana"/>
              </a:rPr>
              <a:t>, Locale.getDefault() </a:t>
            </a:r>
            <a:r>
              <a:rPr sz="1050" spc="-25" dirty="0">
                <a:latin typeface="Verdana"/>
                <a:cs typeface="Verdana"/>
              </a:rPr>
              <a:t>); </a:t>
            </a:r>
            <a:r>
              <a:rPr sz="1050" dirty="0">
                <a:latin typeface="Verdana"/>
                <a:cs typeface="Verdana"/>
              </a:rPr>
              <a:t>Date</a:t>
            </a:r>
            <a:r>
              <a:rPr sz="1050" spc="-20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date</a:t>
            </a:r>
            <a:r>
              <a:rPr sz="1050" spc="-20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=</a:t>
            </a:r>
            <a:r>
              <a:rPr sz="1050" spc="-15" dirty="0">
                <a:latin typeface="Verdana"/>
                <a:cs typeface="Verdana"/>
              </a:rPr>
              <a:t> </a:t>
            </a:r>
            <a:r>
              <a:rPr sz="1050" spc="-10" dirty="0">
                <a:latin typeface="Verdana"/>
                <a:cs typeface="Verdana"/>
              </a:rPr>
              <a:t>cal.getTime();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527050">
              <a:lnSpc>
                <a:spcPct val="100000"/>
              </a:lnSpc>
            </a:pPr>
            <a:r>
              <a:rPr sz="1050" dirty="0">
                <a:latin typeface="Verdana"/>
                <a:cs typeface="Verdana"/>
              </a:rPr>
              <a:t>timeString</a:t>
            </a:r>
            <a:r>
              <a:rPr sz="1050" spc="-1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=</a:t>
            </a:r>
            <a:r>
              <a:rPr sz="1050" spc="-10" dirty="0">
                <a:latin typeface="Verdana"/>
                <a:cs typeface="Verdana"/>
              </a:rPr>
              <a:t> formatter.format(</a:t>
            </a:r>
            <a:r>
              <a:rPr sz="1050" spc="-1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date</a:t>
            </a:r>
            <a:r>
              <a:rPr sz="1050" spc="-10" dirty="0">
                <a:latin typeface="Verdana"/>
                <a:cs typeface="Verdana"/>
              </a:rPr>
              <a:t> </a:t>
            </a:r>
            <a:r>
              <a:rPr sz="1050" spc="-25" dirty="0">
                <a:latin typeface="Verdana"/>
                <a:cs typeface="Verdana"/>
              </a:rPr>
              <a:t>);</a:t>
            </a:r>
            <a:endParaRPr sz="10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1605" y="1335666"/>
            <a:ext cx="4027804" cy="3423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008200"/>
                </a:solidFill>
                <a:latin typeface="Verdana"/>
                <a:cs typeface="Verdana"/>
              </a:rPr>
              <a:t>//</a:t>
            </a:r>
            <a:r>
              <a:rPr sz="1050" spc="-20" dirty="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008200"/>
                </a:solidFill>
                <a:latin typeface="Verdana"/>
                <a:cs typeface="Verdana"/>
              </a:rPr>
              <a:t>Now</a:t>
            </a:r>
            <a:r>
              <a:rPr sz="1050" spc="-20" dirty="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008200"/>
                </a:solidFill>
                <a:latin typeface="Verdana"/>
                <a:cs typeface="Verdana"/>
              </a:rPr>
              <a:t>the</a:t>
            </a:r>
            <a:r>
              <a:rPr sz="1050" spc="-20" dirty="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008200"/>
                </a:solidFill>
                <a:latin typeface="Verdana"/>
                <a:cs typeface="Verdana"/>
              </a:rPr>
              <a:t>thread</a:t>
            </a:r>
            <a:r>
              <a:rPr sz="1050" spc="-20" dirty="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008200"/>
                </a:solidFill>
                <a:latin typeface="Verdana"/>
                <a:cs typeface="Verdana"/>
              </a:rPr>
              <a:t>checks</a:t>
            </a:r>
            <a:r>
              <a:rPr sz="1050" spc="-15" dirty="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008200"/>
                </a:solidFill>
                <a:latin typeface="Verdana"/>
                <a:cs typeface="Verdana"/>
              </a:rPr>
              <a:t>to</a:t>
            </a:r>
            <a:r>
              <a:rPr sz="1050" spc="-20" dirty="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008200"/>
                </a:solidFill>
                <a:latin typeface="Verdana"/>
                <a:cs typeface="Verdana"/>
              </a:rPr>
              <a:t>see</a:t>
            </a:r>
            <a:r>
              <a:rPr sz="1050" spc="-20" dirty="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008200"/>
                </a:solidFill>
                <a:latin typeface="Verdana"/>
                <a:cs typeface="Verdana"/>
              </a:rPr>
              <a:t>if</a:t>
            </a:r>
            <a:r>
              <a:rPr sz="1050" spc="-20" dirty="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008200"/>
                </a:solidFill>
                <a:latin typeface="Verdana"/>
                <a:cs typeface="Verdana"/>
              </a:rPr>
              <a:t>it</a:t>
            </a:r>
            <a:r>
              <a:rPr sz="1050" spc="-20" dirty="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008200"/>
                </a:solidFill>
                <a:latin typeface="Verdana"/>
                <a:cs typeface="Verdana"/>
              </a:rPr>
              <a:t>should</a:t>
            </a:r>
            <a:r>
              <a:rPr sz="1050" spc="-15" dirty="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008200"/>
                </a:solidFill>
                <a:latin typeface="Verdana"/>
                <a:cs typeface="Verdana"/>
              </a:rPr>
              <a:t>suspend</a:t>
            </a:r>
            <a:r>
              <a:rPr sz="1050" spc="-20" dirty="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008200"/>
                </a:solidFill>
                <a:latin typeface="Verdana"/>
                <a:cs typeface="Verdana"/>
              </a:rPr>
              <a:t>itself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Verdana"/>
              <a:cs typeface="Verdana"/>
            </a:endParaRPr>
          </a:p>
          <a:p>
            <a:pPr marL="528320">
              <a:lnSpc>
                <a:spcPct val="100000"/>
              </a:lnSpc>
            </a:pP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if</a:t>
            </a:r>
            <a:r>
              <a:rPr sz="1050" b="1" spc="-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(</a:t>
            </a:r>
            <a:r>
              <a:rPr sz="1050" spc="-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threadSuspended</a:t>
            </a:r>
            <a:r>
              <a:rPr sz="1050" spc="-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)</a:t>
            </a:r>
            <a:r>
              <a:rPr sz="1050" spc="-5" dirty="0">
                <a:latin typeface="Verdana"/>
                <a:cs typeface="Verdana"/>
              </a:rPr>
              <a:t> </a:t>
            </a:r>
            <a:r>
              <a:rPr sz="1050" spc="-50" dirty="0">
                <a:latin typeface="Verdana"/>
                <a:cs typeface="Verdana"/>
              </a:rPr>
              <a:t>{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668655">
              <a:lnSpc>
                <a:spcPct val="100000"/>
              </a:lnSpc>
            </a:pPr>
            <a:r>
              <a:rPr sz="1050" b="1" spc="-10" dirty="0">
                <a:solidFill>
                  <a:srgbClr val="006699"/>
                </a:solidFill>
                <a:latin typeface="Verdana"/>
                <a:cs typeface="Verdana"/>
              </a:rPr>
              <a:t>synchronized</a:t>
            </a:r>
            <a:r>
              <a:rPr sz="1050" spc="-10" dirty="0">
                <a:latin typeface="Verdana"/>
                <a:cs typeface="Verdana"/>
              </a:rPr>
              <a:t>(</a:t>
            </a:r>
            <a:r>
              <a:rPr sz="1050" spc="-15" dirty="0">
                <a:latin typeface="Verdana"/>
                <a:cs typeface="Verdana"/>
              </a:rPr>
              <a:t> </a:t>
            </a: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this</a:t>
            </a:r>
            <a:r>
              <a:rPr sz="1050" b="1" spc="-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)</a:t>
            </a:r>
            <a:r>
              <a:rPr sz="1050" spc="-20" dirty="0">
                <a:latin typeface="Verdana"/>
                <a:cs typeface="Verdana"/>
              </a:rPr>
              <a:t> </a:t>
            </a:r>
            <a:r>
              <a:rPr sz="1050" spc="-50" dirty="0">
                <a:latin typeface="Verdana"/>
                <a:cs typeface="Verdana"/>
              </a:rPr>
              <a:t>{</a:t>
            </a:r>
            <a:endParaRPr sz="1050">
              <a:latin typeface="Verdana"/>
              <a:cs typeface="Verdana"/>
            </a:endParaRPr>
          </a:p>
          <a:p>
            <a:pPr marL="948690" marR="1237615" indent="-139065">
              <a:lnSpc>
                <a:spcPct val="202400"/>
              </a:lnSpc>
            </a:pP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while</a:t>
            </a:r>
            <a:r>
              <a:rPr sz="1050" b="1" spc="-1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(</a:t>
            </a:r>
            <a:r>
              <a:rPr sz="1050" spc="-20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threadSuspended</a:t>
            </a:r>
            <a:r>
              <a:rPr sz="1050" spc="-1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)</a:t>
            </a:r>
            <a:r>
              <a:rPr sz="1050" spc="-20" dirty="0">
                <a:latin typeface="Verdana"/>
                <a:cs typeface="Verdana"/>
              </a:rPr>
              <a:t> </a:t>
            </a:r>
            <a:r>
              <a:rPr sz="1050" spc="-50" dirty="0">
                <a:latin typeface="Verdana"/>
                <a:cs typeface="Verdana"/>
              </a:rPr>
              <a:t>{ </a:t>
            </a:r>
            <a:r>
              <a:rPr sz="1050" spc="-10" dirty="0">
                <a:latin typeface="Verdana"/>
                <a:cs typeface="Verdana"/>
              </a:rPr>
              <a:t>wait();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807720">
              <a:lnSpc>
                <a:spcPct val="100000"/>
              </a:lnSpc>
              <a:tabLst>
                <a:tab pos="1173480" algn="l"/>
                <a:tab pos="1398270" algn="l"/>
              </a:tabLst>
            </a:pPr>
            <a:r>
              <a:rPr sz="1050" spc="-50" dirty="0">
                <a:latin typeface="Verdana"/>
                <a:cs typeface="Verdana"/>
              </a:rPr>
              <a:t>}</a:t>
            </a:r>
            <a:r>
              <a:rPr sz="1050" dirty="0">
                <a:latin typeface="Verdana"/>
                <a:cs typeface="Verdana"/>
              </a:rPr>
              <a:t>	</a:t>
            </a:r>
            <a:r>
              <a:rPr sz="1050" spc="-50" dirty="0">
                <a:latin typeface="Verdana"/>
                <a:cs typeface="Verdana"/>
              </a:rPr>
              <a:t>}</a:t>
            </a:r>
            <a:r>
              <a:rPr sz="1050" dirty="0">
                <a:latin typeface="Verdana"/>
                <a:cs typeface="Verdana"/>
              </a:rPr>
              <a:t>	</a:t>
            </a:r>
            <a:r>
              <a:rPr sz="1050" spc="-50" dirty="0">
                <a:latin typeface="Verdana"/>
                <a:cs typeface="Verdana"/>
              </a:rPr>
              <a:t>}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527050">
              <a:lnSpc>
                <a:spcPct val="100000"/>
              </a:lnSpc>
            </a:pPr>
            <a:r>
              <a:rPr sz="1050" spc="-10" dirty="0">
                <a:latin typeface="Verdana"/>
                <a:cs typeface="Verdana"/>
              </a:rPr>
              <a:t>repaint();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Verdana"/>
              <a:cs typeface="Verdana"/>
            </a:endParaRPr>
          </a:p>
          <a:p>
            <a:pPr marL="527050">
              <a:lnSpc>
                <a:spcPct val="100000"/>
              </a:lnSpc>
              <a:spcBef>
                <a:spcPts val="5"/>
              </a:spcBef>
            </a:pPr>
            <a:r>
              <a:rPr sz="1050" dirty="0">
                <a:latin typeface="Verdana"/>
                <a:cs typeface="Verdana"/>
              </a:rPr>
              <a:t>t.sleep(</a:t>
            </a:r>
            <a:r>
              <a:rPr sz="1050" spc="-20" dirty="0"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C00000"/>
                </a:solidFill>
                <a:latin typeface="Verdana"/>
                <a:cs typeface="Verdana"/>
              </a:rPr>
              <a:t>1000</a:t>
            </a:r>
            <a:r>
              <a:rPr sz="1050" spc="-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);</a:t>
            </a:r>
            <a:r>
              <a:rPr sz="1050" spc="335" dirty="0"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008200"/>
                </a:solidFill>
                <a:latin typeface="Verdana"/>
                <a:cs typeface="Verdana"/>
              </a:rPr>
              <a:t>//</a:t>
            </a:r>
            <a:r>
              <a:rPr sz="1050" spc="-25" dirty="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008200"/>
                </a:solidFill>
                <a:latin typeface="Verdana"/>
                <a:cs typeface="Verdana"/>
              </a:rPr>
              <a:t>interval</a:t>
            </a:r>
            <a:r>
              <a:rPr sz="1050" spc="-20" dirty="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008200"/>
                </a:solidFill>
                <a:latin typeface="Verdana"/>
                <a:cs typeface="Verdana"/>
              </a:rPr>
              <a:t>specified</a:t>
            </a:r>
            <a:r>
              <a:rPr sz="1050" spc="-25" dirty="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008200"/>
                </a:solidFill>
                <a:latin typeface="Verdana"/>
                <a:cs typeface="Verdana"/>
              </a:rPr>
              <a:t>in</a:t>
            </a:r>
            <a:r>
              <a:rPr sz="1050" spc="-25" dirty="0">
                <a:solidFill>
                  <a:srgbClr val="008200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008200"/>
                </a:solidFill>
                <a:latin typeface="Verdana"/>
                <a:cs typeface="Verdana"/>
              </a:rPr>
              <a:t>milliseconds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Verdana"/>
              <a:cs typeface="Verdana"/>
            </a:endParaRPr>
          </a:p>
          <a:p>
            <a:pPr marL="386715">
              <a:lnSpc>
                <a:spcPct val="100000"/>
              </a:lnSpc>
              <a:tabLst>
                <a:tab pos="658495" algn="l"/>
              </a:tabLst>
            </a:pPr>
            <a:r>
              <a:rPr sz="1050" spc="-50" dirty="0">
                <a:latin typeface="Verdana"/>
                <a:cs typeface="Verdana"/>
              </a:rPr>
              <a:t>}</a:t>
            </a:r>
            <a:r>
              <a:rPr sz="1050" dirty="0">
                <a:latin typeface="Verdana"/>
                <a:cs typeface="Verdana"/>
              </a:rPr>
              <a:t>	</a:t>
            </a:r>
            <a:r>
              <a:rPr sz="1050" spc="-50" dirty="0">
                <a:latin typeface="Verdana"/>
                <a:cs typeface="Verdana"/>
              </a:rPr>
              <a:t>}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247015">
              <a:lnSpc>
                <a:spcPct val="100000"/>
              </a:lnSpc>
            </a:pP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catch</a:t>
            </a:r>
            <a:r>
              <a:rPr sz="1050" b="1" spc="-1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(Exception</a:t>
            </a:r>
            <a:r>
              <a:rPr sz="1050" spc="-2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e)</a:t>
            </a:r>
            <a:r>
              <a:rPr sz="1050" spc="-20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{</a:t>
            </a:r>
            <a:r>
              <a:rPr sz="1050" spc="-20" dirty="0">
                <a:latin typeface="Verdana"/>
                <a:cs typeface="Verdana"/>
              </a:rPr>
              <a:t> </a:t>
            </a:r>
            <a:r>
              <a:rPr sz="1050" spc="-50" dirty="0">
                <a:latin typeface="Verdana"/>
                <a:cs typeface="Verdana"/>
              </a:rPr>
              <a:t>}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106045">
              <a:lnSpc>
                <a:spcPct val="100000"/>
              </a:lnSpc>
            </a:pPr>
            <a:r>
              <a:rPr sz="1050" spc="-50" dirty="0">
                <a:latin typeface="Verdana"/>
                <a:cs typeface="Verdana"/>
              </a:rPr>
              <a:t>}</a:t>
            </a:r>
            <a:endParaRPr sz="10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4725" y="1335666"/>
            <a:ext cx="4321175" cy="3100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050" b="1" spc="-2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drawHand(</a:t>
            </a:r>
            <a:r>
              <a:rPr sz="1050" spc="-30" dirty="0">
                <a:latin typeface="Verdana"/>
                <a:cs typeface="Verdana"/>
              </a:rPr>
              <a:t> </a:t>
            </a: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double</a:t>
            </a:r>
            <a:r>
              <a:rPr sz="1050" b="1" spc="-2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angle,</a:t>
            </a:r>
            <a:r>
              <a:rPr sz="1050" spc="-30" dirty="0">
                <a:latin typeface="Verdana"/>
                <a:cs typeface="Verdana"/>
              </a:rPr>
              <a:t> </a:t>
            </a: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int</a:t>
            </a:r>
            <a:r>
              <a:rPr sz="1050" b="1" spc="-2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radius,</a:t>
            </a:r>
            <a:r>
              <a:rPr sz="1050" spc="-30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Graphics</a:t>
            </a:r>
            <a:r>
              <a:rPr sz="1050" spc="-3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g</a:t>
            </a:r>
            <a:r>
              <a:rPr sz="1050" spc="-3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)</a:t>
            </a:r>
            <a:r>
              <a:rPr sz="1050" spc="-35" dirty="0">
                <a:latin typeface="Verdana"/>
                <a:cs typeface="Verdana"/>
              </a:rPr>
              <a:t> </a:t>
            </a:r>
            <a:r>
              <a:rPr sz="1050" spc="-50" dirty="0">
                <a:latin typeface="Verdana"/>
                <a:cs typeface="Verdana"/>
              </a:rPr>
              <a:t>{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Verdana"/>
              <a:cs typeface="Verdana"/>
            </a:endParaRPr>
          </a:p>
          <a:p>
            <a:pPr marL="293370">
              <a:lnSpc>
                <a:spcPct val="100000"/>
              </a:lnSpc>
            </a:pPr>
            <a:r>
              <a:rPr sz="1050" dirty="0">
                <a:latin typeface="Verdana"/>
                <a:cs typeface="Verdana"/>
              </a:rPr>
              <a:t>angle</a:t>
            </a:r>
            <a:r>
              <a:rPr sz="1050" spc="-15" dirty="0">
                <a:latin typeface="Verdana"/>
                <a:cs typeface="Verdana"/>
              </a:rPr>
              <a:t> </a:t>
            </a:r>
            <a:r>
              <a:rPr sz="1050" spc="-10" dirty="0">
                <a:latin typeface="Verdana"/>
                <a:cs typeface="Verdana"/>
              </a:rPr>
              <a:t>-</a:t>
            </a:r>
            <a:r>
              <a:rPr sz="1050" dirty="0">
                <a:latin typeface="Verdana"/>
                <a:cs typeface="Verdana"/>
              </a:rPr>
              <a:t>=</a:t>
            </a:r>
            <a:r>
              <a:rPr sz="1050" spc="-5" dirty="0"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C00000"/>
                </a:solidFill>
                <a:latin typeface="Verdana"/>
                <a:cs typeface="Verdana"/>
              </a:rPr>
              <a:t>0.5</a:t>
            </a:r>
            <a:r>
              <a:rPr sz="1050" spc="-1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*</a:t>
            </a:r>
            <a:r>
              <a:rPr sz="1050" spc="-15" dirty="0">
                <a:latin typeface="Verdana"/>
                <a:cs typeface="Verdana"/>
              </a:rPr>
              <a:t> </a:t>
            </a:r>
            <a:r>
              <a:rPr sz="1050" spc="-10" dirty="0">
                <a:latin typeface="Verdana"/>
                <a:cs typeface="Verdana"/>
              </a:rPr>
              <a:t>Math.PI;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293370">
              <a:lnSpc>
                <a:spcPct val="100000"/>
              </a:lnSpc>
            </a:pP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int</a:t>
            </a:r>
            <a:r>
              <a:rPr sz="1050" b="1" spc="1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x</a:t>
            </a:r>
            <a:r>
              <a:rPr sz="1050" spc="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=</a:t>
            </a:r>
            <a:r>
              <a:rPr sz="1050" spc="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(</a:t>
            </a: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int</a:t>
            </a:r>
            <a:r>
              <a:rPr sz="1050" dirty="0">
                <a:latin typeface="Verdana"/>
                <a:cs typeface="Verdana"/>
              </a:rPr>
              <a:t>)( </a:t>
            </a:r>
            <a:r>
              <a:rPr sz="1050" spc="-10" dirty="0">
                <a:latin typeface="Verdana"/>
                <a:cs typeface="Verdana"/>
              </a:rPr>
              <a:t>radius*Math.cos(angle)</a:t>
            </a:r>
            <a:r>
              <a:rPr sz="1050" spc="5" dirty="0">
                <a:latin typeface="Verdana"/>
                <a:cs typeface="Verdana"/>
              </a:rPr>
              <a:t> </a:t>
            </a:r>
            <a:r>
              <a:rPr sz="1050" spc="-25" dirty="0">
                <a:latin typeface="Verdana"/>
                <a:cs typeface="Verdana"/>
              </a:rPr>
              <a:t>);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293370">
              <a:lnSpc>
                <a:spcPct val="100000"/>
              </a:lnSpc>
            </a:pP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int</a:t>
            </a:r>
            <a:r>
              <a:rPr sz="1050" b="1" spc="1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y</a:t>
            </a:r>
            <a:r>
              <a:rPr sz="1050" spc="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=</a:t>
            </a:r>
            <a:r>
              <a:rPr sz="1050" spc="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(</a:t>
            </a: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int</a:t>
            </a:r>
            <a:r>
              <a:rPr sz="1050" dirty="0">
                <a:latin typeface="Verdana"/>
                <a:cs typeface="Verdana"/>
              </a:rPr>
              <a:t>)( </a:t>
            </a:r>
            <a:r>
              <a:rPr sz="1050" spc="-10" dirty="0">
                <a:latin typeface="Verdana"/>
                <a:cs typeface="Verdana"/>
              </a:rPr>
              <a:t>radius*Math.sin(angle)</a:t>
            </a:r>
            <a:r>
              <a:rPr sz="1050" spc="5" dirty="0">
                <a:latin typeface="Verdana"/>
                <a:cs typeface="Verdana"/>
              </a:rPr>
              <a:t> </a:t>
            </a:r>
            <a:r>
              <a:rPr sz="1050" spc="-25" dirty="0">
                <a:latin typeface="Verdana"/>
                <a:cs typeface="Verdana"/>
              </a:rPr>
              <a:t>);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293370">
              <a:lnSpc>
                <a:spcPct val="100000"/>
              </a:lnSpc>
            </a:pPr>
            <a:r>
              <a:rPr sz="1050" dirty="0">
                <a:latin typeface="Verdana"/>
                <a:cs typeface="Verdana"/>
              </a:rPr>
              <a:t>g.drawLine(</a:t>
            </a:r>
            <a:r>
              <a:rPr sz="1050" spc="-30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width/</a:t>
            </a:r>
            <a:r>
              <a:rPr sz="1050" dirty="0">
                <a:solidFill>
                  <a:srgbClr val="C00000"/>
                </a:solidFill>
                <a:latin typeface="Verdana"/>
                <a:cs typeface="Verdana"/>
              </a:rPr>
              <a:t>2</a:t>
            </a:r>
            <a:r>
              <a:rPr sz="1050" dirty="0">
                <a:latin typeface="Verdana"/>
                <a:cs typeface="Verdana"/>
              </a:rPr>
              <a:t>,</a:t>
            </a:r>
            <a:r>
              <a:rPr sz="1050" spc="-30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height/</a:t>
            </a:r>
            <a:r>
              <a:rPr sz="1050" dirty="0">
                <a:solidFill>
                  <a:srgbClr val="C00000"/>
                </a:solidFill>
                <a:latin typeface="Verdana"/>
                <a:cs typeface="Verdana"/>
              </a:rPr>
              <a:t>2</a:t>
            </a:r>
            <a:r>
              <a:rPr sz="1050" dirty="0">
                <a:latin typeface="Verdana"/>
                <a:cs typeface="Verdana"/>
              </a:rPr>
              <a:t>,</a:t>
            </a:r>
            <a:r>
              <a:rPr sz="1050" spc="-2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width/</a:t>
            </a:r>
            <a:r>
              <a:rPr sz="1050" dirty="0">
                <a:solidFill>
                  <a:srgbClr val="C00000"/>
                </a:solidFill>
                <a:latin typeface="Verdana"/>
                <a:cs typeface="Verdana"/>
              </a:rPr>
              <a:t>2</a:t>
            </a:r>
            <a:r>
              <a:rPr sz="1050" spc="-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+</a:t>
            </a:r>
            <a:r>
              <a:rPr sz="1050" spc="-30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x,</a:t>
            </a:r>
            <a:r>
              <a:rPr sz="1050" spc="-2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height/</a:t>
            </a:r>
            <a:r>
              <a:rPr sz="1050" dirty="0">
                <a:solidFill>
                  <a:srgbClr val="C00000"/>
                </a:solidFill>
                <a:latin typeface="Verdana"/>
                <a:cs typeface="Verdana"/>
              </a:rPr>
              <a:t>2</a:t>
            </a:r>
            <a:r>
              <a:rPr sz="1050" spc="-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+</a:t>
            </a:r>
            <a:r>
              <a:rPr sz="1050" spc="-30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y</a:t>
            </a:r>
            <a:r>
              <a:rPr sz="1050" spc="-25" dirty="0">
                <a:latin typeface="Verdana"/>
                <a:cs typeface="Verdana"/>
              </a:rPr>
              <a:t> );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Verdana"/>
              <a:cs typeface="Verdana"/>
            </a:endParaRPr>
          </a:p>
          <a:p>
            <a:pPr marL="153035">
              <a:lnSpc>
                <a:spcPct val="100000"/>
              </a:lnSpc>
              <a:spcBef>
                <a:spcPts val="5"/>
              </a:spcBef>
            </a:pPr>
            <a:r>
              <a:rPr sz="1050" spc="-50" dirty="0">
                <a:latin typeface="Verdana"/>
                <a:cs typeface="Verdana"/>
              </a:rPr>
              <a:t>}</a:t>
            </a:r>
            <a:endParaRPr sz="1050">
              <a:latin typeface="Verdana"/>
              <a:cs typeface="Verdana"/>
            </a:endParaRPr>
          </a:p>
          <a:p>
            <a:pPr marL="293370" marR="325120" indent="-281305">
              <a:lnSpc>
                <a:spcPct val="202400"/>
              </a:lnSpc>
            </a:pP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050" b="1" spc="-2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drawWedge(</a:t>
            </a:r>
            <a:r>
              <a:rPr sz="1050" spc="-30" dirty="0">
                <a:latin typeface="Verdana"/>
                <a:cs typeface="Verdana"/>
              </a:rPr>
              <a:t> </a:t>
            </a: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double</a:t>
            </a:r>
            <a:r>
              <a:rPr sz="1050" b="1" spc="-2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angle,</a:t>
            </a:r>
            <a:r>
              <a:rPr sz="1050" spc="-30" dirty="0">
                <a:latin typeface="Verdana"/>
                <a:cs typeface="Verdana"/>
              </a:rPr>
              <a:t> </a:t>
            </a: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int</a:t>
            </a:r>
            <a:r>
              <a:rPr sz="1050" b="1" spc="-2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radius,</a:t>
            </a:r>
            <a:r>
              <a:rPr sz="1050" spc="-3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Graphics</a:t>
            </a:r>
            <a:r>
              <a:rPr sz="1050" spc="-3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g</a:t>
            </a:r>
            <a:r>
              <a:rPr sz="1050" spc="-3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)</a:t>
            </a:r>
            <a:r>
              <a:rPr sz="1050" spc="-35" dirty="0">
                <a:latin typeface="Verdana"/>
                <a:cs typeface="Verdana"/>
              </a:rPr>
              <a:t> </a:t>
            </a:r>
            <a:r>
              <a:rPr sz="1050" spc="-50" dirty="0">
                <a:latin typeface="Verdana"/>
                <a:cs typeface="Verdana"/>
              </a:rPr>
              <a:t>{ </a:t>
            </a:r>
            <a:r>
              <a:rPr sz="1050" dirty="0">
                <a:latin typeface="Verdana"/>
                <a:cs typeface="Verdana"/>
              </a:rPr>
              <a:t>angle</a:t>
            </a:r>
            <a:r>
              <a:rPr sz="1050" spc="-15" dirty="0">
                <a:latin typeface="Verdana"/>
                <a:cs typeface="Verdana"/>
              </a:rPr>
              <a:t> </a:t>
            </a:r>
            <a:r>
              <a:rPr sz="1050" spc="-10" dirty="0">
                <a:latin typeface="Verdana"/>
                <a:cs typeface="Verdana"/>
              </a:rPr>
              <a:t>-</a:t>
            </a:r>
            <a:r>
              <a:rPr sz="1050" dirty="0">
                <a:latin typeface="Verdana"/>
                <a:cs typeface="Verdana"/>
              </a:rPr>
              <a:t>=</a:t>
            </a:r>
            <a:r>
              <a:rPr sz="1050" spc="-5" dirty="0"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C00000"/>
                </a:solidFill>
                <a:latin typeface="Verdana"/>
                <a:cs typeface="Verdana"/>
              </a:rPr>
              <a:t>0.5</a:t>
            </a:r>
            <a:r>
              <a:rPr sz="1050" spc="-1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*</a:t>
            </a:r>
            <a:r>
              <a:rPr sz="1050" spc="-15" dirty="0">
                <a:latin typeface="Verdana"/>
                <a:cs typeface="Verdana"/>
              </a:rPr>
              <a:t> </a:t>
            </a:r>
            <a:r>
              <a:rPr sz="1050" spc="-10" dirty="0">
                <a:latin typeface="Verdana"/>
                <a:cs typeface="Verdana"/>
              </a:rPr>
              <a:t>Math.PI;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Verdana"/>
              <a:cs typeface="Verdana"/>
            </a:endParaRPr>
          </a:p>
          <a:p>
            <a:pPr marL="293370">
              <a:lnSpc>
                <a:spcPct val="100000"/>
              </a:lnSpc>
            </a:pP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int</a:t>
            </a:r>
            <a:r>
              <a:rPr sz="1050" b="1" spc="1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x</a:t>
            </a:r>
            <a:r>
              <a:rPr sz="1050" spc="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=</a:t>
            </a:r>
            <a:r>
              <a:rPr sz="1050" spc="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(</a:t>
            </a: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int</a:t>
            </a:r>
            <a:r>
              <a:rPr sz="1050" dirty="0">
                <a:latin typeface="Verdana"/>
                <a:cs typeface="Verdana"/>
              </a:rPr>
              <a:t>)( </a:t>
            </a:r>
            <a:r>
              <a:rPr sz="1050" spc="-10" dirty="0">
                <a:latin typeface="Verdana"/>
                <a:cs typeface="Verdana"/>
              </a:rPr>
              <a:t>radius*Math.cos(angle)</a:t>
            </a:r>
            <a:r>
              <a:rPr sz="1050" spc="5" dirty="0">
                <a:latin typeface="Verdana"/>
                <a:cs typeface="Verdana"/>
              </a:rPr>
              <a:t> </a:t>
            </a:r>
            <a:r>
              <a:rPr sz="1050" spc="-25" dirty="0">
                <a:latin typeface="Verdana"/>
                <a:cs typeface="Verdana"/>
              </a:rPr>
              <a:t>);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293370">
              <a:lnSpc>
                <a:spcPct val="100000"/>
              </a:lnSpc>
            </a:pP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int</a:t>
            </a:r>
            <a:r>
              <a:rPr sz="1050" b="1" spc="1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y</a:t>
            </a:r>
            <a:r>
              <a:rPr sz="1050" spc="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=</a:t>
            </a:r>
            <a:r>
              <a:rPr sz="1050" spc="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(</a:t>
            </a: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int</a:t>
            </a:r>
            <a:r>
              <a:rPr sz="1050" dirty="0">
                <a:latin typeface="Verdana"/>
                <a:cs typeface="Verdana"/>
              </a:rPr>
              <a:t>)( </a:t>
            </a:r>
            <a:r>
              <a:rPr sz="1050" spc="-10" dirty="0">
                <a:latin typeface="Verdana"/>
                <a:cs typeface="Verdana"/>
              </a:rPr>
              <a:t>radius*Math.sin(angle)</a:t>
            </a:r>
            <a:r>
              <a:rPr sz="1050" spc="5" dirty="0">
                <a:latin typeface="Verdana"/>
                <a:cs typeface="Verdana"/>
              </a:rPr>
              <a:t> </a:t>
            </a:r>
            <a:r>
              <a:rPr sz="1050" spc="-25" dirty="0">
                <a:latin typeface="Verdana"/>
                <a:cs typeface="Verdana"/>
              </a:rPr>
              <a:t>);</a:t>
            </a:r>
            <a:endParaRPr sz="10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1530" y="1335666"/>
            <a:ext cx="4989195" cy="3100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latin typeface="Verdana"/>
                <a:cs typeface="Verdana"/>
              </a:rPr>
              <a:t>angle</a:t>
            </a:r>
            <a:r>
              <a:rPr sz="1050" spc="-30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+=</a:t>
            </a:r>
            <a:r>
              <a:rPr sz="1050" spc="-15" dirty="0"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C00000"/>
                </a:solidFill>
                <a:latin typeface="Verdana"/>
                <a:cs typeface="Verdana"/>
              </a:rPr>
              <a:t>2</a:t>
            </a:r>
            <a:r>
              <a:rPr sz="1050" spc="-10" dirty="0">
                <a:latin typeface="Verdana"/>
                <a:cs typeface="Verdana"/>
              </a:rPr>
              <a:t>*Math.PI/</a:t>
            </a:r>
            <a:r>
              <a:rPr sz="1050" spc="-10" dirty="0">
                <a:solidFill>
                  <a:srgbClr val="C00000"/>
                </a:solidFill>
                <a:latin typeface="Verdana"/>
                <a:cs typeface="Verdana"/>
              </a:rPr>
              <a:t>3</a:t>
            </a:r>
            <a:r>
              <a:rPr sz="1050" spc="-10" dirty="0">
                <a:latin typeface="Verdana"/>
                <a:cs typeface="Verdana"/>
              </a:rPr>
              <a:t>;</a:t>
            </a:r>
            <a:endParaRPr sz="1050">
              <a:latin typeface="Verdana"/>
              <a:cs typeface="Verdana"/>
            </a:endParaRPr>
          </a:p>
          <a:p>
            <a:pPr marL="246379" marR="2269490" algn="just">
              <a:lnSpc>
                <a:spcPct val="202400"/>
              </a:lnSpc>
            </a:pP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int</a:t>
            </a:r>
            <a:r>
              <a:rPr sz="1050" b="1" spc="-2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x2</a:t>
            </a:r>
            <a:r>
              <a:rPr sz="1050" spc="-3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=</a:t>
            </a:r>
            <a:r>
              <a:rPr sz="1050" spc="-3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(</a:t>
            </a: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int</a:t>
            </a:r>
            <a:r>
              <a:rPr sz="1050" dirty="0">
                <a:latin typeface="Verdana"/>
                <a:cs typeface="Verdana"/>
              </a:rPr>
              <a:t>)(</a:t>
            </a:r>
            <a:r>
              <a:rPr sz="1050" spc="-30" dirty="0"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C00000"/>
                </a:solidFill>
                <a:latin typeface="Verdana"/>
                <a:cs typeface="Verdana"/>
              </a:rPr>
              <a:t>5</a:t>
            </a:r>
            <a:r>
              <a:rPr sz="1050" dirty="0">
                <a:latin typeface="Verdana"/>
                <a:cs typeface="Verdana"/>
              </a:rPr>
              <a:t>*Math.cos(angle)</a:t>
            </a:r>
            <a:r>
              <a:rPr sz="1050" spc="-35" dirty="0">
                <a:latin typeface="Verdana"/>
                <a:cs typeface="Verdana"/>
              </a:rPr>
              <a:t> </a:t>
            </a:r>
            <a:r>
              <a:rPr sz="1050" spc="-25" dirty="0">
                <a:latin typeface="Verdana"/>
                <a:cs typeface="Verdana"/>
              </a:rPr>
              <a:t>); </a:t>
            </a: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int</a:t>
            </a:r>
            <a:r>
              <a:rPr sz="1050" b="1" spc="-2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y2</a:t>
            </a:r>
            <a:r>
              <a:rPr sz="1050" spc="-3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=</a:t>
            </a:r>
            <a:r>
              <a:rPr sz="1050" spc="-3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(</a:t>
            </a: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int</a:t>
            </a:r>
            <a:r>
              <a:rPr sz="1050" dirty="0">
                <a:latin typeface="Verdana"/>
                <a:cs typeface="Verdana"/>
              </a:rPr>
              <a:t>)(</a:t>
            </a:r>
            <a:r>
              <a:rPr sz="1050" spc="-30" dirty="0"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C00000"/>
                </a:solidFill>
                <a:latin typeface="Verdana"/>
                <a:cs typeface="Verdana"/>
              </a:rPr>
              <a:t>5</a:t>
            </a:r>
            <a:r>
              <a:rPr sz="1050" dirty="0">
                <a:latin typeface="Verdana"/>
                <a:cs typeface="Verdana"/>
              </a:rPr>
              <a:t>*Math.sin(angle)</a:t>
            </a:r>
            <a:r>
              <a:rPr sz="1050" spc="-35" dirty="0">
                <a:latin typeface="Verdana"/>
                <a:cs typeface="Verdana"/>
              </a:rPr>
              <a:t> </a:t>
            </a:r>
            <a:r>
              <a:rPr sz="1050" spc="-25" dirty="0">
                <a:latin typeface="Verdana"/>
                <a:cs typeface="Verdana"/>
              </a:rPr>
              <a:t>); </a:t>
            </a:r>
            <a:r>
              <a:rPr sz="1050" dirty="0">
                <a:latin typeface="Verdana"/>
                <a:cs typeface="Verdana"/>
              </a:rPr>
              <a:t>angle</a:t>
            </a:r>
            <a:r>
              <a:rPr sz="1050" spc="-30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+=</a:t>
            </a:r>
            <a:r>
              <a:rPr sz="1050" spc="-15" dirty="0"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C00000"/>
                </a:solidFill>
                <a:latin typeface="Verdana"/>
                <a:cs typeface="Verdana"/>
              </a:rPr>
              <a:t>2</a:t>
            </a:r>
            <a:r>
              <a:rPr sz="1050" spc="-10" dirty="0">
                <a:latin typeface="Verdana"/>
                <a:cs typeface="Verdana"/>
              </a:rPr>
              <a:t>*Math.PI/</a:t>
            </a:r>
            <a:r>
              <a:rPr sz="1050" spc="-10" dirty="0">
                <a:solidFill>
                  <a:srgbClr val="C00000"/>
                </a:solidFill>
                <a:latin typeface="Verdana"/>
                <a:cs typeface="Verdana"/>
              </a:rPr>
              <a:t>3</a:t>
            </a:r>
            <a:r>
              <a:rPr sz="1050" spc="-10" dirty="0">
                <a:latin typeface="Verdana"/>
                <a:cs typeface="Verdana"/>
              </a:rPr>
              <a:t>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Verdana"/>
              <a:cs typeface="Verdana"/>
            </a:endParaRPr>
          </a:p>
          <a:p>
            <a:pPr marL="247015" algn="just">
              <a:lnSpc>
                <a:spcPct val="100000"/>
              </a:lnSpc>
            </a:pP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int</a:t>
            </a:r>
            <a:r>
              <a:rPr sz="1050" b="1" spc="-2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x3</a:t>
            </a:r>
            <a:r>
              <a:rPr sz="1050" spc="-3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=</a:t>
            </a:r>
            <a:r>
              <a:rPr sz="1050" spc="-3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(</a:t>
            </a: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int</a:t>
            </a:r>
            <a:r>
              <a:rPr sz="1050" dirty="0">
                <a:latin typeface="Verdana"/>
                <a:cs typeface="Verdana"/>
              </a:rPr>
              <a:t>)(</a:t>
            </a:r>
            <a:r>
              <a:rPr sz="1050" spc="-30" dirty="0"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C00000"/>
                </a:solidFill>
                <a:latin typeface="Verdana"/>
                <a:cs typeface="Verdana"/>
              </a:rPr>
              <a:t>5</a:t>
            </a:r>
            <a:r>
              <a:rPr sz="1050" dirty="0">
                <a:latin typeface="Verdana"/>
                <a:cs typeface="Verdana"/>
              </a:rPr>
              <a:t>*Math.cos(angle)</a:t>
            </a:r>
            <a:r>
              <a:rPr sz="1050" spc="-35" dirty="0">
                <a:latin typeface="Verdana"/>
                <a:cs typeface="Verdana"/>
              </a:rPr>
              <a:t> </a:t>
            </a:r>
            <a:r>
              <a:rPr sz="1050" spc="-25" dirty="0">
                <a:latin typeface="Verdana"/>
                <a:cs typeface="Verdana"/>
              </a:rPr>
              <a:t>);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247015" algn="just">
              <a:lnSpc>
                <a:spcPct val="100000"/>
              </a:lnSpc>
            </a:pP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int</a:t>
            </a:r>
            <a:r>
              <a:rPr sz="1050" b="1" spc="-2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y3</a:t>
            </a:r>
            <a:r>
              <a:rPr sz="1050" spc="-3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=</a:t>
            </a:r>
            <a:r>
              <a:rPr sz="1050" spc="-3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(</a:t>
            </a: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int</a:t>
            </a:r>
            <a:r>
              <a:rPr sz="1050" dirty="0">
                <a:latin typeface="Verdana"/>
                <a:cs typeface="Verdana"/>
              </a:rPr>
              <a:t>)(</a:t>
            </a:r>
            <a:r>
              <a:rPr sz="1050" spc="-30" dirty="0"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C00000"/>
                </a:solidFill>
                <a:latin typeface="Verdana"/>
                <a:cs typeface="Verdana"/>
              </a:rPr>
              <a:t>5</a:t>
            </a:r>
            <a:r>
              <a:rPr sz="1050" dirty="0">
                <a:latin typeface="Verdana"/>
                <a:cs typeface="Verdana"/>
              </a:rPr>
              <a:t>*Math.sin(angle)</a:t>
            </a:r>
            <a:r>
              <a:rPr sz="1050" spc="-35" dirty="0">
                <a:latin typeface="Verdana"/>
                <a:cs typeface="Verdana"/>
              </a:rPr>
              <a:t> </a:t>
            </a:r>
            <a:r>
              <a:rPr sz="1050" spc="-25" dirty="0">
                <a:latin typeface="Verdana"/>
                <a:cs typeface="Verdana"/>
              </a:rPr>
              <a:t>);</a:t>
            </a:r>
            <a:endParaRPr sz="1050">
              <a:latin typeface="Verdana"/>
              <a:cs typeface="Verdana"/>
            </a:endParaRPr>
          </a:p>
          <a:p>
            <a:pPr marL="246379" marR="5080">
              <a:lnSpc>
                <a:spcPct val="202400"/>
              </a:lnSpc>
            </a:pPr>
            <a:r>
              <a:rPr sz="1050" dirty="0">
                <a:latin typeface="Verdana"/>
                <a:cs typeface="Verdana"/>
              </a:rPr>
              <a:t>g.drawLine(</a:t>
            </a:r>
            <a:r>
              <a:rPr sz="1050" spc="-40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width/</a:t>
            </a:r>
            <a:r>
              <a:rPr sz="1050" dirty="0">
                <a:solidFill>
                  <a:srgbClr val="C00000"/>
                </a:solidFill>
                <a:latin typeface="Verdana"/>
                <a:cs typeface="Verdana"/>
              </a:rPr>
              <a:t>2</a:t>
            </a:r>
            <a:r>
              <a:rPr sz="1050" dirty="0">
                <a:latin typeface="Verdana"/>
                <a:cs typeface="Verdana"/>
              </a:rPr>
              <a:t>+x2,</a:t>
            </a:r>
            <a:r>
              <a:rPr sz="1050" spc="-3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height/</a:t>
            </a:r>
            <a:r>
              <a:rPr sz="1050" dirty="0">
                <a:solidFill>
                  <a:srgbClr val="C00000"/>
                </a:solidFill>
                <a:latin typeface="Verdana"/>
                <a:cs typeface="Verdana"/>
              </a:rPr>
              <a:t>2</a:t>
            </a:r>
            <a:r>
              <a:rPr sz="1050" dirty="0">
                <a:latin typeface="Verdana"/>
                <a:cs typeface="Verdana"/>
              </a:rPr>
              <a:t>+y2,</a:t>
            </a:r>
            <a:r>
              <a:rPr sz="1050" spc="-3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width/</a:t>
            </a:r>
            <a:r>
              <a:rPr sz="1050" dirty="0">
                <a:solidFill>
                  <a:srgbClr val="C00000"/>
                </a:solidFill>
                <a:latin typeface="Verdana"/>
                <a:cs typeface="Verdana"/>
              </a:rPr>
              <a:t>2</a:t>
            </a:r>
            <a:r>
              <a:rPr sz="1050" spc="-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+</a:t>
            </a:r>
            <a:r>
              <a:rPr sz="1050" spc="-3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x,</a:t>
            </a:r>
            <a:r>
              <a:rPr sz="1050" spc="-3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height/</a:t>
            </a:r>
            <a:r>
              <a:rPr sz="1050" dirty="0">
                <a:solidFill>
                  <a:srgbClr val="C00000"/>
                </a:solidFill>
                <a:latin typeface="Verdana"/>
                <a:cs typeface="Verdana"/>
              </a:rPr>
              <a:t>2</a:t>
            </a:r>
            <a:r>
              <a:rPr sz="1050" spc="-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+</a:t>
            </a:r>
            <a:r>
              <a:rPr sz="1050" spc="-3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y</a:t>
            </a:r>
            <a:r>
              <a:rPr sz="1050" spc="-35" dirty="0">
                <a:latin typeface="Verdana"/>
                <a:cs typeface="Verdana"/>
              </a:rPr>
              <a:t> </a:t>
            </a:r>
            <a:r>
              <a:rPr sz="1050" spc="-25" dirty="0">
                <a:latin typeface="Verdana"/>
                <a:cs typeface="Verdana"/>
              </a:rPr>
              <a:t>); </a:t>
            </a:r>
            <a:r>
              <a:rPr sz="1050" dirty="0">
                <a:latin typeface="Verdana"/>
                <a:cs typeface="Verdana"/>
              </a:rPr>
              <a:t>g.drawLine(</a:t>
            </a:r>
            <a:r>
              <a:rPr sz="1050" spc="-40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width/</a:t>
            </a:r>
            <a:r>
              <a:rPr sz="1050" dirty="0">
                <a:solidFill>
                  <a:srgbClr val="C00000"/>
                </a:solidFill>
                <a:latin typeface="Verdana"/>
                <a:cs typeface="Verdana"/>
              </a:rPr>
              <a:t>2</a:t>
            </a:r>
            <a:r>
              <a:rPr sz="1050" dirty="0">
                <a:latin typeface="Verdana"/>
                <a:cs typeface="Verdana"/>
              </a:rPr>
              <a:t>+x3,</a:t>
            </a:r>
            <a:r>
              <a:rPr sz="1050" spc="-3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height/</a:t>
            </a:r>
            <a:r>
              <a:rPr sz="1050" dirty="0">
                <a:solidFill>
                  <a:srgbClr val="C00000"/>
                </a:solidFill>
                <a:latin typeface="Verdana"/>
                <a:cs typeface="Verdana"/>
              </a:rPr>
              <a:t>2</a:t>
            </a:r>
            <a:r>
              <a:rPr sz="1050" dirty="0">
                <a:latin typeface="Verdana"/>
                <a:cs typeface="Verdana"/>
              </a:rPr>
              <a:t>+y3,</a:t>
            </a:r>
            <a:r>
              <a:rPr sz="1050" spc="-3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width/</a:t>
            </a:r>
            <a:r>
              <a:rPr sz="1050" dirty="0">
                <a:solidFill>
                  <a:srgbClr val="C00000"/>
                </a:solidFill>
                <a:latin typeface="Verdana"/>
                <a:cs typeface="Verdana"/>
              </a:rPr>
              <a:t>2</a:t>
            </a:r>
            <a:r>
              <a:rPr sz="1050" spc="-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+</a:t>
            </a:r>
            <a:r>
              <a:rPr sz="1050" spc="-3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x,</a:t>
            </a:r>
            <a:r>
              <a:rPr sz="1050" spc="-3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height/</a:t>
            </a:r>
            <a:r>
              <a:rPr sz="1050" dirty="0">
                <a:solidFill>
                  <a:srgbClr val="C00000"/>
                </a:solidFill>
                <a:latin typeface="Verdana"/>
                <a:cs typeface="Verdana"/>
              </a:rPr>
              <a:t>2</a:t>
            </a:r>
            <a:r>
              <a:rPr sz="1050" spc="-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+</a:t>
            </a:r>
            <a:r>
              <a:rPr sz="1050" spc="-3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y</a:t>
            </a:r>
            <a:r>
              <a:rPr sz="1050" spc="-35" dirty="0">
                <a:latin typeface="Verdana"/>
                <a:cs typeface="Verdana"/>
              </a:rPr>
              <a:t> </a:t>
            </a:r>
            <a:r>
              <a:rPr sz="1050" spc="-25" dirty="0">
                <a:latin typeface="Verdana"/>
                <a:cs typeface="Verdana"/>
              </a:rPr>
              <a:t>); </a:t>
            </a:r>
            <a:r>
              <a:rPr sz="1050" dirty="0">
                <a:latin typeface="Verdana"/>
                <a:cs typeface="Verdana"/>
              </a:rPr>
              <a:t>g.drawLine(</a:t>
            </a:r>
            <a:r>
              <a:rPr sz="1050" spc="-40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width/</a:t>
            </a:r>
            <a:r>
              <a:rPr sz="1050" dirty="0">
                <a:solidFill>
                  <a:srgbClr val="C00000"/>
                </a:solidFill>
                <a:latin typeface="Verdana"/>
                <a:cs typeface="Verdana"/>
              </a:rPr>
              <a:t>2</a:t>
            </a:r>
            <a:r>
              <a:rPr sz="1050" dirty="0">
                <a:latin typeface="Verdana"/>
                <a:cs typeface="Verdana"/>
              </a:rPr>
              <a:t>+x2,</a:t>
            </a:r>
            <a:r>
              <a:rPr sz="1050" spc="-3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height/</a:t>
            </a:r>
            <a:r>
              <a:rPr sz="1050" dirty="0">
                <a:solidFill>
                  <a:srgbClr val="C00000"/>
                </a:solidFill>
                <a:latin typeface="Verdana"/>
                <a:cs typeface="Verdana"/>
              </a:rPr>
              <a:t>2</a:t>
            </a:r>
            <a:r>
              <a:rPr sz="1050" dirty="0">
                <a:latin typeface="Verdana"/>
                <a:cs typeface="Verdana"/>
              </a:rPr>
              <a:t>+y2,</a:t>
            </a:r>
            <a:r>
              <a:rPr sz="1050" spc="-3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width/</a:t>
            </a:r>
            <a:r>
              <a:rPr sz="1050" dirty="0">
                <a:solidFill>
                  <a:srgbClr val="C00000"/>
                </a:solidFill>
                <a:latin typeface="Verdana"/>
                <a:cs typeface="Verdana"/>
              </a:rPr>
              <a:t>2</a:t>
            </a:r>
            <a:r>
              <a:rPr sz="1050" spc="-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+</a:t>
            </a:r>
            <a:r>
              <a:rPr sz="1050" spc="-40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x3,</a:t>
            </a:r>
            <a:r>
              <a:rPr sz="1050" spc="-3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height/</a:t>
            </a:r>
            <a:r>
              <a:rPr sz="1050" dirty="0">
                <a:solidFill>
                  <a:srgbClr val="C00000"/>
                </a:solidFill>
                <a:latin typeface="Verdana"/>
                <a:cs typeface="Verdana"/>
              </a:rPr>
              <a:t>2</a:t>
            </a:r>
            <a:r>
              <a:rPr sz="1050" spc="-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+</a:t>
            </a:r>
            <a:r>
              <a:rPr sz="1050" spc="-3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y3</a:t>
            </a:r>
            <a:r>
              <a:rPr sz="1050" spc="-35" dirty="0">
                <a:latin typeface="Verdana"/>
                <a:cs typeface="Verdana"/>
              </a:rPr>
              <a:t> </a:t>
            </a:r>
            <a:r>
              <a:rPr sz="1050" spc="-25" dirty="0">
                <a:latin typeface="Verdana"/>
                <a:cs typeface="Verdana"/>
              </a:rPr>
              <a:t>);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106045">
              <a:lnSpc>
                <a:spcPct val="100000"/>
              </a:lnSpc>
            </a:pPr>
            <a:r>
              <a:rPr sz="1050" spc="-50" dirty="0">
                <a:latin typeface="Verdana"/>
                <a:cs typeface="Verdana"/>
              </a:rPr>
              <a:t>}</a:t>
            </a:r>
            <a:endParaRPr sz="10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4725" y="1335666"/>
            <a:ext cx="3876040" cy="2776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585595" algn="ctr">
              <a:lnSpc>
                <a:spcPct val="100000"/>
              </a:lnSpc>
              <a:spcBef>
                <a:spcPts val="100"/>
              </a:spcBef>
            </a:pP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050" b="1" spc="-2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050" b="1" spc="-1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paint(</a:t>
            </a:r>
            <a:r>
              <a:rPr sz="1050" spc="-3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Graphics</a:t>
            </a:r>
            <a:r>
              <a:rPr sz="1050" spc="-30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g</a:t>
            </a:r>
            <a:r>
              <a:rPr sz="1050" spc="-30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)</a:t>
            </a:r>
            <a:r>
              <a:rPr sz="1050" spc="-35" dirty="0">
                <a:latin typeface="Verdana"/>
                <a:cs typeface="Verdana"/>
              </a:rPr>
              <a:t> </a:t>
            </a:r>
            <a:r>
              <a:rPr sz="1050" spc="-50" dirty="0">
                <a:latin typeface="Verdana"/>
                <a:cs typeface="Verdana"/>
              </a:rPr>
              <a:t>{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Verdana"/>
              <a:cs typeface="Verdana"/>
            </a:endParaRPr>
          </a:p>
          <a:p>
            <a:pPr marR="1629410" algn="ctr">
              <a:lnSpc>
                <a:spcPct val="100000"/>
              </a:lnSpc>
            </a:pPr>
            <a:r>
              <a:rPr sz="1050" spc="-10" dirty="0">
                <a:latin typeface="Verdana"/>
                <a:cs typeface="Verdana"/>
              </a:rPr>
              <a:t>g.setColor(</a:t>
            </a:r>
            <a:r>
              <a:rPr sz="1050" spc="-5" dirty="0">
                <a:latin typeface="Verdana"/>
                <a:cs typeface="Verdana"/>
              </a:rPr>
              <a:t> </a:t>
            </a:r>
            <a:r>
              <a:rPr sz="1050" spc="-10" dirty="0">
                <a:latin typeface="Verdana"/>
                <a:cs typeface="Verdana"/>
              </a:rPr>
              <a:t>Color.gray</a:t>
            </a:r>
            <a:r>
              <a:rPr sz="1050" spc="-5" dirty="0">
                <a:latin typeface="Verdana"/>
                <a:cs typeface="Verdana"/>
              </a:rPr>
              <a:t> </a:t>
            </a:r>
            <a:r>
              <a:rPr sz="1050" spc="-25" dirty="0">
                <a:latin typeface="Verdana"/>
                <a:cs typeface="Verdana"/>
              </a:rPr>
              <a:t>);</a:t>
            </a:r>
            <a:endParaRPr sz="1050">
              <a:latin typeface="Verdana"/>
              <a:cs typeface="Verdana"/>
            </a:endParaRPr>
          </a:p>
          <a:p>
            <a:pPr marL="293370" marR="5080">
              <a:lnSpc>
                <a:spcPct val="202400"/>
              </a:lnSpc>
            </a:pPr>
            <a:r>
              <a:rPr sz="1050" dirty="0">
                <a:latin typeface="Verdana"/>
                <a:cs typeface="Verdana"/>
              </a:rPr>
              <a:t>drawWedge(</a:t>
            </a:r>
            <a:r>
              <a:rPr sz="1050" spc="-25" dirty="0"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C00000"/>
                </a:solidFill>
                <a:latin typeface="Verdana"/>
                <a:cs typeface="Verdana"/>
              </a:rPr>
              <a:t>2</a:t>
            </a:r>
            <a:r>
              <a:rPr sz="1050" dirty="0">
                <a:latin typeface="Verdana"/>
                <a:cs typeface="Verdana"/>
              </a:rPr>
              <a:t>*Math.PI</a:t>
            </a:r>
            <a:r>
              <a:rPr sz="1050" spc="-2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*</a:t>
            </a:r>
            <a:r>
              <a:rPr sz="1050" spc="-30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hours</a:t>
            </a:r>
            <a:r>
              <a:rPr sz="1050" spc="-2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/</a:t>
            </a:r>
            <a:r>
              <a:rPr sz="1050" spc="-5" dirty="0"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C00000"/>
                </a:solidFill>
                <a:latin typeface="Verdana"/>
                <a:cs typeface="Verdana"/>
              </a:rPr>
              <a:t>12</a:t>
            </a:r>
            <a:r>
              <a:rPr sz="1050" dirty="0">
                <a:latin typeface="Verdana"/>
                <a:cs typeface="Verdana"/>
              </a:rPr>
              <a:t>,</a:t>
            </a:r>
            <a:r>
              <a:rPr sz="1050" spc="-30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width/</a:t>
            </a:r>
            <a:r>
              <a:rPr sz="1050" dirty="0">
                <a:solidFill>
                  <a:srgbClr val="C00000"/>
                </a:solidFill>
                <a:latin typeface="Verdana"/>
                <a:cs typeface="Verdana"/>
              </a:rPr>
              <a:t>5</a:t>
            </a:r>
            <a:r>
              <a:rPr sz="1050" dirty="0">
                <a:latin typeface="Verdana"/>
                <a:cs typeface="Verdana"/>
              </a:rPr>
              <a:t>,</a:t>
            </a:r>
            <a:r>
              <a:rPr sz="1050" spc="-2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g</a:t>
            </a:r>
            <a:r>
              <a:rPr sz="1050" spc="-30" dirty="0">
                <a:latin typeface="Verdana"/>
                <a:cs typeface="Verdana"/>
              </a:rPr>
              <a:t> </a:t>
            </a:r>
            <a:r>
              <a:rPr sz="1050" spc="-25" dirty="0">
                <a:latin typeface="Verdana"/>
                <a:cs typeface="Verdana"/>
              </a:rPr>
              <a:t>); </a:t>
            </a:r>
            <a:r>
              <a:rPr sz="1050" dirty="0">
                <a:latin typeface="Verdana"/>
                <a:cs typeface="Verdana"/>
              </a:rPr>
              <a:t>drawWedge(</a:t>
            </a:r>
            <a:r>
              <a:rPr sz="1050" spc="-20" dirty="0"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C00000"/>
                </a:solidFill>
                <a:latin typeface="Verdana"/>
                <a:cs typeface="Verdana"/>
              </a:rPr>
              <a:t>2</a:t>
            </a:r>
            <a:r>
              <a:rPr sz="1050" dirty="0">
                <a:latin typeface="Verdana"/>
                <a:cs typeface="Verdana"/>
              </a:rPr>
              <a:t>*Math.PI</a:t>
            </a:r>
            <a:r>
              <a:rPr sz="1050" spc="-2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*</a:t>
            </a:r>
            <a:r>
              <a:rPr sz="1050" spc="-2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minutes</a:t>
            </a:r>
            <a:r>
              <a:rPr sz="1050" spc="-2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/</a:t>
            </a:r>
            <a:r>
              <a:rPr sz="1050" spc="-5" dirty="0"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C00000"/>
                </a:solidFill>
                <a:latin typeface="Verdana"/>
                <a:cs typeface="Verdana"/>
              </a:rPr>
              <a:t>60</a:t>
            </a:r>
            <a:r>
              <a:rPr sz="1050" dirty="0">
                <a:latin typeface="Verdana"/>
                <a:cs typeface="Verdana"/>
              </a:rPr>
              <a:t>,</a:t>
            </a:r>
            <a:r>
              <a:rPr sz="1050" spc="-2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width/</a:t>
            </a:r>
            <a:r>
              <a:rPr sz="1050" dirty="0">
                <a:solidFill>
                  <a:srgbClr val="C00000"/>
                </a:solidFill>
                <a:latin typeface="Verdana"/>
                <a:cs typeface="Verdana"/>
              </a:rPr>
              <a:t>3</a:t>
            </a:r>
            <a:r>
              <a:rPr sz="1050" dirty="0">
                <a:latin typeface="Verdana"/>
                <a:cs typeface="Verdana"/>
              </a:rPr>
              <a:t>,</a:t>
            </a:r>
            <a:r>
              <a:rPr sz="1050" spc="-2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g</a:t>
            </a:r>
            <a:r>
              <a:rPr sz="1050" spc="-25" dirty="0">
                <a:latin typeface="Verdana"/>
                <a:cs typeface="Verdana"/>
              </a:rPr>
              <a:t> ); </a:t>
            </a:r>
            <a:r>
              <a:rPr sz="1050" dirty="0">
                <a:latin typeface="Verdana"/>
                <a:cs typeface="Verdana"/>
              </a:rPr>
              <a:t>drawHand(</a:t>
            </a:r>
            <a:r>
              <a:rPr sz="1050" spc="-25" dirty="0"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C00000"/>
                </a:solidFill>
                <a:latin typeface="Verdana"/>
                <a:cs typeface="Verdana"/>
              </a:rPr>
              <a:t>2</a:t>
            </a:r>
            <a:r>
              <a:rPr sz="1050" dirty="0">
                <a:latin typeface="Verdana"/>
                <a:cs typeface="Verdana"/>
              </a:rPr>
              <a:t>*Math.PI</a:t>
            </a:r>
            <a:r>
              <a:rPr sz="1050" spc="-30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*</a:t>
            </a:r>
            <a:r>
              <a:rPr sz="1050" spc="-30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seconds</a:t>
            </a:r>
            <a:r>
              <a:rPr sz="1050" spc="-30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/</a:t>
            </a:r>
            <a:r>
              <a:rPr sz="1050" spc="-10" dirty="0"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C00000"/>
                </a:solidFill>
                <a:latin typeface="Verdana"/>
                <a:cs typeface="Verdana"/>
              </a:rPr>
              <a:t>60</a:t>
            </a:r>
            <a:r>
              <a:rPr sz="1050" dirty="0">
                <a:latin typeface="Verdana"/>
                <a:cs typeface="Verdana"/>
              </a:rPr>
              <a:t>,</a:t>
            </a:r>
            <a:r>
              <a:rPr sz="1050" spc="-25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width/</a:t>
            </a:r>
            <a:r>
              <a:rPr sz="1050" dirty="0">
                <a:solidFill>
                  <a:srgbClr val="C00000"/>
                </a:solidFill>
                <a:latin typeface="Verdana"/>
                <a:cs typeface="Verdana"/>
              </a:rPr>
              <a:t>2</a:t>
            </a:r>
            <a:r>
              <a:rPr sz="1050" dirty="0">
                <a:latin typeface="Verdana"/>
                <a:cs typeface="Verdana"/>
              </a:rPr>
              <a:t>,</a:t>
            </a:r>
            <a:r>
              <a:rPr sz="1050" spc="-30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g</a:t>
            </a:r>
            <a:r>
              <a:rPr sz="1050" spc="-30" dirty="0">
                <a:latin typeface="Verdana"/>
                <a:cs typeface="Verdana"/>
              </a:rPr>
              <a:t> </a:t>
            </a:r>
            <a:r>
              <a:rPr sz="1050" spc="-25" dirty="0">
                <a:latin typeface="Verdana"/>
                <a:cs typeface="Verdana"/>
              </a:rPr>
              <a:t>); </a:t>
            </a:r>
            <a:r>
              <a:rPr sz="1050" spc="-10" dirty="0">
                <a:latin typeface="Verdana"/>
                <a:cs typeface="Verdana"/>
              </a:rPr>
              <a:t>g.setColor(</a:t>
            </a:r>
            <a:r>
              <a:rPr sz="1050" spc="-5" dirty="0">
                <a:latin typeface="Verdana"/>
                <a:cs typeface="Verdana"/>
              </a:rPr>
              <a:t> </a:t>
            </a:r>
            <a:r>
              <a:rPr sz="1050" spc="-10" dirty="0">
                <a:latin typeface="Verdana"/>
                <a:cs typeface="Verdana"/>
              </a:rPr>
              <a:t>Color.white</a:t>
            </a:r>
            <a:r>
              <a:rPr sz="1050" spc="-5" dirty="0">
                <a:latin typeface="Verdana"/>
                <a:cs typeface="Verdana"/>
              </a:rPr>
              <a:t> </a:t>
            </a:r>
            <a:r>
              <a:rPr sz="1050" spc="-25" dirty="0">
                <a:latin typeface="Verdana"/>
                <a:cs typeface="Verdana"/>
              </a:rPr>
              <a:t>);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293370">
              <a:lnSpc>
                <a:spcPct val="100000"/>
              </a:lnSpc>
            </a:pPr>
            <a:r>
              <a:rPr sz="1050" dirty="0">
                <a:latin typeface="Verdana"/>
                <a:cs typeface="Verdana"/>
              </a:rPr>
              <a:t>g.drawString(</a:t>
            </a:r>
            <a:r>
              <a:rPr sz="1050" spc="-30" dirty="0"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timeString,</a:t>
            </a:r>
            <a:r>
              <a:rPr sz="1050" spc="-10" dirty="0"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C00000"/>
                </a:solidFill>
                <a:latin typeface="Verdana"/>
                <a:cs typeface="Verdana"/>
              </a:rPr>
              <a:t>10</a:t>
            </a:r>
            <a:r>
              <a:rPr sz="1050" dirty="0">
                <a:latin typeface="Verdana"/>
                <a:cs typeface="Verdana"/>
              </a:rPr>
              <a:t>,</a:t>
            </a:r>
            <a:r>
              <a:rPr sz="1050" spc="-30" dirty="0">
                <a:latin typeface="Verdana"/>
                <a:cs typeface="Verdana"/>
              </a:rPr>
              <a:t> </a:t>
            </a:r>
            <a:r>
              <a:rPr sz="1050" spc="-10" dirty="0">
                <a:latin typeface="Verdana"/>
                <a:cs typeface="Verdana"/>
              </a:rPr>
              <a:t>height-</a:t>
            </a:r>
            <a:r>
              <a:rPr sz="1050" dirty="0">
                <a:solidFill>
                  <a:srgbClr val="C00000"/>
                </a:solidFill>
                <a:latin typeface="Verdana"/>
                <a:cs typeface="Verdana"/>
              </a:rPr>
              <a:t>10</a:t>
            </a:r>
            <a:r>
              <a:rPr sz="1050" spc="-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050" spc="-25" dirty="0">
                <a:latin typeface="Verdana"/>
                <a:cs typeface="Verdana"/>
              </a:rPr>
              <a:t>);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153035">
              <a:lnSpc>
                <a:spcPct val="100000"/>
              </a:lnSpc>
            </a:pPr>
            <a:r>
              <a:rPr sz="1050" spc="-50" dirty="0">
                <a:latin typeface="Verdana"/>
                <a:cs typeface="Verdana"/>
              </a:rPr>
              <a:t>}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50" spc="-50" dirty="0">
                <a:latin typeface="Verdana"/>
                <a:cs typeface="Verdana"/>
              </a:rPr>
              <a:t>}</a:t>
            </a:r>
            <a:endParaRPr sz="10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06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610B4B"/>
                </a:solidFill>
              </a:rPr>
              <a:t>myapplet.html</a:t>
            </a:r>
            <a:endParaRPr sz="1600"/>
          </a:p>
        </p:txBody>
      </p:sp>
      <p:sp>
        <p:nvSpPr>
          <p:cNvPr id="3" name="object 3"/>
          <p:cNvSpPr txBox="1"/>
          <p:nvPr/>
        </p:nvSpPr>
        <p:spPr>
          <a:xfrm>
            <a:off x="384725" y="1335666"/>
            <a:ext cx="4025900" cy="1804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Verdana"/>
                <a:cs typeface="Verdana"/>
              </a:rPr>
              <a:t>&lt;html&gt;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50" spc="-10" dirty="0">
                <a:latin typeface="Verdana"/>
                <a:cs typeface="Verdana"/>
              </a:rPr>
              <a:t>&lt;body&gt;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50" dirty="0">
                <a:latin typeface="Verdana"/>
                <a:cs typeface="Verdana"/>
              </a:rPr>
              <a:t>&lt;applet</a:t>
            </a:r>
            <a:r>
              <a:rPr sz="1050" spc="-25" dirty="0">
                <a:latin typeface="Verdana"/>
                <a:cs typeface="Verdana"/>
              </a:rPr>
              <a:t> </a:t>
            </a:r>
            <a:r>
              <a:rPr sz="1050" spc="-10" dirty="0">
                <a:latin typeface="Verdana"/>
                <a:cs typeface="Verdana"/>
              </a:rPr>
              <a:t>code=</a:t>
            </a:r>
            <a:r>
              <a:rPr sz="1050" spc="-10" dirty="0">
                <a:solidFill>
                  <a:srgbClr val="0000FF"/>
                </a:solidFill>
                <a:latin typeface="Verdana"/>
                <a:cs typeface="Verdana"/>
              </a:rPr>
              <a:t>"MyClock.class"</a:t>
            </a:r>
            <a:r>
              <a:rPr sz="1050" spc="-5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width=</a:t>
            </a:r>
            <a:r>
              <a:rPr sz="1050" dirty="0">
                <a:solidFill>
                  <a:srgbClr val="0000FF"/>
                </a:solidFill>
                <a:latin typeface="Verdana"/>
                <a:cs typeface="Verdana"/>
              </a:rPr>
              <a:t>"300"</a:t>
            </a:r>
            <a:r>
              <a:rPr sz="1050" spc="-2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latin typeface="Verdana"/>
                <a:cs typeface="Verdana"/>
              </a:rPr>
              <a:t>height=</a:t>
            </a:r>
            <a:r>
              <a:rPr sz="1050" spc="-10" dirty="0">
                <a:solidFill>
                  <a:srgbClr val="0000FF"/>
                </a:solidFill>
                <a:latin typeface="Verdana"/>
                <a:cs typeface="Verdana"/>
              </a:rPr>
              <a:t>"300"</a:t>
            </a:r>
            <a:r>
              <a:rPr sz="1050" spc="-10" dirty="0">
                <a:latin typeface="Verdana"/>
                <a:cs typeface="Verdana"/>
              </a:rPr>
              <a:t>&gt;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50" spc="-10" dirty="0">
                <a:latin typeface="Verdana"/>
                <a:cs typeface="Verdana"/>
              </a:rPr>
              <a:t>&lt;/applet&gt;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50" spc="-10" dirty="0">
                <a:latin typeface="Verdana"/>
                <a:cs typeface="Verdana"/>
              </a:rPr>
              <a:t>&lt;/body&gt;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50" spc="-10" dirty="0">
                <a:latin typeface="Verdana"/>
                <a:cs typeface="Verdana"/>
              </a:rPr>
              <a:t>&lt;/html&gt;</a:t>
            </a:r>
            <a:endParaRPr sz="10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0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Applet</a:t>
            </a:r>
            <a:r>
              <a:rPr spc="-30" dirty="0"/>
              <a:t> </a:t>
            </a:r>
            <a:r>
              <a:rPr spc="-10" dirty="0"/>
              <a:t>Communication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400181"/>
            <a:ext cx="8182609" cy="7461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16500"/>
              </a:lnSpc>
              <a:spcBef>
                <a:spcPts val="110"/>
              </a:spcBef>
            </a:pPr>
            <a:r>
              <a:rPr sz="1350" spc="-10" dirty="0">
                <a:latin typeface="Verdana"/>
                <a:cs typeface="Verdana"/>
              </a:rPr>
              <a:t>java.applet.AppletContext</a:t>
            </a:r>
            <a:r>
              <a:rPr sz="1350" spc="-45" dirty="0">
                <a:latin typeface="Verdana"/>
                <a:cs typeface="Verdana"/>
              </a:rPr>
              <a:t> </a:t>
            </a:r>
            <a:r>
              <a:rPr sz="1350" dirty="0">
                <a:latin typeface="Verdana"/>
                <a:cs typeface="Verdana"/>
              </a:rPr>
              <a:t>class</a:t>
            </a:r>
            <a:r>
              <a:rPr sz="1350" spc="-40" dirty="0">
                <a:latin typeface="Verdana"/>
                <a:cs typeface="Verdana"/>
              </a:rPr>
              <a:t> </a:t>
            </a:r>
            <a:r>
              <a:rPr sz="1350" dirty="0">
                <a:latin typeface="Verdana"/>
                <a:cs typeface="Verdana"/>
              </a:rPr>
              <a:t>provides</a:t>
            </a:r>
            <a:r>
              <a:rPr sz="1350" spc="-40" dirty="0">
                <a:latin typeface="Verdana"/>
                <a:cs typeface="Verdana"/>
              </a:rPr>
              <a:t> </a:t>
            </a:r>
            <a:r>
              <a:rPr sz="1350" dirty="0">
                <a:latin typeface="Verdana"/>
                <a:cs typeface="Verdana"/>
              </a:rPr>
              <a:t>the</a:t>
            </a:r>
            <a:r>
              <a:rPr sz="1350" spc="-40" dirty="0">
                <a:latin typeface="Verdana"/>
                <a:cs typeface="Verdana"/>
              </a:rPr>
              <a:t> </a:t>
            </a:r>
            <a:r>
              <a:rPr sz="1350" dirty="0">
                <a:latin typeface="Verdana"/>
                <a:cs typeface="Verdana"/>
              </a:rPr>
              <a:t>facility</a:t>
            </a:r>
            <a:r>
              <a:rPr sz="1350" spc="-40" dirty="0">
                <a:latin typeface="Verdana"/>
                <a:cs typeface="Verdana"/>
              </a:rPr>
              <a:t> </a:t>
            </a:r>
            <a:r>
              <a:rPr sz="1350" dirty="0">
                <a:latin typeface="Verdana"/>
                <a:cs typeface="Verdana"/>
              </a:rPr>
              <a:t>of</a:t>
            </a:r>
            <a:r>
              <a:rPr sz="1350" spc="-35" dirty="0">
                <a:latin typeface="Verdana"/>
                <a:cs typeface="Verdana"/>
              </a:rPr>
              <a:t> </a:t>
            </a:r>
            <a:r>
              <a:rPr sz="1350" spc="-10" dirty="0">
                <a:latin typeface="Verdana"/>
                <a:cs typeface="Verdana"/>
              </a:rPr>
              <a:t>communication</a:t>
            </a:r>
            <a:r>
              <a:rPr sz="1350" spc="-40" dirty="0">
                <a:latin typeface="Verdana"/>
                <a:cs typeface="Verdana"/>
              </a:rPr>
              <a:t> </a:t>
            </a:r>
            <a:r>
              <a:rPr sz="1350" dirty="0">
                <a:latin typeface="Verdana"/>
                <a:cs typeface="Verdana"/>
              </a:rPr>
              <a:t>between</a:t>
            </a:r>
            <a:r>
              <a:rPr sz="1350" spc="-40" dirty="0">
                <a:latin typeface="Verdana"/>
                <a:cs typeface="Verdana"/>
              </a:rPr>
              <a:t> </a:t>
            </a:r>
            <a:r>
              <a:rPr sz="1350" dirty="0">
                <a:latin typeface="Verdana"/>
                <a:cs typeface="Verdana"/>
              </a:rPr>
              <a:t>applets.</a:t>
            </a:r>
            <a:r>
              <a:rPr sz="1350" spc="-40" dirty="0">
                <a:latin typeface="Verdana"/>
                <a:cs typeface="Verdana"/>
              </a:rPr>
              <a:t> </a:t>
            </a:r>
            <a:r>
              <a:rPr sz="1350" spc="-25" dirty="0">
                <a:latin typeface="Verdana"/>
                <a:cs typeface="Verdana"/>
              </a:rPr>
              <a:t>We </a:t>
            </a:r>
            <a:r>
              <a:rPr sz="1350" dirty="0">
                <a:latin typeface="Verdana"/>
                <a:cs typeface="Verdana"/>
              </a:rPr>
              <a:t>provide</a:t>
            </a:r>
            <a:r>
              <a:rPr sz="1350" spc="-35" dirty="0">
                <a:latin typeface="Verdana"/>
                <a:cs typeface="Verdana"/>
              </a:rPr>
              <a:t> </a:t>
            </a:r>
            <a:r>
              <a:rPr sz="1350" dirty="0">
                <a:latin typeface="Verdana"/>
                <a:cs typeface="Verdana"/>
              </a:rPr>
              <a:t>the</a:t>
            </a:r>
            <a:r>
              <a:rPr sz="1350" spc="-35" dirty="0">
                <a:latin typeface="Verdana"/>
                <a:cs typeface="Verdana"/>
              </a:rPr>
              <a:t> </a:t>
            </a:r>
            <a:r>
              <a:rPr sz="1350" dirty="0">
                <a:latin typeface="Verdana"/>
                <a:cs typeface="Verdana"/>
              </a:rPr>
              <a:t>name</a:t>
            </a:r>
            <a:r>
              <a:rPr sz="1350" spc="-30" dirty="0">
                <a:latin typeface="Verdana"/>
                <a:cs typeface="Verdana"/>
              </a:rPr>
              <a:t> </a:t>
            </a:r>
            <a:r>
              <a:rPr sz="1350" dirty="0">
                <a:latin typeface="Verdana"/>
                <a:cs typeface="Verdana"/>
              </a:rPr>
              <a:t>of</a:t>
            </a:r>
            <a:r>
              <a:rPr sz="1350" spc="-35" dirty="0">
                <a:latin typeface="Verdana"/>
                <a:cs typeface="Verdana"/>
              </a:rPr>
              <a:t> </a:t>
            </a:r>
            <a:r>
              <a:rPr sz="1350" dirty="0">
                <a:latin typeface="Verdana"/>
                <a:cs typeface="Verdana"/>
              </a:rPr>
              <a:t>applet</a:t>
            </a:r>
            <a:r>
              <a:rPr sz="1350" spc="-35" dirty="0">
                <a:latin typeface="Verdana"/>
                <a:cs typeface="Verdana"/>
              </a:rPr>
              <a:t> </a:t>
            </a:r>
            <a:r>
              <a:rPr sz="1350" dirty="0">
                <a:latin typeface="Verdana"/>
                <a:cs typeface="Verdana"/>
              </a:rPr>
              <a:t>through</a:t>
            </a:r>
            <a:r>
              <a:rPr sz="1350" spc="-30" dirty="0">
                <a:latin typeface="Verdana"/>
                <a:cs typeface="Verdana"/>
              </a:rPr>
              <a:t> </a:t>
            </a:r>
            <a:r>
              <a:rPr sz="1350" dirty="0">
                <a:latin typeface="Verdana"/>
                <a:cs typeface="Verdana"/>
              </a:rPr>
              <a:t>the</a:t>
            </a:r>
            <a:r>
              <a:rPr sz="1350" spc="-35" dirty="0">
                <a:latin typeface="Verdana"/>
                <a:cs typeface="Verdana"/>
              </a:rPr>
              <a:t> </a:t>
            </a:r>
            <a:r>
              <a:rPr sz="1350" dirty="0">
                <a:latin typeface="Verdana"/>
                <a:cs typeface="Verdana"/>
              </a:rPr>
              <a:t>HTML</a:t>
            </a:r>
            <a:r>
              <a:rPr sz="1350" spc="-30" dirty="0">
                <a:latin typeface="Verdana"/>
                <a:cs typeface="Verdana"/>
              </a:rPr>
              <a:t> </a:t>
            </a:r>
            <a:r>
              <a:rPr sz="1350" dirty="0">
                <a:latin typeface="Verdana"/>
                <a:cs typeface="Verdana"/>
              </a:rPr>
              <a:t>file.</a:t>
            </a:r>
            <a:r>
              <a:rPr sz="1350" spc="-35" dirty="0">
                <a:latin typeface="Verdana"/>
                <a:cs typeface="Verdana"/>
              </a:rPr>
              <a:t> </a:t>
            </a:r>
            <a:r>
              <a:rPr sz="1350" dirty="0">
                <a:latin typeface="Verdana"/>
                <a:cs typeface="Verdana"/>
              </a:rPr>
              <a:t>It</a:t>
            </a:r>
            <a:r>
              <a:rPr sz="1350" spc="-35" dirty="0">
                <a:latin typeface="Verdana"/>
                <a:cs typeface="Verdana"/>
              </a:rPr>
              <a:t> </a:t>
            </a:r>
            <a:r>
              <a:rPr sz="1350" dirty="0">
                <a:latin typeface="Verdana"/>
                <a:cs typeface="Verdana"/>
              </a:rPr>
              <a:t>provides</a:t>
            </a:r>
            <a:r>
              <a:rPr sz="1350" spc="-30" dirty="0">
                <a:latin typeface="Verdana"/>
                <a:cs typeface="Verdana"/>
              </a:rPr>
              <a:t> </a:t>
            </a:r>
            <a:r>
              <a:rPr sz="1350" dirty="0">
                <a:latin typeface="Verdana"/>
                <a:cs typeface="Verdana"/>
              </a:rPr>
              <a:t>getApplet()</a:t>
            </a:r>
            <a:r>
              <a:rPr sz="1350" spc="-35" dirty="0">
                <a:latin typeface="Verdana"/>
                <a:cs typeface="Verdana"/>
              </a:rPr>
              <a:t> </a:t>
            </a:r>
            <a:r>
              <a:rPr sz="1350" dirty="0">
                <a:latin typeface="Verdana"/>
                <a:cs typeface="Verdana"/>
              </a:rPr>
              <a:t>method</a:t>
            </a:r>
            <a:r>
              <a:rPr sz="1350" spc="-30" dirty="0">
                <a:latin typeface="Verdana"/>
                <a:cs typeface="Verdana"/>
              </a:rPr>
              <a:t> </a:t>
            </a:r>
            <a:r>
              <a:rPr sz="1350" dirty="0">
                <a:latin typeface="Verdana"/>
                <a:cs typeface="Verdana"/>
              </a:rPr>
              <a:t>that</a:t>
            </a:r>
            <a:r>
              <a:rPr sz="1350" spc="-35" dirty="0">
                <a:latin typeface="Verdana"/>
                <a:cs typeface="Verdana"/>
              </a:rPr>
              <a:t> </a:t>
            </a:r>
            <a:r>
              <a:rPr sz="1350" spc="-10" dirty="0">
                <a:latin typeface="Verdana"/>
                <a:cs typeface="Verdana"/>
              </a:rPr>
              <a:t>returns </a:t>
            </a:r>
            <a:r>
              <a:rPr sz="1350" dirty="0">
                <a:latin typeface="Verdana"/>
                <a:cs typeface="Verdana"/>
              </a:rPr>
              <a:t>the</a:t>
            </a:r>
            <a:r>
              <a:rPr sz="1350" spc="-25" dirty="0">
                <a:latin typeface="Verdana"/>
                <a:cs typeface="Verdana"/>
              </a:rPr>
              <a:t> </a:t>
            </a:r>
            <a:r>
              <a:rPr sz="1350" dirty="0">
                <a:latin typeface="Verdana"/>
                <a:cs typeface="Verdana"/>
              </a:rPr>
              <a:t>object</a:t>
            </a:r>
            <a:r>
              <a:rPr sz="1350" spc="-25" dirty="0">
                <a:latin typeface="Verdana"/>
                <a:cs typeface="Verdana"/>
              </a:rPr>
              <a:t> </a:t>
            </a:r>
            <a:r>
              <a:rPr sz="1350" dirty="0">
                <a:latin typeface="Verdana"/>
                <a:cs typeface="Verdana"/>
              </a:rPr>
              <a:t>of</a:t>
            </a:r>
            <a:r>
              <a:rPr sz="1350" spc="-20" dirty="0">
                <a:latin typeface="Verdana"/>
                <a:cs typeface="Verdana"/>
              </a:rPr>
              <a:t> </a:t>
            </a:r>
            <a:r>
              <a:rPr sz="1350" spc="-10" dirty="0">
                <a:latin typeface="Verdana"/>
                <a:cs typeface="Verdana"/>
              </a:rPr>
              <a:t>Applet.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2677167"/>
            <a:ext cx="3987800" cy="612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10" dirty="0">
                <a:latin typeface="Verdana"/>
                <a:cs typeface="Verdana"/>
              </a:rPr>
              <a:t>Syntax:</a:t>
            </a:r>
            <a:endParaRPr sz="1350">
              <a:latin typeface="Verdana"/>
              <a:cs typeface="Verdana"/>
            </a:endParaRPr>
          </a:p>
          <a:p>
            <a:pPr marL="69850">
              <a:lnSpc>
                <a:spcPct val="100000"/>
              </a:lnSpc>
              <a:spcBef>
                <a:spcPts val="1380"/>
              </a:spcBef>
              <a:tabLst>
                <a:tab pos="469265" algn="l"/>
              </a:tabLst>
            </a:pPr>
            <a:r>
              <a:rPr sz="1350" spc="-25" dirty="0">
                <a:latin typeface="Verdana"/>
                <a:cs typeface="Verdana"/>
              </a:rPr>
              <a:t>1.</a:t>
            </a:r>
            <a:r>
              <a:rPr sz="1350" dirty="0">
                <a:latin typeface="Verdana"/>
                <a:cs typeface="Verdana"/>
              </a:rPr>
              <a:t>	</a:t>
            </a:r>
            <a:r>
              <a:rPr sz="1350" b="1" dirty="0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350" b="1" spc="-4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350" dirty="0">
                <a:latin typeface="Verdana"/>
                <a:cs typeface="Verdana"/>
              </a:rPr>
              <a:t>Applet</a:t>
            </a:r>
            <a:r>
              <a:rPr sz="1350" spc="-60" dirty="0">
                <a:latin typeface="Verdana"/>
                <a:cs typeface="Verdana"/>
              </a:rPr>
              <a:t> </a:t>
            </a:r>
            <a:r>
              <a:rPr sz="1350" spc="-10" dirty="0">
                <a:latin typeface="Verdana"/>
                <a:cs typeface="Verdana"/>
              </a:rPr>
              <a:t>getApplet(String</a:t>
            </a:r>
            <a:r>
              <a:rPr sz="1350" spc="-60" dirty="0">
                <a:latin typeface="Verdana"/>
                <a:cs typeface="Verdana"/>
              </a:rPr>
              <a:t> </a:t>
            </a:r>
            <a:r>
              <a:rPr sz="1350" spc="-10" dirty="0">
                <a:latin typeface="Verdana"/>
                <a:cs typeface="Verdana"/>
              </a:rPr>
              <a:t>name){}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67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2A3890"/>
                </a:solidFill>
                <a:latin typeface="Roboto"/>
                <a:cs typeface="Roboto"/>
              </a:rPr>
              <a:t>Write</a:t>
            </a:r>
            <a:r>
              <a:rPr sz="2800" spc="-85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2800" dirty="0">
                <a:solidFill>
                  <a:srgbClr val="2A3890"/>
                </a:solidFill>
                <a:latin typeface="Roboto"/>
                <a:cs typeface="Roboto"/>
              </a:rPr>
              <a:t>a</a:t>
            </a:r>
            <a:r>
              <a:rPr sz="2800" spc="-85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2800" spc="-20" dirty="0">
                <a:solidFill>
                  <a:srgbClr val="2A3890"/>
                </a:solidFill>
                <a:latin typeface="Roboto"/>
                <a:cs typeface="Roboto"/>
              </a:rPr>
              <a:t>program</a:t>
            </a:r>
            <a:r>
              <a:rPr sz="2800" spc="-85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2800" dirty="0">
                <a:solidFill>
                  <a:srgbClr val="2A3890"/>
                </a:solidFill>
                <a:latin typeface="Roboto"/>
                <a:cs typeface="Roboto"/>
              </a:rPr>
              <a:t>to</a:t>
            </a:r>
            <a:r>
              <a:rPr sz="2800" spc="-85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2800" spc="-10" dirty="0">
                <a:solidFill>
                  <a:srgbClr val="2A3890"/>
                </a:solidFill>
                <a:latin typeface="Roboto"/>
                <a:cs typeface="Roboto"/>
              </a:rPr>
              <a:t>generate</a:t>
            </a:r>
            <a:r>
              <a:rPr sz="2800" spc="-85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2800" dirty="0">
                <a:solidFill>
                  <a:srgbClr val="2A3890"/>
                </a:solidFill>
                <a:latin typeface="Roboto"/>
                <a:cs typeface="Roboto"/>
              </a:rPr>
              <a:t>a</a:t>
            </a:r>
            <a:r>
              <a:rPr sz="2800" spc="-85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2800" spc="-20" dirty="0">
                <a:solidFill>
                  <a:srgbClr val="2A3890"/>
                </a:solidFill>
                <a:latin typeface="Roboto"/>
                <a:cs typeface="Roboto"/>
              </a:rPr>
              <a:t>Bouncing</a:t>
            </a:r>
            <a:r>
              <a:rPr sz="2800" spc="-80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2800" dirty="0">
                <a:solidFill>
                  <a:srgbClr val="2A3890"/>
                </a:solidFill>
                <a:latin typeface="Roboto"/>
                <a:cs typeface="Roboto"/>
              </a:rPr>
              <a:t>Ball</a:t>
            </a:r>
            <a:r>
              <a:rPr sz="2800" spc="-85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2800" dirty="0">
                <a:solidFill>
                  <a:srgbClr val="2A3890"/>
                </a:solidFill>
                <a:latin typeface="Roboto"/>
                <a:cs typeface="Roboto"/>
              </a:rPr>
              <a:t>on</a:t>
            </a:r>
            <a:r>
              <a:rPr sz="2800" spc="-85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2800" spc="-10" dirty="0">
                <a:solidFill>
                  <a:srgbClr val="2A3890"/>
                </a:solidFill>
                <a:latin typeface="Roboto"/>
                <a:cs typeface="Roboto"/>
              </a:rPr>
              <a:t>Click</a:t>
            </a:r>
            <a:endParaRPr sz="28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335666"/>
            <a:ext cx="5006975" cy="3423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import</a:t>
            </a:r>
            <a:r>
              <a:rPr sz="1050" b="1" spc="-5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latin typeface="Verdana"/>
                <a:cs typeface="Verdana"/>
              </a:rPr>
              <a:t>java.applet.*;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import</a:t>
            </a:r>
            <a:r>
              <a:rPr sz="1050" b="1" spc="-5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latin typeface="Verdana"/>
                <a:cs typeface="Verdana"/>
              </a:rPr>
              <a:t>java.awt.*;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import</a:t>
            </a:r>
            <a:r>
              <a:rPr sz="1050" b="1" spc="-5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latin typeface="Verdana"/>
                <a:cs typeface="Verdana"/>
              </a:rPr>
              <a:t>java.awt.event.*;</a:t>
            </a:r>
            <a:endParaRPr sz="1050">
              <a:latin typeface="Verdana"/>
              <a:cs typeface="Verdana"/>
            </a:endParaRPr>
          </a:p>
          <a:p>
            <a:pPr marL="12700" marR="5080">
              <a:lnSpc>
                <a:spcPct val="202400"/>
              </a:lnSpc>
            </a:pP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050" b="1" spc="-2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050" b="1" spc="-2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ContextApplet</a:t>
            </a:r>
            <a:r>
              <a:rPr sz="1050" spc="-35" dirty="0">
                <a:latin typeface="Verdana"/>
                <a:cs typeface="Verdana"/>
              </a:rPr>
              <a:t> </a:t>
            </a: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extends</a:t>
            </a:r>
            <a:r>
              <a:rPr sz="1050" b="1" spc="-2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dirty="0">
                <a:latin typeface="Verdana"/>
                <a:cs typeface="Verdana"/>
              </a:rPr>
              <a:t>Applet</a:t>
            </a:r>
            <a:r>
              <a:rPr sz="1050" spc="-35" dirty="0">
                <a:latin typeface="Verdana"/>
                <a:cs typeface="Verdana"/>
              </a:rPr>
              <a:t> </a:t>
            </a:r>
            <a:r>
              <a:rPr sz="1050" b="1" spc="-10" dirty="0">
                <a:solidFill>
                  <a:srgbClr val="006699"/>
                </a:solidFill>
                <a:latin typeface="Verdana"/>
                <a:cs typeface="Verdana"/>
              </a:rPr>
              <a:t>implements</a:t>
            </a:r>
            <a:r>
              <a:rPr sz="1050" b="1" spc="-2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latin typeface="Verdana"/>
                <a:cs typeface="Verdana"/>
              </a:rPr>
              <a:t>ActionListener{ </a:t>
            </a:r>
            <a:r>
              <a:rPr sz="1050" dirty="0">
                <a:latin typeface="Verdana"/>
                <a:cs typeface="Verdana"/>
              </a:rPr>
              <a:t>Button</a:t>
            </a:r>
            <a:r>
              <a:rPr sz="1050" spc="-30" dirty="0">
                <a:latin typeface="Verdana"/>
                <a:cs typeface="Verdana"/>
              </a:rPr>
              <a:t> </a:t>
            </a:r>
            <a:r>
              <a:rPr sz="1050" spc="-25" dirty="0">
                <a:latin typeface="Verdana"/>
                <a:cs typeface="Verdana"/>
              </a:rPr>
              <a:t>b;</a:t>
            </a:r>
            <a:endParaRPr sz="1050">
              <a:latin typeface="Verdana"/>
              <a:cs typeface="Verdana"/>
            </a:endParaRPr>
          </a:p>
          <a:p>
            <a:pPr marL="12700" marR="3154045" indent="93345">
              <a:lnSpc>
                <a:spcPct val="202400"/>
              </a:lnSpc>
            </a:pP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050" b="1" spc="-4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050" b="1" spc="-4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latin typeface="Verdana"/>
                <a:cs typeface="Verdana"/>
              </a:rPr>
              <a:t>init(){ </a:t>
            </a:r>
            <a:r>
              <a:rPr sz="1050" dirty="0">
                <a:latin typeface="Verdana"/>
                <a:cs typeface="Verdana"/>
              </a:rPr>
              <a:t>b=</a:t>
            </a:r>
            <a:r>
              <a:rPr sz="1050" b="1" dirty="0">
                <a:solidFill>
                  <a:srgbClr val="006699"/>
                </a:solidFill>
                <a:latin typeface="Verdana"/>
                <a:cs typeface="Verdana"/>
              </a:rPr>
              <a:t>new</a:t>
            </a:r>
            <a:r>
              <a:rPr sz="1050" b="1" spc="-3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latin typeface="Verdana"/>
                <a:cs typeface="Verdana"/>
              </a:rPr>
              <a:t>Button(</a:t>
            </a:r>
            <a:r>
              <a:rPr sz="1050" spc="-10" dirty="0">
                <a:solidFill>
                  <a:srgbClr val="0000FF"/>
                </a:solidFill>
                <a:latin typeface="Verdana"/>
                <a:cs typeface="Verdana"/>
              </a:rPr>
              <a:t>"Click"</a:t>
            </a:r>
            <a:r>
              <a:rPr sz="1050" spc="-10" dirty="0">
                <a:latin typeface="Verdana"/>
                <a:cs typeface="Verdana"/>
              </a:rPr>
              <a:t>); b.setBounds(</a:t>
            </a:r>
            <a:r>
              <a:rPr sz="1050" spc="-10" dirty="0">
                <a:solidFill>
                  <a:srgbClr val="C00000"/>
                </a:solidFill>
                <a:latin typeface="Verdana"/>
                <a:cs typeface="Verdana"/>
              </a:rPr>
              <a:t>50</a:t>
            </a:r>
            <a:r>
              <a:rPr sz="1050" spc="-10" dirty="0">
                <a:latin typeface="Verdana"/>
                <a:cs typeface="Verdana"/>
              </a:rPr>
              <a:t>,</a:t>
            </a:r>
            <a:r>
              <a:rPr sz="1050" spc="-10" dirty="0">
                <a:solidFill>
                  <a:srgbClr val="C00000"/>
                </a:solidFill>
                <a:latin typeface="Verdana"/>
                <a:cs typeface="Verdana"/>
              </a:rPr>
              <a:t>50</a:t>
            </a:r>
            <a:r>
              <a:rPr sz="1050" spc="-10" dirty="0">
                <a:latin typeface="Verdana"/>
                <a:cs typeface="Verdana"/>
              </a:rPr>
              <a:t>,</a:t>
            </a:r>
            <a:r>
              <a:rPr sz="1050" spc="-10" dirty="0">
                <a:solidFill>
                  <a:srgbClr val="C00000"/>
                </a:solidFill>
                <a:latin typeface="Verdana"/>
                <a:cs typeface="Verdana"/>
              </a:rPr>
              <a:t>60</a:t>
            </a:r>
            <a:r>
              <a:rPr sz="1050" spc="-10" dirty="0">
                <a:latin typeface="Verdana"/>
                <a:cs typeface="Verdana"/>
              </a:rPr>
              <a:t>,</a:t>
            </a:r>
            <a:r>
              <a:rPr sz="1050" spc="-10" dirty="0">
                <a:solidFill>
                  <a:srgbClr val="C00000"/>
                </a:solidFill>
                <a:latin typeface="Verdana"/>
                <a:cs typeface="Verdana"/>
              </a:rPr>
              <a:t>50</a:t>
            </a:r>
            <a:r>
              <a:rPr sz="1050" spc="-10" dirty="0">
                <a:latin typeface="Verdana"/>
                <a:cs typeface="Verdana"/>
              </a:rPr>
              <a:t>);</a:t>
            </a:r>
            <a:endParaRPr sz="1050">
              <a:latin typeface="Verdana"/>
              <a:cs typeface="Verdana"/>
            </a:endParaRPr>
          </a:p>
          <a:p>
            <a:pPr marL="12700" marR="3198495" indent="93345">
              <a:lnSpc>
                <a:spcPct val="202400"/>
              </a:lnSpc>
            </a:pPr>
            <a:r>
              <a:rPr sz="1050" spc="-10" dirty="0">
                <a:latin typeface="Verdana"/>
                <a:cs typeface="Verdana"/>
              </a:rPr>
              <a:t>add(b); b.addActionListener(</a:t>
            </a:r>
            <a:r>
              <a:rPr sz="1050" b="1" spc="-10" dirty="0">
                <a:solidFill>
                  <a:srgbClr val="006699"/>
                </a:solidFill>
                <a:latin typeface="Verdana"/>
                <a:cs typeface="Verdana"/>
              </a:rPr>
              <a:t>this</a:t>
            </a:r>
            <a:r>
              <a:rPr sz="1050" spc="-10" dirty="0">
                <a:latin typeface="Verdana"/>
                <a:cs typeface="Verdana"/>
              </a:rPr>
              <a:t>);</a:t>
            </a:r>
            <a:endParaRPr sz="1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50" spc="-50" dirty="0">
                <a:latin typeface="Verdana"/>
                <a:cs typeface="Verdana"/>
              </a:rPr>
              <a:t>}</a:t>
            </a:r>
            <a:endParaRPr sz="10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4725" y="1334649"/>
            <a:ext cx="3698875" cy="2120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dirty="0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250" b="1" spc="3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50" b="1" dirty="0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250" b="1" spc="3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latin typeface="Verdana"/>
                <a:cs typeface="Verdana"/>
              </a:rPr>
              <a:t>actionPerformed(ActionEvent</a:t>
            </a:r>
            <a:r>
              <a:rPr sz="1250" spc="20" dirty="0">
                <a:latin typeface="Verdana"/>
                <a:cs typeface="Verdana"/>
              </a:rPr>
              <a:t> </a:t>
            </a:r>
            <a:r>
              <a:rPr sz="1250" spc="-25" dirty="0">
                <a:latin typeface="Verdana"/>
                <a:cs typeface="Verdana"/>
              </a:rPr>
              <a:t>e){</a:t>
            </a:r>
            <a:endParaRPr sz="1250">
              <a:latin typeface="Verdana"/>
              <a:cs typeface="Verdana"/>
            </a:endParaRPr>
          </a:p>
          <a:p>
            <a:pPr marL="12700" marR="412750" indent="111125">
              <a:lnSpc>
                <a:spcPct val="200000"/>
              </a:lnSpc>
            </a:pPr>
            <a:r>
              <a:rPr sz="1250" dirty="0">
                <a:latin typeface="Verdana"/>
                <a:cs typeface="Verdana"/>
              </a:rPr>
              <a:t>AppletContext</a:t>
            </a:r>
            <a:r>
              <a:rPr sz="1250" spc="-65" dirty="0">
                <a:latin typeface="Verdana"/>
                <a:cs typeface="Verdana"/>
              </a:rPr>
              <a:t> </a:t>
            </a:r>
            <a:r>
              <a:rPr sz="1250" spc="-10" dirty="0">
                <a:latin typeface="Verdana"/>
                <a:cs typeface="Verdana"/>
              </a:rPr>
              <a:t>ctx=getAppletContext(); </a:t>
            </a:r>
            <a:r>
              <a:rPr sz="1250" dirty="0">
                <a:latin typeface="Verdana"/>
                <a:cs typeface="Verdana"/>
              </a:rPr>
              <a:t>Applet</a:t>
            </a:r>
            <a:r>
              <a:rPr sz="1250" spc="-30" dirty="0">
                <a:latin typeface="Verdana"/>
                <a:cs typeface="Verdana"/>
              </a:rPr>
              <a:t> </a:t>
            </a:r>
            <a:r>
              <a:rPr sz="1250" spc="-10" dirty="0">
                <a:latin typeface="Verdana"/>
                <a:cs typeface="Verdana"/>
              </a:rPr>
              <a:t>a=ctx.getApplet(</a:t>
            </a:r>
            <a:r>
              <a:rPr sz="1250" spc="-10" dirty="0">
                <a:solidFill>
                  <a:srgbClr val="0000FF"/>
                </a:solidFill>
                <a:latin typeface="Verdana"/>
                <a:cs typeface="Verdana"/>
              </a:rPr>
              <a:t>"app2"</a:t>
            </a:r>
            <a:r>
              <a:rPr sz="1250" spc="-10" dirty="0">
                <a:latin typeface="Verdana"/>
                <a:cs typeface="Verdana"/>
              </a:rPr>
              <a:t>); a.setBackground(Color.yellow);</a:t>
            </a:r>
            <a:endParaRPr sz="12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sz="1250" spc="-50" dirty="0">
                <a:latin typeface="Verdana"/>
                <a:cs typeface="Verdana"/>
              </a:rPr>
              <a:t>}</a:t>
            </a:r>
            <a:endParaRPr sz="12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sz="1250" spc="-50" dirty="0">
                <a:latin typeface="Verdana"/>
                <a:cs typeface="Verdana"/>
              </a:rPr>
              <a:t>}</a:t>
            </a:r>
            <a:endParaRPr sz="1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06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610B4B"/>
                </a:solidFill>
              </a:rPr>
              <a:t>myapplet.html</a:t>
            </a:r>
            <a:endParaRPr sz="16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&lt;html&gt;</a:t>
            </a: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spc="-10" dirty="0"/>
              <a:t>&lt;body&gt;</a:t>
            </a: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dirty="0"/>
              <a:t>&lt;applet</a:t>
            </a:r>
            <a:r>
              <a:rPr spc="-35" dirty="0"/>
              <a:t> </a:t>
            </a:r>
            <a:r>
              <a:rPr spc="-10" dirty="0"/>
              <a:t>code=</a:t>
            </a:r>
            <a:r>
              <a:rPr spc="-10" dirty="0">
                <a:solidFill>
                  <a:srgbClr val="0000FF"/>
                </a:solidFill>
              </a:rPr>
              <a:t>"ContextApplet.class" </a:t>
            </a:r>
            <a:r>
              <a:rPr dirty="0"/>
              <a:t>width=</a:t>
            </a:r>
            <a:r>
              <a:rPr dirty="0">
                <a:solidFill>
                  <a:srgbClr val="0000FF"/>
                </a:solidFill>
              </a:rPr>
              <a:t>"150"</a:t>
            </a:r>
            <a:r>
              <a:rPr spc="-25" dirty="0">
                <a:solidFill>
                  <a:srgbClr val="0000FF"/>
                </a:solidFill>
              </a:rPr>
              <a:t> </a:t>
            </a:r>
            <a:r>
              <a:rPr dirty="0"/>
              <a:t>height=</a:t>
            </a:r>
            <a:r>
              <a:rPr dirty="0">
                <a:solidFill>
                  <a:srgbClr val="0000FF"/>
                </a:solidFill>
              </a:rPr>
              <a:t>"150"</a:t>
            </a:r>
            <a:r>
              <a:rPr spc="-30" dirty="0">
                <a:solidFill>
                  <a:srgbClr val="0000FF"/>
                </a:solidFill>
              </a:rPr>
              <a:t> </a:t>
            </a:r>
            <a:r>
              <a:rPr spc="-10" dirty="0"/>
              <a:t>name=</a:t>
            </a:r>
            <a:r>
              <a:rPr spc="-10" dirty="0">
                <a:solidFill>
                  <a:srgbClr val="0000FF"/>
                </a:solidFill>
              </a:rPr>
              <a:t>"app1"</a:t>
            </a:r>
            <a:r>
              <a:rPr spc="-10" dirty="0"/>
              <a:t>&gt;</a:t>
            </a: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spc="-10" dirty="0"/>
              <a:t>&lt;/applet&gt;</a:t>
            </a:r>
          </a:p>
          <a:p>
            <a:pPr marL="123825">
              <a:lnSpc>
                <a:spcPct val="100000"/>
              </a:lnSpc>
              <a:spcBef>
                <a:spcPts val="1500"/>
              </a:spcBef>
            </a:pPr>
            <a:r>
              <a:rPr dirty="0"/>
              <a:t>&lt;applet</a:t>
            </a:r>
            <a:r>
              <a:rPr spc="-45" dirty="0"/>
              <a:t> </a:t>
            </a:r>
            <a:r>
              <a:rPr spc="-10" dirty="0"/>
              <a:t>code=</a:t>
            </a:r>
            <a:r>
              <a:rPr spc="-10" dirty="0">
                <a:solidFill>
                  <a:srgbClr val="0000FF"/>
                </a:solidFill>
              </a:rPr>
              <a:t>"First.class"</a:t>
            </a:r>
            <a:r>
              <a:rPr spc="-30" dirty="0">
                <a:solidFill>
                  <a:srgbClr val="0000FF"/>
                </a:solidFill>
              </a:rPr>
              <a:t> </a:t>
            </a:r>
            <a:r>
              <a:rPr dirty="0"/>
              <a:t>width=</a:t>
            </a:r>
            <a:r>
              <a:rPr dirty="0">
                <a:solidFill>
                  <a:srgbClr val="0000FF"/>
                </a:solidFill>
              </a:rPr>
              <a:t>"150"</a:t>
            </a:r>
            <a:r>
              <a:rPr spc="-35" dirty="0">
                <a:solidFill>
                  <a:srgbClr val="0000FF"/>
                </a:solidFill>
              </a:rPr>
              <a:t> </a:t>
            </a:r>
            <a:r>
              <a:rPr dirty="0"/>
              <a:t>height=</a:t>
            </a:r>
            <a:r>
              <a:rPr dirty="0">
                <a:solidFill>
                  <a:srgbClr val="0000FF"/>
                </a:solidFill>
              </a:rPr>
              <a:t>"150"</a:t>
            </a:r>
            <a:r>
              <a:rPr spc="-40" dirty="0">
                <a:solidFill>
                  <a:srgbClr val="0000FF"/>
                </a:solidFill>
              </a:rPr>
              <a:t> </a:t>
            </a:r>
            <a:r>
              <a:rPr spc="-10" dirty="0"/>
              <a:t>name=</a:t>
            </a:r>
            <a:r>
              <a:rPr spc="-10" dirty="0">
                <a:solidFill>
                  <a:srgbClr val="0000FF"/>
                </a:solidFill>
              </a:rPr>
              <a:t>"app2"</a:t>
            </a:r>
            <a:r>
              <a:rPr spc="-10" dirty="0"/>
              <a:t>&gt;</a:t>
            </a: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spc="-10" dirty="0"/>
              <a:t>&lt;/applet&gt;</a:t>
            </a: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spc="-10" dirty="0"/>
              <a:t>&lt;/body&gt;</a:t>
            </a: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spc="-10" dirty="0"/>
              <a:t>&lt;/html&gt;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3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dirty="0">
                <a:latin typeface="Arial"/>
                <a:cs typeface="Arial"/>
              </a:rPr>
              <a:t>Java</a:t>
            </a:r>
            <a:r>
              <a:rPr sz="2300" b="1" spc="-20" dirty="0">
                <a:latin typeface="Arial"/>
                <a:cs typeface="Arial"/>
              </a:rPr>
              <a:t> </a:t>
            </a:r>
            <a:r>
              <a:rPr sz="2300" b="1" spc="-10" dirty="0">
                <a:latin typeface="Arial"/>
                <a:cs typeface="Arial"/>
              </a:rPr>
              <a:t>Swing</a:t>
            </a:r>
            <a:endParaRPr sz="23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295787"/>
            <a:ext cx="8070850" cy="2972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Java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Swing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tutorial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part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Java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Foundation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Classes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(JFC)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that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used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create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window-</a:t>
            </a:r>
            <a:r>
              <a:rPr sz="1400" dirty="0">
                <a:latin typeface="Times New Roman"/>
                <a:cs typeface="Times New Roman"/>
              </a:rPr>
              <a:t>based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applications.</a:t>
            </a:r>
            <a:endParaRPr sz="1400">
              <a:latin typeface="Times New Roman"/>
              <a:cs typeface="Times New Roman"/>
            </a:endParaRPr>
          </a:p>
          <a:p>
            <a:pPr marL="12700" marR="1524000">
              <a:lnSpc>
                <a:spcPct val="209800"/>
              </a:lnSpc>
            </a:pPr>
            <a:r>
              <a:rPr sz="1400" dirty="0">
                <a:latin typeface="Times New Roman"/>
                <a:cs typeface="Times New Roman"/>
              </a:rPr>
              <a:t>It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built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top of</a:t>
            </a:r>
            <a:r>
              <a:rPr sz="1400" spc="-85" dirty="0">
                <a:latin typeface="Times New Roman"/>
                <a:cs typeface="Times New Roman"/>
              </a:rPr>
              <a:t> </a:t>
            </a:r>
            <a:r>
              <a:rPr sz="1400" spc="-45" dirty="0">
                <a:latin typeface="Times New Roman"/>
                <a:cs typeface="Times New Roman"/>
              </a:rPr>
              <a:t>AWT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(Abstract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Windowing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Toolkit)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API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 entirely written in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java. </a:t>
            </a:r>
            <a:r>
              <a:rPr sz="1400" dirty="0">
                <a:latin typeface="Times New Roman"/>
                <a:cs typeface="Times New Roman"/>
              </a:rPr>
              <a:t>Java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Swing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provides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platform-</a:t>
            </a:r>
            <a:r>
              <a:rPr sz="1400" dirty="0">
                <a:latin typeface="Times New Roman"/>
                <a:cs typeface="Times New Roman"/>
              </a:rPr>
              <a:t>independent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lightweight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components.</a:t>
            </a:r>
            <a:endParaRPr sz="1400">
              <a:latin typeface="Times New Roman"/>
              <a:cs typeface="Times New Roman"/>
            </a:endParaRPr>
          </a:p>
          <a:p>
            <a:pPr marL="279400" marR="5647690" indent="-266700">
              <a:lnSpc>
                <a:spcPct val="209800"/>
              </a:lnSpc>
            </a:pPr>
            <a:r>
              <a:rPr sz="1400" dirty="0">
                <a:latin typeface="Times New Roman"/>
                <a:cs typeface="Times New Roman"/>
              </a:rPr>
              <a:t>Swing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more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flexible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robust </a:t>
            </a:r>
            <a:r>
              <a:rPr sz="1400" dirty="0">
                <a:latin typeface="Times New Roman"/>
                <a:cs typeface="Times New Roman"/>
              </a:rPr>
              <a:t>Some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basic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classes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are</a:t>
            </a:r>
            <a:endParaRPr sz="1400">
              <a:latin typeface="Times New Roman"/>
              <a:cs typeface="Times New Roman"/>
            </a:endParaRPr>
          </a:p>
          <a:p>
            <a:pPr marL="927100" marR="6582409">
              <a:lnSpc>
                <a:spcPct val="116100"/>
              </a:lnSpc>
              <a:spcBef>
                <a:spcPts val="1575"/>
              </a:spcBef>
            </a:pPr>
            <a:r>
              <a:rPr sz="1400" spc="-10" dirty="0">
                <a:latin typeface="Times New Roman"/>
                <a:cs typeface="Times New Roman"/>
              </a:rPr>
              <a:t>JApplet JFame JButton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1124" y="768425"/>
            <a:ext cx="6341175" cy="428934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84725" y="329455"/>
            <a:ext cx="31438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610B37"/>
                </a:solidFill>
                <a:latin typeface="Times New Roman"/>
                <a:cs typeface="Times New Roman"/>
              </a:rPr>
              <a:t>Hierarchy</a:t>
            </a:r>
            <a:r>
              <a:rPr sz="1800" b="1" spc="-35" dirty="0">
                <a:solidFill>
                  <a:srgbClr val="610B37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610B37"/>
                </a:solidFill>
                <a:latin typeface="Times New Roman"/>
                <a:cs typeface="Times New Roman"/>
              </a:rPr>
              <a:t>of</a:t>
            </a:r>
            <a:r>
              <a:rPr sz="1800" b="1" spc="-30" dirty="0">
                <a:solidFill>
                  <a:srgbClr val="610B37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610B37"/>
                </a:solidFill>
                <a:latin typeface="Times New Roman"/>
                <a:cs typeface="Times New Roman"/>
              </a:rPr>
              <a:t>Java</a:t>
            </a:r>
            <a:r>
              <a:rPr sz="1800" b="1" spc="-35" dirty="0">
                <a:solidFill>
                  <a:srgbClr val="610B37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610B37"/>
                </a:solidFill>
                <a:latin typeface="Times New Roman"/>
                <a:cs typeface="Times New Roman"/>
              </a:rPr>
              <a:t>Swing</a:t>
            </a:r>
            <a:r>
              <a:rPr sz="1800" b="1" spc="-30" dirty="0">
                <a:solidFill>
                  <a:srgbClr val="610B37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610B37"/>
                </a:solidFill>
                <a:latin typeface="Times New Roman"/>
                <a:cs typeface="Times New Roman"/>
              </a:rPr>
              <a:t>classes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467785"/>
            <a:ext cx="306451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20" dirty="0">
                <a:solidFill>
                  <a:srgbClr val="2A3890"/>
                </a:solidFill>
                <a:latin typeface="Roboto"/>
                <a:cs typeface="Roboto"/>
              </a:rPr>
              <a:t>Features</a:t>
            </a:r>
            <a:r>
              <a:rPr sz="3000" spc="-40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3000" dirty="0">
                <a:solidFill>
                  <a:srgbClr val="2A3890"/>
                </a:solidFill>
                <a:latin typeface="Roboto"/>
                <a:cs typeface="Roboto"/>
              </a:rPr>
              <a:t>of</a:t>
            </a:r>
            <a:r>
              <a:rPr sz="3000" spc="-35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3000" spc="-10" dirty="0">
                <a:solidFill>
                  <a:srgbClr val="2A3890"/>
                </a:solidFill>
                <a:latin typeface="Roboto"/>
                <a:cs typeface="Roboto"/>
              </a:rPr>
              <a:t>Swing</a:t>
            </a:r>
            <a:endParaRPr sz="30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5249" y="1253750"/>
            <a:ext cx="4736465" cy="128270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14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spc="-20" dirty="0">
                <a:solidFill>
                  <a:srgbClr val="434343"/>
                </a:solidFill>
                <a:latin typeface="Roboto"/>
                <a:cs typeface="Roboto"/>
              </a:rPr>
              <a:t>Swing</a:t>
            </a:r>
            <a:r>
              <a:rPr sz="180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components</a:t>
            </a:r>
            <a:r>
              <a:rPr sz="180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are</a:t>
            </a:r>
            <a:r>
              <a:rPr sz="180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Lightweight</a:t>
            </a:r>
            <a:endParaRPr sz="1800">
              <a:latin typeface="Roboto"/>
              <a:cs typeface="Roboto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Having</a:t>
            </a:r>
            <a:r>
              <a:rPr sz="18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18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number</a:t>
            </a:r>
            <a:r>
              <a:rPr sz="180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of</a:t>
            </a:r>
            <a:r>
              <a:rPr sz="18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built</a:t>
            </a:r>
            <a:r>
              <a:rPr sz="18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in</a:t>
            </a:r>
            <a:r>
              <a:rPr sz="180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controls</a:t>
            </a:r>
            <a:endParaRPr sz="1800">
              <a:latin typeface="Roboto"/>
              <a:cs typeface="Roboto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We</a:t>
            </a:r>
            <a:r>
              <a:rPr sz="1800" spc="-4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can</a:t>
            </a:r>
            <a:r>
              <a:rPr sz="1800" spc="-4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434343"/>
                </a:solidFill>
                <a:latin typeface="Roboto"/>
                <a:cs typeface="Roboto"/>
              </a:rPr>
              <a:t>change</a:t>
            </a:r>
            <a:r>
              <a:rPr sz="18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1800" spc="-4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look</a:t>
            </a:r>
            <a:r>
              <a:rPr sz="1800" spc="-4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and</a:t>
            </a:r>
            <a:r>
              <a:rPr sz="18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feel</a:t>
            </a:r>
            <a:r>
              <a:rPr sz="1800" spc="-4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of</a:t>
            </a:r>
            <a:r>
              <a:rPr sz="18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1800" spc="-4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25" dirty="0">
                <a:solidFill>
                  <a:srgbClr val="434343"/>
                </a:solidFill>
                <a:latin typeface="Roboto"/>
                <a:cs typeface="Roboto"/>
              </a:rPr>
              <a:t>GUI</a:t>
            </a:r>
            <a:endParaRPr sz="1800">
              <a:latin typeface="Roboto"/>
              <a:cs typeface="Roboto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spc="-20" dirty="0">
                <a:solidFill>
                  <a:srgbClr val="434343"/>
                </a:solidFill>
                <a:latin typeface="Roboto"/>
                <a:cs typeface="Roboto"/>
              </a:rPr>
              <a:t>Swing</a:t>
            </a:r>
            <a:r>
              <a:rPr sz="1800" spc="-6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is</a:t>
            </a:r>
            <a:r>
              <a:rPr sz="1800" spc="-6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434343"/>
                </a:solidFill>
                <a:latin typeface="Roboto"/>
                <a:cs typeface="Roboto"/>
              </a:rPr>
              <a:t>not</a:t>
            </a:r>
            <a:r>
              <a:rPr sz="180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434343"/>
                </a:solidFill>
                <a:latin typeface="Roboto"/>
                <a:cs typeface="Roboto"/>
              </a:rPr>
              <a:t>thread</a:t>
            </a:r>
            <a:r>
              <a:rPr sz="1800" spc="-6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434343"/>
                </a:solidFill>
                <a:latin typeface="Roboto"/>
                <a:cs typeface="Roboto"/>
              </a:rPr>
              <a:t>safe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4800" y="364908"/>
            <a:ext cx="781875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50" b="1" dirty="0">
                <a:latin typeface="Verdana"/>
                <a:cs typeface="Verdana"/>
              </a:rPr>
              <a:t>A</a:t>
            </a:r>
            <a:r>
              <a:rPr sz="1250" b="1" spc="-35" dirty="0">
                <a:latin typeface="Verdana"/>
                <a:cs typeface="Verdana"/>
              </a:rPr>
              <a:t> </a:t>
            </a:r>
            <a:r>
              <a:rPr sz="1250" b="1" dirty="0">
                <a:latin typeface="Verdana"/>
                <a:cs typeface="Verdana"/>
              </a:rPr>
              <a:t>simple</a:t>
            </a:r>
            <a:r>
              <a:rPr sz="1250" b="1" spc="-35" dirty="0">
                <a:latin typeface="Verdana"/>
                <a:cs typeface="Verdana"/>
              </a:rPr>
              <a:t> </a:t>
            </a:r>
            <a:r>
              <a:rPr sz="1250" b="1" dirty="0">
                <a:latin typeface="Verdana"/>
                <a:cs typeface="Verdana"/>
              </a:rPr>
              <a:t>swing</a:t>
            </a:r>
            <a:r>
              <a:rPr sz="1250" b="1" spc="-35" dirty="0">
                <a:latin typeface="Verdana"/>
                <a:cs typeface="Verdana"/>
              </a:rPr>
              <a:t> </a:t>
            </a:r>
            <a:r>
              <a:rPr sz="1250" b="1" dirty="0">
                <a:latin typeface="Verdana"/>
                <a:cs typeface="Verdana"/>
              </a:rPr>
              <a:t>example</a:t>
            </a:r>
            <a:r>
              <a:rPr sz="1250" b="1" spc="-30" dirty="0">
                <a:latin typeface="Verdana"/>
                <a:cs typeface="Verdana"/>
              </a:rPr>
              <a:t> </a:t>
            </a:r>
            <a:r>
              <a:rPr sz="1250" b="1" dirty="0">
                <a:latin typeface="Verdana"/>
                <a:cs typeface="Verdana"/>
              </a:rPr>
              <a:t>where</a:t>
            </a:r>
            <a:r>
              <a:rPr sz="1250" b="1" spc="-35" dirty="0">
                <a:latin typeface="Verdana"/>
                <a:cs typeface="Verdana"/>
              </a:rPr>
              <a:t> </a:t>
            </a:r>
            <a:r>
              <a:rPr sz="1250" b="1" dirty="0">
                <a:latin typeface="Verdana"/>
                <a:cs typeface="Verdana"/>
              </a:rPr>
              <a:t>we</a:t>
            </a:r>
            <a:r>
              <a:rPr sz="1250" b="1" spc="-35" dirty="0">
                <a:latin typeface="Verdana"/>
                <a:cs typeface="Verdana"/>
              </a:rPr>
              <a:t> </a:t>
            </a:r>
            <a:r>
              <a:rPr sz="1250" b="1" dirty="0">
                <a:latin typeface="Verdana"/>
                <a:cs typeface="Verdana"/>
              </a:rPr>
              <a:t>are</a:t>
            </a:r>
            <a:r>
              <a:rPr sz="1250" b="1" spc="-30" dirty="0">
                <a:latin typeface="Verdana"/>
                <a:cs typeface="Verdana"/>
              </a:rPr>
              <a:t> </a:t>
            </a:r>
            <a:r>
              <a:rPr sz="1250" b="1" dirty="0">
                <a:latin typeface="Verdana"/>
                <a:cs typeface="Verdana"/>
              </a:rPr>
              <a:t>creating</a:t>
            </a:r>
            <a:r>
              <a:rPr sz="1250" b="1" spc="-35" dirty="0">
                <a:latin typeface="Verdana"/>
                <a:cs typeface="Verdana"/>
              </a:rPr>
              <a:t> </a:t>
            </a:r>
            <a:r>
              <a:rPr sz="1250" b="1" dirty="0">
                <a:latin typeface="Verdana"/>
                <a:cs typeface="Verdana"/>
              </a:rPr>
              <a:t>one</a:t>
            </a:r>
            <a:r>
              <a:rPr sz="1250" b="1" spc="-35" dirty="0">
                <a:latin typeface="Verdana"/>
                <a:cs typeface="Verdana"/>
              </a:rPr>
              <a:t> </a:t>
            </a:r>
            <a:r>
              <a:rPr sz="1250" b="1" dirty="0">
                <a:latin typeface="Verdana"/>
                <a:cs typeface="Verdana"/>
              </a:rPr>
              <a:t>button</a:t>
            </a:r>
            <a:r>
              <a:rPr sz="1250" b="1" spc="-30" dirty="0">
                <a:latin typeface="Verdana"/>
                <a:cs typeface="Verdana"/>
              </a:rPr>
              <a:t> </a:t>
            </a:r>
            <a:r>
              <a:rPr sz="1250" b="1" dirty="0">
                <a:latin typeface="Verdana"/>
                <a:cs typeface="Verdana"/>
              </a:rPr>
              <a:t>and</a:t>
            </a:r>
            <a:r>
              <a:rPr sz="1250" b="1" spc="-35" dirty="0">
                <a:latin typeface="Verdana"/>
                <a:cs typeface="Verdana"/>
              </a:rPr>
              <a:t> </a:t>
            </a:r>
            <a:r>
              <a:rPr sz="1250" b="1" dirty="0">
                <a:latin typeface="Verdana"/>
                <a:cs typeface="Verdana"/>
              </a:rPr>
              <a:t>adding</a:t>
            </a:r>
            <a:r>
              <a:rPr sz="1250" b="1" spc="-35" dirty="0">
                <a:latin typeface="Verdana"/>
                <a:cs typeface="Verdana"/>
              </a:rPr>
              <a:t> </a:t>
            </a:r>
            <a:r>
              <a:rPr sz="1250" b="1" dirty="0">
                <a:latin typeface="Verdana"/>
                <a:cs typeface="Verdana"/>
              </a:rPr>
              <a:t>it</a:t>
            </a:r>
            <a:r>
              <a:rPr sz="1250" b="1" spc="-30" dirty="0">
                <a:latin typeface="Verdana"/>
                <a:cs typeface="Verdana"/>
              </a:rPr>
              <a:t> </a:t>
            </a:r>
            <a:r>
              <a:rPr sz="1250" b="1" dirty="0">
                <a:latin typeface="Verdana"/>
                <a:cs typeface="Verdana"/>
              </a:rPr>
              <a:t>on</a:t>
            </a:r>
            <a:r>
              <a:rPr sz="1250" b="1" spc="-35" dirty="0">
                <a:latin typeface="Verdana"/>
                <a:cs typeface="Verdana"/>
              </a:rPr>
              <a:t> </a:t>
            </a:r>
            <a:r>
              <a:rPr sz="1250" b="1" dirty="0">
                <a:latin typeface="Verdana"/>
                <a:cs typeface="Verdana"/>
              </a:rPr>
              <a:t>the</a:t>
            </a:r>
            <a:r>
              <a:rPr sz="1250" b="1" spc="-35" dirty="0">
                <a:latin typeface="Verdana"/>
                <a:cs typeface="Verdana"/>
              </a:rPr>
              <a:t> </a:t>
            </a:r>
            <a:r>
              <a:rPr sz="1250" b="1" spc="-10" dirty="0">
                <a:latin typeface="Verdana"/>
                <a:cs typeface="Verdana"/>
              </a:rPr>
              <a:t>JFrame </a:t>
            </a:r>
            <a:r>
              <a:rPr sz="1250" b="1" dirty="0">
                <a:latin typeface="Verdana"/>
                <a:cs typeface="Verdana"/>
              </a:rPr>
              <a:t>object</a:t>
            </a:r>
            <a:r>
              <a:rPr sz="1250" b="1" spc="-40" dirty="0">
                <a:latin typeface="Verdana"/>
                <a:cs typeface="Verdana"/>
              </a:rPr>
              <a:t> </a:t>
            </a:r>
            <a:r>
              <a:rPr sz="1250" b="1" dirty="0">
                <a:latin typeface="Verdana"/>
                <a:cs typeface="Verdana"/>
              </a:rPr>
              <a:t>inside</a:t>
            </a:r>
            <a:r>
              <a:rPr sz="1250" b="1" spc="-35" dirty="0">
                <a:latin typeface="Verdana"/>
                <a:cs typeface="Verdana"/>
              </a:rPr>
              <a:t> </a:t>
            </a:r>
            <a:r>
              <a:rPr sz="1250" b="1" dirty="0">
                <a:latin typeface="Verdana"/>
                <a:cs typeface="Verdana"/>
              </a:rPr>
              <a:t>the</a:t>
            </a:r>
            <a:r>
              <a:rPr sz="1250" b="1" spc="-40" dirty="0">
                <a:latin typeface="Verdana"/>
                <a:cs typeface="Verdana"/>
              </a:rPr>
              <a:t> </a:t>
            </a:r>
            <a:r>
              <a:rPr sz="1250" b="1" dirty="0">
                <a:latin typeface="Verdana"/>
                <a:cs typeface="Verdana"/>
              </a:rPr>
              <a:t>main()</a:t>
            </a:r>
            <a:r>
              <a:rPr sz="1250" b="1" spc="-35" dirty="0">
                <a:latin typeface="Verdana"/>
                <a:cs typeface="Verdana"/>
              </a:rPr>
              <a:t> </a:t>
            </a:r>
            <a:r>
              <a:rPr sz="1250" b="1" spc="-10" dirty="0">
                <a:latin typeface="Verdana"/>
                <a:cs typeface="Verdana"/>
              </a:rPr>
              <a:t>method.</a:t>
            </a:r>
            <a:endParaRPr sz="1250" dirty="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7124" y="980912"/>
            <a:ext cx="8389620" cy="414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530"/>
              </a:lnSpc>
              <a:spcBef>
                <a:spcPts val="100"/>
              </a:spcBef>
            </a:pPr>
            <a:r>
              <a:rPr sz="1400" b="1" dirty="0">
                <a:solidFill>
                  <a:srgbClr val="006699"/>
                </a:solidFill>
                <a:latin typeface="Times New Roman"/>
                <a:cs typeface="Times New Roman"/>
              </a:rPr>
              <a:t>import</a:t>
            </a:r>
            <a:r>
              <a:rPr sz="1400" b="1" spc="-5" dirty="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javax.swing.*;</a:t>
            </a:r>
            <a:endParaRPr sz="1400">
              <a:latin typeface="Times New Roman"/>
              <a:cs typeface="Times New Roman"/>
            </a:endParaRPr>
          </a:p>
          <a:p>
            <a:pPr marL="4999355">
              <a:lnSpc>
                <a:spcPts val="1530"/>
              </a:lnSpc>
            </a:pPr>
            <a:r>
              <a:rPr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f.setSize(</a:t>
            </a:r>
            <a:r>
              <a:rPr sz="1400" b="1" dirty="0">
                <a:solidFill>
                  <a:srgbClr val="C00000"/>
                </a:solidFill>
                <a:latin typeface="Times New Roman"/>
                <a:cs typeface="Times New Roman"/>
              </a:rPr>
              <a:t>400</a:t>
            </a:r>
            <a:r>
              <a:rPr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,</a:t>
            </a:r>
            <a:r>
              <a:rPr sz="1400" b="1" dirty="0">
                <a:solidFill>
                  <a:srgbClr val="C00000"/>
                </a:solidFill>
                <a:latin typeface="Times New Roman"/>
                <a:cs typeface="Times New Roman"/>
              </a:rPr>
              <a:t>500</a:t>
            </a:r>
            <a:r>
              <a:rPr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);</a:t>
            </a:r>
            <a:r>
              <a:rPr sz="1400" b="1" dirty="0">
                <a:solidFill>
                  <a:srgbClr val="008200"/>
                </a:solidFill>
                <a:latin typeface="Times New Roman"/>
                <a:cs typeface="Times New Roman"/>
              </a:rPr>
              <a:t>//400</a:t>
            </a:r>
            <a:r>
              <a:rPr sz="1400" b="1" spc="-20" dirty="0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8200"/>
                </a:solidFill>
                <a:latin typeface="Times New Roman"/>
                <a:cs typeface="Times New Roman"/>
              </a:rPr>
              <a:t>width</a:t>
            </a:r>
            <a:r>
              <a:rPr sz="1400" b="1" spc="-20" dirty="0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8200"/>
                </a:solidFill>
                <a:latin typeface="Times New Roman"/>
                <a:cs typeface="Times New Roman"/>
              </a:rPr>
              <a:t>and</a:t>
            </a:r>
            <a:r>
              <a:rPr sz="1400" b="1" spc="-25" dirty="0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8200"/>
                </a:solidFill>
                <a:latin typeface="Times New Roman"/>
                <a:cs typeface="Times New Roman"/>
              </a:rPr>
              <a:t>500</a:t>
            </a:r>
            <a:r>
              <a:rPr sz="1400" b="1" spc="-15" dirty="0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008200"/>
                </a:solidFill>
                <a:latin typeface="Times New Roman"/>
                <a:cs typeface="Times New Roman"/>
              </a:rPr>
              <a:t>height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7124" y="1400012"/>
            <a:ext cx="8380095" cy="1915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530"/>
              </a:lnSpc>
              <a:spcBef>
                <a:spcPts val="100"/>
              </a:spcBef>
            </a:pPr>
            <a:r>
              <a:rPr sz="1400" b="1" dirty="0">
                <a:solidFill>
                  <a:srgbClr val="006699"/>
                </a:solidFill>
                <a:latin typeface="Times New Roman"/>
                <a:cs typeface="Times New Roman"/>
              </a:rPr>
              <a:t>public</a:t>
            </a:r>
            <a:r>
              <a:rPr sz="1400" b="1" spc="-40" dirty="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6699"/>
                </a:solidFill>
                <a:latin typeface="Times New Roman"/>
                <a:cs typeface="Times New Roman"/>
              </a:rPr>
              <a:t>class</a:t>
            </a:r>
            <a:r>
              <a:rPr sz="1400" b="1" spc="-40" dirty="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FirstSwingExample</a:t>
            </a:r>
            <a:endParaRPr sz="1400" dirty="0">
              <a:latin typeface="Times New Roman"/>
              <a:cs typeface="Times New Roman"/>
            </a:endParaRPr>
          </a:p>
          <a:p>
            <a:pPr marL="4999355">
              <a:lnSpc>
                <a:spcPts val="1530"/>
              </a:lnSpc>
            </a:pPr>
            <a:r>
              <a:rPr sz="1400" b="1" dirty="0">
                <a:latin typeface="Times New Roman"/>
                <a:cs typeface="Times New Roman"/>
              </a:rPr>
              <a:t>f.setLayout(</a:t>
            </a:r>
            <a:r>
              <a:rPr sz="1400" b="1" dirty="0">
                <a:solidFill>
                  <a:srgbClr val="006699"/>
                </a:solidFill>
                <a:latin typeface="Times New Roman"/>
                <a:cs typeface="Times New Roman"/>
              </a:rPr>
              <a:t>null</a:t>
            </a:r>
            <a:r>
              <a:rPr sz="1400" b="1" dirty="0">
                <a:latin typeface="Times New Roman"/>
                <a:cs typeface="Times New Roman"/>
              </a:rPr>
              <a:t>);</a:t>
            </a:r>
            <a:r>
              <a:rPr sz="1400" b="1" dirty="0">
                <a:solidFill>
                  <a:srgbClr val="008200"/>
                </a:solidFill>
                <a:latin typeface="Times New Roman"/>
                <a:cs typeface="Times New Roman"/>
              </a:rPr>
              <a:t>//using</a:t>
            </a:r>
            <a:r>
              <a:rPr sz="1400" b="1" spc="-15" dirty="0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8200"/>
                </a:solidFill>
                <a:latin typeface="Times New Roman"/>
                <a:cs typeface="Times New Roman"/>
              </a:rPr>
              <a:t>no</a:t>
            </a:r>
            <a:r>
              <a:rPr sz="1400" b="1" spc="-15" dirty="0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8200"/>
                </a:solidFill>
                <a:latin typeface="Times New Roman"/>
                <a:cs typeface="Times New Roman"/>
              </a:rPr>
              <a:t>layout</a:t>
            </a:r>
            <a:r>
              <a:rPr sz="1400" b="1" spc="-10" dirty="0">
                <a:solidFill>
                  <a:srgbClr val="008200"/>
                </a:solidFill>
                <a:latin typeface="Times New Roman"/>
                <a:cs typeface="Times New Roman"/>
              </a:rPr>
              <a:t> managers</a:t>
            </a: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ts val="1530"/>
              </a:lnSpc>
              <a:spcBef>
                <a:spcPts val="235"/>
              </a:spcBef>
            </a:pPr>
            <a:r>
              <a:rPr sz="1400" b="1" spc="-50" dirty="0">
                <a:latin typeface="Times New Roman"/>
                <a:cs typeface="Times New Roman"/>
              </a:rPr>
              <a:t>{</a:t>
            </a:r>
            <a:endParaRPr sz="1400" dirty="0">
              <a:latin typeface="Times New Roman"/>
              <a:cs typeface="Times New Roman"/>
            </a:endParaRPr>
          </a:p>
          <a:p>
            <a:pPr marL="4999355">
              <a:lnSpc>
                <a:spcPts val="1530"/>
              </a:lnSpc>
            </a:pPr>
            <a:r>
              <a:rPr sz="1400" b="1" spc="-10" dirty="0">
                <a:latin typeface="Times New Roman"/>
                <a:cs typeface="Times New Roman"/>
              </a:rPr>
              <a:t>f.setVisible(</a:t>
            </a:r>
            <a:r>
              <a:rPr sz="1400" b="1" spc="-10" dirty="0">
                <a:solidFill>
                  <a:srgbClr val="006699"/>
                </a:solidFill>
                <a:latin typeface="Times New Roman"/>
                <a:cs typeface="Times New Roman"/>
              </a:rPr>
              <a:t>true</a:t>
            </a:r>
            <a:r>
              <a:rPr sz="1400" b="1" spc="-10" dirty="0">
                <a:latin typeface="Times New Roman"/>
                <a:cs typeface="Times New Roman"/>
              </a:rPr>
              <a:t>);</a:t>
            </a:r>
            <a:r>
              <a:rPr sz="1400" b="1" spc="-10" dirty="0">
                <a:solidFill>
                  <a:srgbClr val="008200"/>
                </a:solidFill>
                <a:latin typeface="Times New Roman"/>
                <a:cs typeface="Times New Roman"/>
              </a:rPr>
              <a:t>//making</a:t>
            </a:r>
            <a:r>
              <a:rPr sz="1400" b="1" spc="30" dirty="0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8200"/>
                </a:solidFill>
                <a:latin typeface="Times New Roman"/>
                <a:cs typeface="Times New Roman"/>
              </a:rPr>
              <a:t>the</a:t>
            </a:r>
            <a:r>
              <a:rPr sz="1400" b="1" spc="30" dirty="0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8200"/>
                </a:solidFill>
                <a:latin typeface="Times New Roman"/>
                <a:cs typeface="Times New Roman"/>
              </a:rPr>
              <a:t>frame</a:t>
            </a:r>
            <a:r>
              <a:rPr sz="1400" b="1" spc="30" dirty="0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008200"/>
                </a:solidFill>
                <a:latin typeface="Times New Roman"/>
                <a:cs typeface="Times New Roman"/>
              </a:rPr>
              <a:t>visible</a:t>
            </a: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ts val="1530"/>
              </a:lnSpc>
              <a:spcBef>
                <a:spcPts val="235"/>
              </a:spcBef>
            </a:pPr>
            <a:r>
              <a:rPr sz="1400" b="1" dirty="0">
                <a:solidFill>
                  <a:srgbClr val="006699"/>
                </a:solidFill>
                <a:latin typeface="Times New Roman"/>
                <a:cs typeface="Times New Roman"/>
              </a:rPr>
              <a:t>public</a:t>
            </a:r>
            <a:r>
              <a:rPr sz="1400" b="1" spc="-20" dirty="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6699"/>
                </a:solidFill>
                <a:latin typeface="Times New Roman"/>
                <a:cs typeface="Times New Roman"/>
              </a:rPr>
              <a:t>static</a:t>
            </a:r>
            <a:r>
              <a:rPr sz="1400" b="1" spc="-15" dirty="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6699"/>
                </a:solidFill>
                <a:latin typeface="Times New Roman"/>
                <a:cs typeface="Times New Roman"/>
              </a:rPr>
              <a:t>void</a:t>
            </a:r>
            <a:r>
              <a:rPr sz="1400" b="1" spc="-20" dirty="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main(String[]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args)</a:t>
            </a:r>
            <a:endParaRPr sz="1400" dirty="0">
              <a:latin typeface="Times New Roman"/>
              <a:cs typeface="Times New Roman"/>
            </a:endParaRPr>
          </a:p>
          <a:p>
            <a:pPr marL="4999355">
              <a:lnSpc>
                <a:spcPts val="1530"/>
              </a:lnSpc>
            </a:pPr>
            <a:r>
              <a:rPr sz="1400" b="1" spc="-50" dirty="0">
                <a:latin typeface="Times New Roman"/>
                <a:cs typeface="Times New Roman"/>
              </a:rPr>
              <a:t>}</a:t>
            </a: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ts val="1530"/>
              </a:lnSpc>
              <a:spcBef>
                <a:spcPts val="240"/>
              </a:spcBef>
            </a:pPr>
            <a:r>
              <a:rPr sz="1400" b="1" spc="-50" dirty="0">
                <a:latin typeface="Times New Roman"/>
                <a:cs typeface="Times New Roman"/>
              </a:rPr>
              <a:t>{</a:t>
            </a:r>
            <a:endParaRPr sz="1400" dirty="0">
              <a:latin typeface="Times New Roman"/>
              <a:cs typeface="Times New Roman"/>
            </a:endParaRPr>
          </a:p>
          <a:p>
            <a:pPr marL="4999355">
              <a:lnSpc>
                <a:spcPts val="1530"/>
              </a:lnSpc>
            </a:pPr>
            <a:r>
              <a:rPr sz="1400" b="1" spc="-50" dirty="0">
                <a:latin typeface="Times New Roman"/>
                <a:cs typeface="Times New Roman"/>
              </a:rPr>
              <a:t>}</a:t>
            </a: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400" b="1" dirty="0">
                <a:latin typeface="Times New Roman"/>
                <a:cs typeface="Times New Roman"/>
              </a:rPr>
              <a:t>JFrame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f=</a:t>
            </a:r>
            <a:r>
              <a:rPr sz="1400" b="1" dirty="0">
                <a:solidFill>
                  <a:srgbClr val="006699"/>
                </a:solidFill>
                <a:latin typeface="Times New Roman"/>
                <a:cs typeface="Times New Roman"/>
              </a:rPr>
              <a:t>new</a:t>
            </a:r>
            <a:r>
              <a:rPr sz="1400" b="1" spc="-40" dirty="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JFrame();</a:t>
            </a:r>
            <a:r>
              <a:rPr sz="1400" b="1" dirty="0">
                <a:solidFill>
                  <a:srgbClr val="008200"/>
                </a:solidFill>
                <a:latin typeface="Times New Roman"/>
                <a:cs typeface="Times New Roman"/>
              </a:rPr>
              <a:t>//creating</a:t>
            </a:r>
            <a:r>
              <a:rPr sz="1400" b="1" spc="-35" dirty="0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8200"/>
                </a:solidFill>
                <a:latin typeface="Times New Roman"/>
                <a:cs typeface="Times New Roman"/>
              </a:rPr>
              <a:t>instance</a:t>
            </a:r>
            <a:r>
              <a:rPr sz="1400" b="1" spc="-40" dirty="0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8200"/>
                </a:solidFill>
                <a:latin typeface="Times New Roman"/>
                <a:cs typeface="Times New Roman"/>
              </a:rPr>
              <a:t>of</a:t>
            </a:r>
            <a:r>
              <a:rPr sz="1400" b="1" spc="-30" dirty="0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008200"/>
                </a:solidFill>
                <a:latin typeface="Times New Roman"/>
                <a:cs typeface="Times New Roman"/>
              </a:rPr>
              <a:t>JFrame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7124" y="3495512"/>
            <a:ext cx="48075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JButton</a:t>
            </a:r>
            <a:r>
              <a:rPr sz="1400" b="1" spc="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b=</a:t>
            </a:r>
            <a:r>
              <a:rPr sz="1400" b="1" dirty="0">
                <a:solidFill>
                  <a:srgbClr val="006699"/>
                </a:solidFill>
                <a:latin typeface="Times New Roman"/>
                <a:cs typeface="Times New Roman"/>
              </a:rPr>
              <a:t>new</a:t>
            </a:r>
            <a:r>
              <a:rPr sz="1400" b="1" spc="5" dirty="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JButton(</a:t>
            </a:r>
            <a:r>
              <a:rPr sz="14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"click"</a:t>
            </a:r>
            <a:r>
              <a:rPr sz="1400" b="1" spc="-10" dirty="0">
                <a:latin typeface="Times New Roman"/>
                <a:cs typeface="Times New Roman"/>
              </a:rPr>
              <a:t>);</a:t>
            </a:r>
            <a:r>
              <a:rPr sz="1400" b="1" spc="-10" dirty="0">
                <a:solidFill>
                  <a:srgbClr val="008200"/>
                </a:solidFill>
                <a:latin typeface="Times New Roman"/>
                <a:cs typeface="Times New Roman"/>
              </a:rPr>
              <a:t>//creating</a:t>
            </a:r>
            <a:r>
              <a:rPr sz="1400" b="1" spc="10" dirty="0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8200"/>
                </a:solidFill>
                <a:latin typeface="Times New Roman"/>
                <a:cs typeface="Times New Roman"/>
              </a:rPr>
              <a:t>instance</a:t>
            </a:r>
            <a:r>
              <a:rPr sz="1400" b="1" spc="5" dirty="0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8200"/>
                </a:solidFill>
                <a:latin typeface="Times New Roman"/>
                <a:cs typeface="Times New Roman"/>
              </a:rPr>
              <a:t>of</a:t>
            </a:r>
            <a:r>
              <a:rPr sz="1400" b="1" spc="10" dirty="0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008200"/>
                </a:solidFill>
                <a:latin typeface="Times New Roman"/>
                <a:cs typeface="Times New Roman"/>
              </a:rPr>
              <a:t>JButton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7124" y="3914612"/>
            <a:ext cx="44157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b.setBounds(</a:t>
            </a:r>
            <a:r>
              <a:rPr sz="1400" b="1" dirty="0">
                <a:solidFill>
                  <a:srgbClr val="C00000"/>
                </a:solidFill>
                <a:latin typeface="Times New Roman"/>
                <a:cs typeface="Times New Roman"/>
              </a:rPr>
              <a:t>130</a:t>
            </a:r>
            <a:r>
              <a:rPr sz="1400" b="1" dirty="0">
                <a:latin typeface="Times New Roman"/>
                <a:cs typeface="Times New Roman"/>
              </a:rPr>
              <a:t>,</a:t>
            </a:r>
            <a:r>
              <a:rPr sz="1400" b="1" dirty="0">
                <a:solidFill>
                  <a:srgbClr val="C00000"/>
                </a:solidFill>
                <a:latin typeface="Times New Roman"/>
                <a:cs typeface="Times New Roman"/>
              </a:rPr>
              <a:t>100</a:t>
            </a:r>
            <a:r>
              <a:rPr sz="1400" b="1" dirty="0">
                <a:latin typeface="Times New Roman"/>
                <a:cs typeface="Times New Roman"/>
              </a:rPr>
              <a:t>,</a:t>
            </a:r>
            <a:r>
              <a:rPr sz="1400" b="1" dirty="0">
                <a:solidFill>
                  <a:srgbClr val="C00000"/>
                </a:solidFill>
                <a:latin typeface="Times New Roman"/>
                <a:cs typeface="Times New Roman"/>
              </a:rPr>
              <a:t>100</a:t>
            </a:r>
            <a:r>
              <a:rPr sz="1400" b="1" dirty="0">
                <a:latin typeface="Times New Roman"/>
                <a:cs typeface="Times New Roman"/>
              </a:rPr>
              <a:t>,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C00000"/>
                </a:solidFill>
                <a:latin typeface="Times New Roman"/>
                <a:cs typeface="Times New Roman"/>
              </a:rPr>
              <a:t>40</a:t>
            </a:r>
            <a:r>
              <a:rPr sz="1400" b="1" dirty="0">
                <a:latin typeface="Times New Roman"/>
                <a:cs typeface="Times New Roman"/>
              </a:rPr>
              <a:t>);</a:t>
            </a:r>
            <a:r>
              <a:rPr sz="1400" b="1" dirty="0">
                <a:solidFill>
                  <a:srgbClr val="008200"/>
                </a:solidFill>
                <a:latin typeface="Times New Roman"/>
                <a:cs typeface="Times New Roman"/>
              </a:rPr>
              <a:t>//x</a:t>
            </a:r>
            <a:r>
              <a:rPr sz="1400" b="1" spc="-20" dirty="0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8200"/>
                </a:solidFill>
                <a:latin typeface="Times New Roman"/>
                <a:cs typeface="Times New Roman"/>
              </a:rPr>
              <a:t>axis,</a:t>
            </a:r>
            <a:r>
              <a:rPr sz="1400" b="1" spc="-20" dirty="0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8200"/>
                </a:solidFill>
                <a:latin typeface="Times New Roman"/>
                <a:cs typeface="Times New Roman"/>
              </a:rPr>
              <a:t>y</a:t>
            </a:r>
            <a:r>
              <a:rPr sz="1400" b="1" spc="-15" dirty="0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8200"/>
                </a:solidFill>
                <a:latin typeface="Times New Roman"/>
                <a:cs typeface="Times New Roman"/>
              </a:rPr>
              <a:t>axis,</a:t>
            </a:r>
            <a:r>
              <a:rPr sz="1400" b="1" spc="-20" dirty="0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8200"/>
                </a:solidFill>
                <a:latin typeface="Times New Roman"/>
                <a:cs typeface="Times New Roman"/>
              </a:rPr>
              <a:t>width,</a:t>
            </a:r>
            <a:r>
              <a:rPr sz="1400" b="1" spc="-20" dirty="0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008200"/>
                </a:solidFill>
                <a:latin typeface="Times New Roman"/>
                <a:cs typeface="Times New Roman"/>
              </a:rPr>
              <a:t>height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7124" y="4333712"/>
            <a:ext cx="26917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f.add(b);</a:t>
            </a:r>
            <a:r>
              <a:rPr sz="1400" b="1" dirty="0">
                <a:solidFill>
                  <a:srgbClr val="008200"/>
                </a:solidFill>
                <a:latin typeface="Times New Roman"/>
                <a:cs typeface="Times New Roman"/>
              </a:rPr>
              <a:t>//adding</a:t>
            </a:r>
            <a:r>
              <a:rPr sz="1400" b="1" spc="-25" dirty="0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8200"/>
                </a:solidFill>
                <a:latin typeface="Times New Roman"/>
                <a:cs typeface="Times New Roman"/>
              </a:rPr>
              <a:t>button</a:t>
            </a:r>
            <a:r>
              <a:rPr sz="1400" b="1" spc="-15" dirty="0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8200"/>
                </a:solidFill>
                <a:latin typeface="Times New Roman"/>
                <a:cs typeface="Times New Roman"/>
              </a:rPr>
              <a:t>in</a:t>
            </a:r>
            <a:r>
              <a:rPr sz="1400" b="1" spc="-15" dirty="0">
                <a:solidFill>
                  <a:srgbClr val="008200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008200"/>
                </a:solidFill>
                <a:latin typeface="Times New Roman"/>
                <a:cs typeface="Times New Roman"/>
              </a:rPr>
              <a:t>JFrame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04125" y="3671187"/>
            <a:ext cx="24326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javac</a:t>
            </a:r>
            <a:r>
              <a:rPr sz="1400" b="1" spc="27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FirstSwingExample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.java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04125" y="4090287"/>
            <a:ext cx="193928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java</a:t>
            </a:r>
            <a:r>
              <a:rPr sz="1400" b="1" spc="35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FirstSwingExample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71800" y="657225"/>
            <a:ext cx="3200399" cy="3819524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0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Java</a:t>
            </a:r>
            <a:r>
              <a:rPr spc="-70" dirty="0"/>
              <a:t> </a:t>
            </a:r>
            <a:r>
              <a:rPr spc="-10" dirty="0"/>
              <a:t>JRadioButton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9115" y="1392435"/>
            <a:ext cx="6273165" cy="125095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75285" indent="-362585">
              <a:lnSpc>
                <a:spcPct val="100000"/>
              </a:lnSpc>
              <a:spcBef>
                <a:spcPts val="425"/>
              </a:spcBef>
              <a:buFont typeface="Arial MT"/>
              <a:buChar char="●"/>
              <a:tabLst>
                <a:tab pos="375285" algn="l"/>
              </a:tabLst>
            </a:pPr>
            <a:r>
              <a:rPr sz="1750" dirty="0">
                <a:latin typeface="Times New Roman"/>
                <a:cs typeface="Times New Roman"/>
              </a:rPr>
              <a:t>The</a:t>
            </a:r>
            <a:r>
              <a:rPr sz="1750" spc="-2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JRadioButton</a:t>
            </a:r>
            <a:r>
              <a:rPr sz="1750" spc="-1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class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is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used</a:t>
            </a:r>
            <a:r>
              <a:rPr sz="1750" spc="-1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to</a:t>
            </a:r>
            <a:r>
              <a:rPr sz="1750" spc="-1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create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radio</a:t>
            </a:r>
            <a:r>
              <a:rPr sz="1750" spc="-15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button.</a:t>
            </a:r>
            <a:endParaRPr sz="1750">
              <a:latin typeface="Times New Roman"/>
              <a:cs typeface="Times New Roman"/>
            </a:endParaRPr>
          </a:p>
          <a:p>
            <a:pPr marL="430530" indent="-417830">
              <a:lnSpc>
                <a:spcPct val="100000"/>
              </a:lnSpc>
              <a:spcBef>
                <a:spcPts val="325"/>
              </a:spcBef>
              <a:buFont typeface="Arial MT"/>
              <a:buChar char="●"/>
              <a:tabLst>
                <a:tab pos="430530" algn="l"/>
              </a:tabLst>
            </a:pPr>
            <a:r>
              <a:rPr sz="1750" dirty="0">
                <a:latin typeface="Times New Roman"/>
                <a:cs typeface="Times New Roman"/>
              </a:rPr>
              <a:t>It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is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used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to</a:t>
            </a:r>
            <a:r>
              <a:rPr sz="1750" spc="-2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choose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one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option</a:t>
            </a:r>
            <a:r>
              <a:rPr sz="1750" spc="-2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from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multiple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options.</a:t>
            </a:r>
            <a:endParaRPr sz="1750">
              <a:latin typeface="Times New Roman"/>
              <a:cs typeface="Times New Roman"/>
            </a:endParaRPr>
          </a:p>
          <a:p>
            <a:pPr marL="375285" indent="-362585">
              <a:lnSpc>
                <a:spcPct val="100000"/>
              </a:lnSpc>
              <a:spcBef>
                <a:spcPts val="300"/>
              </a:spcBef>
              <a:buFont typeface="Arial MT"/>
              <a:buChar char="●"/>
              <a:tabLst>
                <a:tab pos="375285" algn="l"/>
              </a:tabLst>
            </a:pPr>
            <a:r>
              <a:rPr sz="1750" dirty="0">
                <a:latin typeface="Times New Roman"/>
                <a:cs typeface="Times New Roman"/>
              </a:rPr>
              <a:t>It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is</a:t>
            </a:r>
            <a:r>
              <a:rPr sz="1750" spc="-1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widely</a:t>
            </a:r>
            <a:r>
              <a:rPr sz="1750" spc="-1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used</a:t>
            </a:r>
            <a:r>
              <a:rPr sz="1750" spc="-1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in</a:t>
            </a:r>
            <a:r>
              <a:rPr sz="1750" spc="-1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exam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systems</a:t>
            </a:r>
            <a:r>
              <a:rPr sz="1750" spc="-1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or</a:t>
            </a:r>
            <a:r>
              <a:rPr sz="1750" spc="-10" dirty="0">
                <a:latin typeface="Times New Roman"/>
                <a:cs typeface="Times New Roman"/>
              </a:rPr>
              <a:t> quiz.</a:t>
            </a:r>
            <a:endParaRPr sz="1750">
              <a:latin typeface="Times New Roman"/>
              <a:cs typeface="Times New Roman"/>
            </a:endParaRPr>
          </a:p>
          <a:p>
            <a:pPr marL="375285" indent="-362585">
              <a:lnSpc>
                <a:spcPct val="100000"/>
              </a:lnSpc>
              <a:spcBef>
                <a:spcPts val="300"/>
              </a:spcBef>
              <a:buFont typeface="Arial MT"/>
              <a:buChar char="●"/>
              <a:tabLst>
                <a:tab pos="375285" algn="l"/>
              </a:tabLst>
            </a:pPr>
            <a:r>
              <a:rPr sz="1750" dirty="0">
                <a:latin typeface="Times New Roman"/>
                <a:cs typeface="Times New Roman"/>
              </a:rPr>
              <a:t>It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should</a:t>
            </a:r>
            <a:r>
              <a:rPr sz="1750" spc="-2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be</a:t>
            </a:r>
            <a:r>
              <a:rPr sz="1750" spc="-2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added</a:t>
            </a:r>
            <a:r>
              <a:rPr sz="1750" spc="-2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in</a:t>
            </a:r>
            <a:r>
              <a:rPr sz="1750" spc="-2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ButtonGroup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to</a:t>
            </a:r>
            <a:r>
              <a:rPr sz="1750" spc="-2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select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one</a:t>
            </a:r>
            <a:r>
              <a:rPr sz="1750" spc="-2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radio</a:t>
            </a:r>
            <a:r>
              <a:rPr sz="1750" spc="-2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button</a:t>
            </a:r>
            <a:r>
              <a:rPr sz="1750" spc="-25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only.</a:t>
            </a:r>
            <a:endParaRPr sz="1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4725" y="439425"/>
            <a:ext cx="1851660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dirty="0">
                <a:solidFill>
                  <a:srgbClr val="006699"/>
                </a:solidFill>
                <a:latin typeface="Verdana"/>
                <a:cs typeface="Verdana"/>
              </a:rPr>
              <a:t>import</a:t>
            </a:r>
            <a:r>
              <a:rPr sz="1250" b="1" spc="-6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latin typeface="Verdana"/>
                <a:cs typeface="Verdana"/>
              </a:rPr>
              <a:t>javax.swing.*;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820425"/>
            <a:ext cx="2927350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dirty="0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250" b="1" spc="-3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50" b="1" dirty="0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250" b="1" spc="-3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50" dirty="0">
                <a:latin typeface="Verdana"/>
                <a:cs typeface="Verdana"/>
              </a:rPr>
              <a:t>RadioButtonExample</a:t>
            </a:r>
            <a:r>
              <a:rPr sz="1250" spc="-45" dirty="0">
                <a:latin typeface="Verdana"/>
                <a:cs typeface="Verdana"/>
              </a:rPr>
              <a:t> </a:t>
            </a:r>
            <a:r>
              <a:rPr sz="1250" spc="-50" dirty="0">
                <a:latin typeface="Verdana"/>
                <a:cs typeface="Verdana"/>
              </a:rPr>
              <a:t>{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1201425"/>
            <a:ext cx="78422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dirty="0">
                <a:latin typeface="Verdana"/>
                <a:cs typeface="Verdana"/>
              </a:rPr>
              <a:t>JFrame</a:t>
            </a:r>
            <a:r>
              <a:rPr sz="1250" spc="-30" dirty="0">
                <a:latin typeface="Verdana"/>
                <a:cs typeface="Verdana"/>
              </a:rPr>
              <a:t> </a:t>
            </a:r>
            <a:r>
              <a:rPr sz="1250" spc="-25" dirty="0">
                <a:latin typeface="Verdana"/>
                <a:cs typeface="Verdana"/>
              </a:rPr>
              <a:t>f;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725" y="1582425"/>
            <a:ext cx="192468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10" dirty="0">
                <a:latin typeface="Verdana"/>
                <a:cs typeface="Verdana"/>
              </a:rPr>
              <a:t>RadioButtonExample(){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4725" y="1963425"/>
            <a:ext cx="1432560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dirty="0">
                <a:latin typeface="Verdana"/>
                <a:cs typeface="Verdana"/>
              </a:rPr>
              <a:t>f=</a:t>
            </a:r>
            <a:r>
              <a:rPr sz="1250" b="1" dirty="0">
                <a:solidFill>
                  <a:srgbClr val="006699"/>
                </a:solidFill>
                <a:latin typeface="Verdana"/>
                <a:cs typeface="Verdana"/>
              </a:rPr>
              <a:t>new</a:t>
            </a:r>
            <a:r>
              <a:rPr sz="1250" b="1" spc="-2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latin typeface="Verdana"/>
                <a:cs typeface="Verdana"/>
              </a:rPr>
              <a:t>JFrame();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4725" y="2344425"/>
            <a:ext cx="3869054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dirty="0">
                <a:latin typeface="Verdana"/>
                <a:cs typeface="Verdana"/>
              </a:rPr>
              <a:t>JRadioButton</a:t>
            </a:r>
            <a:r>
              <a:rPr sz="1250" spc="-65" dirty="0">
                <a:latin typeface="Verdana"/>
                <a:cs typeface="Verdana"/>
              </a:rPr>
              <a:t> </a:t>
            </a:r>
            <a:r>
              <a:rPr sz="1250" dirty="0">
                <a:latin typeface="Verdana"/>
                <a:cs typeface="Verdana"/>
              </a:rPr>
              <a:t>r1=</a:t>
            </a:r>
            <a:r>
              <a:rPr sz="1250" b="1" dirty="0">
                <a:solidFill>
                  <a:srgbClr val="006699"/>
                </a:solidFill>
                <a:latin typeface="Verdana"/>
                <a:cs typeface="Verdana"/>
              </a:rPr>
              <a:t>new</a:t>
            </a:r>
            <a:r>
              <a:rPr sz="1250" b="1" spc="-4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50" dirty="0">
                <a:latin typeface="Verdana"/>
                <a:cs typeface="Verdana"/>
              </a:rPr>
              <a:t>JRadioButton(</a:t>
            </a:r>
            <a:r>
              <a:rPr sz="1250" dirty="0">
                <a:solidFill>
                  <a:srgbClr val="0000FF"/>
                </a:solidFill>
                <a:latin typeface="Verdana"/>
                <a:cs typeface="Verdana"/>
              </a:rPr>
              <a:t>"A)</a:t>
            </a:r>
            <a:r>
              <a:rPr sz="1250" spc="-6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0000FF"/>
                </a:solidFill>
                <a:latin typeface="Verdana"/>
                <a:cs typeface="Verdana"/>
              </a:rPr>
              <a:t>Male"</a:t>
            </a:r>
            <a:r>
              <a:rPr sz="1250" spc="-10" dirty="0">
                <a:latin typeface="Verdana"/>
                <a:cs typeface="Verdana"/>
              </a:rPr>
              <a:t>);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4725" y="2725425"/>
            <a:ext cx="4075429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dirty="0">
                <a:latin typeface="Verdana"/>
                <a:cs typeface="Verdana"/>
              </a:rPr>
              <a:t>JRadioButton</a:t>
            </a:r>
            <a:r>
              <a:rPr sz="1250" spc="-70" dirty="0">
                <a:latin typeface="Verdana"/>
                <a:cs typeface="Verdana"/>
              </a:rPr>
              <a:t> </a:t>
            </a:r>
            <a:r>
              <a:rPr sz="1250" dirty="0">
                <a:latin typeface="Verdana"/>
                <a:cs typeface="Verdana"/>
              </a:rPr>
              <a:t>r2=</a:t>
            </a:r>
            <a:r>
              <a:rPr sz="1250" b="1" dirty="0">
                <a:solidFill>
                  <a:srgbClr val="006699"/>
                </a:solidFill>
                <a:latin typeface="Verdana"/>
                <a:cs typeface="Verdana"/>
              </a:rPr>
              <a:t>new</a:t>
            </a:r>
            <a:r>
              <a:rPr sz="1250" b="1" spc="-5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50" dirty="0">
                <a:latin typeface="Verdana"/>
                <a:cs typeface="Verdana"/>
              </a:rPr>
              <a:t>JRadioButton(</a:t>
            </a:r>
            <a:r>
              <a:rPr sz="1250" dirty="0">
                <a:solidFill>
                  <a:srgbClr val="0000FF"/>
                </a:solidFill>
                <a:latin typeface="Verdana"/>
                <a:cs typeface="Verdana"/>
              </a:rPr>
              <a:t>"B)</a:t>
            </a:r>
            <a:r>
              <a:rPr sz="1250" spc="-65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0000FF"/>
                </a:solidFill>
                <a:latin typeface="Verdana"/>
                <a:cs typeface="Verdana"/>
              </a:rPr>
              <a:t>Female"</a:t>
            </a:r>
            <a:r>
              <a:rPr sz="1250" spc="-10" dirty="0">
                <a:latin typeface="Verdana"/>
                <a:cs typeface="Verdana"/>
              </a:rPr>
              <a:t>);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4725" y="3106425"/>
            <a:ext cx="2376170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10" dirty="0">
                <a:latin typeface="Verdana"/>
                <a:cs typeface="Verdana"/>
              </a:rPr>
              <a:t>r1.setBounds(</a:t>
            </a:r>
            <a:r>
              <a:rPr sz="1250" spc="-10" dirty="0">
                <a:solidFill>
                  <a:srgbClr val="C00000"/>
                </a:solidFill>
                <a:latin typeface="Verdana"/>
                <a:cs typeface="Verdana"/>
              </a:rPr>
              <a:t>75</a:t>
            </a:r>
            <a:r>
              <a:rPr sz="1250" spc="-10" dirty="0">
                <a:latin typeface="Verdana"/>
                <a:cs typeface="Verdana"/>
              </a:rPr>
              <a:t>,</a:t>
            </a:r>
            <a:r>
              <a:rPr sz="1250" spc="-10" dirty="0">
                <a:solidFill>
                  <a:srgbClr val="C00000"/>
                </a:solidFill>
                <a:latin typeface="Verdana"/>
                <a:cs typeface="Verdana"/>
              </a:rPr>
              <a:t>50</a:t>
            </a:r>
            <a:r>
              <a:rPr sz="1250" spc="-10" dirty="0">
                <a:latin typeface="Verdana"/>
                <a:cs typeface="Verdana"/>
              </a:rPr>
              <a:t>,</a:t>
            </a:r>
            <a:r>
              <a:rPr sz="1250" spc="-10" dirty="0">
                <a:solidFill>
                  <a:srgbClr val="C00000"/>
                </a:solidFill>
                <a:latin typeface="Verdana"/>
                <a:cs typeface="Verdana"/>
              </a:rPr>
              <a:t>100</a:t>
            </a:r>
            <a:r>
              <a:rPr sz="1250" spc="-10" dirty="0">
                <a:latin typeface="Verdana"/>
                <a:cs typeface="Verdana"/>
              </a:rPr>
              <a:t>,</a:t>
            </a:r>
            <a:r>
              <a:rPr sz="1250" spc="-10" dirty="0">
                <a:solidFill>
                  <a:srgbClr val="C00000"/>
                </a:solidFill>
                <a:latin typeface="Verdana"/>
                <a:cs typeface="Verdana"/>
              </a:rPr>
              <a:t>30</a:t>
            </a:r>
            <a:r>
              <a:rPr sz="1250" spc="-10" dirty="0">
                <a:latin typeface="Verdana"/>
                <a:cs typeface="Verdana"/>
              </a:rPr>
              <a:t>);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4725" y="3487425"/>
            <a:ext cx="247713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10" dirty="0">
                <a:latin typeface="Verdana"/>
                <a:cs typeface="Verdana"/>
              </a:rPr>
              <a:t>r2.setBounds(</a:t>
            </a:r>
            <a:r>
              <a:rPr sz="1250" spc="-10" dirty="0">
                <a:solidFill>
                  <a:srgbClr val="C00000"/>
                </a:solidFill>
                <a:latin typeface="Verdana"/>
                <a:cs typeface="Verdana"/>
              </a:rPr>
              <a:t>75</a:t>
            </a:r>
            <a:r>
              <a:rPr sz="1250" spc="-10" dirty="0">
                <a:latin typeface="Verdana"/>
                <a:cs typeface="Verdana"/>
              </a:rPr>
              <a:t>,</a:t>
            </a:r>
            <a:r>
              <a:rPr sz="1250" spc="-10" dirty="0">
                <a:solidFill>
                  <a:srgbClr val="C00000"/>
                </a:solidFill>
                <a:latin typeface="Verdana"/>
                <a:cs typeface="Verdana"/>
              </a:rPr>
              <a:t>100</a:t>
            </a:r>
            <a:r>
              <a:rPr sz="1250" spc="-10" dirty="0">
                <a:latin typeface="Verdana"/>
                <a:cs typeface="Verdana"/>
              </a:rPr>
              <a:t>,</a:t>
            </a:r>
            <a:r>
              <a:rPr sz="1250" spc="-10" dirty="0">
                <a:solidFill>
                  <a:srgbClr val="C00000"/>
                </a:solidFill>
                <a:latin typeface="Verdana"/>
                <a:cs typeface="Verdana"/>
              </a:rPr>
              <a:t>100</a:t>
            </a:r>
            <a:r>
              <a:rPr sz="1250" spc="-10" dirty="0">
                <a:latin typeface="Verdana"/>
                <a:cs typeface="Verdana"/>
              </a:rPr>
              <a:t>,</a:t>
            </a:r>
            <a:r>
              <a:rPr sz="1250" spc="-10" dirty="0">
                <a:solidFill>
                  <a:srgbClr val="C00000"/>
                </a:solidFill>
                <a:latin typeface="Verdana"/>
                <a:cs typeface="Verdana"/>
              </a:rPr>
              <a:t>30</a:t>
            </a:r>
            <a:r>
              <a:rPr sz="1250" spc="-10" dirty="0">
                <a:latin typeface="Verdana"/>
                <a:cs typeface="Verdana"/>
              </a:rPr>
              <a:t>);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4725" y="3868425"/>
            <a:ext cx="308927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dirty="0">
                <a:latin typeface="Verdana"/>
                <a:cs typeface="Verdana"/>
              </a:rPr>
              <a:t>ButtonGroup</a:t>
            </a:r>
            <a:r>
              <a:rPr sz="1250" spc="-45" dirty="0">
                <a:latin typeface="Verdana"/>
                <a:cs typeface="Verdana"/>
              </a:rPr>
              <a:t> </a:t>
            </a:r>
            <a:r>
              <a:rPr sz="1250" dirty="0">
                <a:latin typeface="Verdana"/>
                <a:cs typeface="Verdana"/>
              </a:rPr>
              <a:t>bg=</a:t>
            </a:r>
            <a:r>
              <a:rPr sz="1250" b="1" dirty="0">
                <a:solidFill>
                  <a:srgbClr val="006699"/>
                </a:solidFill>
                <a:latin typeface="Verdana"/>
                <a:cs typeface="Verdana"/>
              </a:rPr>
              <a:t>new</a:t>
            </a:r>
            <a:r>
              <a:rPr sz="1250" b="1" spc="-2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latin typeface="Verdana"/>
                <a:cs typeface="Verdana"/>
              </a:rPr>
              <a:t>ButtonGroup();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78475" y="779603"/>
            <a:ext cx="189293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10" dirty="0">
                <a:latin typeface="Verdana"/>
                <a:cs typeface="Verdana"/>
              </a:rPr>
              <a:t>bg.add(r1);bg.add(r2);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78475" y="1157882"/>
            <a:ext cx="160845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10" dirty="0">
                <a:latin typeface="Verdana"/>
                <a:cs typeface="Verdana"/>
              </a:rPr>
              <a:t>f.add(r1);f.add(r2);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278475" y="1536160"/>
            <a:ext cx="1587500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10" dirty="0">
                <a:latin typeface="Verdana"/>
                <a:cs typeface="Verdana"/>
              </a:rPr>
              <a:t>f.setSize(</a:t>
            </a:r>
            <a:r>
              <a:rPr sz="1250" spc="-10" dirty="0">
                <a:solidFill>
                  <a:srgbClr val="C00000"/>
                </a:solidFill>
                <a:latin typeface="Verdana"/>
                <a:cs typeface="Verdana"/>
              </a:rPr>
              <a:t>300</a:t>
            </a:r>
            <a:r>
              <a:rPr sz="1250" spc="-10" dirty="0">
                <a:latin typeface="Verdana"/>
                <a:cs typeface="Verdana"/>
              </a:rPr>
              <a:t>,</a:t>
            </a:r>
            <a:r>
              <a:rPr sz="1250" spc="-10" dirty="0">
                <a:solidFill>
                  <a:srgbClr val="C00000"/>
                </a:solidFill>
                <a:latin typeface="Verdana"/>
                <a:cs typeface="Verdana"/>
              </a:rPr>
              <a:t>300</a:t>
            </a:r>
            <a:r>
              <a:rPr sz="1250" spc="-10" dirty="0">
                <a:latin typeface="Verdana"/>
                <a:cs typeface="Verdana"/>
              </a:rPr>
              <a:t>);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278475" y="1914438"/>
            <a:ext cx="146621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10" dirty="0">
                <a:latin typeface="Verdana"/>
                <a:cs typeface="Verdana"/>
              </a:rPr>
              <a:t>f.setLayout(</a:t>
            </a:r>
            <a:r>
              <a:rPr sz="1250" b="1" spc="-10" dirty="0">
                <a:solidFill>
                  <a:srgbClr val="006699"/>
                </a:solidFill>
                <a:latin typeface="Verdana"/>
                <a:cs typeface="Verdana"/>
              </a:rPr>
              <a:t>null</a:t>
            </a:r>
            <a:r>
              <a:rPr sz="1250" spc="-10" dirty="0">
                <a:latin typeface="Verdana"/>
                <a:cs typeface="Verdana"/>
              </a:rPr>
              <a:t>);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278475" y="2292717"/>
            <a:ext cx="1479550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10" dirty="0">
                <a:latin typeface="Verdana"/>
                <a:cs typeface="Verdana"/>
              </a:rPr>
              <a:t>f.setVisible(</a:t>
            </a:r>
            <a:r>
              <a:rPr sz="1250" b="1" spc="-10" dirty="0">
                <a:solidFill>
                  <a:srgbClr val="006699"/>
                </a:solidFill>
                <a:latin typeface="Verdana"/>
                <a:cs typeface="Verdana"/>
              </a:rPr>
              <a:t>true</a:t>
            </a:r>
            <a:r>
              <a:rPr sz="1250" spc="-10" dirty="0">
                <a:latin typeface="Verdana"/>
                <a:cs typeface="Verdana"/>
              </a:rPr>
              <a:t>);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278475" y="2670995"/>
            <a:ext cx="126364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50" dirty="0">
                <a:latin typeface="Verdana"/>
                <a:cs typeface="Verdana"/>
              </a:rPr>
              <a:t>}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278475" y="3049274"/>
            <a:ext cx="316293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dirty="0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250" b="1" spc="-4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50" b="1" dirty="0">
                <a:solidFill>
                  <a:srgbClr val="006699"/>
                </a:solidFill>
                <a:latin typeface="Verdana"/>
                <a:cs typeface="Verdana"/>
              </a:rPr>
              <a:t>static</a:t>
            </a:r>
            <a:r>
              <a:rPr sz="1250" b="1" spc="-4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50" b="1" dirty="0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250" b="1" spc="-4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50" dirty="0">
                <a:latin typeface="Verdana"/>
                <a:cs typeface="Verdana"/>
              </a:rPr>
              <a:t>main(String[]</a:t>
            </a:r>
            <a:r>
              <a:rPr sz="1250" spc="-50" dirty="0">
                <a:latin typeface="Verdana"/>
                <a:cs typeface="Verdana"/>
              </a:rPr>
              <a:t> </a:t>
            </a:r>
            <a:r>
              <a:rPr sz="1250" spc="-10" dirty="0">
                <a:latin typeface="Verdana"/>
                <a:cs typeface="Verdana"/>
              </a:rPr>
              <a:t>args)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278475" y="3427552"/>
            <a:ext cx="126364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50" dirty="0">
                <a:latin typeface="Verdana"/>
                <a:cs typeface="Verdana"/>
              </a:rPr>
              <a:t>{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501578" y="3805830"/>
            <a:ext cx="2327910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dirty="0">
                <a:solidFill>
                  <a:srgbClr val="006699"/>
                </a:solidFill>
                <a:latin typeface="Verdana"/>
                <a:cs typeface="Verdana"/>
              </a:rPr>
              <a:t>new </a:t>
            </a:r>
            <a:r>
              <a:rPr sz="1250" spc="-10" dirty="0">
                <a:latin typeface="Verdana"/>
                <a:cs typeface="Verdana"/>
              </a:rPr>
              <a:t>RadioButtonExample();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278475" y="4184109"/>
            <a:ext cx="126364" cy="607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50" dirty="0">
                <a:latin typeface="Verdana"/>
                <a:cs typeface="Verdana"/>
              </a:rPr>
              <a:t>}</a:t>
            </a:r>
            <a:endParaRPr sz="12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z="1600" spc="-50" dirty="0">
                <a:latin typeface="Roboto"/>
                <a:cs typeface="Roboto"/>
              </a:rPr>
              <a:t>}</a:t>
            </a:r>
            <a:endParaRPr sz="16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23042" y="833649"/>
            <a:ext cx="3828857" cy="3476199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Java</a:t>
            </a:r>
            <a:r>
              <a:rPr spc="-70" dirty="0"/>
              <a:t> </a:t>
            </a:r>
            <a:r>
              <a:rPr spc="-10" dirty="0"/>
              <a:t>JComboBox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3411" y="1230876"/>
            <a:ext cx="6972300" cy="1214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0045" indent="-347345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360045" algn="l"/>
              </a:tabLst>
            </a:pPr>
            <a:r>
              <a:rPr sz="1550" dirty="0">
                <a:latin typeface="Verdana"/>
                <a:cs typeface="Verdana"/>
              </a:rPr>
              <a:t>The</a:t>
            </a:r>
            <a:r>
              <a:rPr sz="1550" spc="-3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object</a:t>
            </a:r>
            <a:r>
              <a:rPr sz="1550" spc="-3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of</a:t>
            </a:r>
            <a:r>
              <a:rPr sz="1550" spc="-3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Choice</a:t>
            </a:r>
            <a:r>
              <a:rPr sz="1550" spc="-3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class</a:t>
            </a:r>
            <a:r>
              <a:rPr sz="1550" spc="-3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is</a:t>
            </a:r>
            <a:r>
              <a:rPr sz="1550" spc="-3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used</a:t>
            </a:r>
            <a:r>
              <a:rPr sz="1550" spc="-3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to</a:t>
            </a:r>
            <a:r>
              <a:rPr sz="1550" spc="-3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show</a:t>
            </a:r>
            <a:r>
              <a:rPr sz="1550" spc="-3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popup</a:t>
            </a:r>
            <a:r>
              <a:rPr sz="1550" spc="-3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menu</a:t>
            </a:r>
            <a:r>
              <a:rPr sz="1550" spc="-3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of</a:t>
            </a:r>
            <a:r>
              <a:rPr sz="1550" spc="-30" dirty="0">
                <a:latin typeface="Verdana"/>
                <a:cs typeface="Verdana"/>
              </a:rPr>
              <a:t> </a:t>
            </a:r>
            <a:r>
              <a:rPr sz="1550" spc="-10" dirty="0">
                <a:latin typeface="Verdana"/>
                <a:cs typeface="Verdana"/>
              </a:rPr>
              <a:t>choices.</a:t>
            </a:r>
            <a:endParaRPr sz="15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 MT"/>
              <a:buChar char="●"/>
            </a:pPr>
            <a:endParaRPr sz="1550">
              <a:latin typeface="Verdana"/>
              <a:cs typeface="Verdana"/>
            </a:endParaRPr>
          </a:p>
          <a:p>
            <a:pPr marL="360045" indent="-347345">
              <a:lnSpc>
                <a:spcPct val="100000"/>
              </a:lnSpc>
              <a:buClr>
                <a:srgbClr val="434343"/>
              </a:buClr>
              <a:buFont typeface="Arial MT"/>
              <a:buChar char="●"/>
              <a:tabLst>
                <a:tab pos="360045" algn="l"/>
              </a:tabLst>
            </a:pPr>
            <a:r>
              <a:rPr sz="1550" dirty="0">
                <a:latin typeface="Verdana"/>
                <a:cs typeface="Verdana"/>
              </a:rPr>
              <a:t>Choice</a:t>
            </a:r>
            <a:r>
              <a:rPr sz="1550" spc="-3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selected</a:t>
            </a:r>
            <a:r>
              <a:rPr sz="1550" spc="-3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by</a:t>
            </a:r>
            <a:r>
              <a:rPr sz="1550" spc="-3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user</a:t>
            </a:r>
            <a:r>
              <a:rPr sz="1550" spc="-3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is</a:t>
            </a:r>
            <a:r>
              <a:rPr sz="1550" spc="-3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shown</a:t>
            </a:r>
            <a:r>
              <a:rPr sz="1550" spc="-3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on</a:t>
            </a:r>
            <a:r>
              <a:rPr sz="1550" spc="-3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the</a:t>
            </a:r>
            <a:r>
              <a:rPr sz="1550" spc="-3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top</a:t>
            </a:r>
            <a:r>
              <a:rPr sz="1550" spc="-30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of</a:t>
            </a:r>
            <a:r>
              <a:rPr sz="1550" spc="-3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a</a:t>
            </a:r>
            <a:r>
              <a:rPr sz="1550" spc="-10" dirty="0">
                <a:latin typeface="Verdana"/>
                <a:cs typeface="Verdana"/>
              </a:rPr>
              <a:t> </a:t>
            </a:r>
            <a:r>
              <a:rPr sz="1550" spc="-10" dirty="0">
                <a:solidFill>
                  <a:srgbClr val="008000"/>
                </a:solidFill>
                <a:latin typeface="Verdana"/>
                <a:cs typeface="Verdana"/>
                <a:hlinkClick r:id="rId2"/>
              </a:rPr>
              <a:t>menu</a:t>
            </a:r>
            <a:r>
              <a:rPr sz="1550" spc="-10" dirty="0">
                <a:latin typeface="Verdana"/>
                <a:cs typeface="Verdana"/>
              </a:rPr>
              <a:t>.</a:t>
            </a:r>
            <a:endParaRPr sz="15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 MT"/>
              <a:buChar char="●"/>
            </a:pPr>
            <a:endParaRPr sz="1550">
              <a:latin typeface="Verdana"/>
              <a:cs typeface="Verdana"/>
            </a:endParaRPr>
          </a:p>
          <a:p>
            <a:pPr marL="360045" indent="-347345">
              <a:lnSpc>
                <a:spcPct val="100000"/>
              </a:lnSpc>
              <a:buClr>
                <a:srgbClr val="434343"/>
              </a:buClr>
              <a:buFont typeface="Arial MT"/>
              <a:buChar char="●"/>
              <a:tabLst>
                <a:tab pos="360045" algn="l"/>
              </a:tabLst>
            </a:pPr>
            <a:r>
              <a:rPr sz="1550" dirty="0">
                <a:latin typeface="Verdana"/>
                <a:cs typeface="Verdana"/>
              </a:rPr>
              <a:t>It</a:t>
            </a:r>
            <a:r>
              <a:rPr sz="1550" spc="-35" dirty="0">
                <a:latin typeface="Verdana"/>
                <a:cs typeface="Verdana"/>
              </a:rPr>
              <a:t> </a:t>
            </a:r>
            <a:r>
              <a:rPr sz="1550" dirty="0">
                <a:latin typeface="Verdana"/>
                <a:cs typeface="Verdana"/>
              </a:rPr>
              <a:t>inherits</a:t>
            </a:r>
            <a:r>
              <a:rPr sz="1550" spc="-25" dirty="0">
                <a:latin typeface="Verdana"/>
                <a:cs typeface="Verdana"/>
              </a:rPr>
              <a:t> </a:t>
            </a:r>
            <a:r>
              <a:rPr sz="1550" dirty="0">
                <a:solidFill>
                  <a:srgbClr val="008000"/>
                </a:solidFill>
                <a:latin typeface="Verdana"/>
                <a:cs typeface="Verdana"/>
                <a:hlinkClick r:id="rId3"/>
              </a:rPr>
              <a:t>JComponent</a:t>
            </a:r>
            <a:r>
              <a:rPr sz="1550" spc="-35" dirty="0">
                <a:solidFill>
                  <a:srgbClr val="008000"/>
                </a:solidFill>
                <a:latin typeface="Verdana"/>
                <a:cs typeface="Verdana"/>
              </a:rPr>
              <a:t> </a:t>
            </a:r>
            <a:r>
              <a:rPr sz="1550" spc="-10" dirty="0">
                <a:latin typeface="Verdana"/>
                <a:cs typeface="Verdana"/>
              </a:rPr>
              <a:t>class.</a:t>
            </a:r>
            <a:endParaRPr sz="15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2750" y="194424"/>
            <a:ext cx="1851660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dirty="0">
                <a:solidFill>
                  <a:srgbClr val="006699"/>
                </a:solidFill>
                <a:latin typeface="Verdana"/>
                <a:cs typeface="Verdana"/>
              </a:rPr>
              <a:t>import</a:t>
            </a:r>
            <a:r>
              <a:rPr sz="1250" b="1" spc="-65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latin typeface="Verdana"/>
                <a:cs typeface="Verdana"/>
              </a:rPr>
              <a:t>javax.swing.*;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2750" y="575424"/>
            <a:ext cx="280733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dirty="0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250" b="1" spc="-3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50" b="1" dirty="0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250" b="1" spc="-3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50" dirty="0">
                <a:latin typeface="Verdana"/>
                <a:cs typeface="Verdana"/>
              </a:rPr>
              <a:t>ComboBoxExample</a:t>
            </a:r>
            <a:r>
              <a:rPr sz="1250" spc="-40" dirty="0">
                <a:latin typeface="Verdana"/>
                <a:cs typeface="Verdana"/>
              </a:rPr>
              <a:t> </a:t>
            </a:r>
            <a:r>
              <a:rPr sz="1250" spc="-50" dirty="0">
                <a:latin typeface="Verdana"/>
                <a:cs typeface="Verdana"/>
              </a:rPr>
              <a:t>{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2750" y="956424"/>
            <a:ext cx="78422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dirty="0">
                <a:latin typeface="Verdana"/>
                <a:cs typeface="Verdana"/>
              </a:rPr>
              <a:t>JFrame</a:t>
            </a:r>
            <a:r>
              <a:rPr sz="1250" spc="-30" dirty="0">
                <a:latin typeface="Verdana"/>
                <a:cs typeface="Verdana"/>
              </a:rPr>
              <a:t> </a:t>
            </a:r>
            <a:r>
              <a:rPr sz="1250" spc="-25" dirty="0">
                <a:latin typeface="Verdana"/>
                <a:cs typeface="Verdana"/>
              </a:rPr>
              <a:t>f;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2750" y="1337424"/>
            <a:ext cx="180530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10" dirty="0">
                <a:latin typeface="Verdana"/>
                <a:cs typeface="Verdana"/>
              </a:rPr>
              <a:t>ComboBoxExample(){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5635" y="1718424"/>
            <a:ext cx="3169920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dirty="0">
                <a:latin typeface="Verdana"/>
                <a:cs typeface="Verdana"/>
              </a:rPr>
              <a:t>f=</a:t>
            </a:r>
            <a:r>
              <a:rPr sz="1250" b="1" dirty="0">
                <a:solidFill>
                  <a:srgbClr val="006699"/>
                </a:solidFill>
                <a:latin typeface="Verdana"/>
                <a:cs typeface="Verdana"/>
              </a:rPr>
              <a:t>new </a:t>
            </a:r>
            <a:r>
              <a:rPr sz="1250" spc="-10" dirty="0">
                <a:latin typeface="Verdana"/>
                <a:cs typeface="Verdana"/>
              </a:rPr>
              <a:t>JFrame(</a:t>
            </a:r>
            <a:r>
              <a:rPr sz="1250" spc="-10" dirty="0">
                <a:solidFill>
                  <a:srgbClr val="0000FF"/>
                </a:solidFill>
                <a:latin typeface="Verdana"/>
                <a:cs typeface="Verdana"/>
              </a:rPr>
              <a:t>"ComboBox</a:t>
            </a:r>
            <a:r>
              <a:rPr sz="1250" spc="-15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0000FF"/>
                </a:solidFill>
                <a:latin typeface="Verdana"/>
                <a:cs typeface="Verdana"/>
              </a:rPr>
              <a:t>Example"</a:t>
            </a:r>
            <a:r>
              <a:rPr sz="1250" spc="-10" dirty="0">
                <a:latin typeface="Verdana"/>
                <a:cs typeface="Verdana"/>
              </a:rPr>
              <a:t>);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2750" y="2099425"/>
            <a:ext cx="487299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5585">
              <a:lnSpc>
                <a:spcPct val="100000"/>
              </a:lnSpc>
              <a:spcBef>
                <a:spcPts val="100"/>
              </a:spcBef>
            </a:pPr>
            <a:r>
              <a:rPr sz="1250" spc="-10" dirty="0">
                <a:latin typeface="Verdana"/>
                <a:cs typeface="Verdana"/>
              </a:rPr>
              <a:t>String</a:t>
            </a:r>
            <a:endParaRPr sz="12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250" spc="-10" dirty="0">
                <a:latin typeface="Verdana"/>
                <a:cs typeface="Verdana"/>
              </a:rPr>
              <a:t>country[]={</a:t>
            </a:r>
            <a:r>
              <a:rPr sz="1250" spc="-10" dirty="0">
                <a:solidFill>
                  <a:srgbClr val="0000FF"/>
                </a:solidFill>
                <a:latin typeface="Verdana"/>
                <a:cs typeface="Verdana"/>
              </a:rPr>
              <a:t>"India"</a:t>
            </a:r>
            <a:r>
              <a:rPr sz="1250" spc="-10" dirty="0">
                <a:latin typeface="Verdana"/>
                <a:cs typeface="Verdana"/>
              </a:rPr>
              <a:t>,</a:t>
            </a:r>
            <a:r>
              <a:rPr sz="1250" spc="-10" dirty="0">
                <a:solidFill>
                  <a:srgbClr val="0000FF"/>
                </a:solidFill>
                <a:latin typeface="Verdana"/>
                <a:cs typeface="Verdana"/>
              </a:rPr>
              <a:t>"Aus"</a:t>
            </a:r>
            <a:r>
              <a:rPr sz="1250" spc="-10" dirty="0">
                <a:latin typeface="Verdana"/>
                <a:cs typeface="Verdana"/>
              </a:rPr>
              <a:t>,</a:t>
            </a:r>
            <a:r>
              <a:rPr sz="1250" spc="-10" dirty="0">
                <a:solidFill>
                  <a:srgbClr val="0000FF"/>
                </a:solidFill>
                <a:latin typeface="Verdana"/>
                <a:cs typeface="Verdana"/>
              </a:rPr>
              <a:t>"U.S.A"</a:t>
            </a:r>
            <a:r>
              <a:rPr sz="1250" spc="-10" dirty="0">
                <a:latin typeface="Verdana"/>
                <a:cs typeface="Verdana"/>
              </a:rPr>
              <a:t>,</a:t>
            </a:r>
            <a:r>
              <a:rPr sz="1250" spc="-10" dirty="0">
                <a:solidFill>
                  <a:srgbClr val="0000FF"/>
                </a:solidFill>
                <a:latin typeface="Verdana"/>
                <a:cs typeface="Verdana"/>
              </a:rPr>
              <a:t>"England"</a:t>
            </a:r>
            <a:r>
              <a:rPr sz="1250" spc="-10" dirty="0">
                <a:latin typeface="Verdana"/>
                <a:cs typeface="Verdana"/>
              </a:rPr>
              <a:t>,</a:t>
            </a:r>
            <a:r>
              <a:rPr sz="1250" spc="-10" dirty="0">
                <a:solidFill>
                  <a:srgbClr val="0000FF"/>
                </a:solidFill>
                <a:latin typeface="Verdana"/>
                <a:cs typeface="Verdana"/>
              </a:rPr>
              <a:t>"Newzealand"</a:t>
            </a:r>
            <a:r>
              <a:rPr sz="1250" spc="-10" dirty="0">
                <a:latin typeface="Verdana"/>
                <a:cs typeface="Verdana"/>
              </a:rPr>
              <a:t>};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5635" y="2823325"/>
            <a:ext cx="349821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10" dirty="0">
                <a:latin typeface="Verdana"/>
                <a:cs typeface="Verdana"/>
              </a:rPr>
              <a:t>JComboBox</a:t>
            </a:r>
            <a:r>
              <a:rPr sz="1250" spc="-25" dirty="0">
                <a:latin typeface="Verdana"/>
                <a:cs typeface="Verdana"/>
              </a:rPr>
              <a:t> </a:t>
            </a:r>
            <a:r>
              <a:rPr sz="1250" dirty="0">
                <a:latin typeface="Verdana"/>
                <a:cs typeface="Verdana"/>
              </a:rPr>
              <a:t>cb=</a:t>
            </a:r>
            <a:r>
              <a:rPr sz="1250" b="1" dirty="0">
                <a:solidFill>
                  <a:srgbClr val="006699"/>
                </a:solidFill>
                <a:latin typeface="Verdana"/>
                <a:cs typeface="Verdana"/>
              </a:rPr>
              <a:t>new</a:t>
            </a:r>
            <a:r>
              <a:rPr sz="1250" b="1" spc="-1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latin typeface="Verdana"/>
                <a:cs typeface="Verdana"/>
              </a:rPr>
              <a:t>JComboBox(country);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5635" y="3204325"/>
            <a:ext cx="2344420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dirty="0">
                <a:latin typeface="Verdana"/>
                <a:cs typeface="Verdana"/>
              </a:rPr>
              <a:t>cb.setBounds(</a:t>
            </a:r>
            <a:r>
              <a:rPr sz="1250" dirty="0">
                <a:solidFill>
                  <a:srgbClr val="C00000"/>
                </a:solidFill>
                <a:latin typeface="Verdana"/>
                <a:cs typeface="Verdana"/>
              </a:rPr>
              <a:t>50</a:t>
            </a:r>
            <a:r>
              <a:rPr sz="1250" dirty="0">
                <a:latin typeface="Verdana"/>
                <a:cs typeface="Verdana"/>
              </a:rPr>
              <a:t>,</a:t>
            </a:r>
            <a:r>
              <a:rPr sz="1250" spc="-95" dirty="0"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C00000"/>
                </a:solidFill>
                <a:latin typeface="Verdana"/>
                <a:cs typeface="Verdana"/>
              </a:rPr>
              <a:t>50</a:t>
            </a:r>
            <a:r>
              <a:rPr sz="1250" spc="-10" dirty="0">
                <a:latin typeface="Verdana"/>
                <a:cs typeface="Verdana"/>
              </a:rPr>
              <a:t>,</a:t>
            </a:r>
            <a:r>
              <a:rPr sz="1250" spc="-10" dirty="0">
                <a:solidFill>
                  <a:srgbClr val="C00000"/>
                </a:solidFill>
                <a:latin typeface="Verdana"/>
                <a:cs typeface="Verdana"/>
              </a:rPr>
              <a:t>90</a:t>
            </a:r>
            <a:r>
              <a:rPr sz="1250" spc="-10" dirty="0">
                <a:latin typeface="Verdana"/>
                <a:cs typeface="Verdana"/>
              </a:rPr>
              <a:t>,</a:t>
            </a:r>
            <a:r>
              <a:rPr sz="1250" spc="-10" dirty="0">
                <a:solidFill>
                  <a:srgbClr val="C00000"/>
                </a:solidFill>
                <a:latin typeface="Verdana"/>
                <a:cs typeface="Verdana"/>
              </a:rPr>
              <a:t>20</a:t>
            </a:r>
            <a:r>
              <a:rPr sz="1250" spc="-10" dirty="0">
                <a:latin typeface="Verdana"/>
                <a:cs typeface="Verdana"/>
              </a:rPr>
              <a:t>);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5635" y="3585325"/>
            <a:ext cx="829944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10" dirty="0">
                <a:latin typeface="Verdana"/>
                <a:cs typeface="Verdana"/>
              </a:rPr>
              <a:t>f.add(cb);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34335" y="593678"/>
            <a:ext cx="146621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10" dirty="0">
                <a:latin typeface="Verdana"/>
                <a:cs typeface="Verdana"/>
              </a:rPr>
              <a:t>f.setLayout(</a:t>
            </a:r>
            <a:r>
              <a:rPr sz="1250" b="1" spc="-10" dirty="0">
                <a:solidFill>
                  <a:srgbClr val="006699"/>
                </a:solidFill>
                <a:latin typeface="Verdana"/>
                <a:cs typeface="Verdana"/>
              </a:rPr>
              <a:t>null</a:t>
            </a:r>
            <a:r>
              <a:rPr sz="1250" spc="-10" dirty="0">
                <a:latin typeface="Verdana"/>
                <a:cs typeface="Verdana"/>
              </a:rPr>
              <a:t>);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34335" y="971956"/>
            <a:ext cx="158813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10" dirty="0">
                <a:latin typeface="Verdana"/>
                <a:cs typeface="Verdana"/>
              </a:rPr>
              <a:t>f.setSize(</a:t>
            </a:r>
            <a:r>
              <a:rPr sz="1250" spc="-10" dirty="0">
                <a:solidFill>
                  <a:srgbClr val="C00000"/>
                </a:solidFill>
                <a:latin typeface="Verdana"/>
                <a:cs typeface="Verdana"/>
              </a:rPr>
              <a:t>400</a:t>
            </a:r>
            <a:r>
              <a:rPr sz="1250" spc="-10" dirty="0">
                <a:latin typeface="Verdana"/>
                <a:cs typeface="Verdana"/>
              </a:rPr>
              <a:t>,</a:t>
            </a:r>
            <a:r>
              <a:rPr sz="1250" spc="-10" dirty="0">
                <a:solidFill>
                  <a:srgbClr val="C00000"/>
                </a:solidFill>
                <a:latin typeface="Verdana"/>
                <a:cs typeface="Verdana"/>
              </a:rPr>
              <a:t>500</a:t>
            </a:r>
            <a:r>
              <a:rPr sz="1250" spc="-10" dirty="0">
                <a:latin typeface="Verdana"/>
                <a:cs typeface="Verdana"/>
              </a:rPr>
              <a:t>);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34335" y="1350235"/>
            <a:ext cx="148018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10" dirty="0">
                <a:latin typeface="Verdana"/>
                <a:cs typeface="Verdana"/>
              </a:rPr>
              <a:t>f.setVisible(</a:t>
            </a:r>
            <a:r>
              <a:rPr sz="1250" b="1" spc="-10" dirty="0">
                <a:solidFill>
                  <a:srgbClr val="006699"/>
                </a:solidFill>
                <a:latin typeface="Verdana"/>
                <a:cs typeface="Verdana"/>
              </a:rPr>
              <a:t>true</a:t>
            </a:r>
            <a:r>
              <a:rPr sz="1250" spc="-10" dirty="0">
                <a:latin typeface="Verdana"/>
                <a:cs typeface="Verdana"/>
              </a:rPr>
              <a:t>);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811449" y="1728513"/>
            <a:ext cx="126364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50" dirty="0">
                <a:latin typeface="Verdana"/>
                <a:cs typeface="Verdana"/>
              </a:rPr>
              <a:t>}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811449" y="2106792"/>
            <a:ext cx="3162935" cy="556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dirty="0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250" b="1" spc="-4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50" b="1" dirty="0">
                <a:solidFill>
                  <a:srgbClr val="006699"/>
                </a:solidFill>
                <a:latin typeface="Verdana"/>
                <a:cs typeface="Verdana"/>
              </a:rPr>
              <a:t>static</a:t>
            </a:r>
            <a:r>
              <a:rPr sz="1250" b="1" spc="-4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50" b="1" dirty="0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250" b="1" spc="-4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250" dirty="0">
                <a:latin typeface="Verdana"/>
                <a:cs typeface="Verdana"/>
              </a:rPr>
              <a:t>main(String[]</a:t>
            </a:r>
            <a:r>
              <a:rPr sz="1250" spc="-50" dirty="0">
                <a:latin typeface="Verdana"/>
                <a:cs typeface="Verdana"/>
              </a:rPr>
              <a:t> </a:t>
            </a:r>
            <a:r>
              <a:rPr sz="1250" spc="-10" dirty="0">
                <a:latin typeface="Verdana"/>
                <a:cs typeface="Verdana"/>
              </a:rPr>
              <a:t>args)</a:t>
            </a:r>
            <a:endParaRPr sz="12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1250" spc="-50" dirty="0">
                <a:latin typeface="Verdana"/>
                <a:cs typeface="Verdana"/>
              </a:rPr>
              <a:t>{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034552" y="2825249"/>
            <a:ext cx="2208530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dirty="0">
                <a:solidFill>
                  <a:srgbClr val="006699"/>
                </a:solidFill>
                <a:latin typeface="Verdana"/>
                <a:cs typeface="Verdana"/>
              </a:rPr>
              <a:t>new </a:t>
            </a:r>
            <a:r>
              <a:rPr sz="1250" spc="-10" dirty="0">
                <a:latin typeface="Verdana"/>
                <a:cs typeface="Verdana"/>
              </a:rPr>
              <a:t>ComboBoxExample();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11449" y="3203527"/>
            <a:ext cx="126364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50" dirty="0">
                <a:latin typeface="Verdana"/>
                <a:cs typeface="Verdana"/>
              </a:rPr>
              <a:t>}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811449" y="3581806"/>
            <a:ext cx="126364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50" dirty="0">
                <a:latin typeface="Verdana"/>
                <a:cs typeface="Verdana"/>
              </a:rPr>
              <a:t>}</a:t>
            </a:r>
            <a:endParaRPr sz="1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6500" y="402302"/>
            <a:ext cx="4050774" cy="3666625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22649"/>
            <a:ext cx="150050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Java</a:t>
            </a:r>
            <a:r>
              <a:rPr spc="-70" dirty="0"/>
              <a:t> </a:t>
            </a:r>
            <a:r>
              <a:rPr spc="-30" dirty="0"/>
              <a:t>JTable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2127" y="1295534"/>
            <a:ext cx="552196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352425" algn="l"/>
              </a:tabLst>
            </a:pPr>
            <a:r>
              <a:rPr sz="1450" dirty="0">
                <a:latin typeface="Verdana"/>
                <a:cs typeface="Verdana"/>
              </a:rPr>
              <a:t>The</a:t>
            </a:r>
            <a:r>
              <a:rPr sz="1450" spc="-30" dirty="0">
                <a:latin typeface="Verdana"/>
                <a:cs typeface="Verdana"/>
              </a:rPr>
              <a:t> </a:t>
            </a:r>
            <a:r>
              <a:rPr sz="1450" dirty="0">
                <a:latin typeface="Verdana"/>
                <a:cs typeface="Verdana"/>
              </a:rPr>
              <a:t>JTable</a:t>
            </a:r>
            <a:r>
              <a:rPr sz="1450" spc="-30" dirty="0">
                <a:latin typeface="Verdana"/>
                <a:cs typeface="Verdana"/>
              </a:rPr>
              <a:t> </a:t>
            </a:r>
            <a:r>
              <a:rPr sz="1450" dirty="0">
                <a:latin typeface="Verdana"/>
                <a:cs typeface="Verdana"/>
              </a:rPr>
              <a:t>class</a:t>
            </a:r>
            <a:r>
              <a:rPr sz="1450" spc="-30" dirty="0">
                <a:latin typeface="Verdana"/>
                <a:cs typeface="Verdana"/>
              </a:rPr>
              <a:t> </a:t>
            </a:r>
            <a:r>
              <a:rPr sz="1450" dirty="0">
                <a:latin typeface="Verdana"/>
                <a:cs typeface="Verdana"/>
              </a:rPr>
              <a:t>is</a:t>
            </a:r>
            <a:r>
              <a:rPr sz="1450" spc="-30" dirty="0">
                <a:latin typeface="Verdana"/>
                <a:cs typeface="Verdana"/>
              </a:rPr>
              <a:t> </a:t>
            </a:r>
            <a:r>
              <a:rPr sz="1450" dirty="0">
                <a:latin typeface="Verdana"/>
                <a:cs typeface="Verdana"/>
              </a:rPr>
              <a:t>used</a:t>
            </a:r>
            <a:r>
              <a:rPr sz="1450" spc="-30" dirty="0">
                <a:latin typeface="Verdana"/>
                <a:cs typeface="Verdana"/>
              </a:rPr>
              <a:t> </a:t>
            </a:r>
            <a:r>
              <a:rPr sz="1450" dirty="0">
                <a:latin typeface="Verdana"/>
                <a:cs typeface="Verdana"/>
              </a:rPr>
              <a:t>to</a:t>
            </a:r>
            <a:r>
              <a:rPr sz="1450" spc="-30" dirty="0">
                <a:latin typeface="Verdana"/>
                <a:cs typeface="Verdana"/>
              </a:rPr>
              <a:t> </a:t>
            </a:r>
            <a:r>
              <a:rPr sz="1450" dirty="0">
                <a:latin typeface="Verdana"/>
                <a:cs typeface="Verdana"/>
              </a:rPr>
              <a:t>display</a:t>
            </a:r>
            <a:r>
              <a:rPr sz="1450" spc="-30" dirty="0">
                <a:latin typeface="Verdana"/>
                <a:cs typeface="Verdana"/>
              </a:rPr>
              <a:t> </a:t>
            </a:r>
            <a:r>
              <a:rPr sz="1450" dirty="0">
                <a:latin typeface="Verdana"/>
                <a:cs typeface="Verdana"/>
              </a:rPr>
              <a:t>data</a:t>
            </a:r>
            <a:r>
              <a:rPr sz="1450" spc="-30" dirty="0">
                <a:latin typeface="Verdana"/>
                <a:cs typeface="Verdana"/>
              </a:rPr>
              <a:t> </a:t>
            </a:r>
            <a:r>
              <a:rPr sz="1450" dirty="0">
                <a:latin typeface="Verdana"/>
                <a:cs typeface="Verdana"/>
              </a:rPr>
              <a:t>in</a:t>
            </a:r>
            <a:r>
              <a:rPr sz="1450" spc="-25" dirty="0">
                <a:latin typeface="Verdana"/>
                <a:cs typeface="Verdana"/>
              </a:rPr>
              <a:t> </a:t>
            </a:r>
            <a:r>
              <a:rPr sz="1450" dirty="0">
                <a:latin typeface="Verdana"/>
                <a:cs typeface="Verdana"/>
              </a:rPr>
              <a:t>tabular</a:t>
            </a:r>
            <a:r>
              <a:rPr sz="1450" spc="-30" dirty="0">
                <a:latin typeface="Verdana"/>
                <a:cs typeface="Verdana"/>
              </a:rPr>
              <a:t> </a:t>
            </a:r>
            <a:r>
              <a:rPr sz="1450" spc="-10" dirty="0">
                <a:latin typeface="Verdana"/>
                <a:cs typeface="Verdana"/>
              </a:rPr>
              <a:t>form.</a:t>
            </a:r>
            <a:endParaRPr sz="1450">
              <a:latin typeface="Verdana"/>
              <a:cs typeface="Verdana"/>
            </a:endParaRPr>
          </a:p>
          <a:p>
            <a:pPr marL="352425" indent="-339725">
              <a:lnSpc>
                <a:spcPct val="100000"/>
              </a:lnSpc>
              <a:spcBef>
                <a:spcPts val="1710"/>
              </a:spcBef>
              <a:buFont typeface="Arial MT"/>
              <a:buChar char="●"/>
              <a:tabLst>
                <a:tab pos="352425" algn="l"/>
              </a:tabLst>
            </a:pPr>
            <a:r>
              <a:rPr sz="1450" dirty="0">
                <a:latin typeface="Verdana"/>
                <a:cs typeface="Verdana"/>
              </a:rPr>
              <a:t>It</a:t>
            </a:r>
            <a:r>
              <a:rPr sz="1450" spc="-20" dirty="0">
                <a:latin typeface="Verdana"/>
                <a:cs typeface="Verdana"/>
              </a:rPr>
              <a:t> </a:t>
            </a:r>
            <a:r>
              <a:rPr sz="1450" dirty="0">
                <a:latin typeface="Verdana"/>
                <a:cs typeface="Verdana"/>
              </a:rPr>
              <a:t>is</a:t>
            </a:r>
            <a:r>
              <a:rPr sz="1450" spc="-20" dirty="0">
                <a:latin typeface="Verdana"/>
                <a:cs typeface="Verdana"/>
              </a:rPr>
              <a:t> </a:t>
            </a:r>
            <a:r>
              <a:rPr sz="1450" dirty="0">
                <a:latin typeface="Verdana"/>
                <a:cs typeface="Verdana"/>
              </a:rPr>
              <a:t>composed</a:t>
            </a:r>
            <a:r>
              <a:rPr sz="1450" spc="-20" dirty="0">
                <a:latin typeface="Verdana"/>
                <a:cs typeface="Verdana"/>
              </a:rPr>
              <a:t> </a:t>
            </a:r>
            <a:r>
              <a:rPr sz="1450" dirty="0">
                <a:latin typeface="Verdana"/>
                <a:cs typeface="Verdana"/>
              </a:rPr>
              <a:t>of</a:t>
            </a:r>
            <a:r>
              <a:rPr sz="1450" spc="-20" dirty="0">
                <a:latin typeface="Verdana"/>
                <a:cs typeface="Verdana"/>
              </a:rPr>
              <a:t> </a:t>
            </a:r>
            <a:r>
              <a:rPr sz="1450" dirty="0">
                <a:latin typeface="Verdana"/>
                <a:cs typeface="Verdana"/>
              </a:rPr>
              <a:t>rows</a:t>
            </a:r>
            <a:r>
              <a:rPr sz="1450" spc="-20" dirty="0">
                <a:latin typeface="Verdana"/>
                <a:cs typeface="Verdana"/>
              </a:rPr>
              <a:t> </a:t>
            </a:r>
            <a:r>
              <a:rPr sz="1450" dirty="0">
                <a:latin typeface="Verdana"/>
                <a:cs typeface="Verdana"/>
              </a:rPr>
              <a:t>and</a:t>
            </a:r>
            <a:r>
              <a:rPr sz="1450" spc="-20" dirty="0">
                <a:latin typeface="Verdana"/>
                <a:cs typeface="Verdana"/>
              </a:rPr>
              <a:t> </a:t>
            </a:r>
            <a:r>
              <a:rPr sz="1450" spc="-10" dirty="0">
                <a:latin typeface="Verdana"/>
                <a:cs typeface="Verdana"/>
              </a:rPr>
              <a:t>columns.</a:t>
            </a:r>
            <a:endParaRPr sz="1450">
              <a:latin typeface="Verdana"/>
              <a:cs typeface="Verdana"/>
            </a:endParaRPr>
          </a:p>
          <a:p>
            <a:pPr marL="352425" indent="-339725">
              <a:lnSpc>
                <a:spcPct val="100000"/>
              </a:lnSpc>
              <a:spcBef>
                <a:spcPts val="1710"/>
              </a:spcBef>
              <a:buFont typeface="Arial MT"/>
              <a:buChar char="●"/>
              <a:tabLst>
                <a:tab pos="352425" algn="l"/>
              </a:tabLst>
            </a:pPr>
            <a:r>
              <a:rPr sz="1450" dirty="0">
                <a:latin typeface="Verdana"/>
                <a:cs typeface="Verdana"/>
              </a:rPr>
              <a:t>Let's</a:t>
            </a:r>
            <a:r>
              <a:rPr sz="1450" spc="-40" dirty="0">
                <a:latin typeface="Verdana"/>
                <a:cs typeface="Verdana"/>
              </a:rPr>
              <a:t> </a:t>
            </a:r>
            <a:r>
              <a:rPr sz="1450" dirty="0">
                <a:latin typeface="Verdana"/>
                <a:cs typeface="Verdana"/>
              </a:rPr>
              <a:t>see</a:t>
            </a:r>
            <a:r>
              <a:rPr sz="1450" spc="-40" dirty="0">
                <a:latin typeface="Verdana"/>
                <a:cs typeface="Verdana"/>
              </a:rPr>
              <a:t> </a:t>
            </a:r>
            <a:r>
              <a:rPr sz="1450" dirty="0">
                <a:latin typeface="Verdana"/>
                <a:cs typeface="Verdana"/>
              </a:rPr>
              <a:t>the</a:t>
            </a:r>
            <a:r>
              <a:rPr sz="1450" spc="-40" dirty="0">
                <a:latin typeface="Verdana"/>
                <a:cs typeface="Verdana"/>
              </a:rPr>
              <a:t> </a:t>
            </a:r>
            <a:r>
              <a:rPr sz="1450" spc="-10" dirty="0">
                <a:latin typeface="Verdana"/>
                <a:cs typeface="Verdana"/>
              </a:rPr>
              <a:t>declaration</a:t>
            </a:r>
            <a:r>
              <a:rPr sz="1450" spc="-40" dirty="0">
                <a:latin typeface="Verdana"/>
                <a:cs typeface="Verdana"/>
              </a:rPr>
              <a:t> </a:t>
            </a:r>
            <a:r>
              <a:rPr sz="1450" dirty="0">
                <a:latin typeface="Verdana"/>
                <a:cs typeface="Verdana"/>
              </a:rPr>
              <a:t>for</a:t>
            </a:r>
            <a:r>
              <a:rPr sz="1450" spc="-40" dirty="0">
                <a:latin typeface="Verdana"/>
                <a:cs typeface="Verdana"/>
              </a:rPr>
              <a:t> </a:t>
            </a:r>
            <a:r>
              <a:rPr sz="1450" dirty="0">
                <a:latin typeface="Verdana"/>
                <a:cs typeface="Verdana"/>
              </a:rPr>
              <a:t>javax.swing.JTable</a:t>
            </a:r>
            <a:r>
              <a:rPr sz="1450" spc="-40" dirty="0">
                <a:latin typeface="Verdana"/>
                <a:cs typeface="Verdana"/>
              </a:rPr>
              <a:t> </a:t>
            </a:r>
            <a:r>
              <a:rPr sz="1450" spc="-10" dirty="0">
                <a:latin typeface="Verdana"/>
                <a:cs typeface="Verdana"/>
              </a:rPr>
              <a:t>class.</a:t>
            </a:r>
            <a:endParaRPr sz="14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7550" y="268013"/>
            <a:ext cx="162813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006699"/>
                </a:solidFill>
                <a:latin typeface="Times New Roman"/>
                <a:cs typeface="Times New Roman"/>
              </a:rPr>
              <a:t>import</a:t>
            </a:r>
            <a:r>
              <a:rPr sz="1400" b="1" spc="-5" dirty="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javax.swing.*;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7550" y="687113"/>
            <a:ext cx="209359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006699"/>
                </a:solidFill>
                <a:latin typeface="Times New Roman"/>
                <a:cs typeface="Times New Roman"/>
              </a:rPr>
              <a:t>public</a:t>
            </a:r>
            <a:r>
              <a:rPr sz="1400" b="1" spc="-20" dirty="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6699"/>
                </a:solidFill>
                <a:latin typeface="Times New Roman"/>
                <a:cs typeface="Times New Roman"/>
              </a:rPr>
              <a:t>class</a:t>
            </a:r>
            <a:r>
              <a:rPr sz="1400" b="1" spc="-50" dirty="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TableExample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50" dirty="0">
                <a:latin typeface="Times New Roman"/>
                <a:cs typeface="Times New Roman"/>
              </a:rPr>
              <a:t>{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5350" y="1106213"/>
            <a:ext cx="7010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imes New Roman"/>
                <a:cs typeface="Times New Roman"/>
              </a:rPr>
              <a:t>JFrame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f;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2149" y="1525313"/>
            <a:ext cx="12515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Times New Roman"/>
                <a:cs typeface="Times New Roman"/>
              </a:rPr>
              <a:t>TableExample(){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5350" y="1944413"/>
            <a:ext cx="12255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imes New Roman"/>
                <a:cs typeface="Times New Roman"/>
              </a:rPr>
              <a:t>f=</a:t>
            </a:r>
            <a:r>
              <a:rPr sz="1400" b="1" dirty="0">
                <a:solidFill>
                  <a:srgbClr val="006699"/>
                </a:solidFill>
                <a:latin typeface="Times New Roman"/>
                <a:cs typeface="Times New Roman"/>
              </a:rPr>
              <a:t>new</a:t>
            </a:r>
            <a:r>
              <a:rPr sz="1400" b="1" spc="-50" dirty="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JFrame();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5350" y="2363513"/>
            <a:ext cx="31711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imes New Roman"/>
                <a:cs typeface="Times New Roman"/>
              </a:rPr>
              <a:t>String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data[][]={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{</a:t>
            </a:r>
            <a:r>
              <a:rPr sz="1400" spc="-10" dirty="0">
                <a:solidFill>
                  <a:srgbClr val="0000FF"/>
                </a:solidFill>
                <a:latin typeface="Times New Roman"/>
                <a:cs typeface="Times New Roman"/>
              </a:rPr>
              <a:t>"101"</a:t>
            </a:r>
            <a:r>
              <a:rPr sz="1400" spc="-10" dirty="0">
                <a:latin typeface="Times New Roman"/>
                <a:cs typeface="Times New Roman"/>
              </a:rPr>
              <a:t>,</a:t>
            </a:r>
            <a:r>
              <a:rPr sz="1400" spc="-10" dirty="0">
                <a:solidFill>
                  <a:srgbClr val="0000FF"/>
                </a:solidFill>
                <a:latin typeface="Times New Roman"/>
                <a:cs typeface="Times New Roman"/>
              </a:rPr>
              <a:t>"Amit"</a:t>
            </a:r>
            <a:r>
              <a:rPr sz="1400" spc="-10" dirty="0">
                <a:latin typeface="Times New Roman"/>
                <a:cs typeface="Times New Roman"/>
              </a:rPr>
              <a:t>,</a:t>
            </a:r>
            <a:r>
              <a:rPr sz="1400" spc="-10" dirty="0">
                <a:solidFill>
                  <a:srgbClr val="0000FF"/>
                </a:solidFill>
                <a:latin typeface="Times New Roman"/>
                <a:cs typeface="Times New Roman"/>
              </a:rPr>
              <a:t>"670000"</a:t>
            </a:r>
            <a:r>
              <a:rPr sz="1400" spc="-10" dirty="0">
                <a:latin typeface="Times New Roman"/>
                <a:cs typeface="Times New Roman"/>
              </a:rPr>
              <a:t>},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03250" y="2782612"/>
            <a:ext cx="176148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Times New Roman"/>
                <a:cs typeface="Times New Roman"/>
              </a:rPr>
              <a:t>{</a:t>
            </a:r>
            <a:r>
              <a:rPr sz="1400" spc="-10" dirty="0">
                <a:solidFill>
                  <a:srgbClr val="0000FF"/>
                </a:solidFill>
                <a:latin typeface="Times New Roman"/>
                <a:cs typeface="Times New Roman"/>
              </a:rPr>
              <a:t>"102"</a:t>
            </a:r>
            <a:r>
              <a:rPr sz="1400" spc="-10" dirty="0">
                <a:latin typeface="Times New Roman"/>
                <a:cs typeface="Times New Roman"/>
              </a:rPr>
              <a:t>,</a:t>
            </a:r>
            <a:r>
              <a:rPr sz="1400" spc="-10" dirty="0">
                <a:solidFill>
                  <a:srgbClr val="0000FF"/>
                </a:solidFill>
                <a:latin typeface="Times New Roman"/>
                <a:cs typeface="Times New Roman"/>
              </a:rPr>
              <a:t>"Jai"</a:t>
            </a:r>
            <a:r>
              <a:rPr sz="1400" spc="-10" dirty="0">
                <a:latin typeface="Times New Roman"/>
                <a:cs typeface="Times New Roman"/>
              </a:rPr>
              <a:t>,</a:t>
            </a:r>
            <a:r>
              <a:rPr sz="1400" spc="-10" dirty="0">
                <a:solidFill>
                  <a:srgbClr val="0000FF"/>
                </a:solidFill>
                <a:latin typeface="Times New Roman"/>
                <a:cs typeface="Times New Roman"/>
              </a:rPr>
              <a:t>"780000"</a:t>
            </a:r>
            <a:r>
              <a:rPr sz="1400" spc="-10" dirty="0">
                <a:latin typeface="Times New Roman"/>
                <a:cs typeface="Times New Roman"/>
              </a:rPr>
              <a:t>},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03250" y="3201712"/>
            <a:ext cx="21374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Times New Roman"/>
                <a:cs typeface="Times New Roman"/>
              </a:rPr>
              <a:t>{</a:t>
            </a:r>
            <a:r>
              <a:rPr sz="1400" spc="-10" dirty="0">
                <a:solidFill>
                  <a:srgbClr val="0000FF"/>
                </a:solidFill>
                <a:latin typeface="Times New Roman"/>
                <a:cs typeface="Times New Roman"/>
              </a:rPr>
              <a:t>"101"</a:t>
            </a:r>
            <a:r>
              <a:rPr sz="1400" spc="-10" dirty="0">
                <a:latin typeface="Times New Roman"/>
                <a:cs typeface="Times New Roman"/>
              </a:rPr>
              <a:t>,</a:t>
            </a:r>
            <a:r>
              <a:rPr sz="1400" spc="-10" dirty="0">
                <a:solidFill>
                  <a:srgbClr val="0000FF"/>
                </a:solidFill>
                <a:latin typeface="Times New Roman"/>
                <a:cs typeface="Times New Roman"/>
              </a:rPr>
              <a:t>"Sachin"</a:t>
            </a:r>
            <a:r>
              <a:rPr sz="1400" spc="-10" dirty="0">
                <a:latin typeface="Times New Roman"/>
                <a:cs typeface="Times New Roman"/>
              </a:rPr>
              <a:t>,</a:t>
            </a:r>
            <a:r>
              <a:rPr sz="1400" spc="-10" dirty="0">
                <a:solidFill>
                  <a:srgbClr val="0000FF"/>
                </a:solidFill>
                <a:latin typeface="Times New Roman"/>
                <a:cs typeface="Times New Roman"/>
              </a:rPr>
              <a:t>"700000"</a:t>
            </a:r>
            <a:r>
              <a:rPr sz="1400" spc="-10" dirty="0">
                <a:latin typeface="Times New Roman"/>
                <a:cs typeface="Times New Roman"/>
              </a:rPr>
              <a:t>}};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7550" y="3620813"/>
            <a:ext cx="3411854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imes New Roman"/>
                <a:cs typeface="Times New Roman"/>
              </a:rPr>
              <a:t>String</a:t>
            </a:r>
            <a:r>
              <a:rPr sz="1400" spc="-10" dirty="0">
                <a:latin typeface="Times New Roman"/>
                <a:cs typeface="Times New Roman"/>
              </a:rPr>
              <a:t> column[]={</a:t>
            </a:r>
            <a:r>
              <a:rPr sz="1400" spc="-10" dirty="0">
                <a:solidFill>
                  <a:srgbClr val="0000FF"/>
                </a:solidFill>
                <a:latin typeface="Times New Roman"/>
                <a:cs typeface="Times New Roman"/>
              </a:rPr>
              <a:t>"ID"</a:t>
            </a:r>
            <a:r>
              <a:rPr sz="1400" spc="-10" dirty="0">
                <a:latin typeface="Times New Roman"/>
                <a:cs typeface="Times New Roman"/>
              </a:rPr>
              <a:t>,</a:t>
            </a:r>
            <a:r>
              <a:rPr sz="1400" spc="-10" dirty="0">
                <a:solidFill>
                  <a:srgbClr val="0000FF"/>
                </a:solidFill>
                <a:latin typeface="Times New Roman"/>
                <a:cs typeface="Times New Roman"/>
              </a:rPr>
              <a:t>"NAME"</a:t>
            </a:r>
            <a:r>
              <a:rPr sz="1400" spc="-10" dirty="0">
                <a:latin typeface="Times New Roman"/>
                <a:cs typeface="Times New Roman"/>
              </a:rPr>
              <a:t>,</a:t>
            </a:r>
            <a:r>
              <a:rPr sz="1400" spc="-10" dirty="0">
                <a:solidFill>
                  <a:srgbClr val="0000FF"/>
                </a:solidFill>
                <a:latin typeface="Times New Roman"/>
                <a:cs typeface="Times New Roman"/>
              </a:rPr>
              <a:t>"SALARY"</a:t>
            </a:r>
            <a:r>
              <a:rPr sz="1400" spc="-10" dirty="0">
                <a:latin typeface="Times New Roman"/>
                <a:cs typeface="Times New Roman"/>
              </a:rPr>
              <a:t>};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72425" y="140263"/>
            <a:ext cx="25812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Times New Roman"/>
                <a:cs typeface="Times New Roman"/>
              </a:rPr>
              <a:t>JTable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jt=</a:t>
            </a:r>
            <a:r>
              <a:rPr sz="1400" b="1" dirty="0">
                <a:solidFill>
                  <a:srgbClr val="006699"/>
                </a:solidFill>
                <a:latin typeface="Times New Roman"/>
                <a:cs typeface="Times New Roman"/>
              </a:rPr>
              <a:t>new</a:t>
            </a:r>
            <a:r>
              <a:rPr sz="1400" b="1" spc="-40" dirty="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JTable(data,column);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16875" y="559362"/>
            <a:ext cx="20986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Times New Roman"/>
                <a:cs typeface="Times New Roman"/>
              </a:rPr>
              <a:t>jt.setBounds(</a:t>
            </a:r>
            <a:r>
              <a:rPr sz="1400" spc="-10" dirty="0">
                <a:solidFill>
                  <a:srgbClr val="C00000"/>
                </a:solidFill>
                <a:latin typeface="Times New Roman"/>
                <a:cs typeface="Times New Roman"/>
              </a:rPr>
              <a:t>30</a:t>
            </a:r>
            <a:r>
              <a:rPr sz="1400" spc="-10" dirty="0">
                <a:latin typeface="Times New Roman"/>
                <a:cs typeface="Times New Roman"/>
              </a:rPr>
              <a:t>,</a:t>
            </a:r>
            <a:r>
              <a:rPr sz="1400" spc="-10" dirty="0">
                <a:solidFill>
                  <a:srgbClr val="C00000"/>
                </a:solidFill>
                <a:latin typeface="Times New Roman"/>
                <a:cs typeface="Times New Roman"/>
              </a:rPr>
              <a:t>40</a:t>
            </a:r>
            <a:r>
              <a:rPr sz="1400" spc="-10" dirty="0">
                <a:latin typeface="Times New Roman"/>
                <a:cs typeface="Times New Roman"/>
              </a:rPr>
              <a:t>,</a:t>
            </a:r>
            <a:r>
              <a:rPr sz="1400" spc="-10" dirty="0">
                <a:solidFill>
                  <a:srgbClr val="C00000"/>
                </a:solidFill>
                <a:latin typeface="Times New Roman"/>
                <a:cs typeface="Times New Roman"/>
              </a:rPr>
              <a:t>200</a:t>
            </a:r>
            <a:r>
              <a:rPr sz="1400" spc="-10" dirty="0">
                <a:latin typeface="Times New Roman"/>
                <a:cs typeface="Times New Roman"/>
              </a:rPr>
              <a:t>,</a:t>
            </a:r>
            <a:r>
              <a:rPr sz="1400" spc="-10" dirty="0">
                <a:solidFill>
                  <a:srgbClr val="C00000"/>
                </a:solidFill>
                <a:latin typeface="Times New Roman"/>
                <a:cs typeface="Times New Roman"/>
              </a:rPr>
              <a:t>300</a:t>
            </a:r>
            <a:r>
              <a:rPr sz="1400" spc="-10" dirty="0">
                <a:latin typeface="Times New Roman"/>
                <a:cs typeface="Times New Roman"/>
              </a:rPr>
              <a:t>);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16875" y="978462"/>
            <a:ext cx="26212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Times New Roman"/>
                <a:cs typeface="Times New Roman"/>
              </a:rPr>
              <a:t>JScrollPane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sp=</a:t>
            </a:r>
            <a:r>
              <a:rPr sz="1400" b="1" dirty="0">
                <a:solidFill>
                  <a:srgbClr val="006699"/>
                </a:solidFill>
                <a:latin typeface="Times New Roman"/>
                <a:cs typeface="Times New Roman"/>
              </a:rPr>
              <a:t>new</a:t>
            </a:r>
            <a:r>
              <a:rPr sz="1400" b="1" spc="-35" dirty="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JScrollPane(jt);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516875" y="1397562"/>
            <a:ext cx="7105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Times New Roman"/>
                <a:cs typeface="Times New Roman"/>
              </a:rPr>
              <a:t>f.add(sp);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516875" y="1816662"/>
            <a:ext cx="137731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Times New Roman"/>
                <a:cs typeface="Times New Roman"/>
              </a:rPr>
              <a:t>f.setSize(</a:t>
            </a:r>
            <a:r>
              <a:rPr sz="1400" spc="-10" dirty="0">
                <a:solidFill>
                  <a:srgbClr val="C00000"/>
                </a:solidFill>
                <a:latin typeface="Times New Roman"/>
                <a:cs typeface="Times New Roman"/>
              </a:rPr>
              <a:t>300</a:t>
            </a:r>
            <a:r>
              <a:rPr sz="1400" spc="-10" dirty="0">
                <a:latin typeface="Times New Roman"/>
                <a:cs typeface="Times New Roman"/>
              </a:rPr>
              <a:t>,</a:t>
            </a:r>
            <a:r>
              <a:rPr sz="1400" spc="-10" dirty="0">
                <a:solidFill>
                  <a:srgbClr val="C00000"/>
                </a:solidFill>
                <a:latin typeface="Times New Roman"/>
                <a:cs typeface="Times New Roman"/>
              </a:rPr>
              <a:t>400</a:t>
            </a:r>
            <a:r>
              <a:rPr sz="1400" spc="-10" dirty="0">
                <a:latin typeface="Times New Roman"/>
                <a:cs typeface="Times New Roman"/>
              </a:rPr>
              <a:t>);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16875" y="2235762"/>
            <a:ext cx="13125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Times New Roman"/>
                <a:cs typeface="Times New Roman"/>
              </a:rPr>
              <a:t>f.setVisible(</a:t>
            </a:r>
            <a:r>
              <a:rPr sz="1400" b="1" spc="-10" dirty="0">
                <a:solidFill>
                  <a:srgbClr val="006699"/>
                </a:solidFill>
                <a:latin typeface="Times New Roman"/>
                <a:cs typeface="Times New Roman"/>
              </a:rPr>
              <a:t>true</a:t>
            </a:r>
            <a:r>
              <a:rPr sz="1400" spc="-10" dirty="0">
                <a:latin typeface="Times New Roman"/>
                <a:cs typeface="Times New Roman"/>
              </a:rPr>
              <a:t>);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339075" y="2654862"/>
            <a:ext cx="1111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Times New Roman"/>
                <a:cs typeface="Times New Roman"/>
              </a:rPr>
              <a:t>}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339075" y="3073962"/>
            <a:ext cx="28581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006699"/>
                </a:solidFill>
                <a:latin typeface="Times New Roman"/>
                <a:cs typeface="Times New Roman"/>
              </a:rPr>
              <a:t>public</a:t>
            </a:r>
            <a:r>
              <a:rPr sz="1400" b="1" spc="-25" dirty="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6699"/>
                </a:solidFill>
                <a:latin typeface="Times New Roman"/>
                <a:cs typeface="Times New Roman"/>
              </a:rPr>
              <a:t>static</a:t>
            </a:r>
            <a:r>
              <a:rPr sz="1400" b="1" spc="-20" dirty="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6699"/>
                </a:solidFill>
                <a:latin typeface="Times New Roman"/>
                <a:cs typeface="Times New Roman"/>
              </a:rPr>
              <a:t>void</a:t>
            </a:r>
            <a:r>
              <a:rPr sz="1400" b="1" spc="-30" dirty="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main(String[]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args)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50" dirty="0">
                <a:latin typeface="Times New Roman"/>
                <a:cs typeface="Times New Roman"/>
              </a:rPr>
              <a:t>{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516776" y="3493062"/>
            <a:ext cx="15627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006699"/>
                </a:solidFill>
                <a:latin typeface="Times New Roman"/>
                <a:cs typeface="Times New Roman"/>
              </a:rPr>
              <a:t>new</a:t>
            </a:r>
            <a:r>
              <a:rPr sz="1400" b="1" spc="-65" dirty="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TableExample();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39075" y="3912162"/>
            <a:ext cx="111125" cy="657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Times New Roman"/>
                <a:cs typeface="Times New Roman"/>
              </a:rPr>
              <a:t>}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50" dirty="0">
                <a:latin typeface="Times New Roman"/>
                <a:cs typeface="Times New Roman"/>
              </a:rPr>
              <a:t>}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0225" y="347355"/>
            <a:ext cx="3999575" cy="34864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</TotalTime>
  <Words>3252</Words>
  <Application>Microsoft Office PowerPoint</Application>
  <PresentationFormat>On-screen Show (16:9)</PresentationFormat>
  <Paragraphs>498</Paragraphs>
  <Slides>58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4" baseType="lpstr">
      <vt:lpstr>Arial</vt:lpstr>
      <vt:lpstr>Arial MT</vt:lpstr>
      <vt:lpstr>Roboto</vt:lpstr>
      <vt:lpstr>Times New Roman</vt:lpstr>
      <vt:lpstr>Verdana</vt:lpstr>
      <vt:lpstr>Office Theme</vt:lpstr>
      <vt:lpstr>Java Applet</vt:lpstr>
      <vt:lpstr>Lifecycle of Java Applet</vt:lpstr>
      <vt:lpstr>PowerPoint Presentation</vt:lpstr>
      <vt:lpstr>Lifecycle methods for Applet:</vt:lpstr>
      <vt:lpstr>java.awt.Component class</vt:lpstr>
      <vt:lpstr>Simple example of Applet by html file:</vt:lpstr>
      <vt:lpstr>myapplet.html</vt:lpstr>
      <vt:lpstr>Simple example of Applet by appletviewer tool:</vt:lpstr>
      <vt:lpstr>PowerPoint Presentation</vt:lpstr>
      <vt:lpstr>PowerPoint Presentation</vt:lpstr>
      <vt:lpstr>PowerPoint Presentation</vt:lpstr>
      <vt:lpstr>PowerPoint Presentation</vt:lpstr>
      <vt:lpstr>Displaying Image in Applet</vt:lpstr>
      <vt:lpstr>PowerPoint Presentation</vt:lpstr>
      <vt:lpstr>Example of displaying image in applet:</vt:lpstr>
      <vt:lpstr>PowerPoint Presentation</vt:lpstr>
      <vt:lpstr>Animation in Applet</vt:lpstr>
      <vt:lpstr>PowerPoint Presentation</vt:lpstr>
      <vt:lpstr>myapplet.html</vt:lpstr>
      <vt:lpstr>Smiling Face</vt:lpstr>
      <vt:lpstr>PowerPoint Presentation</vt:lpstr>
      <vt:lpstr>import java.awt.*; import javax.swing.*; public class rectangle extends JApplet {</vt:lpstr>
      <vt:lpstr>PowerPoint Presentation</vt:lpstr>
      <vt:lpstr>import java.applet.*; import java.awt.*;</vt:lpstr>
      <vt:lpstr>PowerPoint Presentation</vt:lpstr>
      <vt:lpstr>PowerPoint Presentation</vt:lpstr>
      <vt:lpstr>public void init()</vt:lpstr>
      <vt:lpstr>PowerPoint Presentation</vt:lpstr>
      <vt:lpstr>Cartoon Character – Moving Hands</vt:lpstr>
      <vt:lpstr>PowerPoint Presentation</vt:lpstr>
      <vt:lpstr>PowerPoint Presentation</vt:lpstr>
      <vt:lpstr>Analog clock in Applet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myapplet.html</vt:lpstr>
      <vt:lpstr>Applet Communication</vt:lpstr>
      <vt:lpstr>Write a program to generate a Bouncing Ball on Click</vt:lpstr>
      <vt:lpstr>PowerPoint Presentation</vt:lpstr>
      <vt:lpstr>myapplet.html</vt:lpstr>
      <vt:lpstr>Java Swing</vt:lpstr>
      <vt:lpstr>PowerPoint Presentation</vt:lpstr>
      <vt:lpstr>Features of Swing</vt:lpstr>
      <vt:lpstr>import javax.swing.*; f.setSize(400,500);//400 width and 500 height</vt:lpstr>
      <vt:lpstr>PowerPoint Presentation</vt:lpstr>
      <vt:lpstr>Java JRadioButton</vt:lpstr>
      <vt:lpstr>PowerPoint Presentation</vt:lpstr>
      <vt:lpstr>PowerPoint Presentation</vt:lpstr>
      <vt:lpstr>Java JComboBox</vt:lpstr>
      <vt:lpstr>PowerPoint Presentation</vt:lpstr>
      <vt:lpstr>PowerPoint Presentation</vt:lpstr>
      <vt:lpstr>Java JTable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 Keyword in Java</dc:title>
  <dc:creator>Priyanka</dc:creator>
  <cp:lastModifiedBy>Priyanka C</cp:lastModifiedBy>
  <cp:revision>3</cp:revision>
  <dcterms:created xsi:type="dcterms:W3CDTF">2026-02-04T15:14:17Z</dcterms:created>
  <dcterms:modified xsi:type="dcterms:W3CDTF">2026-04-08T08:37:58Z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2026-02-04T00:00:00Z</vt:filetime>
  </property>
  <property fmtid="{D5CDD505-2E9C-101B-9397-08002B2CF9AE}" pid="3" name="Creator">
    <vt:lpwstr>Google</vt:lpwstr>
  </property>
  <property fmtid="{D5CDD505-2E9C-101B-9397-08002B2CF9AE}" pid="4" name="LastSaved">
    <vt:filetime>2026-02-04T00:00:00Z</vt:filetime>
  </property>
</Properties>
</file>