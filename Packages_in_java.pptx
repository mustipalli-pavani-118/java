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7859-D946-7554-7561-25D908410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0B4F7-5217-83EA-A192-5CF9AB906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2BDFF-8C5F-C92F-B810-8C237AE8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17654-B592-7252-F71F-9B91498E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E7C4-6EA7-6C11-2F6C-6FF5622A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68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F427-340D-D855-7EB7-13B5621D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241D-101F-B42D-02DA-CE2F2B084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8C864-ABB4-EBCE-5056-7012AF8E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5497-70D0-B074-8D7F-8C639D96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D134D-4325-2A08-D523-C09BDE51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7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251C-0B77-2854-FB8C-1F078160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D982B-6E03-C23F-2A2B-44022C63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CF465-9DB5-88AD-7A30-4C78DE85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BBB68-57E4-8734-E37B-AA5B7658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6F79B-9C27-4632-DE43-9AEE77A1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03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E530-FEA7-CA1E-7E9B-FE4747E7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ED764-FB6D-C4D0-8D5F-94F43F8C3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2324F-25C0-4400-EDC9-D470DE712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C2B4-6172-BEC5-063B-D1DC05A7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ECA8-C095-0E33-5728-AFBC8426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6AE19-6526-9025-8FE9-D8BCA0B5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0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AA0F-46F9-94C0-1D59-25449915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EF9A0-6411-B83A-F85D-2118CD28C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A595-A4C0-3401-65B1-858AF40AB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0EC9F-B4D0-E2DC-D4BA-80C7AB318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9CA21-2A43-86D5-EB7E-425121A04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34519-FF76-3269-6926-D4ED0C09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DAE66-E9FB-1154-7192-A787AD02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C5150-39D2-5F2C-3972-587668CC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6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75E1-E2FD-4335-FEFC-8014A423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915A9-CBCD-4B72-E2E8-E4B860A5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D44DB-76D3-5761-881B-954579E8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3131C-34AC-607F-8756-66D081B8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2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51106-0600-5F57-84C3-7078B76E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E5193-B656-4E99-BDDB-01204597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07253-445C-CC6B-773A-FF2A3EFB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67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58D0-6AD6-2534-A12C-3A742251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5CAB-5D02-EF57-0715-F6CCD32EC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96C62-7EC1-FF19-087A-AB5328A51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F2F85-FD28-B744-4C5D-A5CF14CC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9E9C7-A38F-70E2-ACCD-DF532A36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6D95-3949-CE59-DF99-8A0DCE6D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8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15AD-0B33-B0F7-817F-A36A9FC1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D9834-A19F-3C59-0E34-D16B5BE75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CB9B0-4A1C-0144-7F77-7B60E7636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5A7F8-6C6C-5F33-1DAD-846B654D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BC381-EF0D-00C1-F307-7CD6C28E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FFEE6-2D7A-057E-D882-D4E221A2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10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6D3E-5D58-95FB-C7E7-308373D6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C0164-83DB-D62E-5A35-51DC907F8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35DBE-5F9E-2388-238A-DBA8E783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2DC96-5E60-5047-E5B7-3DDED831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FF93-AD6A-19EA-A2F7-EBD51CFD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98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58B9A-088D-42B9-B44E-B84CA7B5C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AFE33-8B7D-AAAF-F106-2B63E3A23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79D6F-4158-2ECA-8496-8EF3B01A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62FC-5417-73DA-C874-B5B96588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C9091-0FEB-6DD6-8246-66289DC0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68" y="742346"/>
            <a:ext cx="11166065" cy="406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33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308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67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476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6A8E5-BF49-71EA-AB58-90E1CDE7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E16F2-F50E-5223-0228-6DD219966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2AC0-3754-C35E-6DA8-BA76EBEDF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CBE0E-58EC-462A-9694-298772B0D4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A7B24-D786-EB68-4861-AAC405787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287B-C856-59F8-F231-B7425A35B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C967C-2BB1-4CFD-A201-4666A48BB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5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0992" y="5294071"/>
            <a:ext cx="11012593" cy="660400"/>
          </a:xfrm>
          <a:custGeom>
            <a:avLst/>
            <a:gdLst/>
            <a:ahLst/>
            <a:cxnLst/>
            <a:rect l="l" t="t" r="r" b="b"/>
            <a:pathLst>
              <a:path w="8259445" h="495300">
                <a:moveTo>
                  <a:pt x="6893814" y="266700"/>
                </a:moveTo>
                <a:lnTo>
                  <a:pt x="0" y="266700"/>
                </a:lnTo>
                <a:lnTo>
                  <a:pt x="0" y="495300"/>
                </a:lnTo>
                <a:lnTo>
                  <a:pt x="6893814" y="495300"/>
                </a:lnTo>
                <a:lnTo>
                  <a:pt x="6893814" y="266700"/>
                </a:lnTo>
                <a:close/>
              </a:path>
              <a:path w="8259445" h="495300">
                <a:moveTo>
                  <a:pt x="8259216" y="0"/>
                </a:moveTo>
                <a:lnTo>
                  <a:pt x="0" y="0"/>
                </a:lnTo>
                <a:lnTo>
                  <a:pt x="0" y="228600"/>
                </a:lnTo>
                <a:lnTo>
                  <a:pt x="8259216" y="228600"/>
                </a:lnTo>
                <a:lnTo>
                  <a:pt x="82592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72078" y="402713"/>
            <a:ext cx="2933290" cy="493019"/>
          </a:xfrm>
          <a:prstGeom prst="rect">
            <a:avLst/>
          </a:prstGeom>
        </p:spPr>
        <p:txBody>
          <a:bodyPr vert="horz" wrap="square" lIns="0" tIns="12249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400" b="1" dirty="0">
                <a:solidFill>
                  <a:srgbClr val="222222"/>
                </a:solidFill>
                <a:latin typeface="Arial"/>
                <a:cs typeface="Arial"/>
              </a:rPr>
              <a:t>Package</a:t>
            </a:r>
            <a:r>
              <a:rPr sz="2400" b="1" spc="-47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22222"/>
                </a:solidFill>
                <a:latin typeface="Arial"/>
                <a:cs typeface="Arial"/>
              </a:rPr>
              <a:t>in</a:t>
            </a:r>
            <a:r>
              <a:rPr sz="2400" b="1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400" b="1" spc="-27" dirty="0">
                <a:solidFill>
                  <a:srgbClr val="222222"/>
                </a:solidFill>
                <a:latin typeface="Arial"/>
                <a:cs typeface="Arial"/>
              </a:rPr>
              <a:t>Java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067" y="1393474"/>
            <a:ext cx="11039687" cy="45687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086246" algn="just">
              <a:lnSpc>
                <a:spcPct val="116700"/>
              </a:lnSpc>
              <a:spcBef>
                <a:spcPts val="133"/>
              </a:spcBef>
            </a:pPr>
            <a:r>
              <a:rPr sz="2000" b="1" dirty="0">
                <a:solidFill>
                  <a:srgbClr val="222222"/>
                </a:solidFill>
                <a:latin typeface="Arial"/>
                <a:cs typeface="Arial"/>
              </a:rPr>
              <a:t>Package</a:t>
            </a:r>
            <a:r>
              <a:rPr sz="2000" b="1" spc="-53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22222"/>
                </a:solidFill>
                <a:latin typeface="Arial"/>
                <a:cs typeface="Arial"/>
              </a:rPr>
              <a:t>in</a:t>
            </a:r>
            <a:r>
              <a:rPr sz="2000" b="1" spc="-53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22222"/>
                </a:solidFill>
                <a:latin typeface="Arial"/>
                <a:cs typeface="Arial"/>
              </a:rPr>
              <a:t>Java</a:t>
            </a:r>
            <a:r>
              <a:rPr sz="2000" b="1" spc="-4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is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mechanism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spc="-13" dirty="0">
                <a:solidFill>
                  <a:srgbClr val="222222"/>
                </a:solidFill>
                <a:latin typeface="Arial MT"/>
                <a:cs typeface="Arial MT"/>
              </a:rPr>
              <a:t>encapsulate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a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group</a:t>
            </a:r>
            <a:r>
              <a:rPr sz="2000" spc="-4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of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classes,</a:t>
            </a:r>
            <a:r>
              <a:rPr sz="2000" spc="-5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2222"/>
                </a:solidFill>
                <a:latin typeface="Arial MT"/>
                <a:cs typeface="Arial MT"/>
              </a:rPr>
              <a:t>sub</a:t>
            </a:r>
            <a:r>
              <a:rPr sz="2000" spc="-1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2000" b="1" spc="-13" dirty="0">
                <a:solidFill>
                  <a:srgbClr val="222222"/>
                </a:solidFill>
                <a:latin typeface="Arial"/>
                <a:cs typeface="Arial"/>
              </a:rPr>
              <a:t>packages</a:t>
            </a:r>
            <a:r>
              <a:rPr sz="2000" b="1" spc="-47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33" dirty="0">
                <a:solidFill>
                  <a:srgbClr val="222222"/>
                </a:solidFill>
                <a:latin typeface="Arial MT"/>
                <a:cs typeface="Arial MT"/>
              </a:rPr>
              <a:t>and </a:t>
            </a:r>
            <a:r>
              <a:rPr sz="2000" spc="-13" dirty="0">
                <a:solidFill>
                  <a:srgbClr val="222222"/>
                </a:solidFill>
                <a:latin typeface="Arial MT"/>
                <a:cs typeface="Arial MT"/>
              </a:rPr>
              <a:t>interfaces.</a:t>
            </a:r>
            <a:endParaRPr sz="2000" dirty="0">
              <a:latin typeface="Arial MT"/>
              <a:cs typeface="Arial MT"/>
            </a:endParaRPr>
          </a:p>
          <a:p>
            <a:pPr marL="16933" marR="233674" algn="just">
              <a:lnSpc>
                <a:spcPct val="116700"/>
              </a:lnSpc>
              <a:spcBef>
                <a:spcPts val="2093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Package</a:t>
            </a:r>
            <a:r>
              <a:rPr sz="2000" spc="-8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grouping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(classes,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interfaces,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enumerations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33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annotations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providing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protection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namespace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management.</a:t>
            </a:r>
            <a:endParaRPr sz="2000" dirty="0">
              <a:latin typeface="Arial MT"/>
              <a:cs typeface="Arial MT"/>
            </a:endParaRPr>
          </a:p>
          <a:p>
            <a:pPr marL="50799" marR="698483" indent="-33866" algn="just">
              <a:lnSpc>
                <a:spcPct val="204199"/>
              </a:lnSpc>
            </a:pPr>
            <a:r>
              <a:rPr sz="2000" dirty="0">
                <a:latin typeface="Arial MT"/>
                <a:cs typeface="Arial MT"/>
              </a:rPr>
              <a:t>Package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java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categorized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form,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27" dirty="0">
                <a:latin typeface="Arial MT"/>
                <a:cs typeface="Arial MT"/>
              </a:rPr>
              <a:t>built-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package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27" dirty="0">
                <a:latin typeface="Arial MT"/>
                <a:cs typeface="Arial MT"/>
              </a:rPr>
              <a:t>user-</a:t>
            </a:r>
            <a:r>
              <a:rPr sz="2000" dirty="0">
                <a:latin typeface="Arial MT"/>
                <a:cs typeface="Arial MT"/>
              </a:rPr>
              <a:t>defined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package.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packages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Java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7" dirty="0">
                <a:latin typeface="Arial MT"/>
                <a:cs typeface="Arial MT"/>
              </a:rPr>
              <a:t> </a:t>
            </a:r>
            <a:r>
              <a:rPr sz="2000" spc="-907" dirty="0">
                <a:latin typeface="Arial MT"/>
                <a:cs typeface="Arial MT"/>
              </a:rPr>
              <a:t>−</a:t>
            </a:r>
            <a:endParaRPr sz="2000" dirty="0">
              <a:latin typeface="Arial MT"/>
              <a:cs typeface="Arial MT"/>
            </a:endParaRPr>
          </a:p>
          <a:p>
            <a:pPr marL="625671" indent="-458035" algn="just">
              <a:spcBef>
                <a:spcPts val="1300"/>
              </a:spcBef>
              <a:buChar char="●"/>
              <a:tabLst>
                <a:tab pos="625671" algn="l"/>
              </a:tabLst>
            </a:pPr>
            <a:r>
              <a:rPr sz="2000" spc="-13" dirty="0">
                <a:latin typeface="Arial MT"/>
                <a:cs typeface="Arial MT"/>
              </a:rPr>
              <a:t>java.lang</a:t>
            </a:r>
            <a:r>
              <a:rPr sz="2000" spc="-73" dirty="0">
                <a:latin typeface="Arial MT"/>
                <a:cs typeface="Arial MT"/>
              </a:rPr>
              <a:t> </a:t>
            </a:r>
            <a:r>
              <a:rPr sz="2000" spc="-840" dirty="0">
                <a:latin typeface="Arial MT"/>
                <a:cs typeface="Arial MT"/>
              </a:rPr>
              <a:t>−</a:t>
            </a:r>
            <a:r>
              <a:rPr sz="2000" spc="-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bundles</a:t>
            </a:r>
            <a:r>
              <a:rPr sz="2000" spc="-3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fundamental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classes</a:t>
            </a:r>
            <a:endParaRPr sz="2000" dirty="0">
              <a:latin typeface="Arial MT"/>
              <a:cs typeface="Arial MT"/>
            </a:endParaRPr>
          </a:p>
          <a:p>
            <a:pPr marL="625671" indent="-458035" algn="just">
              <a:spcBef>
                <a:spcPts val="400"/>
              </a:spcBef>
              <a:buChar char="●"/>
              <a:tabLst>
                <a:tab pos="625671" algn="l"/>
              </a:tabLst>
            </a:pPr>
            <a:r>
              <a:rPr sz="2000" dirty="0">
                <a:latin typeface="Arial MT"/>
                <a:cs typeface="Arial MT"/>
              </a:rPr>
              <a:t>java.io</a:t>
            </a:r>
            <a:r>
              <a:rPr sz="2000" spc="-113" dirty="0">
                <a:latin typeface="Arial MT"/>
                <a:cs typeface="Arial MT"/>
              </a:rPr>
              <a:t> </a:t>
            </a:r>
            <a:r>
              <a:rPr sz="2000" spc="-840" dirty="0">
                <a:latin typeface="Arial MT"/>
                <a:cs typeface="Arial MT"/>
              </a:rPr>
              <a:t>−</a:t>
            </a:r>
            <a:r>
              <a:rPr sz="2000" spc="-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bundled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package</a:t>
            </a:r>
            <a:endParaRPr sz="2000" dirty="0">
              <a:latin typeface="Arial MT"/>
              <a:cs typeface="Arial MT"/>
            </a:endParaRPr>
          </a:p>
          <a:p>
            <a:pPr marL="16933" marR="6773" algn="just">
              <a:lnSpc>
                <a:spcPct val="1167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implemented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programmer</a:t>
            </a:r>
            <a:r>
              <a:rPr sz="2000" spc="-4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easily determine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classes,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interfaces,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enumerations,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annotations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3" dirty="0">
                <a:latin typeface="Arial MT"/>
                <a:cs typeface="Arial MT"/>
              </a:rPr>
              <a:t>related.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891741"/>
            <a:ext cx="7613445" cy="741290"/>
          </a:xfrm>
          <a:prstGeom prst="rect">
            <a:avLst/>
          </a:prstGeom>
        </p:spPr>
        <p:txBody>
          <a:bodyPr vert="horz" wrap="square" lIns="0" tIns="42932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000" b="1" spc="-13" dirty="0">
                <a:solidFill>
                  <a:srgbClr val="610B4B"/>
                </a:solidFill>
                <a:latin typeface="Arial"/>
                <a:cs typeface="Arial"/>
              </a:rPr>
              <a:t>Advantage</a:t>
            </a:r>
            <a:r>
              <a:rPr sz="2000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2000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2000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000" b="1" spc="-13" dirty="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855563"/>
            <a:ext cx="10828867" cy="26787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38658">
              <a:lnSpc>
                <a:spcPct val="114599"/>
              </a:lnSpc>
              <a:spcBef>
                <a:spcPts val="133"/>
              </a:spcBef>
              <a:buAutoNum type="arabicParenR"/>
              <a:tabLst>
                <a:tab pos="355591" algn="l"/>
              </a:tabLst>
            </a:pPr>
            <a:r>
              <a:rPr sz="1867" dirty="0">
                <a:latin typeface="Verdana"/>
                <a:cs typeface="Verdana"/>
              </a:rPr>
              <a:t>Java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used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categorize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classes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and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interfaces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so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that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they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can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easily maintained.</a:t>
            </a:r>
            <a:endParaRPr sz="1867" dirty="0">
              <a:latin typeface="Verdana"/>
              <a:cs typeface="Verdana"/>
            </a:endParaRPr>
          </a:p>
          <a:p>
            <a:pPr marL="355591" indent="-338658">
              <a:spcBef>
                <a:spcPts val="1660"/>
              </a:spcBef>
              <a:buAutoNum type="arabicParenR"/>
              <a:tabLst>
                <a:tab pos="355591" algn="l"/>
              </a:tabLst>
            </a:pPr>
            <a:r>
              <a:rPr sz="1867" dirty="0">
                <a:latin typeface="Verdana"/>
                <a:cs typeface="Verdana"/>
              </a:rPr>
              <a:t>Java</a:t>
            </a:r>
            <a:r>
              <a:rPr sz="1867" spc="-6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provides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access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protection.</a:t>
            </a:r>
            <a:endParaRPr sz="1867" dirty="0">
              <a:latin typeface="Verdana"/>
              <a:cs typeface="Verdana"/>
            </a:endParaRPr>
          </a:p>
          <a:p>
            <a:pPr marL="355591" indent="-338658">
              <a:spcBef>
                <a:spcPts val="1660"/>
              </a:spcBef>
              <a:buAutoNum type="arabicParenR"/>
              <a:tabLst>
                <a:tab pos="355591" algn="l"/>
              </a:tabLst>
            </a:pPr>
            <a:r>
              <a:rPr sz="1867" dirty="0">
                <a:latin typeface="Verdana"/>
                <a:cs typeface="Verdana"/>
              </a:rPr>
              <a:t>Java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removes</a:t>
            </a:r>
            <a:r>
              <a:rPr sz="1867" spc="-7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naming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collision.</a:t>
            </a:r>
            <a:endParaRPr sz="1867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67" dirty="0">
              <a:latin typeface="Verdana"/>
              <a:cs typeface="Verdana"/>
            </a:endParaRPr>
          </a:p>
          <a:p>
            <a:pPr>
              <a:spcBef>
                <a:spcPts val="1020"/>
              </a:spcBef>
            </a:pPr>
            <a:endParaRPr sz="1867" dirty="0">
              <a:latin typeface="Verdana"/>
              <a:cs typeface="Verdana"/>
            </a:endParaRPr>
          </a:p>
          <a:p>
            <a:pPr marL="16933"/>
            <a:r>
              <a:rPr sz="1867" dirty="0">
                <a:latin typeface="Verdana"/>
                <a:cs typeface="Verdana"/>
              </a:rPr>
              <a:t>The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b="1" dirty="0">
                <a:latin typeface="Verdana"/>
                <a:cs typeface="Verdana"/>
              </a:rPr>
              <a:t>package</a:t>
            </a:r>
            <a:r>
              <a:rPr sz="1867" b="1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keyword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used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create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java.</a:t>
            </a:r>
            <a:endParaRPr sz="1867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649" y="666749"/>
            <a:ext cx="9156699" cy="5524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985020"/>
            <a:ext cx="14020800" cy="771044"/>
          </a:xfrm>
          <a:prstGeom prst="rect">
            <a:avLst/>
          </a:prstGeom>
        </p:spPr>
        <p:txBody>
          <a:bodyPr vert="horz" wrap="square" lIns="0" tIns="4283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200" b="1" dirty="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2200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2200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2200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00" b="1" spc="-13" dirty="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7416800" cy="33333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33"/>
              </a:spcBef>
              <a:buNone/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600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mypack;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600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Simple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spc="-67" dirty="0">
                <a:latin typeface="Verdana"/>
                <a:cs typeface="Verdana"/>
              </a:rPr>
              <a:t>{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600" b="1" spc="-5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600" b="1" spc="-5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600" b="1" spc="-5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main(String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args[])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spc="-67" dirty="0">
                <a:latin typeface="Verdana"/>
                <a:cs typeface="Verdana"/>
              </a:rPr>
              <a:t>{</a:t>
            </a:r>
            <a:endParaRPr sz="1600" dirty="0">
              <a:latin typeface="Verdana"/>
              <a:cs typeface="Verdana"/>
            </a:endParaRPr>
          </a:p>
          <a:p>
            <a:pPr marL="65186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spc="-13" dirty="0">
                <a:latin typeface="Verdana"/>
                <a:cs typeface="Verdana"/>
              </a:rPr>
              <a:t>System.out.println(</a:t>
            </a:r>
            <a:r>
              <a:rPr sz="1600" b="1" spc="-13" dirty="0">
                <a:solidFill>
                  <a:srgbClr val="0000FF"/>
                </a:solidFill>
                <a:latin typeface="Verdana"/>
                <a:cs typeface="Verdana"/>
              </a:rPr>
              <a:t>"Welcome</a:t>
            </a:r>
            <a:r>
              <a:rPr sz="1600" b="1" spc="-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00FF"/>
                </a:solidFill>
                <a:latin typeface="Verdana"/>
                <a:cs typeface="Verdana"/>
              </a:rPr>
              <a:t>to</a:t>
            </a:r>
            <a:r>
              <a:rPr sz="1600" b="1" spc="-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600" b="1" spc="-13" dirty="0">
                <a:solidFill>
                  <a:srgbClr val="0000FF"/>
                </a:solidFill>
                <a:latin typeface="Verdana"/>
                <a:cs typeface="Verdana"/>
              </a:rPr>
              <a:t>package"</a:t>
            </a:r>
            <a:r>
              <a:rPr sz="1600" b="1" spc="-13" dirty="0">
                <a:latin typeface="Verdana"/>
                <a:cs typeface="Verdana"/>
              </a:rPr>
              <a:t>);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spc="-67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1480"/>
              </a:spcBef>
              <a:buNone/>
            </a:pPr>
            <a:r>
              <a:rPr sz="1600" b="1" spc="-67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980029"/>
            <a:ext cx="4211484" cy="781024"/>
          </a:xfrm>
          <a:prstGeom prst="rect">
            <a:avLst/>
          </a:prstGeom>
        </p:spPr>
        <p:txBody>
          <a:bodyPr vert="horz" wrap="square" lIns="0" tIns="42796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267" b="1" dirty="0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2267" b="1" spc="-6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67" b="1" dirty="0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2267" b="1" spc="-6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67" b="1" dirty="0">
                <a:solidFill>
                  <a:srgbClr val="610B4B"/>
                </a:solidFill>
                <a:latin typeface="Arial"/>
                <a:cs typeface="Arial"/>
              </a:rPr>
              <a:t>compile</a:t>
            </a:r>
            <a:r>
              <a:rPr sz="2267" b="1" spc="-6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67" b="1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2267" b="1" spc="-6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267" b="1" spc="-13" dirty="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6413" y="1896372"/>
            <a:ext cx="9186521" cy="23382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IDE,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follow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7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syntax</a:t>
            </a:r>
            <a:r>
              <a:rPr sz="2000" b="1" spc="-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given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3" dirty="0">
                <a:latin typeface="Verdana"/>
                <a:cs typeface="Verdana"/>
              </a:rPr>
              <a:t>below:</a:t>
            </a:r>
            <a:endParaRPr sz="2000" dirty="0">
              <a:latin typeface="Verdana"/>
              <a:cs typeface="Verdana"/>
            </a:endParaRPr>
          </a:p>
          <a:p>
            <a:pPr marL="1236102">
              <a:spcBef>
                <a:spcPts val="1667"/>
              </a:spcBef>
            </a:pPr>
            <a:r>
              <a:rPr sz="2000" dirty="0">
                <a:latin typeface="Verdana"/>
                <a:cs typeface="Verdana"/>
              </a:rPr>
              <a:t>javac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3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directory</a:t>
            </a:r>
            <a:r>
              <a:rPr sz="2000" spc="-53" dirty="0">
                <a:latin typeface="Verdana"/>
                <a:cs typeface="Verdana"/>
              </a:rPr>
              <a:t> </a:t>
            </a:r>
            <a:r>
              <a:rPr sz="2000" spc="-13" dirty="0">
                <a:latin typeface="Verdana"/>
                <a:cs typeface="Verdana"/>
              </a:rPr>
              <a:t>javafilename</a:t>
            </a:r>
            <a:endParaRPr sz="2000" dirty="0">
              <a:latin typeface="Verdana"/>
              <a:cs typeface="Verdana"/>
            </a:endParaRPr>
          </a:p>
          <a:p>
            <a:pPr>
              <a:spcBef>
                <a:spcPts val="300"/>
              </a:spcBef>
            </a:pPr>
            <a:endParaRPr sz="2000" dirty="0">
              <a:latin typeface="Verdana"/>
              <a:cs typeface="Verdana"/>
            </a:endParaRPr>
          </a:p>
          <a:p>
            <a:pPr marL="16933"/>
            <a:r>
              <a:rPr sz="2000" dirty="0">
                <a:latin typeface="Verdana"/>
                <a:cs typeface="Verdana"/>
              </a:rPr>
              <a:t>For</a:t>
            </a:r>
            <a:r>
              <a:rPr sz="2000" spc="-13" dirty="0">
                <a:latin typeface="Verdana"/>
                <a:cs typeface="Verdana"/>
              </a:rPr>
              <a:t> </a:t>
            </a:r>
            <a:r>
              <a:rPr sz="2000" b="1" spc="-13" dirty="0">
                <a:latin typeface="Verdana"/>
                <a:cs typeface="Verdana"/>
              </a:rPr>
              <a:t>example</a:t>
            </a:r>
            <a:endParaRPr sz="2000" dirty="0">
              <a:latin typeface="Verdana"/>
              <a:cs typeface="Verdana"/>
            </a:endParaRPr>
          </a:p>
          <a:p>
            <a:pPr marL="1236102">
              <a:spcBef>
                <a:spcPts val="1667"/>
              </a:spcBef>
            </a:pPr>
            <a:r>
              <a:rPr sz="2000" dirty="0">
                <a:latin typeface="Verdana"/>
                <a:cs typeface="Verdana"/>
              </a:rPr>
              <a:t>javac</a:t>
            </a:r>
            <a:r>
              <a:rPr sz="2000" spc="-47" dirty="0">
                <a:latin typeface="Verdana"/>
                <a:cs typeface="Verdana"/>
              </a:rPr>
              <a:t> </a:t>
            </a:r>
            <a:r>
              <a:rPr sz="2000" spc="-13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33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.</a:t>
            </a:r>
            <a:r>
              <a:rPr sz="2000" spc="-33" dirty="0">
                <a:latin typeface="Verdana"/>
                <a:cs typeface="Verdana"/>
              </a:rPr>
              <a:t> </a:t>
            </a:r>
            <a:r>
              <a:rPr sz="2000" spc="-13" dirty="0">
                <a:latin typeface="Verdana"/>
                <a:cs typeface="Verdana"/>
              </a:rPr>
              <a:t>Simple.java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483" y="744204"/>
            <a:ext cx="6286090" cy="761061"/>
          </a:xfrm>
          <a:prstGeom prst="rect">
            <a:avLst/>
          </a:prstGeom>
        </p:spPr>
        <p:txBody>
          <a:bodyPr vert="horz" wrap="square" lIns="0" tIns="42864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2133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run</a:t>
            </a:r>
            <a:r>
              <a:rPr sz="2133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package</a:t>
            </a:r>
            <a:r>
              <a:rPr sz="2133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program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727717"/>
            <a:ext cx="10309012" cy="38926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Verdana"/>
                <a:cs typeface="Verdana"/>
              </a:rPr>
              <a:t>You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need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use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fully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qualified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name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e.g.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mypack.Simple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etc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run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class.</a:t>
            </a:r>
            <a:endParaRPr sz="1867" dirty="0">
              <a:latin typeface="Verdana"/>
              <a:cs typeface="Verdana"/>
            </a:endParaRPr>
          </a:p>
          <a:p>
            <a:pPr>
              <a:spcBef>
                <a:spcPts val="187"/>
              </a:spcBef>
            </a:pPr>
            <a:endParaRPr sz="1867" dirty="0">
              <a:latin typeface="Verdana"/>
              <a:cs typeface="Verdana"/>
            </a:endParaRPr>
          </a:p>
          <a:p>
            <a:pPr marL="270927"/>
            <a:r>
              <a:rPr sz="1867" b="1" dirty="0">
                <a:latin typeface="Verdana"/>
                <a:cs typeface="Verdana"/>
              </a:rPr>
              <a:t>To</a:t>
            </a:r>
            <a:r>
              <a:rPr sz="1867" b="1" spc="-27" dirty="0">
                <a:latin typeface="Verdana"/>
                <a:cs typeface="Verdana"/>
              </a:rPr>
              <a:t> </a:t>
            </a:r>
            <a:r>
              <a:rPr sz="1867" b="1" dirty="0">
                <a:latin typeface="Verdana"/>
                <a:cs typeface="Verdana"/>
              </a:rPr>
              <a:t>Compile:</a:t>
            </a:r>
            <a:r>
              <a:rPr sz="1867" b="1" spc="-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javac</a:t>
            </a:r>
            <a:r>
              <a:rPr sz="1867" spc="-20" dirty="0">
                <a:latin typeface="Verdana"/>
                <a:cs typeface="Verdana"/>
              </a:rPr>
              <a:t> </a:t>
            </a:r>
            <a:r>
              <a:rPr sz="1867" spc="-27" dirty="0">
                <a:latin typeface="Verdana"/>
                <a:cs typeface="Verdana"/>
              </a:rPr>
              <a:t>-</a:t>
            </a:r>
            <a:r>
              <a:rPr sz="1867" dirty="0">
                <a:latin typeface="Verdana"/>
                <a:cs typeface="Verdana"/>
              </a:rPr>
              <a:t>d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.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Simple.java</a:t>
            </a:r>
            <a:endParaRPr sz="1867" dirty="0">
              <a:latin typeface="Verdana"/>
              <a:cs typeface="Verdana"/>
            </a:endParaRPr>
          </a:p>
          <a:p>
            <a:pPr>
              <a:spcBef>
                <a:spcPts val="1633"/>
              </a:spcBef>
            </a:pPr>
            <a:endParaRPr sz="1867" dirty="0">
              <a:latin typeface="Verdana"/>
              <a:cs typeface="Verdana"/>
            </a:endParaRPr>
          </a:p>
          <a:p>
            <a:pPr marL="270927" marR="6773">
              <a:lnSpc>
                <a:spcPct val="174100"/>
              </a:lnSpc>
            </a:pPr>
            <a:r>
              <a:rPr sz="1867" dirty="0">
                <a:latin typeface="Verdana"/>
                <a:cs typeface="Verdana"/>
              </a:rPr>
              <a:t>The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spc="-27" dirty="0">
                <a:latin typeface="Verdana"/>
                <a:cs typeface="Verdana"/>
              </a:rPr>
              <a:t>-</a:t>
            </a:r>
            <a:r>
              <a:rPr sz="1867" dirty="0">
                <a:latin typeface="Verdana"/>
                <a:cs typeface="Verdana"/>
              </a:rPr>
              <a:t>d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switch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that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tells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compiler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where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put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class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file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i.e.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it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represents destination.</a:t>
            </a:r>
            <a:endParaRPr sz="1867" dirty="0">
              <a:latin typeface="Verdana"/>
              <a:cs typeface="Verdana"/>
            </a:endParaRPr>
          </a:p>
          <a:p>
            <a:pPr marL="270927">
              <a:spcBef>
                <a:spcPts val="1660"/>
              </a:spcBef>
            </a:pPr>
            <a:r>
              <a:rPr sz="1867" dirty="0">
                <a:latin typeface="Verdana"/>
                <a:cs typeface="Verdana"/>
              </a:rPr>
              <a:t>The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.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represents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current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folder.</a:t>
            </a:r>
            <a:endParaRPr sz="1867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67" dirty="0">
              <a:latin typeface="Verdana"/>
              <a:cs typeface="Verdana"/>
            </a:endParaRPr>
          </a:p>
          <a:p>
            <a:pPr>
              <a:spcBef>
                <a:spcPts val="1020"/>
              </a:spcBef>
            </a:pPr>
            <a:endParaRPr sz="1867" dirty="0">
              <a:latin typeface="Verdana"/>
              <a:cs typeface="Verdana"/>
            </a:endParaRPr>
          </a:p>
          <a:p>
            <a:pPr marL="270927">
              <a:spcBef>
                <a:spcPts val="7"/>
              </a:spcBef>
            </a:pPr>
            <a:r>
              <a:rPr sz="1867" b="1" dirty="0">
                <a:latin typeface="Verdana"/>
                <a:cs typeface="Verdana"/>
              </a:rPr>
              <a:t>To</a:t>
            </a:r>
            <a:r>
              <a:rPr sz="1867" b="1" spc="-40" dirty="0">
                <a:latin typeface="Verdana"/>
                <a:cs typeface="Verdana"/>
              </a:rPr>
              <a:t> </a:t>
            </a:r>
            <a:r>
              <a:rPr sz="1867" b="1" dirty="0">
                <a:latin typeface="Verdana"/>
                <a:cs typeface="Verdana"/>
              </a:rPr>
              <a:t>Run:</a:t>
            </a:r>
            <a:r>
              <a:rPr sz="1867" b="1" spc="-2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java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mypack.Simple</a:t>
            </a:r>
            <a:endParaRPr sz="1867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960259"/>
            <a:ext cx="6649884" cy="820565"/>
          </a:xfrm>
          <a:prstGeom prst="rect">
            <a:avLst/>
          </a:prstGeom>
        </p:spPr>
        <p:txBody>
          <a:bodyPr vert="horz" wrap="square" lIns="0" tIns="426612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b="1" dirty="0"/>
              <a:t>How</a:t>
            </a:r>
            <a:r>
              <a:rPr sz="2533" b="1" spc="-87" dirty="0"/>
              <a:t> </a:t>
            </a:r>
            <a:r>
              <a:rPr sz="2533" b="1" dirty="0"/>
              <a:t>to</a:t>
            </a:r>
            <a:r>
              <a:rPr sz="2533" b="1" spc="-80" dirty="0"/>
              <a:t> </a:t>
            </a:r>
            <a:r>
              <a:rPr sz="2533" b="1" dirty="0"/>
              <a:t>access</a:t>
            </a:r>
            <a:r>
              <a:rPr sz="2533" b="1" spc="-80" dirty="0"/>
              <a:t> </a:t>
            </a:r>
            <a:r>
              <a:rPr sz="2533" b="1" dirty="0"/>
              <a:t>package</a:t>
            </a:r>
            <a:r>
              <a:rPr sz="2533" b="1" spc="-80" dirty="0"/>
              <a:t> </a:t>
            </a:r>
            <a:r>
              <a:rPr sz="2533" b="1" dirty="0"/>
              <a:t>from</a:t>
            </a:r>
            <a:r>
              <a:rPr sz="2533" b="1" spc="-80" dirty="0"/>
              <a:t> </a:t>
            </a:r>
            <a:r>
              <a:rPr sz="2533" b="1" dirty="0"/>
              <a:t>another</a:t>
            </a:r>
            <a:r>
              <a:rPr sz="2533" b="1" spc="-80" dirty="0"/>
              <a:t> </a:t>
            </a:r>
            <a:r>
              <a:rPr sz="2533" b="1" spc="-13" dirty="0"/>
              <a:t>package?</a:t>
            </a:r>
            <a:endParaRPr sz="2533" b="1" dirty="0"/>
          </a:p>
        </p:txBody>
      </p:sp>
      <p:sp>
        <p:nvSpPr>
          <p:cNvPr id="3" name="object 3"/>
          <p:cNvSpPr txBox="1"/>
          <p:nvPr/>
        </p:nvSpPr>
        <p:spPr>
          <a:xfrm>
            <a:off x="945586" y="2153368"/>
            <a:ext cx="7890933" cy="16608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dirty="0">
                <a:latin typeface="Verdana"/>
                <a:cs typeface="Verdana"/>
              </a:rPr>
              <a:t>There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are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ways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to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access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package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from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outside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package.</a:t>
            </a:r>
            <a:endParaRPr sz="1733" dirty="0">
              <a:latin typeface="Verdana"/>
              <a:cs typeface="Verdana"/>
            </a:endParaRPr>
          </a:p>
          <a:p>
            <a:pPr marL="625671" indent="-524074">
              <a:spcBef>
                <a:spcPts val="2087"/>
              </a:spcBef>
              <a:buAutoNum type="arabicPeriod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import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package.*;</a:t>
            </a:r>
            <a:endParaRPr sz="1733" dirty="0">
              <a:latin typeface="Verdana"/>
              <a:cs typeface="Verdana"/>
            </a:endParaRPr>
          </a:p>
          <a:p>
            <a:pPr marL="625671" indent="-524074">
              <a:spcBef>
                <a:spcPts val="1220"/>
              </a:spcBef>
              <a:buAutoNum type="arabicPeriod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import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package.classname;</a:t>
            </a:r>
            <a:endParaRPr sz="1733" dirty="0">
              <a:latin typeface="Verdana"/>
              <a:cs typeface="Verdana"/>
            </a:endParaRPr>
          </a:p>
          <a:p>
            <a:pPr marL="625671" indent="-524074">
              <a:spcBef>
                <a:spcPts val="1220"/>
              </a:spcBef>
              <a:buAutoNum type="arabicPeriod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fully</a:t>
            </a:r>
            <a:r>
              <a:rPr sz="1733" spc="-10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qualified</a:t>
            </a:r>
            <a:r>
              <a:rPr sz="1733" spc="-10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name.</a:t>
            </a:r>
            <a:endParaRPr sz="173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890816"/>
            <a:ext cx="7515123" cy="717973"/>
          </a:xfrm>
          <a:prstGeom prst="rect">
            <a:avLst/>
          </a:prstGeom>
        </p:spPr>
        <p:txBody>
          <a:bodyPr vert="horz" wrap="square" lIns="0" tIns="325012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dirty="0"/>
              <a:t>1)</a:t>
            </a:r>
            <a:r>
              <a:rPr sz="2533" spc="-67" dirty="0"/>
              <a:t> </a:t>
            </a:r>
            <a:r>
              <a:rPr sz="2533" dirty="0"/>
              <a:t>Using</a:t>
            </a:r>
            <a:r>
              <a:rPr sz="2533" spc="-67" dirty="0"/>
              <a:t> </a:t>
            </a:r>
            <a:r>
              <a:rPr sz="2533" spc="-13" dirty="0"/>
              <a:t>packagename.*</a:t>
            </a:r>
            <a:endParaRPr sz="2533" dirty="0"/>
          </a:p>
        </p:txBody>
      </p:sp>
      <p:sp>
        <p:nvSpPr>
          <p:cNvPr id="3" name="object 3"/>
          <p:cNvSpPr txBox="1"/>
          <p:nvPr/>
        </p:nvSpPr>
        <p:spPr>
          <a:xfrm>
            <a:off x="512968" y="1608789"/>
            <a:ext cx="11002433" cy="386719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16933" marR="1031214">
              <a:lnSpc>
                <a:spcPct val="117000"/>
              </a:lnSpc>
              <a:spcBef>
                <a:spcPts val="493"/>
              </a:spcBef>
            </a:pPr>
            <a:r>
              <a:rPr lang="en-US" sz="2667" dirty="0">
                <a:solidFill>
                  <a:srgbClr val="434343"/>
                </a:solidFill>
                <a:latin typeface="Roboto"/>
                <a:cs typeface="Roboto"/>
              </a:rPr>
              <a:t>I</a:t>
            </a:r>
            <a:r>
              <a:rPr sz="1600" dirty="0">
                <a:latin typeface="Verdana"/>
                <a:cs typeface="Verdana"/>
              </a:rPr>
              <a:t>f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you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package.*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all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classes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interfaces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this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package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will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accessible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but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33" dirty="0">
                <a:latin typeface="Verdana"/>
                <a:cs typeface="Verdana"/>
              </a:rPr>
              <a:t>not </a:t>
            </a:r>
            <a:r>
              <a:rPr sz="1600" spc="-13" dirty="0">
                <a:latin typeface="Verdana"/>
                <a:cs typeface="Verdana"/>
              </a:rPr>
              <a:t>subpackages.</a:t>
            </a:r>
            <a:endParaRPr sz="1600" dirty="0">
              <a:latin typeface="Verdana"/>
              <a:cs typeface="Verdana"/>
            </a:endParaRPr>
          </a:p>
          <a:p>
            <a:pPr>
              <a:spcBef>
                <a:spcPts val="152"/>
              </a:spcBef>
            </a:pPr>
            <a:endParaRPr sz="1600" dirty="0">
              <a:latin typeface="Verdana"/>
              <a:cs typeface="Verdana"/>
            </a:endParaRPr>
          </a:p>
          <a:p>
            <a:pPr marL="16933" marR="6773">
              <a:lnSpc>
                <a:spcPct val="114599"/>
              </a:lnSpc>
            </a:pP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import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keyword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used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make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classes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interface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another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package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accessible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current package.</a:t>
            </a:r>
            <a:endParaRPr sz="1600" dirty="0">
              <a:latin typeface="Verdana"/>
              <a:cs typeface="Verdana"/>
            </a:endParaRPr>
          </a:p>
          <a:p>
            <a:pPr marL="16933" marR="9286008">
              <a:lnSpc>
                <a:spcPct val="177100"/>
              </a:lnSpc>
              <a:spcBef>
                <a:spcPts val="100"/>
              </a:spcBef>
            </a:pPr>
            <a:r>
              <a:rPr sz="1600" dirty="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600" spc="-6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600" spc="-6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solidFill>
                  <a:srgbClr val="008200"/>
                </a:solidFill>
                <a:latin typeface="Verdana"/>
                <a:cs typeface="Verdana"/>
              </a:rPr>
              <a:t>A.java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pack;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60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600" b="1" spc="-1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33" dirty="0">
                <a:latin typeface="Verdana"/>
                <a:cs typeface="Verdana"/>
              </a:rPr>
              <a:t>A{</a:t>
            </a:r>
            <a:endParaRPr sz="1600" dirty="0">
              <a:latin typeface="Verdana"/>
              <a:cs typeface="Verdana"/>
            </a:endParaRPr>
          </a:p>
          <a:p>
            <a:pPr marL="159169">
              <a:spcBef>
                <a:spcPts val="1480"/>
              </a:spcBef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600" b="1" spc="-1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msg(){System.out.println(</a:t>
            </a:r>
            <a:r>
              <a:rPr sz="1600" spc="-13" dirty="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600" spc="-13" dirty="0">
                <a:latin typeface="Verdana"/>
                <a:cs typeface="Verdana"/>
              </a:rPr>
              <a:t>);}</a:t>
            </a:r>
            <a:endParaRPr sz="1600" dirty="0">
              <a:latin typeface="Verdana"/>
              <a:cs typeface="Verdana"/>
            </a:endParaRPr>
          </a:p>
          <a:p>
            <a:pPr marL="16933">
              <a:spcBef>
                <a:spcPts val="1480"/>
              </a:spcBef>
            </a:pPr>
            <a:r>
              <a:rPr sz="1600" spc="-67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1779872"/>
            <a:ext cx="1937173" cy="11404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600" spc="-6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600" spc="-6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solidFill>
                  <a:srgbClr val="008200"/>
                </a:solidFill>
                <a:latin typeface="Verdana"/>
                <a:cs typeface="Verdana"/>
              </a:rPr>
              <a:t>B.java</a:t>
            </a:r>
            <a:endParaRPr sz="1600">
              <a:latin typeface="Verdana"/>
              <a:cs typeface="Verdana"/>
            </a:endParaRPr>
          </a:p>
          <a:p>
            <a:pPr marL="16933">
              <a:spcBef>
                <a:spcPts val="1480"/>
              </a:spcBef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mypack;</a:t>
            </a:r>
            <a:endParaRPr sz="1600">
              <a:latin typeface="Verdana"/>
              <a:cs typeface="Verdana"/>
            </a:endParaRPr>
          </a:p>
          <a:p>
            <a:pPr marL="16933">
              <a:spcBef>
                <a:spcPts val="1480"/>
              </a:spcBef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600" b="1" spc="-8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pack.*;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8" y="3507071"/>
            <a:ext cx="4322233" cy="24507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600" b="1" spc="-1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33" dirty="0">
                <a:latin typeface="Verdana"/>
                <a:cs typeface="Verdana"/>
              </a:rPr>
              <a:t>B{</a:t>
            </a:r>
            <a:endParaRPr sz="1600">
              <a:latin typeface="Verdana"/>
              <a:cs typeface="Verdana"/>
            </a:endParaRPr>
          </a:p>
          <a:p>
            <a:pPr marL="230288" marR="6773" indent="-71118">
              <a:lnSpc>
                <a:spcPct val="177100"/>
              </a:lnSpc>
            </a:pP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600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main(String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args[]){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obj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13" dirty="0"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600" spc="-27" dirty="0">
                <a:latin typeface="Verdana"/>
                <a:cs typeface="Verdana"/>
              </a:rPr>
              <a:t>A();</a:t>
            </a:r>
            <a:endParaRPr sz="1600">
              <a:latin typeface="Verdana"/>
              <a:cs typeface="Verdana"/>
            </a:endParaRPr>
          </a:p>
          <a:p>
            <a:pPr marL="230288">
              <a:spcBef>
                <a:spcPts val="1480"/>
              </a:spcBef>
            </a:pPr>
            <a:r>
              <a:rPr sz="1600" spc="-13" dirty="0">
                <a:latin typeface="Verdana"/>
                <a:cs typeface="Verdana"/>
              </a:rPr>
              <a:t>obj.msg();</a:t>
            </a:r>
            <a:endParaRPr sz="1600">
              <a:latin typeface="Verdana"/>
              <a:cs typeface="Verdana"/>
            </a:endParaRPr>
          </a:p>
          <a:p>
            <a:pPr marL="159169">
              <a:spcBef>
                <a:spcPts val="1480"/>
              </a:spcBef>
            </a:pPr>
            <a:r>
              <a:rPr sz="1600" spc="-67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6933">
              <a:spcBef>
                <a:spcPts val="1480"/>
              </a:spcBef>
            </a:pPr>
            <a:r>
              <a:rPr sz="1600" spc="-67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83958" y="950800"/>
            <a:ext cx="14888087" cy="619593"/>
          </a:xfrm>
          <a:prstGeom prst="rect">
            <a:avLst/>
          </a:prstGeom>
        </p:spPr>
        <p:txBody>
          <a:bodyPr vert="horz" wrap="square" lIns="0" tIns="22758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dirty="0"/>
              <a:t>2)</a:t>
            </a:r>
            <a:r>
              <a:rPr sz="2533" spc="-67" dirty="0"/>
              <a:t> </a:t>
            </a:r>
            <a:r>
              <a:rPr sz="2533" dirty="0"/>
              <a:t>Using</a:t>
            </a:r>
            <a:r>
              <a:rPr sz="2533" spc="-67" dirty="0"/>
              <a:t> </a:t>
            </a:r>
            <a:r>
              <a:rPr sz="2533" spc="-13" dirty="0"/>
              <a:t>packagename.classname</a:t>
            </a:r>
            <a:endParaRPr sz="2533"/>
          </a:p>
        </p:txBody>
      </p:sp>
      <p:sp>
        <p:nvSpPr>
          <p:cNvPr id="3" name="object 3"/>
          <p:cNvSpPr txBox="1"/>
          <p:nvPr/>
        </p:nvSpPr>
        <p:spPr>
          <a:xfrm>
            <a:off x="512967" y="1727717"/>
            <a:ext cx="110447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Verdana"/>
                <a:cs typeface="Verdana"/>
              </a:rPr>
              <a:t>If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you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import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package.classname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then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only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declared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class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of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this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package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will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be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accessible.</a:t>
            </a:r>
            <a:endParaRPr sz="186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800" y="304761"/>
            <a:ext cx="4771813" cy="20802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333" b="1" spc="-2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333" b="1" spc="-2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8200"/>
                </a:solidFill>
                <a:latin typeface="Verdana"/>
                <a:cs typeface="Verdana"/>
              </a:rPr>
              <a:t>A.java</a:t>
            </a:r>
            <a:endParaRPr sz="1333">
              <a:latin typeface="Verdana"/>
              <a:cs typeface="Verdana"/>
            </a:endParaRPr>
          </a:p>
          <a:p>
            <a:pPr marL="16933" marR="3327317" indent="57572">
              <a:lnSpc>
                <a:spcPct val="181300"/>
              </a:lnSpc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pack;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67" dirty="0">
                <a:latin typeface="Verdana"/>
                <a:cs typeface="Verdana"/>
              </a:rPr>
              <a:t>A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msg(){System.out.println(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"Hello"</a:t>
            </a:r>
            <a:r>
              <a:rPr sz="1333" b="1" spc="-13" dirty="0">
                <a:latin typeface="Verdana"/>
                <a:cs typeface="Verdana"/>
              </a:rPr>
              <a:t>);}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801" y="2882861"/>
            <a:ext cx="3714327" cy="35664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mypack;</a:t>
            </a:r>
            <a:endParaRPr sz="1333">
              <a:latin typeface="Verdana"/>
              <a:cs typeface="Verdana"/>
            </a:endParaRPr>
          </a:p>
          <a:p>
            <a:pPr marL="132077" marR="2290176" indent="-115990">
              <a:lnSpc>
                <a:spcPct val="181300"/>
              </a:lnSpc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pack.A;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67" dirty="0">
                <a:latin typeface="Verdana"/>
                <a:cs typeface="Verdana"/>
              </a:rPr>
              <a:t>B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main(String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args[])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89649" marR="1917652">
              <a:lnSpc>
                <a:spcPct val="181300"/>
              </a:lnSpc>
            </a:pP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obj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=</a:t>
            </a:r>
            <a:r>
              <a:rPr sz="1333" b="1" spc="-7" dirty="0"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1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27" dirty="0">
                <a:latin typeface="Verdana"/>
                <a:cs typeface="Verdana"/>
              </a:rPr>
              <a:t>A(); </a:t>
            </a:r>
            <a:r>
              <a:rPr sz="1333" b="1" spc="-13" dirty="0">
                <a:latin typeface="Verdana"/>
                <a:cs typeface="Verdana"/>
              </a:rPr>
              <a:t>obj.msg();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92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93568"/>
            <a:ext cx="4486787" cy="717973"/>
          </a:xfrm>
          <a:prstGeom prst="rect">
            <a:avLst/>
          </a:prstGeom>
        </p:spPr>
        <p:txBody>
          <a:bodyPr vert="horz" wrap="square" lIns="0" tIns="325012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b="1" dirty="0"/>
              <a:t>3)</a:t>
            </a:r>
            <a:r>
              <a:rPr sz="2533" b="1" spc="-87" dirty="0"/>
              <a:t> </a:t>
            </a:r>
            <a:r>
              <a:rPr sz="2533" b="1" dirty="0"/>
              <a:t>Using</a:t>
            </a:r>
            <a:r>
              <a:rPr sz="2533" b="1" spc="-87" dirty="0"/>
              <a:t> </a:t>
            </a:r>
            <a:r>
              <a:rPr sz="2533" b="1" dirty="0"/>
              <a:t>fully</a:t>
            </a:r>
            <a:r>
              <a:rPr sz="2533" b="1" spc="-80" dirty="0"/>
              <a:t> </a:t>
            </a:r>
            <a:r>
              <a:rPr sz="2533" b="1" dirty="0"/>
              <a:t>qualified</a:t>
            </a:r>
            <a:r>
              <a:rPr sz="2533" b="1" spc="-87" dirty="0"/>
              <a:t> </a:t>
            </a:r>
            <a:r>
              <a:rPr sz="2533" b="1" spc="-27" dirty="0"/>
              <a:t>name</a:t>
            </a:r>
            <a:endParaRPr sz="2533" b="1" dirty="0"/>
          </a:p>
        </p:txBody>
      </p:sp>
      <p:sp>
        <p:nvSpPr>
          <p:cNvPr id="3" name="object 3"/>
          <p:cNvSpPr txBox="1"/>
          <p:nvPr/>
        </p:nvSpPr>
        <p:spPr>
          <a:xfrm>
            <a:off x="654162" y="1844049"/>
            <a:ext cx="10916073" cy="25928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85128" marR="207428" indent="-469042">
              <a:lnSpc>
                <a:spcPct val="115900"/>
              </a:lnSpc>
              <a:spcBef>
                <a:spcPts val="133"/>
              </a:spcBef>
              <a:buFont typeface="Arial MT"/>
              <a:buChar char="●"/>
              <a:tabLst>
                <a:tab pos="485128" algn="l"/>
              </a:tabLst>
            </a:pPr>
            <a:r>
              <a:rPr sz="2133" dirty="0">
                <a:latin typeface="Verdana"/>
                <a:cs typeface="Verdana"/>
              </a:rPr>
              <a:t>If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you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use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fully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qualified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name</a:t>
            </a:r>
            <a:r>
              <a:rPr sz="2133" spc="-6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then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only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declared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class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of</a:t>
            </a:r>
            <a:r>
              <a:rPr sz="2133" spc="-6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this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package</a:t>
            </a:r>
            <a:r>
              <a:rPr sz="2133" spc="-67" dirty="0">
                <a:latin typeface="Verdana"/>
                <a:cs typeface="Verdana"/>
              </a:rPr>
              <a:t> </a:t>
            </a:r>
            <a:r>
              <a:rPr sz="2133" spc="-27" dirty="0">
                <a:latin typeface="Verdana"/>
                <a:cs typeface="Verdana"/>
              </a:rPr>
              <a:t>will </a:t>
            </a:r>
            <a:r>
              <a:rPr sz="2133" dirty="0">
                <a:latin typeface="Verdana"/>
                <a:cs typeface="Verdana"/>
              </a:rPr>
              <a:t>be</a:t>
            </a:r>
            <a:r>
              <a:rPr sz="2133" spc="-13" dirty="0">
                <a:latin typeface="Verdana"/>
                <a:cs typeface="Verdana"/>
              </a:rPr>
              <a:t> accessible.</a:t>
            </a:r>
            <a:endParaRPr sz="2133" dirty="0">
              <a:latin typeface="Verdana"/>
              <a:cs typeface="Verdana"/>
            </a:endParaRPr>
          </a:p>
          <a:p>
            <a:pPr marL="485128" indent="-468195">
              <a:spcBef>
                <a:spcPts val="339"/>
              </a:spcBef>
              <a:buFont typeface="Arial MT"/>
              <a:buChar char="●"/>
              <a:tabLst>
                <a:tab pos="485128" algn="l"/>
              </a:tabLst>
            </a:pPr>
            <a:r>
              <a:rPr sz="2133" dirty="0">
                <a:latin typeface="Verdana"/>
                <a:cs typeface="Verdana"/>
              </a:rPr>
              <a:t>Now</a:t>
            </a:r>
            <a:r>
              <a:rPr sz="2133" spc="-4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there</a:t>
            </a:r>
            <a:r>
              <a:rPr sz="2133" spc="-3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is</a:t>
            </a:r>
            <a:r>
              <a:rPr sz="2133" spc="-3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no</a:t>
            </a:r>
            <a:r>
              <a:rPr sz="2133" spc="-3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need</a:t>
            </a:r>
            <a:r>
              <a:rPr sz="2133" spc="-4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to</a:t>
            </a:r>
            <a:r>
              <a:rPr sz="2133" spc="-33" dirty="0">
                <a:latin typeface="Verdana"/>
                <a:cs typeface="Verdana"/>
              </a:rPr>
              <a:t> </a:t>
            </a:r>
            <a:r>
              <a:rPr sz="2133" spc="-13" dirty="0">
                <a:latin typeface="Verdana"/>
                <a:cs typeface="Verdana"/>
              </a:rPr>
              <a:t>import.</a:t>
            </a:r>
            <a:endParaRPr sz="2133" dirty="0">
              <a:latin typeface="Verdana"/>
              <a:cs typeface="Verdana"/>
            </a:endParaRPr>
          </a:p>
          <a:p>
            <a:pPr marL="485128" marR="6773" indent="-469042">
              <a:lnSpc>
                <a:spcPct val="113300"/>
              </a:lnSpc>
              <a:buFont typeface="Arial MT"/>
              <a:buChar char="●"/>
              <a:tabLst>
                <a:tab pos="485128" algn="l"/>
              </a:tabLst>
            </a:pPr>
            <a:r>
              <a:rPr sz="2133" dirty="0">
                <a:latin typeface="Verdana"/>
                <a:cs typeface="Verdana"/>
              </a:rPr>
              <a:t>But</a:t>
            </a:r>
            <a:r>
              <a:rPr sz="2133" spc="-5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you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need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to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use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fully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qualified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name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every</a:t>
            </a:r>
            <a:r>
              <a:rPr sz="2133" spc="-5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time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when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you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are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spc="-13" dirty="0">
                <a:latin typeface="Verdana"/>
                <a:cs typeface="Verdana"/>
              </a:rPr>
              <a:t>accessing </a:t>
            </a:r>
            <a:r>
              <a:rPr sz="2133" dirty="0">
                <a:latin typeface="Verdana"/>
                <a:cs typeface="Verdana"/>
              </a:rPr>
              <a:t>the</a:t>
            </a:r>
            <a:r>
              <a:rPr sz="2133" spc="-5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class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or</a:t>
            </a:r>
            <a:r>
              <a:rPr sz="2133" spc="-47" dirty="0">
                <a:latin typeface="Verdana"/>
                <a:cs typeface="Verdana"/>
              </a:rPr>
              <a:t> </a:t>
            </a:r>
            <a:r>
              <a:rPr sz="2133" spc="-13" dirty="0">
                <a:latin typeface="Verdana"/>
                <a:cs typeface="Verdana"/>
              </a:rPr>
              <a:t>interface.</a:t>
            </a:r>
            <a:endParaRPr sz="2133" dirty="0">
              <a:latin typeface="Verdana"/>
              <a:cs typeface="Verdana"/>
            </a:endParaRPr>
          </a:p>
          <a:p>
            <a:pPr marL="485128" marR="38944" indent="-469042">
              <a:lnSpc>
                <a:spcPct val="113300"/>
              </a:lnSpc>
              <a:buFont typeface="Arial MT"/>
              <a:buChar char="●"/>
              <a:tabLst>
                <a:tab pos="485128" algn="l"/>
              </a:tabLst>
            </a:pPr>
            <a:r>
              <a:rPr sz="2133" dirty="0">
                <a:latin typeface="Verdana"/>
                <a:cs typeface="Verdana"/>
              </a:rPr>
              <a:t>It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is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generally</a:t>
            </a:r>
            <a:r>
              <a:rPr sz="2133" spc="-7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used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when</a:t>
            </a:r>
            <a:r>
              <a:rPr sz="2133" spc="-7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two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packages</a:t>
            </a:r>
            <a:r>
              <a:rPr sz="2133" spc="-7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have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same</a:t>
            </a:r>
            <a:r>
              <a:rPr sz="2133" spc="-7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class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name</a:t>
            </a:r>
            <a:r>
              <a:rPr sz="2133" spc="-73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e.g.</a:t>
            </a:r>
            <a:r>
              <a:rPr sz="2133" spc="-80" dirty="0">
                <a:latin typeface="Verdana"/>
                <a:cs typeface="Verdana"/>
              </a:rPr>
              <a:t> </a:t>
            </a:r>
            <a:r>
              <a:rPr sz="2133" spc="-13" dirty="0">
                <a:latin typeface="Verdana"/>
                <a:cs typeface="Verdana"/>
              </a:rPr>
              <a:t>java.util </a:t>
            </a:r>
            <a:r>
              <a:rPr sz="2133" dirty="0">
                <a:latin typeface="Verdana"/>
                <a:cs typeface="Verdana"/>
              </a:rPr>
              <a:t>and</a:t>
            </a:r>
            <a:r>
              <a:rPr sz="2133" spc="-107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java.sql</a:t>
            </a:r>
            <a:r>
              <a:rPr sz="2133" spc="-10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packages</a:t>
            </a:r>
            <a:r>
              <a:rPr sz="2133" spc="-10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contain</a:t>
            </a:r>
            <a:r>
              <a:rPr sz="2133" spc="-100" dirty="0">
                <a:latin typeface="Verdana"/>
                <a:cs typeface="Verdana"/>
              </a:rPr>
              <a:t> </a:t>
            </a:r>
            <a:r>
              <a:rPr sz="2133" dirty="0">
                <a:latin typeface="Verdana"/>
                <a:cs typeface="Verdana"/>
              </a:rPr>
              <a:t>Date</a:t>
            </a:r>
            <a:r>
              <a:rPr sz="2133" spc="-100" dirty="0">
                <a:latin typeface="Verdana"/>
                <a:cs typeface="Verdana"/>
              </a:rPr>
              <a:t> </a:t>
            </a:r>
            <a:r>
              <a:rPr sz="2133" spc="-13" dirty="0">
                <a:latin typeface="Verdana"/>
                <a:cs typeface="Verdana"/>
              </a:rPr>
              <a:t>class.</a:t>
            </a:r>
            <a:endParaRPr sz="213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1780548"/>
            <a:ext cx="6055360" cy="395381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solidFill>
                  <a:srgbClr val="008200"/>
                </a:solidFill>
                <a:latin typeface="Verdana"/>
                <a:cs typeface="Verdana"/>
              </a:rPr>
              <a:t>//save</a:t>
            </a:r>
            <a:r>
              <a:rPr sz="1467" b="1" spc="-6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67" b="1" dirty="0">
                <a:solidFill>
                  <a:srgbClr val="008200"/>
                </a:solidFill>
                <a:latin typeface="Verdana"/>
                <a:cs typeface="Verdana"/>
              </a:rPr>
              <a:t>by</a:t>
            </a:r>
            <a:r>
              <a:rPr sz="1467" b="1" spc="-6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67" b="1" spc="-13" dirty="0">
                <a:solidFill>
                  <a:srgbClr val="008200"/>
                </a:solidFill>
                <a:latin typeface="Verdana"/>
                <a:cs typeface="Verdana"/>
              </a:rPr>
              <a:t>B.java</a:t>
            </a:r>
            <a:endParaRPr sz="1467">
              <a:latin typeface="Verdana"/>
              <a:cs typeface="Verdana"/>
            </a:endParaRPr>
          </a:p>
          <a:p>
            <a:pPr marL="16933" marR="4214601">
              <a:lnSpc>
                <a:spcPct val="181800"/>
              </a:lnSpc>
            </a:pP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package</a:t>
            </a:r>
            <a:r>
              <a:rPr sz="1467" b="1" spc="-1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mypack; </a:t>
            </a: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467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spc="-33" dirty="0">
                <a:latin typeface="Verdana"/>
                <a:cs typeface="Verdana"/>
              </a:rPr>
              <a:t>B{</a:t>
            </a:r>
            <a:endParaRPr sz="1467">
              <a:latin typeface="Verdana"/>
              <a:cs typeface="Verdana"/>
            </a:endParaRPr>
          </a:p>
          <a:p>
            <a:pPr marL="143930">
              <a:spcBef>
                <a:spcPts val="1440"/>
              </a:spcBef>
            </a:pP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467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467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467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main(String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args[])</a:t>
            </a:r>
            <a:endParaRPr sz="1467">
              <a:latin typeface="Verdana"/>
              <a:cs typeface="Verdana"/>
            </a:endParaRPr>
          </a:p>
          <a:p>
            <a:pPr marL="207428">
              <a:spcBef>
                <a:spcPts val="1440"/>
              </a:spcBef>
            </a:pPr>
            <a:r>
              <a:rPr sz="1467" b="1" spc="-67" dirty="0">
                <a:latin typeface="Verdana"/>
                <a:cs typeface="Verdana"/>
              </a:rPr>
              <a:t>{</a:t>
            </a:r>
            <a:endParaRPr sz="1467">
              <a:latin typeface="Verdana"/>
              <a:cs typeface="Verdana"/>
            </a:endParaRPr>
          </a:p>
          <a:p>
            <a:pPr marL="207428" marR="6773">
              <a:lnSpc>
                <a:spcPct val="181800"/>
              </a:lnSpc>
            </a:pPr>
            <a:r>
              <a:rPr sz="1467" b="1" dirty="0">
                <a:latin typeface="Verdana"/>
                <a:cs typeface="Verdana"/>
              </a:rPr>
              <a:t>pack.A</a:t>
            </a:r>
            <a:r>
              <a:rPr sz="1467" b="1" spc="-3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obj</a:t>
            </a:r>
            <a:r>
              <a:rPr sz="1467" b="1" spc="-3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=</a:t>
            </a:r>
            <a:r>
              <a:rPr sz="1467" b="1" spc="-27" dirty="0">
                <a:latin typeface="Verdana"/>
                <a:cs typeface="Verdana"/>
              </a:rPr>
              <a:t> </a:t>
            </a:r>
            <a:r>
              <a:rPr sz="1467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467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pack.A();</a:t>
            </a:r>
            <a:r>
              <a:rPr sz="1467" b="1" spc="-13" dirty="0">
                <a:solidFill>
                  <a:srgbClr val="008200"/>
                </a:solidFill>
                <a:latin typeface="Verdana"/>
                <a:cs typeface="Verdana"/>
              </a:rPr>
              <a:t>//using</a:t>
            </a:r>
            <a:r>
              <a:rPr sz="1467" b="1" spc="-27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67" b="1" dirty="0">
                <a:solidFill>
                  <a:srgbClr val="008200"/>
                </a:solidFill>
                <a:latin typeface="Verdana"/>
                <a:cs typeface="Verdana"/>
              </a:rPr>
              <a:t>fully</a:t>
            </a:r>
            <a:r>
              <a:rPr sz="1467" b="1" spc="-33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67" b="1" spc="-13" dirty="0">
                <a:solidFill>
                  <a:srgbClr val="008200"/>
                </a:solidFill>
                <a:latin typeface="Verdana"/>
                <a:cs typeface="Verdana"/>
              </a:rPr>
              <a:t>qualified</a:t>
            </a:r>
            <a:r>
              <a:rPr sz="1467" b="1" spc="-33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467" b="1" spc="-27" dirty="0">
                <a:solidFill>
                  <a:srgbClr val="008200"/>
                </a:solidFill>
                <a:latin typeface="Verdana"/>
                <a:cs typeface="Verdana"/>
              </a:rPr>
              <a:t>name </a:t>
            </a:r>
            <a:r>
              <a:rPr sz="1467" b="1" spc="-13" dirty="0">
                <a:latin typeface="Verdana"/>
                <a:cs typeface="Verdana"/>
              </a:rPr>
              <a:t>obj.msg();</a:t>
            </a:r>
            <a:endParaRPr sz="1467">
              <a:latin typeface="Verdana"/>
              <a:cs typeface="Verdana"/>
            </a:endParaRPr>
          </a:p>
          <a:p>
            <a:pPr marL="143930">
              <a:spcBef>
                <a:spcPts val="1440"/>
              </a:spcBef>
            </a:pPr>
            <a:r>
              <a:rPr sz="1467" b="1" spc="-67" dirty="0">
                <a:latin typeface="Verdana"/>
                <a:cs typeface="Verdana"/>
              </a:rPr>
              <a:t>}</a:t>
            </a:r>
            <a:endParaRPr sz="1467">
              <a:latin typeface="Verdana"/>
              <a:cs typeface="Verdana"/>
            </a:endParaRPr>
          </a:p>
          <a:p>
            <a:pPr marL="16933">
              <a:spcBef>
                <a:spcPts val="1440"/>
              </a:spcBef>
            </a:pPr>
            <a:r>
              <a:rPr sz="1467" b="1" spc="-67" dirty="0">
                <a:latin typeface="Verdana"/>
                <a:cs typeface="Verdana"/>
              </a:rPr>
              <a:t>}</a:t>
            </a:r>
            <a:endParaRPr sz="1467">
              <a:latin typeface="Verdana"/>
              <a:cs typeface="Verdana"/>
            </a:endParaRPr>
          </a:p>
          <a:p>
            <a:pPr marL="16933">
              <a:spcBef>
                <a:spcPts val="1427"/>
              </a:spcBef>
            </a:pPr>
            <a:r>
              <a:rPr sz="1733" b="1" spc="-13" dirty="0">
                <a:latin typeface="Arial"/>
                <a:cs typeface="Arial"/>
              </a:rPr>
              <a:t>Output:Hello</a:t>
            </a:r>
            <a:endParaRPr sz="17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659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Calibri Light</vt:lpstr>
      <vt:lpstr>Roboto</vt:lpstr>
      <vt:lpstr>Verdana</vt:lpstr>
      <vt:lpstr>Office Theme</vt:lpstr>
      <vt:lpstr>Package in Java</vt:lpstr>
      <vt:lpstr>Advantage of Java Package</vt:lpstr>
      <vt:lpstr>PowerPoint Presentation</vt:lpstr>
      <vt:lpstr>Example of java package</vt:lpstr>
      <vt:lpstr>How to compile java package</vt:lpstr>
      <vt:lpstr>How to run java package program</vt:lpstr>
      <vt:lpstr>How to access package from another package?</vt:lpstr>
      <vt:lpstr>1) Using packagename.*</vt:lpstr>
      <vt:lpstr>PowerPoint Presentation</vt:lpstr>
      <vt:lpstr>2) Using packagename.classname</vt:lpstr>
      <vt:lpstr>PowerPoint Presentation</vt:lpstr>
      <vt:lpstr>3) Using fully qualified name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C</dc:creator>
  <cp:lastModifiedBy>Priyanka C</cp:lastModifiedBy>
  <cp:revision>1</cp:revision>
  <dcterms:created xsi:type="dcterms:W3CDTF">2026-02-10T13:29:13Z</dcterms:created>
  <dcterms:modified xsi:type="dcterms:W3CDTF">2026-02-10T13:31:06Z</dcterms:modified>
</cp:coreProperties>
</file>