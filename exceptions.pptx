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>
      <p:cViewPr varScale="1">
        <p:scale>
          <a:sx n="105" d="100"/>
          <a:sy n="105" d="100"/>
        </p:scale>
        <p:origin x="180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Rakhi</a:t>
            </a:r>
            <a:r>
              <a:rPr spc="-35" dirty="0"/>
              <a:t> </a:t>
            </a:r>
            <a:r>
              <a:rPr spc="-10" dirty="0"/>
              <a:t>Saxena</a:t>
            </a:r>
            <a:r>
              <a:rPr spc="-60" dirty="0"/>
              <a:t> </a:t>
            </a:r>
            <a:r>
              <a:rPr dirty="0"/>
              <a:t>(Internet</a:t>
            </a:r>
            <a:r>
              <a:rPr spc="-25" dirty="0"/>
              <a:t> </a:t>
            </a:r>
            <a:r>
              <a:rPr spc="-10" dirty="0"/>
              <a:t>Technologies)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Rakhi</a:t>
            </a:r>
            <a:r>
              <a:rPr spc="-35" dirty="0"/>
              <a:t> </a:t>
            </a:r>
            <a:r>
              <a:rPr spc="-10" dirty="0"/>
              <a:t>Saxena</a:t>
            </a:r>
            <a:r>
              <a:rPr spc="-60" dirty="0"/>
              <a:t> </a:t>
            </a:r>
            <a:r>
              <a:rPr dirty="0"/>
              <a:t>(Internet</a:t>
            </a:r>
            <a:r>
              <a:rPr spc="-25" dirty="0"/>
              <a:t> </a:t>
            </a:r>
            <a:r>
              <a:rPr spc="-10" dirty="0"/>
              <a:t>Technologies)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Rakhi</a:t>
            </a:r>
            <a:r>
              <a:rPr spc="-35" dirty="0"/>
              <a:t> </a:t>
            </a:r>
            <a:r>
              <a:rPr spc="-10" dirty="0"/>
              <a:t>Saxena</a:t>
            </a:r>
            <a:r>
              <a:rPr spc="-60" dirty="0"/>
              <a:t> </a:t>
            </a:r>
            <a:r>
              <a:rPr dirty="0"/>
              <a:t>(Internet</a:t>
            </a:r>
            <a:r>
              <a:rPr spc="-25" dirty="0"/>
              <a:t> </a:t>
            </a:r>
            <a:r>
              <a:rPr spc="-10" dirty="0"/>
              <a:t>Technologies)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Rakhi</a:t>
            </a:r>
            <a:r>
              <a:rPr spc="-35" dirty="0"/>
              <a:t> </a:t>
            </a:r>
            <a:r>
              <a:rPr spc="-10" dirty="0"/>
              <a:t>Saxena</a:t>
            </a:r>
            <a:r>
              <a:rPr spc="-60" dirty="0"/>
              <a:t> </a:t>
            </a:r>
            <a:r>
              <a:rPr dirty="0"/>
              <a:t>(Internet</a:t>
            </a:r>
            <a:r>
              <a:rPr spc="-25" dirty="0"/>
              <a:t> </a:t>
            </a:r>
            <a:r>
              <a:rPr spc="-10" dirty="0"/>
              <a:t>Technologies)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Rakhi</a:t>
            </a:r>
            <a:r>
              <a:rPr spc="-35" dirty="0"/>
              <a:t> </a:t>
            </a:r>
            <a:r>
              <a:rPr spc="-10" dirty="0"/>
              <a:t>Saxena</a:t>
            </a:r>
            <a:r>
              <a:rPr spc="-60" dirty="0"/>
              <a:t> </a:t>
            </a:r>
            <a:r>
              <a:rPr dirty="0"/>
              <a:t>(Internet</a:t>
            </a:r>
            <a:r>
              <a:rPr spc="-25" dirty="0"/>
              <a:t> </a:t>
            </a:r>
            <a:r>
              <a:rPr spc="-10" dirty="0"/>
              <a:t>Technologies)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187" y="464642"/>
            <a:ext cx="7767624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527124"/>
            <a:ext cx="7956550" cy="4338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7221" y="6466433"/>
            <a:ext cx="228981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Rakhi</a:t>
            </a:r>
            <a:r>
              <a:rPr spc="-35" dirty="0"/>
              <a:t> </a:t>
            </a:r>
            <a:r>
              <a:rPr spc="-10" dirty="0"/>
              <a:t>Saxena</a:t>
            </a:r>
            <a:r>
              <a:rPr spc="-60" dirty="0"/>
              <a:t> </a:t>
            </a:r>
            <a:r>
              <a:rPr dirty="0"/>
              <a:t>(Internet</a:t>
            </a:r>
            <a:r>
              <a:rPr spc="-25" dirty="0"/>
              <a:t> </a:t>
            </a:r>
            <a:r>
              <a:rPr spc="-10" dirty="0"/>
              <a:t>Technologies)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33054" y="6466433"/>
            <a:ext cx="21653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814" y="1655825"/>
            <a:ext cx="7186295" cy="1365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90"/>
              </a:spcBef>
            </a:pPr>
            <a:r>
              <a:rPr b="1" spc="-20" dirty="0">
                <a:latin typeface="Calibri"/>
                <a:cs typeface="Calibri"/>
              </a:rPr>
              <a:t>Java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Exception</a:t>
            </a:r>
            <a:r>
              <a:rPr spc="-120" dirty="0"/>
              <a:t> </a:t>
            </a:r>
            <a:r>
              <a:rPr spc="-1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7857" y="3823156"/>
            <a:ext cx="5831840" cy="1673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Slides</a:t>
            </a:r>
            <a:r>
              <a:rPr sz="2700" spc="-6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material</a:t>
            </a:r>
            <a:r>
              <a:rPr sz="2700" spc="-8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compiled</a:t>
            </a:r>
            <a:r>
              <a:rPr sz="2700" spc="-9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888888"/>
                </a:solidFill>
                <a:latin typeface="Calibri"/>
                <a:cs typeface="Calibri"/>
              </a:rPr>
              <a:t>from</a:t>
            </a:r>
            <a:endParaRPr sz="2700" dirty="0">
              <a:latin typeface="Calibri"/>
              <a:cs typeface="Calibri"/>
            </a:endParaRPr>
          </a:p>
          <a:p>
            <a:pPr marL="37465" marR="30480" algn="ctr">
              <a:lnSpc>
                <a:spcPct val="100000"/>
              </a:lnSpc>
            </a:pP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Java</a:t>
            </a:r>
            <a:r>
              <a:rPr sz="2700" spc="-6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2700" spc="-6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The</a:t>
            </a:r>
            <a:r>
              <a:rPr sz="2700" spc="-6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Complete</a:t>
            </a:r>
            <a:r>
              <a:rPr sz="2700" spc="-9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888888"/>
                </a:solidFill>
                <a:latin typeface="Calibri"/>
                <a:cs typeface="Calibri"/>
              </a:rPr>
              <a:t>Reference</a:t>
            </a:r>
            <a:r>
              <a:rPr sz="2700" spc="-7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r>
              <a:rPr sz="2700" baseline="24691" dirty="0">
                <a:solidFill>
                  <a:srgbClr val="888888"/>
                </a:solidFill>
                <a:latin typeface="Calibri"/>
                <a:cs typeface="Calibri"/>
              </a:rPr>
              <a:t>th</a:t>
            </a:r>
            <a:r>
              <a:rPr sz="2700" spc="240" baseline="24691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888888"/>
                </a:solidFill>
                <a:latin typeface="Calibri"/>
                <a:cs typeface="Calibri"/>
              </a:rPr>
              <a:t>Edition </a:t>
            </a:r>
            <a:r>
              <a:rPr sz="2700" spc="-25" dirty="0">
                <a:solidFill>
                  <a:srgbClr val="888888"/>
                </a:solidFill>
                <a:latin typeface="Calibri"/>
                <a:cs typeface="Calibri"/>
              </a:rPr>
              <a:t>By</a:t>
            </a:r>
            <a:endParaRPr sz="27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Herbert</a:t>
            </a:r>
            <a:r>
              <a:rPr sz="2700" spc="-7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888888"/>
                </a:solidFill>
                <a:latin typeface="Calibri"/>
                <a:cs typeface="Calibri"/>
              </a:rPr>
              <a:t>Schildt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Exception-</a:t>
            </a:r>
            <a:r>
              <a:rPr dirty="0"/>
              <a:t>Handling</a:t>
            </a:r>
            <a:r>
              <a:rPr spc="-45" dirty="0"/>
              <a:t> </a:t>
            </a:r>
            <a:r>
              <a:rPr spc="-10" dirty="0"/>
              <a:t>Fundamentals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222375"/>
            <a:ext cx="7922259" cy="479615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6870" marR="5080" indent="-344805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b="1" i="1" spc="-10" dirty="0">
                <a:latin typeface="Calibri"/>
                <a:cs typeface="Calibri"/>
              </a:rPr>
              <a:t>Exception</a:t>
            </a:r>
            <a:r>
              <a:rPr sz="3000" i="1" spc="-10" dirty="0">
                <a:latin typeface="Calibri"/>
                <a:cs typeface="Calibri"/>
              </a:rPr>
              <a:t>:</a:t>
            </a:r>
            <a:r>
              <a:rPr sz="3000" i="1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abnormal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condition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arises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a </a:t>
            </a:r>
            <a:r>
              <a:rPr sz="3000" dirty="0">
                <a:latin typeface="Calibri"/>
                <a:cs typeface="Calibri"/>
              </a:rPr>
              <a:t>code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sequence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run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time/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run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error</a:t>
            </a:r>
            <a:endParaRPr sz="3000">
              <a:latin typeface="Calibri"/>
              <a:cs typeface="Calibri"/>
            </a:endParaRPr>
          </a:p>
          <a:p>
            <a:pPr marL="756285" marR="1249680" lvl="1" indent="-287020">
              <a:lnSpc>
                <a:spcPts val="25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Java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exception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describes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 </a:t>
            </a:r>
            <a:r>
              <a:rPr sz="2600" spc="-10" dirty="0">
                <a:latin typeface="Calibri"/>
                <a:cs typeface="Calibri"/>
              </a:rPr>
              <a:t>exceptional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error)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condition</a:t>
            </a:r>
            <a:endParaRPr sz="2600">
              <a:latin typeface="Calibri"/>
              <a:cs typeface="Calibri"/>
            </a:endParaRPr>
          </a:p>
          <a:p>
            <a:pPr marL="756285" marR="106680" lvl="1" indent="-287020">
              <a:lnSpc>
                <a:spcPts val="2500"/>
              </a:lnSpc>
              <a:spcBef>
                <a:spcPts val="62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When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exceptional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condition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arises,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 representing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exception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created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thrown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method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caused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error</a:t>
            </a:r>
            <a:endParaRPr sz="26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Exception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be</a:t>
            </a:r>
            <a:endParaRPr sz="3000">
              <a:latin typeface="Calibri"/>
              <a:cs typeface="Calibri"/>
            </a:endParaRPr>
          </a:p>
          <a:p>
            <a:pPr marL="756285" marR="204470" lvl="1" indent="-287020">
              <a:lnSpc>
                <a:spcPct val="8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generated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Java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run-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(relate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fundamental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violate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rules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Java </a:t>
            </a:r>
            <a:r>
              <a:rPr sz="2600" spc="-10" dirty="0">
                <a:latin typeface="Calibri"/>
                <a:cs typeface="Calibri"/>
              </a:rPr>
              <a:t>language)</a:t>
            </a:r>
            <a:endParaRPr sz="2600">
              <a:latin typeface="Calibri"/>
              <a:cs typeface="Calibri"/>
            </a:endParaRPr>
          </a:p>
          <a:p>
            <a:pPr marL="756285" marR="393065" lvl="1" indent="-287020">
              <a:lnSpc>
                <a:spcPct val="8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Manually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generated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(typically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report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some </a:t>
            </a:r>
            <a:r>
              <a:rPr sz="2600" dirty="0">
                <a:latin typeface="Calibri"/>
                <a:cs typeface="Calibri"/>
              </a:rPr>
              <a:t>error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condition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method)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Keywords</a:t>
            </a:r>
            <a:r>
              <a:rPr spc="-165" dirty="0"/>
              <a:t> </a:t>
            </a:r>
            <a:r>
              <a:rPr dirty="0"/>
              <a:t>for</a:t>
            </a:r>
            <a:r>
              <a:rPr spc="-165" dirty="0"/>
              <a:t> </a:t>
            </a:r>
            <a:r>
              <a:rPr spc="-20" dirty="0"/>
              <a:t>exception</a:t>
            </a:r>
            <a:r>
              <a:rPr spc="-135" dirty="0"/>
              <a:t> </a:t>
            </a:r>
            <a:r>
              <a:rPr spc="-1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265047"/>
            <a:ext cx="7939405" cy="48666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6870" marR="166370" indent="-344805">
              <a:lnSpc>
                <a:spcPts val="2910"/>
              </a:lnSpc>
              <a:spcBef>
                <a:spcPts val="484"/>
              </a:spcBef>
              <a:buFont typeface="Arial MT"/>
              <a:buChar char="•"/>
              <a:tabLst>
                <a:tab pos="356870" algn="l"/>
                <a:tab pos="1737995" algn="l"/>
              </a:tabLst>
            </a:pPr>
            <a:r>
              <a:rPr sz="2700" b="1" dirty="0">
                <a:latin typeface="Calibri"/>
                <a:cs typeface="Calibri"/>
              </a:rPr>
              <a:t>try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block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contains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statements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be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monitored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exceptions</a:t>
            </a:r>
            <a:endParaRPr sz="2700">
              <a:latin typeface="Calibri"/>
              <a:cs typeface="Calibri"/>
            </a:endParaRPr>
          </a:p>
          <a:p>
            <a:pPr marL="823594" lvl="1" indent="-353695">
              <a:lnSpc>
                <a:spcPct val="100000"/>
              </a:lnSpc>
              <a:spcBef>
                <a:spcPts val="275"/>
              </a:spcBef>
              <a:buFont typeface="Arial MT"/>
              <a:buChar char="–"/>
              <a:tabLst>
                <a:tab pos="823594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exception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thrown</a:t>
            </a:r>
            <a:endParaRPr sz="2400">
              <a:latin typeface="Calibri"/>
              <a:cs typeface="Calibri"/>
            </a:endParaRPr>
          </a:p>
          <a:p>
            <a:pPr marL="356870" marR="831215" indent="-344805">
              <a:lnSpc>
                <a:spcPts val="2900"/>
              </a:lnSpc>
              <a:spcBef>
                <a:spcPts val="685"/>
              </a:spcBef>
              <a:buFont typeface="Arial MT"/>
              <a:buChar char="•"/>
              <a:tabLst>
                <a:tab pos="356870" algn="l"/>
                <a:tab pos="4814570" algn="l"/>
              </a:tabLst>
            </a:pPr>
            <a:r>
              <a:rPr sz="2700" b="1" dirty="0">
                <a:latin typeface="Calibri"/>
                <a:cs typeface="Calibri"/>
              </a:rPr>
              <a:t>catch</a:t>
            </a:r>
            <a:r>
              <a:rPr sz="2700" b="1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block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contain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statements</a:t>
            </a:r>
            <a:r>
              <a:rPr sz="2700" dirty="0">
                <a:latin typeface="Calibri"/>
                <a:cs typeface="Calibri"/>
              </a:rPr>
              <a:t>	that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catch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this </a:t>
            </a:r>
            <a:r>
              <a:rPr sz="2700" spc="-10" dirty="0">
                <a:latin typeface="Calibri"/>
                <a:cs typeface="Calibri"/>
              </a:rPr>
              <a:t>exception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handle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some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rational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manner</a:t>
            </a:r>
            <a:endParaRPr sz="2700">
              <a:latin typeface="Calibri"/>
              <a:cs typeface="Calibri"/>
            </a:endParaRPr>
          </a:p>
          <a:p>
            <a:pPr marL="754380" marR="5080" lvl="1" indent="-285115">
              <a:lnSpc>
                <a:spcPts val="2590"/>
              </a:lnSpc>
              <a:spcBef>
                <a:spcPts val="61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spc="-25" dirty="0">
                <a:latin typeface="Calibri"/>
                <a:cs typeface="Calibri"/>
              </a:rPr>
              <a:t>System-</a:t>
            </a:r>
            <a:r>
              <a:rPr sz="2400" spc="-20" dirty="0">
                <a:latin typeface="Calibri"/>
                <a:cs typeface="Calibri"/>
              </a:rPr>
              <a:t>generated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exceptions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automatically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thrown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Java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runtime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356870" algn="l"/>
              </a:tabLst>
            </a:pPr>
            <a:r>
              <a:rPr sz="2700" b="1" dirty="0">
                <a:latin typeface="Calibri"/>
                <a:cs typeface="Calibri"/>
              </a:rPr>
              <a:t>throw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manually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throw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exception</a:t>
            </a:r>
            <a:endParaRPr sz="2700">
              <a:latin typeface="Calibri"/>
              <a:cs typeface="Calibri"/>
            </a:endParaRPr>
          </a:p>
          <a:p>
            <a:pPr marL="356870" marR="167640" indent="-344805">
              <a:lnSpc>
                <a:spcPts val="293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2457450" algn="l"/>
              </a:tabLst>
            </a:pPr>
            <a:r>
              <a:rPr sz="2700" b="1" dirty="0">
                <a:latin typeface="Calibri"/>
                <a:cs typeface="Calibri"/>
              </a:rPr>
              <a:t>throws</a:t>
            </a:r>
            <a:r>
              <a:rPr sz="2700" b="1" spc="-10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clause</a:t>
            </a:r>
            <a:r>
              <a:rPr sz="2700" dirty="0">
                <a:latin typeface="Calibri"/>
                <a:cs typeface="Calibri"/>
              </a:rPr>
              <a:t>	is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used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specify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any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exception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is </a:t>
            </a:r>
            <a:r>
              <a:rPr sz="2700" dirty="0">
                <a:latin typeface="Calibri"/>
                <a:cs typeface="Calibri"/>
              </a:rPr>
              <a:t>thrown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out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method</a:t>
            </a:r>
            <a:endParaRPr sz="2700">
              <a:latin typeface="Calibri"/>
              <a:cs typeface="Calibri"/>
            </a:endParaRPr>
          </a:p>
          <a:p>
            <a:pPr marL="356870" marR="450215" indent="-344805">
              <a:lnSpc>
                <a:spcPts val="2930"/>
              </a:lnSpc>
              <a:spcBef>
                <a:spcPts val="620"/>
              </a:spcBef>
              <a:buFont typeface="Arial MT"/>
              <a:buChar char="•"/>
              <a:tabLst>
                <a:tab pos="356870" algn="l"/>
                <a:tab pos="2207260" algn="l"/>
              </a:tabLst>
            </a:pPr>
            <a:r>
              <a:rPr sz="2700" b="1" dirty="0">
                <a:latin typeface="Calibri"/>
                <a:cs typeface="Calibri"/>
              </a:rPr>
              <a:t>finally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block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contains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code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absolutely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must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be </a:t>
            </a:r>
            <a:r>
              <a:rPr sz="2700" spc="-20" dirty="0">
                <a:latin typeface="Calibri"/>
                <a:cs typeface="Calibri"/>
              </a:rPr>
              <a:t>executed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after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b="1" dirty="0">
                <a:latin typeface="Calibri"/>
                <a:cs typeface="Calibri"/>
              </a:rPr>
              <a:t>try</a:t>
            </a:r>
            <a:r>
              <a:rPr sz="2700" b="1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block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completes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526" y="190322"/>
            <a:ext cx="7984490" cy="1246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442335" marR="5080" indent="-343027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General</a:t>
            </a:r>
            <a:r>
              <a:rPr sz="4000" spc="-90" dirty="0"/>
              <a:t> </a:t>
            </a:r>
            <a:r>
              <a:rPr sz="4000" dirty="0"/>
              <a:t>form</a:t>
            </a:r>
            <a:r>
              <a:rPr sz="4000" spc="-30" dirty="0"/>
              <a:t> </a:t>
            </a:r>
            <a:r>
              <a:rPr sz="4000" dirty="0"/>
              <a:t>of</a:t>
            </a:r>
            <a:r>
              <a:rPr sz="4000" spc="-40" dirty="0"/>
              <a:t> </a:t>
            </a:r>
            <a:r>
              <a:rPr sz="4000" dirty="0"/>
              <a:t>an</a:t>
            </a:r>
            <a:r>
              <a:rPr sz="4000" spc="-70" dirty="0"/>
              <a:t> </a:t>
            </a:r>
            <a:r>
              <a:rPr sz="4000" spc="-30" dirty="0"/>
              <a:t>exception-</a:t>
            </a:r>
            <a:r>
              <a:rPr sz="4000" spc="-10" dirty="0"/>
              <a:t>handling block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ourier New"/>
                <a:cs typeface="Courier New"/>
              </a:rPr>
              <a:t>try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//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block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code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monitor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errors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catch</a:t>
            </a:r>
            <a:r>
              <a:rPr sz="2000" b="1" spc="-10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(</a:t>
            </a:r>
            <a:r>
              <a:rPr sz="2000" i="1" dirty="0">
                <a:latin typeface="Courier New"/>
                <a:cs typeface="Courier New"/>
              </a:rPr>
              <a:t>ExceptionType1</a:t>
            </a:r>
            <a:r>
              <a:rPr sz="2000" i="1" spc="-95" dirty="0">
                <a:latin typeface="Courier New"/>
                <a:cs typeface="Courier New"/>
              </a:rPr>
              <a:t> </a:t>
            </a:r>
            <a:r>
              <a:rPr sz="2000" i="1" dirty="0">
                <a:latin typeface="Courier New"/>
                <a:cs typeface="Courier New"/>
              </a:rPr>
              <a:t>exOb</a:t>
            </a:r>
            <a:r>
              <a:rPr sz="2000" dirty="0">
                <a:latin typeface="Courier New"/>
                <a:cs typeface="Courier New"/>
              </a:rPr>
              <a:t>)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//</a:t>
            </a:r>
            <a:r>
              <a:rPr sz="2000" spc="-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exception</a:t>
            </a:r>
            <a:r>
              <a:rPr sz="2000" spc="-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handler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i="1" spc="-10" dirty="0">
                <a:latin typeface="Courier New"/>
                <a:cs typeface="Courier New"/>
              </a:rPr>
              <a:t>ExceptionType1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catch</a:t>
            </a:r>
            <a:r>
              <a:rPr sz="2000" b="1" spc="-10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(</a:t>
            </a:r>
            <a:r>
              <a:rPr sz="2000" i="1" dirty="0">
                <a:latin typeface="Courier New"/>
                <a:cs typeface="Courier New"/>
              </a:rPr>
              <a:t>ExceptionType2</a:t>
            </a:r>
            <a:r>
              <a:rPr sz="2000" i="1" spc="-95" dirty="0">
                <a:latin typeface="Courier New"/>
                <a:cs typeface="Courier New"/>
              </a:rPr>
              <a:t> </a:t>
            </a:r>
            <a:r>
              <a:rPr sz="2000" i="1" dirty="0">
                <a:latin typeface="Courier New"/>
                <a:cs typeface="Courier New"/>
              </a:rPr>
              <a:t>exOb</a:t>
            </a:r>
            <a:r>
              <a:rPr sz="2000" dirty="0">
                <a:latin typeface="Courier New"/>
                <a:cs typeface="Courier New"/>
              </a:rPr>
              <a:t>)</a:t>
            </a:r>
            <a:r>
              <a:rPr sz="2000" spc="-9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//</a:t>
            </a:r>
            <a:r>
              <a:rPr sz="2000" spc="-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exception</a:t>
            </a:r>
            <a:r>
              <a:rPr sz="2000" spc="-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handler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i="1" spc="-10" dirty="0">
                <a:latin typeface="Courier New"/>
                <a:cs typeface="Courier New"/>
              </a:rPr>
              <a:t>ExceptionType2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//</a:t>
            </a:r>
            <a:r>
              <a:rPr sz="2000" spc="-25" dirty="0">
                <a:latin typeface="Courier New"/>
                <a:cs typeface="Courier New"/>
              </a:rPr>
              <a:t> ...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finally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//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block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of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code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be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executed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after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try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block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ends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7264" y="464642"/>
            <a:ext cx="365125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Exception</a:t>
            </a:r>
            <a:r>
              <a:rPr spc="-200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240662"/>
            <a:ext cx="4706620" cy="49085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6870" marR="5080" indent="-344805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All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exception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types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subclasses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built-in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class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Throwable</a:t>
            </a:r>
            <a:endParaRPr sz="2500">
              <a:latin typeface="Calibri"/>
              <a:cs typeface="Calibri"/>
            </a:endParaRPr>
          </a:p>
          <a:p>
            <a:pPr marL="356870" marR="566420" indent="-344805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356870" algn="l"/>
              </a:tabLst>
            </a:pPr>
            <a:r>
              <a:rPr sz="2500" dirty="0">
                <a:latin typeface="Calibri"/>
                <a:cs typeface="Calibri"/>
              </a:rPr>
              <a:t>Below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Throwable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two </a:t>
            </a:r>
            <a:r>
              <a:rPr sz="2500" dirty="0">
                <a:latin typeface="Calibri"/>
                <a:cs typeface="Calibri"/>
              </a:rPr>
              <a:t>subclasses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partition exceptions</a:t>
            </a:r>
            <a:r>
              <a:rPr sz="2500" spc="-10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into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two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branches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Font typeface="Arial MT"/>
              <a:buChar char="•"/>
            </a:pPr>
            <a:endParaRPr sz="2500">
              <a:latin typeface="Calibri"/>
              <a:cs typeface="Calibri"/>
            </a:endParaRPr>
          </a:p>
          <a:p>
            <a:pPr marL="756285" marR="316230" lvl="1" indent="-287020">
              <a:lnSpc>
                <a:spcPts val="2110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b="1" spc="-10" dirty="0">
                <a:latin typeface="Calibri"/>
                <a:cs typeface="Calibri"/>
              </a:rPr>
              <a:t>Exception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exceptional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user </a:t>
            </a:r>
            <a:r>
              <a:rPr sz="2200" dirty="0">
                <a:latin typeface="Calibri"/>
                <a:cs typeface="Calibri"/>
              </a:rPr>
              <a:t>programs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catch</a:t>
            </a:r>
            <a:endParaRPr sz="2200">
              <a:latin typeface="Calibri"/>
              <a:cs typeface="Calibri"/>
            </a:endParaRPr>
          </a:p>
          <a:p>
            <a:pPr marL="227965" marR="101600" lvl="2" indent="-228600" algn="ctr">
              <a:lnSpc>
                <a:spcPts val="2050"/>
              </a:lnSpc>
              <a:spcBef>
                <a:spcPts val="35"/>
              </a:spcBef>
              <a:buFont typeface="Arial MT"/>
              <a:buChar char="•"/>
              <a:tabLst>
                <a:tab pos="227965" algn="l"/>
              </a:tabLst>
            </a:pPr>
            <a:r>
              <a:rPr sz="1900" spc="-10" dirty="0">
                <a:latin typeface="Calibri"/>
                <a:cs typeface="Calibri"/>
              </a:rPr>
              <a:t>RuntimeException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etc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are</a:t>
            </a:r>
            <a:endParaRPr sz="1900">
              <a:latin typeface="Calibri"/>
              <a:cs typeface="Calibri"/>
            </a:endParaRPr>
          </a:p>
          <a:p>
            <a:pPr marR="106045" algn="ctr">
              <a:lnSpc>
                <a:spcPts val="2050"/>
              </a:lnSpc>
            </a:pPr>
            <a:r>
              <a:rPr sz="1900" dirty="0">
                <a:latin typeface="Calibri"/>
                <a:cs typeface="Calibri"/>
              </a:rPr>
              <a:t>subclasses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Exception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900">
              <a:latin typeface="Calibri"/>
              <a:cs typeface="Calibri"/>
            </a:endParaRPr>
          </a:p>
          <a:p>
            <a:pPr marL="756285" marR="227329" lvl="1" indent="-287020">
              <a:lnSpc>
                <a:spcPct val="80000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b="1" dirty="0">
                <a:latin typeface="Calibri"/>
                <a:cs typeface="Calibri"/>
              </a:rPr>
              <a:t>Error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Java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run-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indicate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errors </a:t>
            </a:r>
            <a:r>
              <a:rPr sz="2200" dirty="0">
                <a:latin typeface="Calibri"/>
                <a:cs typeface="Calibri"/>
              </a:rPr>
              <a:t>having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run-</a:t>
            </a:r>
            <a:r>
              <a:rPr sz="2200" spc="-20" dirty="0">
                <a:latin typeface="Calibri"/>
                <a:cs typeface="Calibri"/>
              </a:rPr>
              <a:t>time </a:t>
            </a:r>
            <a:r>
              <a:rPr sz="2200" spc="-10" dirty="0">
                <a:latin typeface="Calibri"/>
                <a:cs typeface="Calibri"/>
              </a:rPr>
              <a:t>environment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Stack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overflow)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6766" y="2386712"/>
            <a:ext cx="3696163" cy="261852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7015">
              <a:lnSpc>
                <a:spcPct val="100000"/>
              </a:lnSpc>
              <a:spcBef>
                <a:spcPts val="95"/>
              </a:spcBef>
            </a:pPr>
            <a:r>
              <a:rPr dirty="0"/>
              <a:t>Uncaught</a:t>
            </a:r>
            <a:r>
              <a:rPr spc="-229" dirty="0"/>
              <a:t> </a:t>
            </a:r>
            <a:r>
              <a:rPr spc="-10" dirty="0"/>
              <a:t>Exceptions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258951"/>
            <a:ext cx="7657465" cy="44138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6870" marR="5080" indent="-344805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Uncaught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exception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:caught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default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handler</a:t>
            </a:r>
            <a:r>
              <a:rPr sz="30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(provided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Java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run-time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system) </a:t>
            </a:r>
            <a:r>
              <a:rPr sz="3000" spc="-20" dirty="0">
                <a:latin typeface="Calibri"/>
                <a:cs typeface="Calibri"/>
              </a:rPr>
              <a:t>that</a:t>
            </a:r>
            <a:endParaRPr sz="3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displays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describing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exception</a:t>
            </a:r>
            <a:endParaRPr sz="2600">
              <a:latin typeface="Calibri"/>
              <a:cs typeface="Calibri"/>
            </a:endParaRPr>
          </a:p>
          <a:p>
            <a:pPr marL="756285" marR="612140" lvl="1" indent="-287020">
              <a:lnSpc>
                <a:spcPts val="281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prints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stack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trace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exception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occurred</a:t>
            </a:r>
            <a:endParaRPr sz="26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terminates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600">
              <a:latin typeface="Calibri"/>
              <a:cs typeface="Calibri"/>
            </a:endParaRPr>
          </a:p>
          <a:p>
            <a:pPr marL="2088514" marR="544830" indent="-1122045">
              <a:lnSpc>
                <a:spcPct val="110100"/>
              </a:lnSpc>
            </a:pP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java.lang.ArithmeticException:</a:t>
            </a:r>
            <a:r>
              <a:rPr sz="30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3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zero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3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Exc0.main(Exc0.java:4)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4448" y="211074"/>
            <a:ext cx="43624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try</a:t>
            </a:r>
            <a:r>
              <a:rPr spc="-5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catch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176654"/>
            <a:ext cx="7537450" cy="4827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</a:tabLst>
            </a:pPr>
            <a:r>
              <a:rPr sz="2100" spc="-10" dirty="0">
                <a:latin typeface="Calibri"/>
                <a:cs typeface="Calibri"/>
              </a:rPr>
              <a:t>Exception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handling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benefits</a:t>
            </a:r>
            <a:endParaRPr sz="21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100" dirty="0">
                <a:latin typeface="Calibri"/>
                <a:cs typeface="Calibri"/>
              </a:rPr>
              <a:t>allows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you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fix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error</a:t>
            </a:r>
            <a:endParaRPr sz="2100">
              <a:latin typeface="Calibri"/>
              <a:cs typeface="Calibri"/>
            </a:endParaRPr>
          </a:p>
          <a:p>
            <a:pPr marL="756285" lvl="1" indent="-286385">
              <a:lnSpc>
                <a:spcPts val="2515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sz="2100" dirty="0">
                <a:latin typeface="Calibri"/>
                <a:cs typeface="Calibri"/>
              </a:rPr>
              <a:t>prevents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program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from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automatically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terminating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155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Exc2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d,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a;</a:t>
            </a:r>
            <a:endParaRPr sz="1800">
              <a:latin typeface="Courier New"/>
              <a:cs typeface="Courier New"/>
            </a:endParaRPr>
          </a:p>
          <a:p>
            <a:pPr marL="969644" marR="2462530" indent="-40894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monitor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block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of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code.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d</a:t>
            </a:r>
            <a:r>
              <a:rPr sz="18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0;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42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System.out.println("This</a:t>
            </a:r>
            <a:r>
              <a:rPr sz="1800" spc="-1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will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not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be</a:t>
            </a:r>
            <a:r>
              <a:rPr sz="1800" spc="-1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printed.");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8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(ArithmeticException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24396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divide-by-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zero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error</a:t>
            </a:r>
            <a:endParaRPr sz="1800">
              <a:latin typeface="Courier New"/>
              <a:cs typeface="Courier New"/>
            </a:endParaRPr>
          </a:p>
          <a:p>
            <a:pPr marL="165227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System.out.println("Division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by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zero.");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System.out.println("After</a:t>
            </a:r>
            <a:r>
              <a:rPr sz="1800" spc="-1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800" spc="-1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statement.");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4448" y="211074"/>
            <a:ext cx="43624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try</a:t>
            </a:r>
            <a:r>
              <a:rPr spc="-5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catch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170558"/>
            <a:ext cx="7537450" cy="39776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Exc2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61340" marR="1778635" indent="-274320">
              <a:lnSpc>
                <a:spcPts val="2590"/>
              </a:lnSpc>
              <a:spcBef>
                <a:spcPts val="16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8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d,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a;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28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monitor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block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of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code.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d</a:t>
            </a:r>
            <a:r>
              <a:rPr sz="18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0;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42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d;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System.out.println("This</a:t>
            </a:r>
            <a:r>
              <a:rPr sz="1800" spc="-1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will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not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be</a:t>
            </a:r>
            <a:r>
              <a:rPr sz="1800" spc="-1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printed.");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8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(ArithmeticException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243965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8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divide-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by-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zero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error</a:t>
            </a:r>
            <a:endParaRPr sz="1800">
              <a:latin typeface="Courier New"/>
              <a:cs typeface="Courier New"/>
            </a:endParaRPr>
          </a:p>
          <a:p>
            <a:pPr marL="165227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System.out.println("Division</a:t>
            </a:r>
            <a:r>
              <a:rPr sz="1800" spc="-1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by</a:t>
            </a:r>
            <a:r>
              <a:rPr sz="1800" spc="-1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zero.");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434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System.out.println("After</a:t>
            </a:r>
            <a:r>
              <a:rPr sz="1800" spc="-1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800" spc="-1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statement.");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4364" y="5177154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044" y="550661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19800" y="5257800"/>
            <a:ext cx="2276475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54"/>
              </a:spcBef>
            </a:pP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Division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zero.</a:t>
            </a:r>
            <a:endParaRPr sz="1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catch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statement.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055" y="266141"/>
            <a:ext cx="39363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Another</a:t>
            </a:r>
            <a:r>
              <a:rPr spc="-1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033398"/>
            <a:ext cx="7400925" cy="524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9969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Handle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an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exception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and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move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on.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import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java.util.Random;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8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HandleError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69644" marR="1504950" indent="-5461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8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{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a=0,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b=0,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c=0;</a:t>
            </a:r>
            <a:endParaRPr sz="1800">
              <a:latin typeface="Courier New"/>
              <a:cs typeface="Courier New"/>
            </a:endParaRPr>
          </a:p>
          <a:p>
            <a:pPr marL="969644" marR="259905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Random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Random();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for(int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i=0;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i&lt;32000;</a:t>
            </a:r>
            <a:r>
              <a:rPr sz="18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i++)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38112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r.nextInt();</a:t>
            </a:r>
            <a:endParaRPr sz="1800">
              <a:latin typeface="Courier New"/>
              <a:cs typeface="Courier New"/>
            </a:endParaRPr>
          </a:p>
          <a:p>
            <a:pPr marL="138112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r.nextInt();</a:t>
            </a:r>
            <a:endParaRPr sz="1800">
              <a:latin typeface="Courier New"/>
              <a:cs typeface="Courier New"/>
            </a:endParaRPr>
          </a:p>
          <a:p>
            <a:pPr marL="13811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12345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(b/c);</a:t>
            </a:r>
            <a:endParaRPr sz="1800">
              <a:latin typeface="Courier New"/>
              <a:cs typeface="Courier New"/>
            </a:endParaRPr>
          </a:p>
          <a:p>
            <a:pPr marL="1927225" marR="5080" indent="-95758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(ArithmeticException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System.out.println("Division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by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zero.");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0;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set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to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zero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and</a:t>
            </a:r>
            <a:r>
              <a:rPr sz="18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continue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System.out.println("a:</a:t>
            </a:r>
            <a:r>
              <a:rPr sz="18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8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8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a);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5617" y="190322"/>
            <a:ext cx="6114415" cy="1246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49145" marR="5080" indent="-2037080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Displaying</a:t>
            </a:r>
            <a:r>
              <a:rPr sz="4000" spc="-110" dirty="0"/>
              <a:t> </a:t>
            </a:r>
            <a:r>
              <a:rPr sz="4000" dirty="0"/>
              <a:t>a</a:t>
            </a:r>
            <a:r>
              <a:rPr sz="4000" spc="-60" dirty="0"/>
              <a:t> </a:t>
            </a:r>
            <a:r>
              <a:rPr sz="4000" dirty="0"/>
              <a:t>Description</a:t>
            </a:r>
            <a:r>
              <a:rPr sz="4000" spc="-90" dirty="0"/>
              <a:t> </a:t>
            </a:r>
            <a:r>
              <a:rPr sz="4000" dirty="0"/>
              <a:t>of</a:t>
            </a:r>
            <a:r>
              <a:rPr sz="4000" spc="-40" dirty="0"/>
              <a:t> </a:t>
            </a:r>
            <a:r>
              <a:rPr sz="4000" spc="-25" dirty="0"/>
              <a:t>an </a:t>
            </a:r>
            <a:r>
              <a:rPr sz="4000" spc="-10" dirty="0"/>
              <a:t>Exception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731125" cy="2948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Throwable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overrides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toString(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)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method 	</a:t>
            </a:r>
            <a:r>
              <a:rPr sz="3200" dirty="0">
                <a:latin typeface="Calibri"/>
                <a:cs typeface="Calibri"/>
              </a:rPr>
              <a:t>(defined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Object</a:t>
            </a:r>
            <a:r>
              <a:rPr sz="3200" dirty="0">
                <a:latin typeface="Calibri"/>
                <a:cs typeface="Calibri"/>
              </a:rPr>
              <a:t>)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returns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string 	</a:t>
            </a:r>
            <a:r>
              <a:rPr sz="3200" dirty="0">
                <a:latin typeface="Calibri"/>
                <a:cs typeface="Calibri"/>
              </a:rPr>
              <a:t>containing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description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exception</a:t>
            </a:r>
            <a:endParaRPr sz="3200">
              <a:latin typeface="Calibri"/>
              <a:cs typeface="Calibri"/>
            </a:endParaRPr>
          </a:p>
          <a:p>
            <a:pPr marL="41148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2000" spc="-1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(ArithmeticException</a:t>
            </a:r>
            <a:r>
              <a:rPr sz="2000" spc="-9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2000" spc="-1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1148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System.out.println("Exception: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e);</a:t>
            </a:r>
            <a:endParaRPr sz="2000">
              <a:latin typeface="Courier New"/>
              <a:cs typeface="Courier New"/>
            </a:endParaRPr>
          </a:p>
          <a:p>
            <a:pPr marL="102171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20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0;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set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zero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and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continue</a:t>
            </a:r>
            <a:endParaRPr sz="2000">
              <a:latin typeface="Courier New"/>
              <a:cs typeface="Courier New"/>
            </a:endParaRPr>
          </a:p>
          <a:p>
            <a:pPr marL="41148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4200" y="5123764"/>
            <a:ext cx="4938395" cy="646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Exception: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java.lang.ArithmeticException: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zero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43025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180" dirty="0"/>
              <a:t> </a:t>
            </a:r>
            <a:r>
              <a:rPr dirty="0"/>
              <a:t>catch</a:t>
            </a:r>
            <a:r>
              <a:rPr spc="-160" dirty="0"/>
              <a:t> </a:t>
            </a:r>
            <a:r>
              <a:rPr spc="-10" dirty="0"/>
              <a:t>Clauses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63700"/>
            <a:ext cx="7860030" cy="44513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6870" marR="591185" indent="-344805">
              <a:lnSpc>
                <a:spcPts val="3240"/>
              </a:lnSpc>
              <a:spcBef>
                <a:spcPts val="509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Use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when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more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exception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could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be </a:t>
            </a:r>
            <a:r>
              <a:rPr sz="3000" dirty="0">
                <a:latin typeface="Calibri"/>
                <a:cs typeface="Calibri"/>
              </a:rPr>
              <a:t>raised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by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single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piece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code</a:t>
            </a:r>
            <a:endParaRPr sz="3000">
              <a:latin typeface="Calibri"/>
              <a:cs typeface="Calibri"/>
            </a:endParaRPr>
          </a:p>
          <a:p>
            <a:pPr marL="356870" marR="5080" indent="-344805">
              <a:lnSpc>
                <a:spcPct val="9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When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exception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thrown,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catch </a:t>
            </a:r>
            <a:r>
              <a:rPr sz="3000" spc="-10" dirty="0">
                <a:latin typeface="Calibri"/>
                <a:cs typeface="Calibri"/>
              </a:rPr>
              <a:t>statement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inspected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40" dirty="0">
                <a:latin typeface="Calibri"/>
                <a:cs typeface="Calibri"/>
              </a:rPr>
              <a:t>order,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first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one </a:t>
            </a:r>
            <a:r>
              <a:rPr sz="3000" dirty="0">
                <a:latin typeface="Calibri"/>
                <a:cs typeface="Calibri"/>
              </a:rPr>
              <a:t>whose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type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matches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exception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is </a:t>
            </a:r>
            <a:r>
              <a:rPr sz="3000" spc="-10" dirty="0">
                <a:latin typeface="Calibri"/>
                <a:cs typeface="Calibri"/>
              </a:rPr>
              <a:t>executed</a:t>
            </a:r>
            <a:endParaRPr sz="3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All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bypassed</a:t>
            </a:r>
            <a:endParaRPr sz="26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execution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continues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after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try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/</a:t>
            </a:r>
            <a:r>
              <a:rPr sz="2600" b="1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catch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block</a:t>
            </a:r>
            <a:endParaRPr sz="2600">
              <a:latin typeface="Calibri"/>
              <a:cs typeface="Calibri"/>
            </a:endParaRPr>
          </a:p>
          <a:p>
            <a:pPr marL="356870" marR="133985" indent="-344805">
              <a:lnSpc>
                <a:spcPct val="89800"/>
              </a:lnSpc>
              <a:spcBef>
                <a:spcPts val="535"/>
              </a:spcBef>
              <a:buFont typeface="Arial MT"/>
              <a:buChar char="•"/>
              <a:tabLst>
                <a:tab pos="356870" algn="l"/>
              </a:tabLst>
            </a:pPr>
            <a:r>
              <a:rPr sz="2000" dirty="0">
                <a:latin typeface="Calibri"/>
                <a:cs typeface="Calibri"/>
              </a:rPr>
              <a:t>NOTE: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exception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subclasses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before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superclasses </a:t>
            </a: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catch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statement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superclass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catch exceptions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plus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subclasses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155" dirty="0"/>
              <a:t> </a:t>
            </a:r>
            <a:r>
              <a:rPr dirty="0"/>
              <a:t>catch</a:t>
            </a:r>
            <a:r>
              <a:rPr spc="-125" dirty="0"/>
              <a:t> </a:t>
            </a:r>
            <a:r>
              <a:rPr dirty="0"/>
              <a:t>Clauses</a:t>
            </a:r>
            <a:r>
              <a:rPr spc="-175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185798"/>
            <a:ext cx="6992620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8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MultipleCatches</a:t>
            </a:r>
            <a:r>
              <a:rPr sz="18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800" spc="-9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61340" marR="219075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args.length;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System.out.println("a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8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a);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42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a;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c[]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sz="18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c[42]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8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99;</a:t>
            </a:r>
            <a:endParaRPr sz="1800">
              <a:latin typeface="Courier New"/>
              <a:cs typeface="Courier New"/>
            </a:endParaRPr>
          </a:p>
          <a:p>
            <a:pPr marL="835660" marR="691515" indent="-549275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catch(ArithmeticException</a:t>
            </a:r>
            <a:r>
              <a:rPr sz="1800" spc="-9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System.out.println("Divide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by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0:</a:t>
            </a:r>
            <a:r>
              <a:rPr sz="18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e);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catch(ArrayIndexOutOfBoundsException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System.out.println("Array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index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oob:</a:t>
            </a:r>
            <a:r>
              <a:rPr sz="1800" spc="-1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e);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System.out.println("After</a:t>
            </a:r>
            <a:r>
              <a:rPr sz="1800" spc="-1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try/catch</a:t>
            </a:r>
            <a:r>
              <a:rPr sz="1800" spc="-1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blocks.");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155" dirty="0"/>
              <a:t> </a:t>
            </a:r>
            <a:r>
              <a:rPr dirty="0"/>
              <a:t>catch</a:t>
            </a:r>
            <a:r>
              <a:rPr spc="-125" dirty="0"/>
              <a:t> </a:t>
            </a:r>
            <a:r>
              <a:rPr dirty="0"/>
              <a:t>Clauses</a:t>
            </a:r>
            <a:r>
              <a:rPr spc="-175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600136"/>
            <a:ext cx="8229600" cy="4526280"/>
          </a:xfrm>
          <a:custGeom>
            <a:avLst/>
            <a:gdLst/>
            <a:ahLst/>
            <a:cxnLst/>
            <a:rect l="l" t="t" r="r" b="b"/>
            <a:pathLst>
              <a:path w="8229600" h="4526280">
                <a:moveTo>
                  <a:pt x="0" y="4526026"/>
                </a:moveTo>
                <a:lnTo>
                  <a:pt x="8229600" y="4526026"/>
                </a:lnTo>
                <a:lnTo>
                  <a:pt x="8229600" y="0"/>
                </a:lnTo>
                <a:lnTo>
                  <a:pt x="0" y="0"/>
                </a:lnTo>
                <a:lnTo>
                  <a:pt x="0" y="452602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6244" y="1536268"/>
            <a:ext cx="7258684" cy="44735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b="1" spc="-10" dirty="0">
                <a:latin typeface="Calibri"/>
                <a:cs typeface="Calibri"/>
              </a:rPr>
              <a:t>OUTPUT</a:t>
            </a:r>
            <a:endParaRPr sz="2700">
              <a:latin typeface="Calibri"/>
              <a:cs typeface="Calibri"/>
            </a:endParaRPr>
          </a:p>
          <a:p>
            <a:pPr marL="12700" marR="3762375">
              <a:lnSpc>
                <a:spcPct val="100000"/>
              </a:lnSpc>
              <a:spcBef>
                <a:spcPts val="3240"/>
              </a:spcBef>
            </a:pPr>
            <a:r>
              <a:rPr sz="2700" dirty="0">
                <a:latin typeface="Calibri"/>
                <a:cs typeface="Calibri"/>
              </a:rPr>
              <a:t>C:\&gt;java</a:t>
            </a:r>
            <a:r>
              <a:rPr sz="2700" spc="-1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MultipleCatches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= </a:t>
            </a:r>
            <a:r>
              <a:rPr sz="2700" spc="-50" dirty="0">
                <a:latin typeface="Calibri"/>
                <a:cs typeface="Calibri"/>
              </a:rPr>
              <a:t>0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700" dirty="0">
                <a:latin typeface="Calibri"/>
                <a:cs typeface="Calibri"/>
              </a:rPr>
              <a:t>Divide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0: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java.lang.ArithmeticException: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/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zero </a:t>
            </a:r>
            <a:r>
              <a:rPr sz="2700" dirty="0">
                <a:latin typeface="Calibri"/>
                <a:cs typeface="Calibri"/>
              </a:rPr>
              <a:t>After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try/catch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blocks.</a:t>
            </a:r>
            <a:endParaRPr sz="2700">
              <a:latin typeface="Calibri"/>
              <a:cs typeface="Calibri"/>
            </a:endParaRPr>
          </a:p>
          <a:p>
            <a:pPr marL="12700" marR="2667635">
              <a:lnSpc>
                <a:spcPct val="100000"/>
              </a:lnSpc>
            </a:pPr>
            <a:r>
              <a:rPr sz="2700" dirty="0">
                <a:latin typeface="Calibri"/>
                <a:cs typeface="Calibri"/>
              </a:rPr>
              <a:t>C:\&gt;java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MultipleCatches</a:t>
            </a:r>
            <a:r>
              <a:rPr sz="2700" spc="-1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TestArg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= </a:t>
            </a:r>
            <a:r>
              <a:rPr sz="2700" spc="-50" dirty="0">
                <a:latin typeface="Calibri"/>
                <a:cs typeface="Calibri"/>
              </a:rPr>
              <a:t>1</a:t>
            </a:r>
            <a:endParaRPr sz="2700">
              <a:latin typeface="Calibri"/>
              <a:cs typeface="Calibri"/>
            </a:endParaRPr>
          </a:p>
          <a:p>
            <a:pPr marL="12700" marR="727075">
              <a:lnSpc>
                <a:spcPct val="90000"/>
              </a:lnSpc>
              <a:spcBef>
                <a:spcPts val="325"/>
              </a:spcBef>
            </a:pPr>
            <a:r>
              <a:rPr sz="2700" dirty="0">
                <a:latin typeface="Calibri"/>
                <a:cs typeface="Calibri"/>
              </a:rPr>
              <a:t>Array</a:t>
            </a:r>
            <a:r>
              <a:rPr sz="2700" spc="-1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index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oob: </a:t>
            </a:r>
            <a:r>
              <a:rPr sz="2700" spc="-10" dirty="0">
                <a:latin typeface="Calibri"/>
                <a:cs typeface="Calibri"/>
              </a:rPr>
              <a:t>java.lang.ArrayIndexOutOfBoundsException:42 </a:t>
            </a:r>
            <a:r>
              <a:rPr sz="2700" dirty="0">
                <a:latin typeface="Calibri"/>
                <a:cs typeface="Calibri"/>
              </a:rPr>
              <a:t>After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try/catch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blocks.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1915">
              <a:lnSpc>
                <a:spcPct val="100000"/>
              </a:lnSpc>
              <a:spcBef>
                <a:spcPts val="95"/>
              </a:spcBef>
            </a:pPr>
            <a:r>
              <a:rPr dirty="0"/>
              <a:t>Nested</a:t>
            </a:r>
            <a:r>
              <a:rPr spc="-120" dirty="0"/>
              <a:t> </a:t>
            </a:r>
            <a:r>
              <a:rPr dirty="0"/>
              <a:t>try</a:t>
            </a:r>
            <a:r>
              <a:rPr spc="-125" dirty="0"/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231518"/>
            <a:ext cx="8016240" cy="4391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try</a:t>
            </a:r>
            <a:r>
              <a:rPr sz="2700" b="1" spc="-2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statement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inside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block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another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try</a:t>
            </a:r>
            <a:endParaRPr sz="2700">
              <a:latin typeface="Calibri"/>
              <a:cs typeface="Calibri"/>
            </a:endParaRPr>
          </a:p>
          <a:p>
            <a:pPr marL="356870" marR="501650" indent="-344805">
              <a:lnSpc>
                <a:spcPct val="80000"/>
              </a:lnSpc>
              <a:spcBef>
                <a:spcPts val="650"/>
              </a:spcBef>
              <a:buFont typeface="Arial MT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Each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try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statement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entered,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context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of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exception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pushed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stack</a:t>
            </a:r>
            <a:endParaRPr sz="2700">
              <a:latin typeface="Calibri"/>
              <a:cs typeface="Calibri"/>
            </a:endParaRPr>
          </a:p>
          <a:p>
            <a:pPr marL="356870" marR="5080" indent="-344805">
              <a:lnSpc>
                <a:spcPct val="80000"/>
              </a:lnSpc>
              <a:spcBef>
                <a:spcPts val="650"/>
              </a:spcBef>
              <a:buFont typeface="Arial MT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If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inner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try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statement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does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not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have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catch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handler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particular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exception,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stack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unwound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and</a:t>
            </a:r>
            <a:r>
              <a:rPr sz="2700" spc="6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next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try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statement’s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catch</a:t>
            </a:r>
            <a:r>
              <a:rPr sz="2700" b="1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handlers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inspected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match</a:t>
            </a:r>
            <a:endParaRPr sz="2700">
              <a:latin typeface="Calibri"/>
              <a:cs typeface="Calibri"/>
            </a:endParaRPr>
          </a:p>
          <a:p>
            <a:pPr marL="356870" marR="265430" indent="-344805">
              <a:lnSpc>
                <a:spcPct val="80000"/>
              </a:lnSpc>
              <a:spcBef>
                <a:spcPts val="650"/>
              </a:spcBef>
              <a:buFont typeface="Arial MT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This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continues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until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catch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statements </a:t>
            </a:r>
            <a:r>
              <a:rPr sz="2700" dirty="0">
                <a:latin typeface="Calibri"/>
                <a:cs typeface="Calibri"/>
              </a:rPr>
              <a:t>succeeds,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until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nested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try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statements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are </a:t>
            </a:r>
            <a:r>
              <a:rPr sz="2700" spc="-10" dirty="0">
                <a:latin typeface="Calibri"/>
                <a:cs typeface="Calibri"/>
              </a:rPr>
              <a:t>exhausted</a:t>
            </a:r>
            <a:endParaRPr sz="2700">
              <a:latin typeface="Calibri"/>
              <a:cs typeface="Calibri"/>
            </a:endParaRPr>
          </a:p>
          <a:p>
            <a:pPr marL="356870" marR="136525" indent="-344805">
              <a:lnSpc>
                <a:spcPts val="2590"/>
              </a:lnSpc>
              <a:spcBef>
                <a:spcPts val="630"/>
              </a:spcBef>
              <a:buFont typeface="Arial MT"/>
              <a:buChar char="•"/>
              <a:tabLst>
                <a:tab pos="356870" algn="l"/>
              </a:tabLst>
            </a:pPr>
            <a:r>
              <a:rPr sz="2700" dirty="0">
                <a:latin typeface="Calibri"/>
                <a:cs typeface="Calibri"/>
              </a:rPr>
              <a:t>If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no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catch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statement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matches,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Java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run-</a:t>
            </a:r>
            <a:r>
              <a:rPr sz="2700" spc="-20" dirty="0">
                <a:latin typeface="Calibri"/>
                <a:cs typeface="Calibri"/>
              </a:rPr>
              <a:t>time </a:t>
            </a:r>
            <a:r>
              <a:rPr sz="2700" spc="-10" dirty="0">
                <a:latin typeface="Calibri"/>
                <a:cs typeface="Calibri"/>
              </a:rPr>
              <a:t>system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will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handle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exception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358" y="189941"/>
            <a:ext cx="74771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Nested</a:t>
            </a:r>
            <a:r>
              <a:rPr spc="-150" dirty="0"/>
              <a:t> </a:t>
            </a:r>
            <a:r>
              <a:rPr dirty="0"/>
              <a:t>try</a:t>
            </a:r>
            <a:r>
              <a:rPr spc="-135" dirty="0"/>
              <a:t> </a:t>
            </a:r>
            <a:r>
              <a:rPr spc="-20" dirty="0"/>
              <a:t>Statements</a:t>
            </a:r>
            <a:r>
              <a:rPr spc="-120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966038"/>
            <a:ext cx="8261984" cy="460184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5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NestTry</a:t>
            </a:r>
            <a:r>
              <a:rPr sz="15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244475" marR="3434079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5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5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5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5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585470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5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args.length;</a:t>
            </a:r>
            <a:endParaRPr sz="1500">
              <a:latin typeface="Courier New"/>
              <a:cs typeface="Courier New"/>
            </a:endParaRPr>
          </a:p>
          <a:p>
            <a:pPr marL="585470" marR="4121785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5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b</a:t>
            </a:r>
            <a:r>
              <a:rPr sz="15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5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42</a:t>
            </a:r>
            <a:r>
              <a:rPr sz="15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/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a;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System.out.println("a</a:t>
            </a:r>
            <a:r>
              <a:rPr sz="15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5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5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a);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nested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block</a:t>
            </a:r>
            <a:endParaRPr sz="1500">
              <a:latin typeface="Courier New"/>
              <a:cs typeface="Courier New"/>
            </a:endParaRPr>
          </a:p>
          <a:p>
            <a:pPr marL="930275" marR="117475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if(a==1)</a:t>
            </a:r>
            <a:r>
              <a:rPr sz="15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a/(a-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a);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one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command-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line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arg,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division</a:t>
            </a:r>
            <a:r>
              <a:rPr sz="15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by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zero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if(a==2)</a:t>
            </a:r>
            <a:r>
              <a:rPr sz="15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1271905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int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c[]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5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sz="15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1500">
              <a:latin typeface="Courier New"/>
              <a:cs typeface="Courier New"/>
            </a:endParaRPr>
          </a:p>
          <a:p>
            <a:pPr marL="1271905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c[42]</a:t>
            </a:r>
            <a:r>
              <a:rPr sz="15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99;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two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command-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line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args,</a:t>
            </a:r>
            <a:r>
              <a:rPr sz="15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out-of-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bounds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exception</a:t>
            </a:r>
            <a:endParaRPr sz="1500">
              <a:latin typeface="Courier New"/>
              <a:cs typeface="Courier New"/>
            </a:endParaRPr>
          </a:p>
          <a:p>
            <a:pPr marL="930275">
              <a:lnSpc>
                <a:spcPct val="100000"/>
              </a:lnSpc>
            </a:pP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701675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 catch(ArrayIndexOutOfBoundsException</a:t>
            </a:r>
            <a:r>
              <a:rPr sz="1500" spc="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5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1387475">
              <a:lnSpc>
                <a:spcPct val="100000"/>
              </a:lnSpc>
            </a:pP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System.out.println("Array</a:t>
            </a: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index</a:t>
            </a:r>
            <a:r>
              <a:rPr sz="15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out-</a:t>
            </a: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of-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bounds: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5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e);</a:t>
            </a:r>
            <a:endParaRPr sz="1500">
              <a:latin typeface="Courier New"/>
              <a:cs typeface="Courier New"/>
            </a:endParaRPr>
          </a:p>
          <a:p>
            <a:pPr marL="701675">
              <a:lnSpc>
                <a:spcPct val="100000"/>
              </a:lnSpc>
            </a:pP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356870">
              <a:lnSpc>
                <a:spcPct val="100000"/>
              </a:lnSpc>
            </a:pP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5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catch(ArithmeticException</a:t>
            </a:r>
            <a:r>
              <a:rPr sz="15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5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1271905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System.out.println("Divide</a:t>
            </a:r>
            <a:r>
              <a:rPr sz="15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by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0: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5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solidFill>
                  <a:srgbClr val="FF0000"/>
                </a:solidFill>
                <a:latin typeface="Courier New"/>
                <a:cs typeface="Courier New"/>
              </a:rPr>
              <a:t>e);</a:t>
            </a:r>
            <a:endParaRPr sz="1500">
              <a:latin typeface="Courier New"/>
              <a:cs typeface="Courier New"/>
            </a:endParaRPr>
          </a:p>
          <a:p>
            <a:pPr marL="356870">
              <a:lnSpc>
                <a:spcPct val="100000"/>
              </a:lnSpc>
            </a:pP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244475">
              <a:lnSpc>
                <a:spcPct val="100000"/>
              </a:lnSpc>
            </a:pP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128270">
              <a:lnSpc>
                <a:spcPct val="100000"/>
              </a:lnSpc>
            </a:pPr>
            <a:r>
              <a:rPr sz="15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358" y="189941"/>
            <a:ext cx="74771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Nested</a:t>
            </a:r>
            <a:r>
              <a:rPr spc="-150" dirty="0"/>
              <a:t> </a:t>
            </a:r>
            <a:r>
              <a:rPr dirty="0"/>
              <a:t>try</a:t>
            </a:r>
            <a:r>
              <a:rPr spc="-135" dirty="0"/>
              <a:t> </a:t>
            </a:r>
            <a:r>
              <a:rPr spc="-20" dirty="0"/>
              <a:t>Statements</a:t>
            </a:r>
            <a:r>
              <a:rPr spc="-120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1219136"/>
            <a:ext cx="8229600" cy="4526280"/>
          </a:xfrm>
          <a:custGeom>
            <a:avLst/>
            <a:gdLst/>
            <a:ahLst/>
            <a:cxnLst/>
            <a:rect l="l" t="t" r="r" b="b"/>
            <a:pathLst>
              <a:path w="8229600" h="4526280">
                <a:moveTo>
                  <a:pt x="0" y="4526026"/>
                </a:moveTo>
                <a:lnTo>
                  <a:pt x="8229600" y="4526026"/>
                </a:lnTo>
                <a:lnTo>
                  <a:pt x="8229600" y="0"/>
                </a:lnTo>
                <a:lnTo>
                  <a:pt x="0" y="0"/>
                </a:lnTo>
                <a:lnTo>
                  <a:pt x="0" y="452602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044" y="1164462"/>
            <a:ext cx="6729730" cy="421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0" dirty="0">
                <a:latin typeface="Calibri"/>
                <a:cs typeface="Calibri"/>
              </a:rPr>
              <a:t>OUTPUT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2500" dirty="0">
                <a:latin typeface="Calibri"/>
                <a:cs typeface="Calibri"/>
              </a:rPr>
              <a:t>C:\&gt;java</a:t>
            </a:r>
            <a:r>
              <a:rPr sz="2500" spc="-1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NestTry</a:t>
            </a:r>
            <a:endParaRPr sz="2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latin typeface="Calibri"/>
                <a:cs typeface="Calibri"/>
              </a:rPr>
              <a:t>Divide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0: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java.lang.ArithmeticException: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/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zero </a:t>
            </a:r>
            <a:r>
              <a:rPr sz="2500" dirty="0">
                <a:latin typeface="Calibri"/>
                <a:cs typeface="Calibri"/>
              </a:rPr>
              <a:t>C:\&gt;java</a:t>
            </a:r>
            <a:r>
              <a:rPr sz="2500" spc="-11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NestTry</a:t>
            </a:r>
            <a:r>
              <a:rPr sz="2500" spc="-12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One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latin typeface="Calibri"/>
                <a:cs typeface="Calibri"/>
              </a:rPr>
              <a:t>a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= </a:t>
            </a:r>
            <a:r>
              <a:rPr sz="2500" spc="-50" dirty="0">
                <a:latin typeface="Calibri"/>
                <a:cs typeface="Calibri"/>
              </a:rPr>
              <a:t>1</a:t>
            </a:r>
            <a:endParaRPr sz="2500">
              <a:latin typeface="Calibri"/>
              <a:cs typeface="Calibri"/>
            </a:endParaRPr>
          </a:p>
          <a:p>
            <a:pPr marL="12700" marR="5715">
              <a:lnSpc>
                <a:spcPct val="100000"/>
              </a:lnSpc>
            </a:pPr>
            <a:r>
              <a:rPr sz="2500" dirty="0">
                <a:latin typeface="Calibri"/>
                <a:cs typeface="Calibri"/>
              </a:rPr>
              <a:t>Divide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0: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java.lang.ArithmeticException: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/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zero </a:t>
            </a:r>
            <a:r>
              <a:rPr sz="2500" dirty="0">
                <a:latin typeface="Calibri"/>
                <a:cs typeface="Calibri"/>
              </a:rPr>
              <a:t>C:\&gt;java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NestTry</a:t>
            </a:r>
            <a:r>
              <a:rPr sz="2500" spc="-10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One</a:t>
            </a:r>
            <a:r>
              <a:rPr sz="2500" spc="-10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Two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latin typeface="Calibri"/>
                <a:cs typeface="Calibri"/>
              </a:rPr>
              <a:t>a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= </a:t>
            </a:r>
            <a:r>
              <a:rPr sz="2500" spc="-50" dirty="0">
                <a:latin typeface="Calibri"/>
                <a:cs typeface="Calibri"/>
              </a:rPr>
              <a:t>2</a:t>
            </a:r>
            <a:endParaRPr sz="2500">
              <a:latin typeface="Calibri"/>
              <a:cs typeface="Calibri"/>
            </a:endParaRPr>
          </a:p>
          <a:p>
            <a:pPr marL="12700" marR="676910">
              <a:lnSpc>
                <a:spcPct val="100000"/>
              </a:lnSpc>
            </a:pPr>
            <a:r>
              <a:rPr sz="2500" dirty="0">
                <a:latin typeface="Calibri"/>
                <a:cs typeface="Calibri"/>
              </a:rPr>
              <a:t>Array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index</a:t>
            </a:r>
            <a:r>
              <a:rPr sz="2500" spc="-114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out-of-</a:t>
            </a:r>
            <a:r>
              <a:rPr sz="2500" spc="-10" dirty="0">
                <a:latin typeface="Calibri"/>
                <a:cs typeface="Calibri"/>
              </a:rPr>
              <a:t>bounds: java.lang.ArrayIndexOutOfBoundsException:42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1373" y="464642"/>
            <a:ext cx="138430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throw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ts val="324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spc="-120" dirty="0"/>
              <a:t>To</a:t>
            </a:r>
            <a:r>
              <a:rPr spc="-45" dirty="0"/>
              <a:t> </a:t>
            </a:r>
            <a:r>
              <a:rPr dirty="0"/>
              <a:t>throw</a:t>
            </a:r>
            <a:r>
              <a:rPr spc="-55" dirty="0"/>
              <a:t> </a:t>
            </a:r>
            <a:r>
              <a:rPr dirty="0"/>
              <a:t>an</a:t>
            </a:r>
            <a:r>
              <a:rPr spc="-65" dirty="0"/>
              <a:t> </a:t>
            </a:r>
            <a:r>
              <a:rPr spc="-10" dirty="0"/>
              <a:t>exception</a:t>
            </a:r>
            <a:r>
              <a:rPr spc="-65" dirty="0"/>
              <a:t> </a:t>
            </a:r>
            <a:r>
              <a:rPr spc="-20" dirty="0"/>
              <a:t>explicitly,</a:t>
            </a:r>
            <a:r>
              <a:rPr spc="-75" dirty="0"/>
              <a:t> </a:t>
            </a:r>
            <a:r>
              <a:rPr dirty="0"/>
              <a:t>use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b="1" spc="-10" dirty="0">
                <a:latin typeface="Calibri"/>
                <a:cs typeface="Calibri"/>
              </a:rPr>
              <a:t>throw</a:t>
            </a:r>
          </a:p>
          <a:p>
            <a:pPr marL="356870">
              <a:lnSpc>
                <a:spcPts val="3240"/>
              </a:lnSpc>
            </a:pPr>
            <a:r>
              <a:rPr spc="-10" dirty="0"/>
              <a:t>statement</a:t>
            </a:r>
          </a:p>
          <a:p>
            <a:pPr marL="756285" lvl="1" indent="-286385">
              <a:lnSpc>
                <a:spcPts val="2810"/>
              </a:lnSpc>
              <a:spcBef>
                <a:spcPts val="2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flow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stops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immediately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after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throw</a:t>
            </a:r>
            <a:endParaRPr sz="2600">
              <a:latin typeface="Calibri"/>
              <a:cs typeface="Calibri"/>
            </a:endParaRPr>
          </a:p>
          <a:p>
            <a:pPr marL="756285">
              <a:lnSpc>
                <a:spcPts val="2810"/>
              </a:lnSpc>
            </a:pPr>
            <a:r>
              <a:rPr sz="2600" spc="-10" dirty="0"/>
              <a:t>statement</a:t>
            </a:r>
            <a:endParaRPr sz="2600"/>
          </a:p>
          <a:p>
            <a:pPr marL="756285" marR="5080" lvl="1" indent="-287020" algn="just">
              <a:lnSpc>
                <a:spcPct val="8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nearest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enclosing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try</a:t>
            </a:r>
            <a:r>
              <a:rPr sz="2600" b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inspected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has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catch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statement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matches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exception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control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transferred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statement</a:t>
            </a:r>
            <a:endParaRPr sz="2600">
              <a:latin typeface="Calibri"/>
              <a:cs typeface="Calibri"/>
            </a:endParaRPr>
          </a:p>
          <a:p>
            <a:pPr marL="756285" marR="161290" lvl="1" indent="-287020">
              <a:lnSpc>
                <a:spcPts val="25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No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match: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next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enclosing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try</a:t>
            </a:r>
            <a:r>
              <a:rPr sz="2600" b="1" spc="-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statement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inspected,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on</a:t>
            </a:r>
            <a:endParaRPr sz="2600">
              <a:latin typeface="Calibri"/>
              <a:cs typeface="Calibri"/>
            </a:endParaRPr>
          </a:p>
          <a:p>
            <a:pPr marL="756285" marR="363220" lvl="1" indent="-287020">
              <a:lnSpc>
                <a:spcPts val="2500"/>
              </a:lnSpc>
              <a:spcBef>
                <a:spcPts val="620"/>
              </a:spcBef>
              <a:buFont typeface="Arial MT"/>
              <a:buChar char="–"/>
              <a:tabLst>
                <a:tab pos="756285" algn="l"/>
                <a:tab pos="5979160" algn="l"/>
              </a:tabLst>
            </a:pPr>
            <a:r>
              <a:rPr sz="2600" dirty="0">
                <a:latin typeface="Calibri"/>
                <a:cs typeface="Calibri"/>
              </a:rPr>
              <a:t>no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matching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catch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found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block: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default exception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handler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halts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program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prints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stack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trace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2400" y="464642"/>
            <a:ext cx="37617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throw</a:t>
            </a:r>
            <a:r>
              <a:rPr spc="-170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185798"/>
            <a:ext cx="7538084" cy="496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ThrowDemo</a:t>
            </a:r>
            <a:r>
              <a:rPr sz="18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demoproc()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throw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NullPointerException("demo");</a:t>
            </a:r>
            <a:endParaRPr sz="1800">
              <a:latin typeface="Courier New"/>
              <a:cs typeface="Courier New"/>
            </a:endParaRPr>
          </a:p>
          <a:p>
            <a:pPr marL="1243965" marR="5080" indent="-68326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catch(NullPointerException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System.out.println("Caught</a:t>
            </a:r>
            <a:r>
              <a:rPr sz="18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inside</a:t>
            </a:r>
            <a:r>
              <a:rPr sz="1800" spc="-1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demoproc."); </a:t>
            </a:r>
            <a:r>
              <a:rPr sz="1800" dirty="0">
                <a:latin typeface="Courier New"/>
                <a:cs typeface="Courier New"/>
              </a:rPr>
              <a:t>throw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e;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rethrow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exception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8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566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demoproc();</a:t>
            </a:r>
            <a:endParaRPr sz="1800">
              <a:latin typeface="Courier New"/>
              <a:cs typeface="Courier New"/>
            </a:endParaRPr>
          </a:p>
          <a:p>
            <a:pPr marL="1106805" marR="1373505" indent="-68326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1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catch(NullPointerException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1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System.out.println("Recaught: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800" spc="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800" spc="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e);</a:t>
            </a:r>
            <a:endParaRPr sz="180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2400" y="464642"/>
            <a:ext cx="37617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throw</a:t>
            </a:r>
            <a:r>
              <a:rPr spc="-170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185798"/>
            <a:ext cx="7538084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ThrowDemo</a:t>
            </a:r>
            <a:r>
              <a:rPr sz="18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8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demoproc()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throw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new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NullPointerException("demo");</a:t>
            </a:r>
            <a:endParaRPr sz="1800">
              <a:latin typeface="Courier New"/>
              <a:cs typeface="Courier New"/>
            </a:endParaRPr>
          </a:p>
          <a:p>
            <a:pPr marL="1243965" marR="5080" indent="-68326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catch(NullPointerException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System.out.println("Caught</a:t>
            </a:r>
            <a:r>
              <a:rPr sz="18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inside</a:t>
            </a:r>
            <a:r>
              <a:rPr sz="1800" spc="-1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demoproc."); </a:t>
            </a:r>
            <a:r>
              <a:rPr sz="1800" dirty="0">
                <a:latin typeface="Courier New"/>
                <a:cs typeface="Courier New"/>
              </a:rPr>
              <a:t>throw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1800" dirty="0">
                <a:latin typeface="Courier New"/>
                <a:cs typeface="Courier New"/>
              </a:rPr>
              <a:t>;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//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rethrow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the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exception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8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8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8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8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8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83566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demoproc();</a:t>
            </a:r>
            <a:endParaRPr sz="1800">
              <a:latin typeface="Courier New"/>
              <a:cs typeface="Courier New"/>
            </a:endParaRPr>
          </a:p>
          <a:p>
            <a:pPr marL="42418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8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catch(NullPointerException</a:t>
            </a:r>
            <a:r>
              <a:rPr sz="18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8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106805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System.out.println("Recaught: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800" spc="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1800" spc="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ourier New"/>
                <a:cs typeface="Courier New"/>
              </a:rPr>
              <a:t>e);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564" y="5027803"/>
            <a:ext cx="300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244" y="5576722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3400" y="5223167"/>
            <a:ext cx="4681220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Caught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demoproc.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Recaught: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java.lang.NullPointerException: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demo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4694" y="464642"/>
            <a:ext cx="159575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throws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935595" cy="330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75565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method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cause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exception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does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handle</a:t>
            </a:r>
            <a:endParaRPr sz="3200">
              <a:latin typeface="Calibri"/>
              <a:cs typeface="Calibri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method’s </a:t>
            </a:r>
            <a:r>
              <a:rPr sz="2800" spc="-10" dirty="0">
                <a:latin typeface="Calibri"/>
                <a:cs typeface="Calibri"/>
              </a:rPr>
              <a:t>declaration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 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throws 	</a:t>
            </a:r>
            <a:r>
              <a:rPr sz="2800" dirty="0">
                <a:latin typeface="Calibri"/>
                <a:cs typeface="Calibri"/>
              </a:rPr>
              <a:t>clause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(that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exceptions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method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might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throw)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5650" algn="l"/>
                <a:tab pos="6036945" algn="l"/>
              </a:tabLst>
            </a:pPr>
            <a:r>
              <a:rPr sz="2800" dirty="0">
                <a:latin typeface="Calibri"/>
                <a:cs typeface="Calibri"/>
              </a:rPr>
              <a:t>Necessary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exceptions,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except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dirty="0">
                <a:latin typeface="Calibri"/>
                <a:cs typeface="Calibri"/>
              </a:rPr>
              <a:t>Error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latin typeface="Calibri"/>
                <a:cs typeface="Calibri"/>
              </a:rPr>
              <a:t>RuntimeException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subclasses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0080">
              <a:lnSpc>
                <a:spcPct val="100000"/>
              </a:lnSpc>
              <a:spcBef>
                <a:spcPts val="95"/>
              </a:spcBef>
            </a:pPr>
            <a:r>
              <a:rPr dirty="0"/>
              <a:t>throws</a:t>
            </a:r>
            <a:r>
              <a:rPr spc="-235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255902"/>
            <a:ext cx="7952105" cy="4537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20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ThrowsDemo</a:t>
            </a:r>
            <a:r>
              <a:rPr sz="20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20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throwOne()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throws</a:t>
            </a:r>
            <a:r>
              <a:rPr sz="20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IllegalAccessException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System.out.println("Inside</a:t>
            </a:r>
            <a:r>
              <a:rPr sz="2000" spc="-3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throwOne.");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throw</a:t>
            </a:r>
            <a:r>
              <a:rPr sz="20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20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IllegalAccessException("demo");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183388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20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20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20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throwOne();</a:t>
            </a:r>
            <a:endParaRPr sz="2000">
              <a:latin typeface="Courier New"/>
              <a:cs typeface="Courier New"/>
            </a:endParaRPr>
          </a:p>
          <a:p>
            <a:pPr marR="2443480" algn="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000" spc="-9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20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(IllegalAccessException</a:t>
            </a:r>
            <a:r>
              <a:rPr sz="20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20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2443480" algn="r">
              <a:lnSpc>
                <a:spcPct val="100000"/>
              </a:lnSpc>
            </a:pP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System.out.println("Caught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20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e);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0080">
              <a:lnSpc>
                <a:spcPct val="100000"/>
              </a:lnSpc>
              <a:spcBef>
                <a:spcPts val="95"/>
              </a:spcBef>
            </a:pPr>
            <a:r>
              <a:rPr dirty="0"/>
              <a:t>throws</a:t>
            </a:r>
            <a:r>
              <a:rPr spc="-235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255902"/>
            <a:ext cx="7952105" cy="3927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20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ThrowsDemo</a:t>
            </a:r>
            <a:r>
              <a:rPr sz="20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20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throwOne()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throws</a:t>
            </a:r>
            <a:r>
              <a:rPr sz="20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IllegalAccessException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System.out.println("Inside</a:t>
            </a:r>
            <a:r>
              <a:rPr sz="2000" spc="-3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throwOne.");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throw</a:t>
            </a:r>
            <a:r>
              <a:rPr sz="20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20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IllegalAccessException("demo");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ourier New"/>
              <a:cs typeface="Courier New"/>
            </a:endParaRPr>
          </a:p>
          <a:p>
            <a:pPr marL="12700" marR="183388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20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20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20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20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throwOne();</a:t>
            </a:r>
            <a:endParaRPr sz="2000">
              <a:latin typeface="Courier New"/>
              <a:cs typeface="Courier New"/>
            </a:endParaRPr>
          </a:p>
          <a:p>
            <a:pPr marR="2443480" algn="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000" spc="-9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20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(IllegalAccessException</a:t>
            </a:r>
            <a:r>
              <a:rPr sz="20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2000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R="2443480" algn="r">
              <a:lnSpc>
                <a:spcPct val="100000"/>
              </a:lnSpc>
            </a:pPr>
            <a:r>
              <a:rPr sz="2000" spc="-10" dirty="0">
                <a:solidFill>
                  <a:srgbClr val="FF0000"/>
                </a:solidFill>
                <a:latin typeface="Courier New"/>
                <a:cs typeface="Courier New"/>
              </a:rPr>
              <a:t>System.out.println("Caught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20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000" spc="-25" dirty="0">
                <a:solidFill>
                  <a:srgbClr val="FF0000"/>
                </a:solidFill>
                <a:latin typeface="Courier New"/>
                <a:cs typeface="Courier New"/>
              </a:rPr>
              <a:t> e);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44" y="5158866"/>
            <a:ext cx="17780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3400" y="5223167"/>
            <a:ext cx="4497705" cy="9239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throwOne</a:t>
            </a:r>
            <a:endParaRPr sz="180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caught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java.lang.IllegalAccessException: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demo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997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finally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63700"/>
            <a:ext cx="8039100" cy="412305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6870" marR="12700" indent="-344805">
              <a:lnSpc>
                <a:spcPct val="90000"/>
              </a:lnSpc>
              <a:spcBef>
                <a:spcPts val="459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b="1" dirty="0">
                <a:latin typeface="Calibri"/>
                <a:cs typeface="Calibri"/>
              </a:rPr>
              <a:t>finally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creates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block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code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will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be </a:t>
            </a:r>
            <a:r>
              <a:rPr sz="3000" spc="-10" dirty="0">
                <a:latin typeface="Calibri"/>
                <a:cs typeface="Calibri"/>
              </a:rPr>
              <a:t>executed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after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try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/catch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block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completed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before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code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following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try/catch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block</a:t>
            </a:r>
            <a:endParaRPr sz="3000">
              <a:latin typeface="Calibri"/>
              <a:cs typeface="Calibri"/>
            </a:endParaRPr>
          </a:p>
          <a:p>
            <a:pPr marL="756285" marR="88900" lvl="1" indent="-287020">
              <a:lnSpc>
                <a:spcPts val="2810"/>
              </a:lnSpc>
              <a:spcBef>
                <a:spcPts val="68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b="1" dirty="0">
                <a:latin typeface="Calibri"/>
                <a:cs typeface="Calibri"/>
              </a:rPr>
              <a:t>finally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whether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exception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thrown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ts val="281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exception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thrown,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finally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execute </a:t>
            </a:r>
            <a:r>
              <a:rPr sz="2600" dirty="0">
                <a:latin typeface="Calibri"/>
                <a:cs typeface="Calibri"/>
              </a:rPr>
              <a:t>even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catch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statement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matches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exception</a:t>
            </a:r>
            <a:endParaRPr sz="2600">
              <a:latin typeface="Calibri"/>
              <a:cs typeface="Calibri"/>
            </a:endParaRPr>
          </a:p>
          <a:p>
            <a:pPr marL="756285" marR="18415" lvl="1" indent="-287020">
              <a:lnSpc>
                <a:spcPts val="281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useful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closing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handles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freeing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up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other resources</a:t>
            </a:r>
            <a:endParaRPr sz="26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7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b="1" dirty="0">
                <a:latin typeface="Calibri"/>
                <a:cs typeface="Calibri"/>
              </a:rPr>
              <a:t>finally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clause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optional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5551" y="-558"/>
            <a:ext cx="37712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finally</a:t>
            </a:r>
            <a:r>
              <a:rPr spc="-100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46505"/>
            <a:ext cx="7999730" cy="517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FinallyDemo</a:t>
            </a:r>
            <a:r>
              <a:rPr sz="13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0259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3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procA()</a:t>
            </a:r>
            <a:r>
              <a:rPr sz="13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6007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3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9944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System.out.println("inside</a:t>
            </a:r>
            <a:r>
              <a:rPr sz="13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procA");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throw</a:t>
            </a:r>
            <a:r>
              <a:rPr sz="13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13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RuntimeException("demo");</a:t>
            </a:r>
            <a:endParaRPr sz="1300">
              <a:latin typeface="Courier New"/>
              <a:cs typeface="Courier New"/>
            </a:endParaRPr>
          </a:p>
          <a:p>
            <a:pPr marL="6007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System.out.println("procA's</a:t>
            </a:r>
            <a:r>
              <a:rPr sz="13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finally");}</a:t>
            </a:r>
            <a:endParaRPr sz="1300">
              <a:latin typeface="Courier New"/>
              <a:cs typeface="Courier New"/>
            </a:endParaRPr>
          </a:p>
          <a:p>
            <a:pPr marL="402590">
              <a:lnSpc>
                <a:spcPct val="100000"/>
              </a:lnSpc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698500" marR="5520055" indent="-2959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3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procB()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try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09474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System.out.println("inside</a:t>
            </a:r>
            <a:r>
              <a:rPr sz="1300" spc="-1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procB");</a:t>
            </a:r>
            <a:r>
              <a:rPr sz="13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return;</a:t>
            </a:r>
            <a:endParaRPr sz="1300">
              <a:latin typeface="Courier New"/>
              <a:cs typeface="Courier New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  <a:tabLst>
                <a:tab pos="1978660" algn="l"/>
              </a:tabLst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3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</a:t>
            </a:r>
            <a:r>
              <a:rPr sz="13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	System.out.println("procB's</a:t>
            </a:r>
            <a:r>
              <a:rPr sz="13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finally");</a:t>
            </a:r>
            <a:r>
              <a:rPr sz="13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503555">
              <a:lnSpc>
                <a:spcPct val="100000"/>
              </a:lnSpc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503555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3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procC()</a:t>
            </a:r>
            <a:r>
              <a:rPr sz="13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79883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3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19253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System.out.println("inside</a:t>
            </a:r>
            <a:r>
              <a:rPr sz="1300" spc="-1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procC");</a:t>
            </a:r>
            <a:endParaRPr sz="1300">
              <a:latin typeface="Courier New"/>
              <a:cs typeface="Courier New"/>
            </a:endParaRPr>
          </a:p>
          <a:p>
            <a:pPr marL="798830">
              <a:lnSpc>
                <a:spcPct val="100000"/>
              </a:lnSpc>
              <a:tabLst>
                <a:tab pos="2076450" algn="l"/>
              </a:tabLst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3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</a:t>
            </a:r>
            <a:r>
              <a:rPr sz="13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	System.out.println("procC's</a:t>
            </a:r>
            <a:r>
              <a:rPr sz="13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finally");</a:t>
            </a:r>
            <a:r>
              <a:rPr sz="13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600710">
              <a:lnSpc>
                <a:spcPct val="100000"/>
              </a:lnSpc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6007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3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3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3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3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9944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192530">
              <a:lnSpc>
                <a:spcPct val="100000"/>
              </a:lnSpc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procA();</a:t>
            </a:r>
            <a:endParaRPr sz="1300">
              <a:latin typeface="Courier New"/>
              <a:cs typeface="Courier New"/>
            </a:endParaRPr>
          </a:p>
          <a:p>
            <a:pPr marL="1488440" marR="2663825" indent="-494665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3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(Exception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System.out.println("Exception</a:t>
            </a:r>
            <a:r>
              <a:rPr sz="1300" spc="-1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caught");</a:t>
            </a:r>
            <a:endParaRPr sz="1300">
              <a:latin typeface="Courier New"/>
              <a:cs typeface="Courier New"/>
            </a:endParaRPr>
          </a:p>
          <a:p>
            <a:pPr marL="994410">
              <a:lnSpc>
                <a:spcPct val="100000"/>
              </a:lnSpc>
              <a:spcBef>
                <a:spcPts val="5"/>
              </a:spcBef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994410">
              <a:lnSpc>
                <a:spcPct val="100000"/>
              </a:lnSpc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procB();</a:t>
            </a:r>
            <a:endParaRPr sz="1300">
              <a:latin typeface="Courier New"/>
              <a:cs typeface="Courier New"/>
            </a:endParaRPr>
          </a:p>
          <a:p>
            <a:pPr marL="994410">
              <a:lnSpc>
                <a:spcPct val="100000"/>
              </a:lnSpc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procC();</a:t>
            </a:r>
            <a:endParaRPr sz="1300">
              <a:latin typeface="Courier New"/>
              <a:cs typeface="Courier New"/>
            </a:endParaRPr>
          </a:p>
          <a:p>
            <a:pPr marL="600710">
              <a:lnSpc>
                <a:spcPct val="100000"/>
              </a:lnSpc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5551" y="-558"/>
            <a:ext cx="37712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finally</a:t>
            </a:r>
            <a:r>
              <a:rPr spc="-100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46505"/>
            <a:ext cx="7999730" cy="1809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class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FinallyDemo</a:t>
            </a:r>
            <a:r>
              <a:rPr sz="13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02590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3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procA()</a:t>
            </a:r>
            <a:r>
              <a:rPr sz="1300" spc="-5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6007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3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9944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System.out.println("inside</a:t>
            </a:r>
            <a:r>
              <a:rPr sz="13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procA");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throw</a:t>
            </a:r>
            <a:r>
              <a:rPr sz="13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new</a:t>
            </a:r>
            <a:r>
              <a:rPr sz="13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RuntimeException("demo");</a:t>
            </a:r>
            <a:endParaRPr sz="1300">
              <a:latin typeface="Courier New"/>
              <a:cs typeface="Courier New"/>
            </a:endParaRPr>
          </a:p>
          <a:p>
            <a:pPr marL="6007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System.out.println("procA's</a:t>
            </a:r>
            <a:r>
              <a:rPr sz="13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finally");}</a:t>
            </a:r>
            <a:endParaRPr sz="1300">
              <a:latin typeface="Courier New"/>
              <a:cs typeface="Courier New"/>
            </a:endParaRPr>
          </a:p>
          <a:p>
            <a:pPr marL="402590">
              <a:lnSpc>
                <a:spcPct val="100000"/>
              </a:lnSpc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698500" marR="5520055" indent="-29591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3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procB()</a:t>
            </a:r>
            <a:r>
              <a:rPr sz="13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try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09474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System.out.println("inside</a:t>
            </a:r>
            <a:r>
              <a:rPr sz="1300" spc="-1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procB");</a:t>
            </a:r>
            <a:r>
              <a:rPr sz="13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return;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172" y="2530601"/>
            <a:ext cx="5539105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95"/>
              </a:spcBef>
              <a:tabLst>
                <a:tab pos="1487805" algn="l"/>
              </a:tabLst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3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</a:t>
            </a:r>
            <a:r>
              <a:rPr sz="1300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	System.out.println("procB's</a:t>
            </a:r>
            <a:r>
              <a:rPr sz="13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finally");</a:t>
            </a:r>
            <a:r>
              <a:rPr sz="1300" spc="-8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3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procC()</a:t>
            </a:r>
            <a:r>
              <a:rPr sz="1300" spc="-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307975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3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701675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System.out.println("inside</a:t>
            </a:r>
            <a:r>
              <a:rPr sz="1300" spc="-1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procC");</a:t>
            </a:r>
            <a:endParaRPr sz="1300">
              <a:latin typeface="Courier New"/>
              <a:cs typeface="Courier New"/>
            </a:endParaRPr>
          </a:p>
          <a:p>
            <a:pPr marL="307975">
              <a:lnSpc>
                <a:spcPct val="100000"/>
              </a:lnSpc>
              <a:tabLst>
                <a:tab pos="1585595" algn="l"/>
              </a:tabLst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3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</a:t>
            </a:r>
            <a:r>
              <a:rPr sz="13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	System.out.println("procC's</a:t>
            </a:r>
            <a:r>
              <a:rPr sz="13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finally");</a:t>
            </a:r>
            <a:r>
              <a:rPr sz="13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9708" y="3719576"/>
            <a:ext cx="1244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9708" y="3917645"/>
            <a:ext cx="4752340" cy="1809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public</a:t>
            </a:r>
            <a:r>
              <a:rPr sz="13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static</a:t>
            </a:r>
            <a:r>
              <a:rPr sz="13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void</a:t>
            </a:r>
            <a:r>
              <a:rPr sz="13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main(String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args[])</a:t>
            </a:r>
            <a:r>
              <a:rPr sz="13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05765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try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603885">
              <a:lnSpc>
                <a:spcPct val="100000"/>
              </a:lnSpc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procA();</a:t>
            </a:r>
            <a:endParaRPr sz="1300">
              <a:latin typeface="Courier New"/>
              <a:cs typeface="Courier New"/>
            </a:endParaRPr>
          </a:p>
          <a:p>
            <a:pPr marL="899794" marR="5080" indent="-494665">
              <a:lnSpc>
                <a:spcPct val="100000"/>
              </a:lnSpc>
            </a:pP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300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catch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(Exception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e)</a:t>
            </a:r>
            <a:r>
              <a:rPr sz="13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{ </a:t>
            </a:r>
            <a:r>
              <a:rPr sz="1300" dirty="0">
                <a:solidFill>
                  <a:srgbClr val="FF0000"/>
                </a:solidFill>
                <a:latin typeface="Courier New"/>
                <a:cs typeface="Courier New"/>
              </a:rPr>
              <a:t>System.out.println("Exception</a:t>
            </a:r>
            <a:r>
              <a:rPr sz="1300" spc="-1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caught");</a:t>
            </a:r>
            <a:endParaRPr sz="1300">
              <a:latin typeface="Courier New"/>
              <a:cs typeface="Courier New"/>
            </a:endParaRPr>
          </a:p>
          <a:p>
            <a:pPr marL="405765">
              <a:lnSpc>
                <a:spcPct val="100000"/>
              </a:lnSpc>
              <a:spcBef>
                <a:spcPts val="5"/>
              </a:spcBef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405765">
              <a:lnSpc>
                <a:spcPct val="100000"/>
              </a:lnSpc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procB();</a:t>
            </a:r>
            <a:endParaRPr sz="1300">
              <a:latin typeface="Courier New"/>
              <a:cs typeface="Courier New"/>
            </a:endParaRPr>
          </a:p>
          <a:p>
            <a:pPr marL="405765">
              <a:lnSpc>
                <a:spcPct val="100000"/>
              </a:lnSpc>
            </a:pPr>
            <a:r>
              <a:rPr sz="1300" spc="-10" dirty="0">
                <a:solidFill>
                  <a:srgbClr val="FF0000"/>
                </a:solidFill>
                <a:latin typeface="Courier New"/>
                <a:cs typeface="Courier New"/>
              </a:rPr>
              <a:t>procC();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140" y="5701690"/>
            <a:ext cx="1244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2833" y="2590800"/>
            <a:ext cx="1785620" cy="23088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50"/>
              </a:spcBef>
            </a:pP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  <a:p>
            <a:pPr marL="93345" marR="10541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procA </a:t>
            </a:r>
            <a:r>
              <a:rPr sz="1800" dirty="0">
                <a:latin typeface="Calibri"/>
                <a:cs typeface="Calibri"/>
              </a:rPr>
              <a:t>procA's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finally Exception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caught </a:t>
            </a: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procB </a:t>
            </a:r>
            <a:r>
              <a:rPr sz="1800" dirty="0">
                <a:latin typeface="Calibri"/>
                <a:cs typeface="Calibri"/>
              </a:rPr>
              <a:t>procB's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finally </a:t>
            </a: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procC </a:t>
            </a:r>
            <a:r>
              <a:rPr sz="1800" dirty="0">
                <a:latin typeface="Calibri"/>
                <a:cs typeface="Calibri"/>
              </a:rPr>
              <a:t>procC's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finally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350" y="297306"/>
            <a:ext cx="7753350" cy="1048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pc="-55" dirty="0"/>
              <a:t>Java’s</a:t>
            </a:r>
            <a:r>
              <a:rPr spc="-60" dirty="0"/>
              <a:t> </a:t>
            </a:r>
            <a:r>
              <a:rPr spc="-25" dirty="0"/>
              <a:t>Built-</a:t>
            </a:r>
            <a:r>
              <a:rPr dirty="0"/>
              <a:t>in</a:t>
            </a:r>
            <a:r>
              <a:rPr spc="-35" dirty="0"/>
              <a:t> </a:t>
            </a:r>
            <a:r>
              <a:rPr spc="-10" dirty="0"/>
              <a:t>Exceptions</a:t>
            </a: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2200" spc="-25" dirty="0"/>
              <a:t>Java’s</a:t>
            </a:r>
            <a:r>
              <a:rPr sz="2200" spc="-55" dirty="0"/>
              <a:t> </a:t>
            </a:r>
            <a:r>
              <a:rPr sz="2200" spc="-10" dirty="0"/>
              <a:t>Unchecked</a:t>
            </a:r>
            <a:r>
              <a:rPr sz="2200" spc="-70" dirty="0"/>
              <a:t> </a:t>
            </a:r>
            <a:r>
              <a:rPr sz="2200" b="1" spc="-10" dirty="0">
                <a:latin typeface="Calibri"/>
                <a:cs typeface="Calibri"/>
              </a:rPr>
              <a:t>RuntimeException</a:t>
            </a:r>
            <a:r>
              <a:rPr sz="2200" b="1" spc="-85" dirty="0">
                <a:latin typeface="Calibri"/>
                <a:cs typeface="Calibri"/>
              </a:rPr>
              <a:t> </a:t>
            </a:r>
            <a:r>
              <a:rPr sz="2200" dirty="0"/>
              <a:t>Subclasses</a:t>
            </a:r>
            <a:r>
              <a:rPr sz="2200" spc="-55" dirty="0"/>
              <a:t> </a:t>
            </a:r>
            <a:r>
              <a:rPr sz="2200" dirty="0"/>
              <a:t>Defined</a:t>
            </a:r>
            <a:r>
              <a:rPr sz="2200" spc="-55" dirty="0"/>
              <a:t> </a:t>
            </a:r>
            <a:r>
              <a:rPr sz="2200" dirty="0"/>
              <a:t>in</a:t>
            </a:r>
            <a:r>
              <a:rPr sz="2200" spc="-45" dirty="0"/>
              <a:t> </a:t>
            </a:r>
            <a:r>
              <a:rPr sz="2200" b="1" spc="-10" dirty="0">
                <a:latin typeface="Calibri"/>
                <a:cs typeface="Calibri"/>
              </a:rPr>
              <a:t>java.lang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830" y="1447800"/>
            <a:ext cx="6378773" cy="49209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9354" y="282067"/>
            <a:ext cx="5767070" cy="107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"/>
              </a:spcBef>
            </a:pPr>
            <a:r>
              <a:rPr spc="-55" dirty="0"/>
              <a:t>Java’s</a:t>
            </a:r>
            <a:r>
              <a:rPr spc="-60" dirty="0"/>
              <a:t> </a:t>
            </a:r>
            <a:r>
              <a:rPr spc="-25" dirty="0"/>
              <a:t>Built-</a:t>
            </a:r>
            <a:r>
              <a:rPr dirty="0"/>
              <a:t>in</a:t>
            </a:r>
            <a:r>
              <a:rPr spc="-35" dirty="0"/>
              <a:t> </a:t>
            </a:r>
            <a:r>
              <a:rPr spc="-10" dirty="0"/>
              <a:t>Exceptions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30" dirty="0"/>
              <a:t>Java’s</a:t>
            </a:r>
            <a:r>
              <a:rPr sz="2400" spc="-60" dirty="0"/>
              <a:t> </a:t>
            </a:r>
            <a:r>
              <a:rPr sz="2400" spc="-10" dirty="0"/>
              <a:t>Checked</a:t>
            </a:r>
            <a:r>
              <a:rPr sz="2400" spc="-40" dirty="0"/>
              <a:t> </a:t>
            </a:r>
            <a:r>
              <a:rPr sz="2400" spc="-10" dirty="0"/>
              <a:t>Exceptions</a:t>
            </a:r>
            <a:r>
              <a:rPr sz="2400" spc="-105" dirty="0"/>
              <a:t> </a:t>
            </a:r>
            <a:r>
              <a:rPr sz="2400" dirty="0"/>
              <a:t>Defined</a:t>
            </a:r>
            <a:r>
              <a:rPr sz="2400" spc="-65" dirty="0"/>
              <a:t> </a:t>
            </a:r>
            <a:r>
              <a:rPr sz="2400" dirty="0"/>
              <a:t>in</a:t>
            </a:r>
            <a:r>
              <a:rPr sz="2400" spc="-5" dirty="0"/>
              <a:t> </a:t>
            </a:r>
            <a:r>
              <a:rPr sz="2400" b="1" spc="-10" dirty="0">
                <a:latin typeface="Calibri"/>
                <a:cs typeface="Calibri"/>
              </a:rPr>
              <a:t>java.lang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l="932"/>
          <a:stretch>
            <a:fillRect/>
          </a:stretch>
        </p:blipFill>
        <p:spPr>
          <a:xfrm>
            <a:off x="685800" y="1923669"/>
            <a:ext cx="8100186" cy="301066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36DE-8EB5-4DC9-20F3-9750C38FD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87" y="464642"/>
            <a:ext cx="7767624" cy="677108"/>
          </a:xfrm>
        </p:spPr>
        <p:txBody>
          <a:bodyPr/>
          <a:lstStyle/>
          <a:p>
            <a:r>
              <a:rPr lang="en-US" b="1" dirty="0"/>
              <a:t>BUILT-IN EXCEPTIONS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1B5B01-533D-BD3F-C765-0690D7BECBC3}"/>
              </a:ext>
            </a:extLst>
          </p:cNvPr>
          <p:cNvSpPr txBox="1"/>
          <p:nvPr/>
        </p:nvSpPr>
        <p:spPr>
          <a:xfrm>
            <a:off x="304800" y="1447800"/>
            <a:ext cx="8077200" cy="93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535" marR="88265" indent="215900" algn="just">
              <a:lnSpc>
                <a:spcPct val="103000"/>
              </a:lnSpc>
              <a:spcBef>
                <a:spcPts val="525"/>
              </a:spcBef>
              <a:buNone/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Built-in</a:t>
            </a:r>
            <a:r>
              <a:rPr lang="en-US" sz="18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exceptions</a:t>
            </a:r>
            <a:r>
              <a:rPr lang="en-US" sz="18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exceptions</a:t>
            </a:r>
            <a:r>
              <a:rPr lang="en-US" sz="18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available</a:t>
            </a:r>
            <a:r>
              <a:rPr lang="en-US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Java</a:t>
            </a:r>
            <a:r>
              <a:rPr lang="en-US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libraries.</a:t>
            </a:r>
            <a:r>
              <a:rPr lang="en-US" sz="18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These</a:t>
            </a:r>
            <a:r>
              <a:rPr lang="en-US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exceptions are suitable to explain certain error situations. Below is the list of important built-in exceptions in Java.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450F9D-5A53-CCA9-7529-432D1517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30" y="2391242"/>
            <a:ext cx="6968137" cy="38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86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9894-0E7E-5075-B157-3E8D9BEC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D34393-9515-69A8-DDD5-F79CCDEE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9" y="1514208"/>
            <a:ext cx="8611802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34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46E7-C2CF-F907-9D18-6B587422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The following Java program explains </a:t>
            </a:r>
            <a:r>
              <a:rPr lang="en-US" sz="2000" b="1" dirty="0" err="1"/>
              <a:t>NumberFormatException</a:t>
            </a:r>
            <a:br>
              <a:rPr lang="en-IN" sz="2000" b="1" dirty="0"/>
            </a:br>
            <a:endParaRPr lang="en-IN" sz="2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D204C5-DFF7-538F-2A5F-A4C8D2C06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6575" y="1527175"/>
            <a:ext cx="7956550" cy="4338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5435">
              <a:spcBef>
                <a:spcPts val="555"/>
              </a:spcBef>
              <a:buNone/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</a:t>
            </a:r>
            <a:r>
              <a:rPr lang="en-US" sz="1800" spc="2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NumberFormat_Example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05435">
              <a:spcBef>
                <a:spcPts val="660"/>
              </a:spcBef>
              <a:buNone/>
            </a:pPr>
            <a:r>
              <a:rPr lang="en-US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1485">
              <a:spcBef>
                <a:spcPts val="655"/>
              </a:spcBef>
              <a:buNone/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 static void main(String </a:t>
            </a:r>
            <a:r>
              <a:rPr lang="en-US" sz="1800" spc="-1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args</a:t>
            </a:r>
            <a:r>
              <a:rPr lang="en-US" sz="18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[])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1485">
              <a:spcBef>
                <a:spcPts val="660"/>
              </a:spcBef>
              <a:buNone/>
            </a:pPr>
            <a:r>
              <a:rPr lang="en-US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97535">
              <a:spcBef>
                <a:spcPts val="655"/>
              </a:spcBef>
              <a:buNone/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try </a:t>
            </a:r>
            <a:r>
              <a:rPr lang="en-US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80415" marR="2586990" indent="-36830">
              <a:lnSpc>
                <a:spcPct val="150000"/>
              </a:lnSpc>
              <a:spcBef>
                <a:spcPts val="660"/>
              </a:spcBef>
              <a:buNone/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US" sz="18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</a:t>
            </a:r>
            <a:r>
              <a:rPr lang="en-US" sz="18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18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Integer.parseInt</a:t>
            </a:r>
            <a:r>
              <a:rPr lang="en-US" sz="18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(“hello”)</a:t>
            </a:r>
            <a:r>
              <a:rPr lang="en-US" sz="18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sz="1800" spc="-1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System.out.println</a:t>
            </a:r>
            <a:r>
              <a:rPr lang="en-US" sz="18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(num);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97535">
              <a:lnSpc>
                <a:spcPts val="1315"/>
              </a:lnSpc>
              <a:buNone/>
            </a:pPr>
            <a:r>
              <a:rPr lang="en-US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3585" marR="1872615" indent="-146050">
              <a:lnSpc>
                <a:spcPct val="150000"/>
              </a:lnSpc>
              <a:spcBef>
                <a:spcPts val="655"/>
              </a:spcBef>
              <a:buNone/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catch(</a:t>
            </a:r>
            <a:r>
              <a:rPr lang="en-US" sz="180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NumberFormatException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e) { </a:t>
            </a:r>
            <a:r>
              <a:rPr lang="en-US" sz="180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System.out.println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(“Number</a:t>
            </a:r>
            <a:r>
              <a:rPr lang="en-US" sz="1800" spc="-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format</a:t>
            </a:r>
            <a:r>
              <a:rPr lang="en-US" sz="1800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exception”);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97535">
              <a:lnSpc>
                <a:spcPts val="1320"/>
              </a:lnSpc>
              <a:buNone/>
            </a:pPr>
            <a:r>
              <a:rPr lang="en-US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1485">
              <a:spcBef>
                <a:spcPts val="655"/>
              </a:spcBef>
              <a:buNone/>
            </a:pPr>
            <a:r>
              <a:rPr lang="en-US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05435">
              <a:spcBef>
                <a:spcPts val="660"/>
              </a:spcBef>
              <a:buNone/>
            </a:pPr>
            <a:r>
              <a:rPr lang="en-US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066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1465-737B-ADAE-78DA-0CE180BE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47" y="152400"/>
            <a:ext cx="7767624" cy="1661993"/>
          </a:xfrm>
        </p:spPr>
        <p:txBody>
          <a:bodyPr/>
          <a:lstStyle/>
          <a:p>
            <a:r>
              <a:rPr lang="en-US" sz="2400" b="1" dirty="0"/>
              <a:t>The following Java program explains </a:t>
            </a:r>
            <a:r>
              <a:rPr lang="en-US" sz="2400" b="1" dirty="0" err="1"/>
              <a:t>StackOverflowError</a:t>
            </a:r>
            <a:r>
              <a:rPr lang="en-US" sz="2400" b="1" dirty="0"/>
              <a:t> exception </a:t>
            </a:r>
            <a:br>
              <a:rPr lang="en-US" sz="2400" b="1" dirty="0"/>
            </a:br>
            <a:r>
              <a:rPr lang="en-US" sz="1800" b="1" dirty="0"/>
              <a:t>main() → fun1() → fun2() → fun1() → fun2() → fun1() → ... No base condition to stop recursion, method calls keep stacking in memory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53BCB-0F21-EAD2-D495-51C5E0399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527124"/>
            <a:ext cx="7956550" cy="5262979"/>
          </a:xfrm>
        </p:spPr>
        <p:txBody>
          <a:bodyPr/>
          <a:lstStyle/>
          <a:p>
            <a:r>
              <a:rPr lang="en-US" sz="1800" dirty="0"/>
              <a:t>class Example {</a:t>
            </a:r>
            <a:endParaRPr lang="en-IN" sz="1800" dirty="0"/>
          </a:p>
          <a:p>
            <a:r>
              <a:rPr lang="en-US" sz="1800" dirty="0"/>
              <a:t>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</a:t>
            </a:r>
            <a:endParaRPr lang="en-IN" sz="1800" dirty="0"/>
          </a:p>
          <a:p>
            <a:r>
              <a:rPr lang="en-US" sz="1800" dirty="0"/>
              <a:t>{</a:t>
            </a:r>
            <a:endParaRPr lang="en-IN" sz="1800" dirty="0"/>
          </a:p>
          <a:p>
            <a:r>
              <a:rPr lang="en-US" sz="1800" dirty="0"/>
              <a:t>fun1();</a:t>
            </a:r>
            <a:endParaRPr lang="en-IN" sz="1800" dirty="0"/>
          </a:p>
          <a:p>
            <a:r>
              <a:rPr lang="en-US" sz="1800" dirty="0"/>
              <a:t>}</a:t>
            </a:r>
            <a:endParaRPr lang="en-IN" sz="1800" dirty="0"/>
          </a:p>
          <a:p>
            <a:r>
              <a:rPr lang="en-US" sz="1800" dirty="0"/>
              <a:t>public static void fun1()</a:t>
            </a:r>
            <a:endParaRPr lang="en-IN" sz="1800" dirty="0"/>
          </a:p>
          <a:p>
            <a:r>
              <a:rPr lang="en-US" sz="1800" dirty="0"/>
              <a:t>{</a:t>
            </a:r>
            <a:endParaRPr lang="en-IN" sz="1800" dirty="0"/>
          </a:p>
          <a:p>
            <a:r>
              <a:rPr lang="en-US" sz="1800" dirty="0"/>
              <a:t>fun2();</a:t>
            </a:r>
            <a:endParaRPr lang="en-IN" sz="1800" dirty="0"/>
          </a:p>
          <a:p>
            <a:r>
              <a:rPr lang="en-US" sz="1800" dirty="0"/>
              <a:t>}</a:t>
            </a:r>
            <a:endParaRPr lang="en-IN" sz="1800" dirty="0"/>
          </a:p>
          <a:p>
            <a:r>
              <a:rPr lang="en-US" sz="1800" dirty="0"/>
              <a:t>public static void fun2()</a:t>
            </a:r>
            <a:endParaRPr lang="en-IN" sz="1800" dirty="0"/>
          </a:p>
          <a:p>
            <a:r>
              <a:rPr lang="en-US" sz="1800" dirty="0"/>
              <a:t>{</a:t>
            </a:r>
            <a:endParaRPr lang="en-IN" sz="1800" dirty="0"/>
          </a:p>
          <a:p>
            <a:r>
              <a:rPr lang="en-US" sz="1800" dirty="0"/>
              <a:t>fun1();</a:t>
            </a:r>
            <a:endParaRPr lang="en-IN" sz="1800" dirty="0"/>
          </a:p>
          <a:p>
            <a:r>
              <a:rPr lang="en-US" sz="1800" dirty="0"/>
              <a:t>}</a:t>
            </a:r>
            <a:endParaRPr lang="en-IN" sz="1800" dirty="0"/>
          </a:p>
          <a:p>
            <a:r>
              <a:rPr lang="en-US" sz="1800" dirty="0"/>
              <a:t>}</a:t>
            </a:r>
            <a:endParaRPr lang="en-IN" sz="1800" dirty="0"/>
          </a:p>
          <a:p>
            <a:r>
              <a:rPr lang="en-US" sz="1800" b="1" dirty="0"/>
              <a:t>Output:</a:t>
            </a:r>
            <a:endParaRPr lang="en-IN" sz="1800" b="1" dirty="0"/>
          </a:p>
          <a:p>
            <a:r>
              <a:rPr lang="en-US" sz="1800" dirty="0"/>
              <a:t>Exception in thread “main” </a:t>
            </a:r>
            <a:r>
              <a:rPr lang="en-US" sz="1800" dirty="0" err="1"/>
              <a:t>java.lang.StackOverflowError</a:t>
            </a:r>
            <a:r>
              <a:rPr lang="en-US" sz="1800" dirty="0"/>
              <a:t> at Example.fun2(File.java:14)</a:t>
            </a:r>
            <a:endParaRPr lang="en-IN" sz="1800" dirty="0"/>
          </a:p>
          <a:p>
            <a:r>
              <a:rPr lang="en-US" sz="1800" dirty="0"/>
              <a:t>at Example.fun1(File.java:10)</a:t>
            </a: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18047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1597-7342-464D-0770-18CD7DC39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87" y="464642"/>
            <a:ext cx="7767624" cy="984885"/>
          </a:xfrm>
        </p:spPr>
        <p:txBody>
          <a:bodyPr/>
          <a:lstStyle/>
          <a:p>
            <a:r>
              <a:rPr lang="en-US" sz="3200" b="1" dirty="0"/>
              <a:t>USER DEFINED EXCEPTION IN JAVA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882F5-B2FE-F0C1-247E-E5DE09FC3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527124"/>
            <a:ext cx="7956550" cy="532453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Java allows the user to create their own exception class which is derived from built- in class Exception.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Exception class inherits all the methods from the class Throwable.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1800" dirty="0"/>
              <a:t>Throwable </a:t>
            </a:r>
            <a:r>
              <a:rPr lang="en-US" sz="2000" dirty="0"/>
              <a:t>class is the superclass of all errors and exceptions in the Java language. It contains a snapshot of the execution stack of its thread at the time it was created. It can also contain a message string that gives more information about the error.</a:t>
            </a:r>
            <a:endParaRPr lang="en-US" sz="1200" dirty="0"/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The Exception class is defined in </a:t>
            </a:r>
            <a:r>
              <a:rPr lang="en-US" sz="2000" dirty="0" err="1"/>
              <a:t>java.lang</a:t>
            </a:r>
            <a:r>
              <a:rPr lang="en-US" sz="2000" dirty="0"/>
              <a:t> package.</a:t>
            </a:r>
            <a:endParaRPr lang="en-IN" sz="2000" dirty="0"/>
          </a:p>
          <a:p>
            <a:pPr lvl="2"/>
            <a:r>
              <a:rPr lang="en-US" sz="2000" dirty="0"/>
              <a:t>User defined exception class must inherit Exception class.</a:t>
            </a:r>
            <a:endParaRPr lang="en-IN" sz="2000" dirty="0"/>
          </a:p>
          <a:p>
            <a:pPr lvl="2"/>
            <a:r>
              <a:rPr lang="en-US" sz="2000" dirty="0"/>
              <a:t>The user defined exception can be thrown using throw keyword.</a:t>
            </a:r>
            <a:endParaRPr lang="en-IN" sz="2000" dirty="0"/>
          </a:p>
          <a:p>
            <a:endParaRPr lang="en-US" sz="1800" b="1" dirty="0"/>
          </a:p>
          <a:p>
            <a:endParaRPr lang="en-US" sz="1800" b="1" dirty="0"/>
          </a:p>
          <a:p>
            <a:r>
              <a:rPr lang="en-US" sz="1800" b="1" dirty="0"/>
              <a:t>Syntax:</a:t>
            </a:r>
            <a:endParaRPr lang="en-IN" sz="1800" b="1" dirty="0"/>
          </a:p>
          <a:p>
            <a:r>
              <a:rPr lang="en-US" sz="1800" dirty="0"/>
              <a:t>class </a:t>
            </a:r>
            <a:r>
              <a:rPr lang="en-US" sz="1800" dirty="0" err="1"/>
              <a:t>User_defined_name</a:t>
            </a:r>
            <a:r>
              <a:rPr lang="en-US" sz="1800" dirty="0"/>
              <a:t> extends Exception{</a:t>
            </a:r>
            <a:endParaRPr lang="en-IN" sz="1800" dirty="0"/>
          </a:p>
          <a:p>
            <a:r>
              <a:rPr lang="en-US" sz="1800" dirty="0"/>
              <a:t>………..</a:t>
            </a:r>
            <a:endParaRPr lang="en-IN" sz="1600" dirty="0"/>
          </a:p>
          <a:p>
            <a:r>
              <a:rPr lang="en-US" sz="1800" dirty="0"/>
              <a:t>}</a:t>
            </a:r>
            <a:endParaRPr lang="en-IN" sz="16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95137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B19F-EFD5-5862-37F1-CDA106EA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87" y="464642"/>
            <a:ext cx="7767624" cy="1107996"/>
          </a:xfrm>
        </p:spPr>
        <p:txBody>
          <a:bodyPr/>
          <a:lstStyle/>
          <a:p>
            <a:r>
              <a:rPr lang="en-US" sz="2400" b="1" i="1" dirty="0"/>
              <a:t>Some of the methods defined by Throwable are shown in below table.</a:t>
            </a:r>
            <a:br>
              <a:rPr lang="en-IN" sz="2400" dirty="0"/>
            </a:b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EDB7A-49AE-56CF-7A4D-3ED530973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31" y="1561839"/>
            <a:ext cx="8335538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22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CDAD-3D44-A7EB-0B8D-65FA63756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87" y="464642"/>
            <a:ext cx="7767624" cy="1292662"/>
          </a:xfrm>
        </p:spPr>
        <p:txBody>
          <a:bodyPr/>
          <a:lstStyle/>
          <a:p>
            <a:r>
              <a:rPr lang="en-US" sz="2800" b="1" dirty="0"/>
              <a:t>Two commonly used constructors of Exception class are:</a:t>
            </a:r>
            <a:br>
              <a:rPr lang="en-IN" sz="2800" b="1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83E16-C9C6-91B8-7A13-BE30389A4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527124"/>
            <a:ext cx="7956550" cy="2277547"/>
          </a:xfrm>
        </p:spPr>
        <p:txBody>
          <a:bodyPr/>
          <a:lstStyle/>
          <a:p>
            <a:r>
              <a:rPr lang="en-US" sz="2800" dirty="0"/>
              <a:t>Exception()-Constructs a new exception with null as its detail message.</a:t>
            </a:r>
          </a:p>
          <a:p>
            <a:r>
              <a:rPr lang="en-US" sz="2800" dirty="0"/>
              <a:t>Exception(String message)  - Constructs a new exception with the specified detail message.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50921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BFAC-DDF5-52AF-639E-2BD992C2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375" y="351991"/>
            <a:ext cx="7767624" cy="695325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9E034-795B-85BF-57F0-F75E81F48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1EFDA-4CFA-41C4-035C-D33E260EB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03" y="1047316"/>
            <a:ext cx="7263195" cy="58328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3AE524-F4E7-ABC1-10BD-8B3687A01DA0}"/>
              </a:ext>
            </a:extLst>
          </p:cNvPr>
          <p:cNvSpPr txBox="1"/>
          <p:nvPr/>
        </p:nvSpPr>
        <p:spPr>
          <a:xfrm>
            <a:off x="5181600" y="5692062"/>
            <a:ext cx="396240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000" b="1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solidFill>
                <a:srgbClr val="2F549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>
              <a:spcBef>
                <a:spcPts val="560"/>
              </a:spcBef>
              <a:buNone/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</a:t>
            </a:r>
            <a:r>
              <a:rPr lang="en-US" sz="18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handled</a:t>
            </a:r>
            <a:r>
              <a:rPr lang="en-US" sz="1800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sz="18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User-Defined</a:t>
            </a:r>
            <a:r>
              <a:rPr lang="en-US" sz="1800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114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9AA96-D0C9-37E7-6346-13A10036C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457200"/>
            <a:ext cx="7956550" cy="3693319"/>
          </a:xfrm>
        </p:spPr>
        <p:txBody>
          <a:bodyPr/>
          <a:lstStyle/>
          <a:p>
            <a:pPr algn="just"/>
            <a:r>
              <a:rPr lang="en-US" dirty="0"/>
              <a:t>In the above example, a custom defined exception class </a:t>
            </a:r>
            <a:r>
              <a:rPr lang="en-US" dirty="0" err="1"/>
              <a:t>MyException</a:t>
            </a:r>
            <a:r>
              <a:rPr lang="en-US" dirty="0"/>
              <a:t> is created by inheriting it from Exception class.</a:t>
            </a:r>
          </a:p>
          <a:p>
            <a:pPr algn="just"/>
            <a:r>
              <a:rPr lang="en-US" dirty="0"/>
              <a:t> The </a:t>
            </a:r>
            <a:r>
              <a:rPr lang="en-US" dirty="0" err="1"/>
              <a:t>toString</a:t>
            </a:r>
            <a:r>
              <a:rPr lang="en-US" dirty="0"/>
              <a:t>() method is overridden to display the customized method on catch. </a:t>
            </a:r>
          </a:p>
          <a:p>
            <a:pPr algn="just"/>
            <a:r>
              <a:rPr lang="en-US" dirty="0"/>
              <a:t>The </a:t>
            </a:r>
            <a:r>
              <a:rPr lang="en-US" dirty="0" err="1"/>
              <a:t>MyException</a:t>
            </a:r>
            <a:r>
              <a:rPr lang="en-US" dirty="0"/>
              <a:t> is raised using the throw keyword.</a:t>
            </a:r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E2980-35C9-8591-8049-67FB2874804A}"/>
              </a:ext>
            </a:extLst>
          </p:cNvPr>
          <p:cNvSpPr txBox="1"/>
          <p:nvPr/>
        </p:nvSpPr>
        <p:spPr>
          <a:xfrm>
            <a:off x="457200" y="3840058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throw new </a:t>
            </a:r>
            <a:r>
              <a:rPr lang="en-IN" dirty="0" err="1"/>
              <a:t>MyException</a:t>
            </a:r>
            <a:r>
              <a:rPr lang="en-IN" dirty="0"/>
              <a:t>()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caught as (</a:t>
            </a:r>
            <a:r>
              <a:rPr lang="en-IN" dirty="0" err="1"/>
              <a:t>MyException</a:t>
            </a:r>
            <a:r>
              <a:rPr lang="en-IN" dirty="0"/>
              <a:t> e)</a:t>
            </a:r>
          </a:p>
          <a:p>
            <a:r>
              <a:rPr lang="en-IN" dirty="0"/>
              <a:t>        ↓</a:t>
            </a:r>
          </a:p>
          <a:p>
            <a:r>
              <a:rPr lang="en-IN" dirty="0" err="1"/>
              <a:t>System.out.println</a:t>
            </a:r>
            <a:r>
              <a:rPr lang="en-IN" dirty="0"/>
              <a:t>(... + e)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calls </a:t>
            </a:r>
            <a:r>
              <a:rPr lang="en-IN" dirty="0" err="1"/>
              <a:t>e.toString</a:t>
            </a:r>
            <a:r>
              <a:rPr lang="en-IN" dirty="0"/>
              <a:t>()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returns "User-Defined Exception"</a:t>
            </a:r>
          </a:p>
        </p:txBody>
      </p:sp>
    </p:spTree>
    <p:extLst>
      <p:ext uri="{BB962C8B-B14F-4D97-AF65-F5344CB8AC3E}">
        <p14:creationId xmlns:p14="http://schemas.microsoft.com/office/powerpoint/2010/main" val="22678540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CEFF5-25A1-97C2-6899-73B9DE8F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5C668-B3F8-6AC1-4267-1BC6175F3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4CDF0-7D15-CA82-CF0D-27668AA81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8" y="775917"/>
            <a:ext cx="8735644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527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51F1-D946-F6BD-38FD-FD7B9EDD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EA3A-6DA0-13ED-40FA-A01B08D66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117A1-1D05-7AFB-E1DB-6CB2A33C2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7312"/>
            <a:ext cx="9144000" cy="52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80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80D1-05D5-FDC1-BC8A-5C5143CE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04E1B-B0DC-CAF9-9BB3-CB0F39C8C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861FF-E77C-4392-EB82-F95F37891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1681"/>
            <a:ext cx="6782747" cy="2467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1DAB78-4283-D637-EF43-5A97B8FBF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26" y="2412185"/>
            <a:ext cx="8625385" cy="291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76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879D-5358-4986-06BF-8880FE211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87" y="464642"/>
            <a:ext cx="7767624" cy="615553"/>
          </a:xfrm>
        </p:spPr>
        <p:txBody>
          <a:bodyPr/>
          <a:lstStyle/>
          <a:p>
            <a:r>
              <a:rPr lang="en-US" sz="4000" b="1" dirty="0"/>
              <a:t>CHAINED EXCEPTIONS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34791-BF36-FF32-CC39-551F17913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244" y="1527124"/>
            <a:ext cx="7956550" cy="480131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Chained Exceptions allows to relate one exception with another exception, </a:t>
            </a:r>
            <a:r>
              <a:rPr lang="en-US" sz="2400" dirty="0" err="1"/>
              <a:t>i.e</a:t>
            </a:r>
            <a:r>
              <a:rPr lang="en-US" sz="2400" dirty="0"/>
              <a:t> one exception describes cause of another exception.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For example, consider a situation in which a method throws an </a:t>
            </a:r>
            <a:r>
              <a:rPr lang="en-US" sz="2400" dirty="0" err="1"/>
              <a:t>ArithmeticException</a:t>
            </a:r>
            <a:r>
              <a:rPr lang="en-US" sz="2400" dirty="0"/>
              <a:t> because of an attempt to divide by zero but the actual cause of exception was an I/O error which caused the divisor to be zero.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method will throw only </a:t>
            </a:r>
            <a:r>
              <a:rPr lang="en-US" sz="2400" dirty="0" err="1"/>
              <a:t>ArithmeticException</a:t>
            </a:r>
            <a:r>
              <a:rPr lang="en-US" sz="2400" dirty="0"/>
              <a:t> to the caller.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So the caller would not come to know about the actual cause of exception.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Chained Exception is used in such type of situations.</a:t>
            </a: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46235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B951FE-BD3E-2CF9-3351-087DA4C8AB5E}"/>
              </a:ext>
            </a:extLst>
          </p:cNvPr>
          <p:cNvSpPr txBox="1"/>
          <p:nvPr/>
        </p:nvSpPr>
        <p:spPr>
          <a:xfrm>
            <a:off x="593724" y="812304"/>
            <a:ext cx="7956549" cy="512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40"/>
              </a:spcBef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Throwable</a:t>
            </a:r>
            <a:r>
              <a:rPr lang="en-US" sz="2800" b="1" spc="-3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constructors</a:t>
            </a:r>
            <a:r>
              <a:rPr lang="en-US" sz="2800" b="1" spc="-3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800" b="1" spc="-3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sz="2800" b="1" spc="-3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chained</a:t>
            </a:r>
            <a:r>
              <a:rPr lang="en-US" sz="2800" b="1" spc="-3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exceptions</a:t>
            </a:r>
            <a:r>
              <a:rPr lang="en-US" sz="2800" b="1" spc="-3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20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  <a:endParaRPr lang="en-IN" sz="2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50"/>
              </a:spcBef>
              <a:buClr>
                <a:srgbClr val="231F20"/>
              </a:buClr>
              <a:buSzPts val="1150"/>
              <a:buFont typeface="Times New Roman" panose="02020603050405020304" pitchFamily="18" charset="0"/>
              <a:buAutoNum type="arabicPeriod"/>
              <a:tabLst>
                <a:tab pos="534035" algn="l"/>
              </a:tabLst>
            </a:pP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Throwable(Throwable</a:t>
            </a:r>
            <a:r>
              <a:rPr lang="en-US" sz="2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cause)</a:t>
            </a:r>
            <a:r>
              <a:rPr lang="en-US" sz="20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:- Where</a:t>
            </a:r>
            <a:r>
              <a:rPr lang="en-US" sz="20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</a:t>
            </a:r>
            <a:r>
              <a:rPr lang="en-US" sz="20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000" spc="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</a:t>
            </a:r>
            <a:r>
              <a:rPr lang="en-US" sz="20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en-US" sz="2000" spc="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causes</a:t>
            </a:r>
            <a:r>
              <a:rPr lang="en-US" sz="20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endParaRPr lang="en-IN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34035">
              <a:spcBef>
                <a:spcPts val="55"/>
              </a:spcBef>
              <a:buNone/>
            </a:pP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60"/>
              </a:spcBef>
              <a:buClr>
                <a:srgbClr val="231F20"/>
              </a:buClr>
              <a:buSzPts val="1150"/>
              <a:buFont typeface="Times New Roman" panose="02020603050405020304" pitchFamily="18" charset="0"/>
              <a:buAutoNum type="arabicPeriod"/>
              <a:tabLst>
                <a:tab pos="534035" algn="l"/>
              </a:tabLst>
            </a:pP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Throwable(String</a:t>
            </a:r>
            <a:r>
              <a:rPr lang="en-US" sz="20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msg,</a:t>
            </a:r>
            <a:r>
              <a:rPr lang="en-US" sz="20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Throwable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cause)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:-</a:t>
            </a:r>
            <a:r>
              <a:rPr lang="en-US" sz="20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msg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endParaRPr lang="en-IN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34035">
              <a:spcBef>
                <a:spcPts val="55"/>
              </a:spcBef>
              <a:buNone/>
            </a:pP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 that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causes</a:t>
            </a: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 </a:t>
            </a: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exception.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75"/>
              </a:spcBef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Throwable</a:t>
            </a:r>
            <a:r>
              <a:rPr lang="en-US" sz="2800" b="1" spc="-30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800" b="1" spc="-3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800" b="1" spc="-2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lang="en-US" sz="2800" b="1" spc="-35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chained</a:t>
            </a:r>
            <a:r>
              <a:rPr lang="en-US" sz="2800" b="1" spc="-30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exceptions</a:t>
            </a:r>
            <a:r>
              <a:rPr lang="en-US" sz="2800" b="1" spc="-30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20" dirty="0">
                <a:solidFill>
                  <a:srgbClr val="231F2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  <a:endParaRPr lang="en-IN" sz="28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545"/>
              </a:spcBef>
              <a:buClr>
                <a:srgbClr val="231F20"/>
              </a:buClr>
              <a:buSzPts val="1150"/>
              <a:buFont typeface="Times New Roman" panose="02020603050405020304" pitchFamily="18" charset="0"/>
              <a:buAutoNum type="arabicPeriod"/>
              <a:tabLst>
                <a:tab pos="534035" algn="l"/>
              </a:tabLst>
            </a:pPr>
            <a:r>
              <a:rPr lang="en-US" sz="2000" spc="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getCause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:-</a:t>
            </a:r>
            <a:r>
              <a:rPr lang="en-US" sz="20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returns</a:t>
            </a: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actual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</a:t>
            </a: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exception.</a:t>
            </a:r>
            <a:endParaRPr lang="en-IN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88265" lvl="0" indent="-342900">
              <a:lnSpc>
                <a:spcPct val="103000"/>
              </a:lnSpc>
              <a:spcBef>
                <a:spcPts val="655"/>
              </a:spcBef>
              <a:buClr>
                <a:srgbClr val="231F20"/>
              </a:buClr>
              <a:buSzPts val="1150"/>
              <a:buFont typeface="Times New Roman" panose="02020603050405020304" pitchFamily="18" charset="0"/>
              <a:buAutoNum type="arabicPeriod"/>
              <a:tabLst>
                <a:tab pos="534035" algn="l"/>
              </a:tabLst>
            </a:pPr>
            <a:r>
              <a:rPr lang="en-US" sz="2000" spc="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initCause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(Throwable cause) method :-</a:t>
            </a:r>
            <a:r>
              <a:rPr lang="en-US" sz="20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method sets the cause for the calling ex- </a:t>
            </a:r>
            <a:r>
              <a:rPr lang="en-US" sz="2000" spc="-10" dirty="0" err="1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ception</a:t>
            </a:r>
            <a:r>
              <a:rPr lang="en-US" sz="20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233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7A8D-784A-8BA7-2210-147D6298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D79E-599D-F3A9-C4E3-78D3A97F7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200D5-C9B6-3E10-3F77-68ED7E191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31" y="275785"/>
            <a:ext cx="8335538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123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A57C-D784-D383-2FF8-30CC9302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C6A98-7C9B-9F2D-756D-2922A6C36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20C05-A9AB-0342-3203-E6B7E1CDE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05" y="685417"/>
            <a:ext cx="7630590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57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88692-DB3F-4EAE-442F-4C7132B3F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725" y="990600"/>
            <a:ext cx="7956550" cy="4308872"/>
          </a:xfrm>
        </p:spPr>
        <p:txBody>
          <a:bodyPr/>
          <a:lstStyle/>
          <a:p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this example, the top-level exception is </a:t>
            </a:r>
            <a:r>
              <a:rPr lang="en-US" sz="2800" dirty="0" err="1"/>
              <a:t>ArithmeticException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To it is added a cause exception, </a:t>
            </a:r>
            <a:r>
              <a:rPr lang="en-US" sz="2800" dirty="0" err="1"/>
              <a:t>IOException</a:t>
            </a:r>
            <a:r>
              <a:rPr lang="en-US" sz="2800" dirty="0"/>
              <a:t>. When the exception is thrown out of divide( ), it is caught by main().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There, the top-level exception is displayed, followed by the underlying exception, which is obtained by calling </a:t>
            </a:r>
            <a:r>
              <a:rPr lang="en-US" sz="2800" dirty="0" err="1"/>
              <a:t>getCause</a:t>
            </a:r>
            <a:r>
              <a:rPr lang="en-US" sz="2800" dirty="0"/>
              <a:t>( ).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08474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2964</Words>
  <Application>Microsoft Office PowerPoint</Application>
  <PresentationFormat>On-screen Show (4:3)</PresentationFormat>
  <Paragraphs>415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Arial MT</vt:lpstr>
      <vt:lpstr>Calibri</vt:lpstr>
      <vt:lpstr>Calibri Light</vt:lpstr>
      <vt:lpstr>Courier New</vt:lpstr>
      <vt:lpstr>Times New Roman</vt:lpstr>
      <vt:lpstr>Office Theme</vt:lpstr>
      <vt:lpstr>Java Exception Handling</vt:lpstr>
      <vt:lpstr>Exception-Handling Fundamentals</vt:lpstr>
      <vt:lpstr>Keywords for exception handling</vt:lpstr>
      <vt:lpstr>General form of an exception-handling block</vt:lpstr>
      <vt:lpstr>Exception Types</vt:lpstr>
      <vt:lpstr>Uncaught Exceptions</vt:lpstr>
      <vt:lpstr>Using try and catch</vt:lpstr>
      <vt:lpstr>Using try and catch</vt:lpstr>
      <vt:lpstr>Another Example</vt:lpstr>
      <vt:lpstr>Displaying a Description of an Exception</vt:lpstr>
      <vt:lpstr>Multiple catch Clauses</vt:lpstr>
      <vt:lpstr>Multiple catch Clauses (Example)</vt:lpstr>
      <vt:lpstr>Multiple catch Clauses (Example)</vt:lpstr>
      <vt:lpstr>Nested try Statements</vt:lpstr>
      <vt:lpstr>Nested try Statements (Example)</vt:lpstr>
      <vt:lpstr>Nested try Statements (Example)</vt:lpstr>
      <vt:lpstr>throw</vt:lpstr>
      <vt:lpstr>throw (example)</vt:lpstr>
      <vt:lpstr>throw (example)</vt:lpstr>
      <vt:lpstr>throws</vt:lpstr>
      <vt:lpstr>throws (example)</vt:lpstr>
      <vt:lpstr>throws (example)</vt:lpstr>
      <vt:lpstr>finally</vt:lpstr>
      <vt:lpstr>finally (example)</vt:lpstr>
      <vt:lpstr>finally (example)</vt:lpstr>
      <vt:lpstr>Java’s Built-in Exceptions Java’s Unchecked RuntimeException Subclasses Defined in java.lang</vt:lpstr>
      <vt:lpstr>Java’s Built-in Exceptions Java’s Checked Exceptions Defined in java.lang</vt:lpstr>
      <vt:lpstr>BUILT-IN EXCEPTIONS</vt:lpstr>
      <vt:lpstr>PowerPoint Presentation</vt:lpstr>
      <vt:lpstr>The following Java program explains NumberFormatException </vt:lpstr>
      <vt:lpstr>The following Java program explains StackOverflowError exception  main() → fun1() → fun2() → fun1() → fun2() → fun1() → ... No base condition to stop recursion, method calls keep stacking in memory </vt:lpstr>
      <vt:lpstr>USER DEFINED EXCEPTION IN JAVA </vt:lpstr>
      <vt:lpstr>Some of the methods defined by Throwable are shown in below table. </vt:lpstr>
      <vt:lpstr>Two commonly used constructors of Exception class are: </vt:lpstr>
      <vt:lpstr>Example</vt:lpstr>
      <vt:lpstr>PowerPoint Presentation</vt:lpstr>
      <vt:lpstr>PowerPoint Presentation</vt:lpstr>
      <vt:lpstr>PowerPoint Presentation</vt:lpstr>
      <vt:lpstr>PowerPoint Presentation</vt:lpstr>
      <vt:lpstr>CHAINED EXCEPTIONS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Priyanka C</cp:lastModifiedBy>
  <cp:revision>10</cp:revision>
  <dcterms:created xsi:type="dcterms:W3CDTF">2026-03-05T03:19:44Z</dcterms:created>
  <dcterms:modified xsi:type="dcterms:W3CDTF">2026-03-31T05:41:27Z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2020-03-21T00:00:00Z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2026-03-05T00:00:00Z</vt:filetime>
  </property>
  <property fmtid="{D5CDD505-2E9C-101B-9397-08002B2CF9AE}" pid="5" name="Producer">
    <vt:lpwstr>Microsoft® PowerPoint® 2010</vt:lpwstr>
  </property>
</Properties>
</file>