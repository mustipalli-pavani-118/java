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8" r:id="rId2"/>
    <p:sldId id="522" r:id="rId3"/>
    <p:sldId id="531" r:id="rId4"/>
    <p:sldId id="523" r:id="rId5"/>
    <p:sldId id="529" r:id="rId6"/>
    <p:sldId id="530" r:id="rId7"/>
    <p:sldId id="525" r:id="rId8"/>
    <p:sldId id="524" r:id="rId9"/>
    <p:sldId id="526" r:id="rId10"/>
    <p:sldId id="527" r:id="rId11"/>
    <p:sldId id="53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66"/>
    <a:srgbClr val="82F882"/>
    <a:srgbClr val="50B8B3"/>
    <a:srgbClr val="F4750C"/>
    <a:srgbClr val="FF66CC"/>
    <a:srgbClr val="FF3399"/>
    <a:srgbClr val="2AC2D6"/>
    <a:srgbClr val="28D845"/>
    <a:srgbClr val="DEE31D"/>
    <a:srgbClr val="3427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FA8D8-0349-402D-9DBD-987F3E3FEA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4C7F21-46EF-4F44-B1D9-44EC2F0407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5FC92-AD39-4668-8D20-77B99937D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DF092-5BF7-4C72-8821-C6FA7FB60206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18F11-E50F-44B2-8A1D-1952E0732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24A8EA-95CD-44CE-973A-489627A9B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DC34C-2A55-45CE-877C-880C35343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5989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2092B2-BAA9-4D6A-84A4-2CD3D5E606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733B1-780C-4E72-B608-60178D6606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C69BBB-11C7-4F61-B13E-CF2EDC0E5D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DF092-5BF7-4C72-8821-C6FA7FB60206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64EE3-63F9-4526-A78D-DCE479673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9C5731-E3E9-41D1-A5DC-5D94366A6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DC34C-2A55-45CE-877C-880C35343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4641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1519F-BE8F-4336-80BB-7038391FE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F924C2-3F3F-4D50-803F-48672D61C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3E1312-D1B2-4EAA-A1DD-30614E1D47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DF092-5BF7-4C72-8821-C6FA7FB60206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9762E2-2304-4BA2-BDEE-902324855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3B262D-DB52-465C-BD91-406339C8C2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DC34C-2A55-45CE-877C-880C35343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6640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F7181-F078-4558-B7E8-FF61094C3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D528F8-99AD-4680-AFE2-140794F560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644F2D-E144-47EE-86AF-E95793B17E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F55584-6025-4697-BA93-D0B0FDE5C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DF092-5BF7-4C72-8821-C6FA7FB60206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DCD366-22E6-46F7-B5C0-7C78CE8E3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0FB7E8-6383-45B6-87C9-B1F81C4B6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DC34C-2A55-45CE-877C-880C35343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87841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365DB-681E-4811-830B-610EC7D5C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41BB5E-F621-47CD-95E6-4C39C6A83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022DED-4CC4-4128-9474-7F0585F036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B672BF-CEC4-41D5-A1EF-8DC0FC91A91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AEF02C-F0C2-4AB0-82EE-64E383FAA0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4BE8BF0-760D-4026-97B9-A2E1447A2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DF092-5BF7-4C72-8821-C6FA7FB60206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8017C8-0240-4DBE-96DB-BA289F440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D84DB7-85B3-4174-8116-4790184F9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DC34C-2A55-45CE-877C-880C35343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0232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6159C-933C-4A64-8104-2B129D39F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509A4C-1CAC-4ADD-B031-1C368F02A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DF092-5BF7-4C72-8821-C6FA7FB60206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390D26-BD12-4C0F-A49C-5DE30BAE6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24B2FF-5AB6-4EFA-9C24-E92C4C9F3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DC34C-2A55-45CE-877C-880C35343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83155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DF0565-AD75-43B5-939D-BCA9B4351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DF092-5BF7-4C72-8821-C6FA7FB60206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4ED4CA-B016-4021-9276-FED67E50A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2CAE52-0F77-475D-978D-EE3C0325B4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DC34C-2A55-45CE-877C-880C35343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78852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60D91-49B7-4736-97B0-9EA592AC5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DC9E58-26C7-4E53-BC3C-864B49365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88660F-E946-476B-830F-1A09F649DF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D10F48-51E9-40C8-9C28-98E5CB219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DF092-5BF7-4C72-8821-C6FA7FB60206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6F145F-3841-49E4-8AC6-275EAA777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DBF84B-81F0-4F73-AEDB-D9A0C3DDA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DC34C-2A55-45CE-877C-880C35343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1159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213C67-B992-43B7-A1CA-89B0708F70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753170-596D-41D2-9675-14C63B0E97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357680-A7D1-4A4E-8B27-78D8A0804B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1BEAD5-5DE8-4B86-B90E-EAD84ED6E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DF092-5BF7-4C72-8821-C6FA7FB60206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B4EE13-6B66-4C79-AFAE-419CBDC43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8B6F8F-3181-440C-B541-7799F5EA3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DC34C-2A55-45CE-877C-880C35343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05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E7D328-96B9-4647-9824-3467B28AE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439580-377D-44FA-B820-D1E66B216E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F39BF-4148-46FA-AF19-179039BC6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DF092-5BF7-4C72-8821-C6FA7FB60206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0FA64D-12B2-4655-B399-F4520E7A6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8FCA6-7B99-4D2A-BFA9-948733B08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DC34C-2A55-45CE-877C-880C35343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2186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34F04CC-9E15-4D4F-AD3A-AC46B46EE5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14532A-C2E7-4C91-A634-E545D1D626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3B262C-9274-426F-8B2B-031D1AC6F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9DF092-5BF7-4C72-8821-C6FA7FB60206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8525A-781D-468B-B3D1-DF863ED1C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B947A5-CAA5-44C9-BE88-9C9C64F0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0DC34C-2A55-45CE-877C-880C35343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889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5FDEEE-26C3-4F7B-9E78-66B829650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6D0AD9-9D56-46DA-A09B-C82E4BE036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47ACDE-CEB1-417C-B294-0EFFC505F7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9DF092-5BF7-4C72-8821-C6FA7FB60206}" type="datetimeFigureOut">
              <a:rPr lang="en-IN" smtClean="0"/>
              <a:t>08-04-2026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B1156-FF87-433B-844E-C410E6F03B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66D74A-6E64-46A6-9B08-1EDD643579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0DC34C-2A55-45CE-877C-880C353438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6737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dureka.co/blog/java-tutorial/#obj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A571D0E-C879-408F-A3D6-29B6940810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962" y="695409"/>
            <a:ext cx="7344696" cy="5949204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E997CDAE-1B3B-4460-BDD0-1E452FB5ABC6}"/>
              </a:ext>
            </a:extLst>
          </p:cNvPr>
          <p:cNvSpPr txBox="1">
            <a:spLocks/>
          </p:cNvSpPr>
          <p:nvPr/>
        </p:nvSpPr>
        <p:spPr>
          <a:xfrm>
            <a:off x="5321552" y="653535"/>
            <a:ext cx="3584358" cy="103715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b="1" dirty="0">
                <a:solidFill>
                  <a:srgbClr val="C00000"/>
                </a:solidFill>
                <a:latin typeface="Arial Rounded MT Bold" panose="020F0704030504030204" pitchFamily="34" charset="0"/>
              </a:rPr>
              <a:t>Contents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D375CC59-1CB9-485F-BD08-5B2F3B25F375}"/>
              </a:ext>
            </a:extLst>
          </p:cNvPr>
          <p:cNvSpPr txBox="1">
            <a:spLocks/>
          </p:cNvSpPr>
          <p:nvPr/>
        </p:nvSpPr>
        <p:spPr>
          <a:xfrm>
            <a:off x="8282305" y="1741995"/>
            <a:ext cx="3177191" cy="300698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80000"/>
              </a:lnSpc>
              <a:buFont typeface="Arial" panose="020B0604020202020204" pitchFamily="34" charset="0"/>
              <a:buNone/>
            </a:pPr>
            <a:endParaRPr lang="en-IN" sz="3200" dirty="0">
              <a:solidFill>
                <a:srgbClr val="0070C0"/>
              </a:solidFill>
              <a:latin typeface="Gill Sans MT" panose="020B0502020104020203" pitchFamily="34" charset="0"/>
            </a:endParaRPr>
          </a:p>
          <a:p>
            <a:pPr>
              <a:lnSpc>
                <a:spcPct val="80000"/>
              </a:lnSpc>
            </a:pPr>
            <a:r>
              <a:rPr lang="en-IN" sz="3200" b="1" dirty="0">
                <a:solidFill>
                  <a:srgbClr val="4A4A4A"/>
                </a:solidFill>
                <a:latin typeface="Gill Sans MT" panose="020B0502020104020203" pitchFamily="34" charset="0"/>
              </a:rPr>
              <a:t>JAVA Swings</a:t>
            </a:r>
          </a:p>
        </p:txBody>
      </p:sp>
    </p:spTree>
    <p:extLst>
      <p:ext uri="{BB962C8B-B14F-4D97-AF65-F5344CB8AC3E}">
        <p14:creationId xmlns:p14="http://schemas.microsoft.com/office/powerpoint/2010/main" val="1359749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03D33-77D9-4BF5-B7AB-EC46FA4D2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2060"/>
                </a:solidFill>
                <a:latin typeface="Open Sans"/>
              </a:rPr>
              <a:t>JAVA Swings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D58464-A65B-4D09-BD05-A67C406B6F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4A4A4A"/>
                </a:solidFill>
                <a:effectLst/>
                <a:latin typeface="Gill Sans MT" panose="020B0502020104020203" pitchFamily="34" charset="0"/>
              </a:rPr>
              <a:t>Swing in Java is a lightweight GUI toolkit which has a wide variety of widgets for building optimized window based applications.</a:t>
            </a:r>
          </a:p>
          <a:p>
            <a:r>
              <a:rPr lang="en-IN" b="0" i="0" dirty="0">
                <a:solidFill>
                  <a:srgbClr val="4A4A4A"/>
                </a:solidFill>
                <a:effectLst/>
                <a:latin typeface="Gill Sans MT" panose="020B0502020104020203" pitchFamily="34" charset="0"/>
              </a:rPr>
              <a:t>lightweight and platform independent</a:t>
            </a:r>
            <a:endParaRPr lang="en-US" dirty="0">
              <a:solidFill>
                <a:srgbClr val="4A4A4A"/>
              </a:solidFill>
              <a:latin typeface="Gill Sans MT" panose="020B0502020104020203" pitchFamily="34" charset="0"/>
            </a:endParaRPr>
          </a:p>
          <a:p>
            <a:r>
              <a:rPr lang="en-US" b="0" i="0" dirty="0">
                <a:solidFill>
                  <a:srgbClr val="4A4A4A"/>
                </a:solidFill>
                <a:effectLst/>
                <a:latin typeface="Gill Sans MT" panose="020B0502020104020203" pitchFamily="34" charset="0"/>
              </a:rPr>
              <a:t>It includes components like button, scroll bar, text field etc. Putting together all these components makes a graphical user interface.</a:t>
            </a:r>
            <a:endParaRPr lang="en-IN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3263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86ABC56-7E94-9983-0429-9965BFDAC99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93012091"/>
              </p:ext>
            </p:extLst>
          </p:nvPr>
        </p:nvGraphicFramePr>
        <p:xfrm>
          <a:off x="727587" y="943897"/>
          <a:ext cx="10626214" cy="5238520"/>
        </p:xfrm>
        <a:graphic>
          <a:graphicData uri="http://schemas.openxmlformats.org/drawingml/2006/table">
            <a:tbl>
              <a:tblPr/>
              <a:tblGrid>
                <a:gridCol w="5313107">
                  <a:extLst>
                    <a:ext uri="{9D8B030D-6E8A-4147-A177-3AD203B41FA5}">
                      <a16:colId xmlns:a16="http://schemas.microsoft.com/office/drawing/2014/main" val="1120563553"/>
                    </a:ext>
                  </a:extLst>
                </a:gridCol>
                <a:gridCol w="5313107">
                  <a:extLst>
                    <a:ext uri="{9D8B030D-6E8A-4147-A177-3AD203B41FA5}">
                      <a16:colId xmlns:a16="http://schemas.microsoft.com/office/drawing/2014/main" val="2388625256"/>
                    </a:ext>
                  </a:extLst>
                </a:gridCol>
              </a:tblGrid>
              <a:tr h="570001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400" b="1" dirty="0">
                          <a:effectLst/>
                        </a:rPr>
                        <a:t>Java AWT(abstract window toolkit)</a:t>
                      </a:r>
                    </a:p>
                  </a:txBody>
                  <a:tcPr marL="38100" marR="38100" marT="76200" marB="7620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400" b="1">
                          <a:effectLst/>
                        </a:rPr>
                        <a:t>Java Swing</a:t>
                      </a:r>
                    </a:p>
                  </a:txBody>
                  <a:tcPr marL="76200" marR="76200" marT="76200" marB="7620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6511579"/>
                  </a:ext>
                </a:extLst>
              </a:tr>
              <a:tr h="1223128">
                <a:tc>
                  <a:txBody>
                    <a:bodyPr/>
                    <a:lstStyle/>
                    <a:p>
                      <a:pPr marL="342900" indent="-342900" algn="ctr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dirty="0">
                          <a:effectLst/>
                        </a:rPr>
                        <a:t>Java AWT is an API to develop GUI applications in Java.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2400" b="0">
                          <a:effectLst/>
                        </a:rPr>
                        <a:t>Swing is a part of Java Foundation Classes and is used to create various applications.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0821886"/>
                  </a:ext>
                </a:extLst>
              </a:tr>
              <a:tr h="926253">
                <a:tc>
                  <a:txBody>
                    <a:bodyPr/>
                    <a:lstStyle/>
                    <a:p>
                      <a:pPr marL="342900" indent="-342900" algn="ctr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dirty="0">
                          <a:effectLst/>
                        </a:rPr>
                        <a:t>Components of AWT are heavy weighted.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2400" b="0">
                          <a:effectLst/>
                        </a:rPr>
                        <a:t>The components of Java Swing are lightweight.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0072887"/>
                  </a:ext>
                </a:extLst>
              </a:tr>
              <a:tr h="926253">
                <a:tc>
                  <a:txBody>
                    <a:bodyPr/>
                    <a:lstStyle/>
                    <a:p>
                      <a:pPr marL="342900" indent="-342900" algn="ctr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IN" sz="2400" b="0" dirty="0">
                          <a:effectLst/>
                        </a:rPr>
                        <a:t>Components are platform dependent.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IN" sz="2400" b="0">
                          <a:effectLst/>
                        </a:rPr>
                        <a:t>Components are platform independent.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737948"/>
                  </a:ext>
                </a:extLst>
              </a:tr>
              <a:tr h="629378">
                <a:tc>
                  <a:txBody>
                    <a:bodyPr/>
                    <a:lstStyle/>
                    <a:p>
                      <a:pPr marL="342900" indent="-342900" algn="ctr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US" sz="2400" b="0" dirty="0">
                          <a:effectLst/>
                        </a:rPr>
                        <a:t>Execution Time is more than Swing.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2400" b="0">
                          <a:effectLst/>
                        </a:rPr>
                        <a:t>Execution Time is less than AWT.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4777894"/>
                  </a:ext>
                </a:extLst>
              </a:tr>
              <a:tr h="926253">
                <a:tc>
                  <a:txBody>
                    <a:bodyPr/>
                    <a:lstStyle/>
                    <a:p>
                      <a:pPr marL="342900" indent="-342900" algn="ctr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n-IN" sz="2400" b="0">
                          <a:effectLst/>
                        </a:rPr>
                        <a:t>AWT components require </a:t>
                      </a:r>
                      <a:r>
                        <a:rPr lang="en-IN" sz="2400" b="0" dirty="0" err="1">
                          <a:effectLst/>
                        </a:rPr>
                        <a:t>java.awt</a:t>
                      </a:r>
                      <a:r>
                        <a:rPr lang="en-IN" sz="2400" b="0" dirty="0">
                          <a:effectLst/>
                        </a:rPr>
                        <a:t> package. 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2400" b="0" dirty="0">
                          <a:effectLst/>
                        </a:rPr>
                        <a:t>Swing components requires </a:t>
                      </a:r>
                      <a:r>
                        <a:rPr lang="en-US" sz="2400" b="0" dirty="0" err="1">
                          <a:effectLst/>
                        </a:rPr>
                        <a:t>javax.swing</a:t>
                      </a:r>
                      <a:r>
                        <a:rPr lang="en-US" sz="2400" b="0" dirty="0">
                          <a:effectLst/>
                        </a:rPr>
                        <a:t> package.</a:t>
                      </a:r>
                    </a:p>
                  </a:txBody>
                  <a:tcPr marL="76200" marR="76200" marT="106680" marB="106680" anchor="ctr">
                    <a:lnL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" cap="flat" cmpd="sng" algn="ctr">
                      <a:solidFill>
                        <a:srgbClr val="DFDF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17549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75886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57993-4BC9-428D-AA5A-8DC25A590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2060"/>
                </a:solidFill>
                <a:latin typeface="Open Sans"/>
              </a:rPr>
              <a:t>Container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0EFD7-A5A0-4156-8215-6830BB0BC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0681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dirty="0">
                <a:solidFill>
                  <a:srgbClr val="4A4A4A"/>
                </a:solidFill>
                <a:latin typeface="Gill Sans MT" panose="020B0502020104020203" pitchFamily="34" charset="0"/>
              </a:rPr>
              <a:t>Any </a:t>
            </a:r>
            <a:r>
              <a:rPr lang="en-US" dirty="0">
                <a:solidFill>
                  <a:srgbClr val="4A4A4A"/>
                </a:solidFill>
                <a:latin typeface="Gill Sans MT" panose="020B0502020104020203" pitchFamily="34" charset="0"/>
                <a:hlinkClick r:id="rId2"/>
              </a:rPr>
              <a:t>class</a:t>
            </a:r>
            <a:r>
              <a:rPr lang="en-US" dirty="0">
                <a:solidFill>
                  <a:srgbClr val="4A4A4A"/>
                </a:solidFill>
                <a:latin typeface="Gill Sans MT" panose="020B0502020104020203" pitchFamily="34" charset="0"/>
              </a:rPr>
              <a:t> which has other components in it is called as a container class. For building GUI applications at least one container class is necessary.</a:t>
            </a:r>
          </a:p>
          <a:p>
            <a:r>
              <a:rPr lang="en-US" dirty="0">
                <a:solidFill>
                  <a:srgbClr val="4A4A4A"/>
                </a:solidFill>
                <a:latin typeface="Gill Sans MT" panose="020B0502020104020203" pitchFamily="34" charset="0"/>
              </a:rPr>
              <a:t>Three types of container classes:</a:t>
            </a:r>
          </a:p>
          <a:p>
            <a:pPr lvl="1"/>
            <a:r>
              <a:rPr lang="en-US" dirty="0">
                <a:latin typeface="Gill Sans MT" panose="020B0502020104020203" pitchFamily="34" charset="0"/>
              </a:rPr>
              <a:t>Panel – It is used to organize components on to a window</a:t>
            </a:r>
          </a:p>
          <a:p>
            <a:pPr lvl="1"/>
            <a:r>
              <a:rPr lang="en-US" dirty="0">
                <a:latin typeface="Gill Sans MT" panose="020B0502020104020203" pitchFamily="34" charset="0"/>
              </a:rPr>
              <a:t>Frame – A fully functioning window with icons and titles</a:t>
            </a:r>
          </a:p>
          <a:p>
            <a:pPr lvl="1"/>
            <a:r>
              <a:rPr lang="en-US" dirty="0">
                <a:latin typeface="Gill Sans MT" panose="020B0502020104020203" pitchFamily="34" charset="0"/>
              </a:rPr>
              <a:t>Dialog – It is like a pop up window but not fully functional like the frame</a:t>
            </a:r>
          </a:p>
          <a:p>
            <a:endParaRPr lang="en-IN" dirty="0">
              <a:solidFill>
                <a:srgbClr val="4A4A4A"/>
              </a:solidFill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2901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hierarchy of javax swing">
            <a:extLst>
              <a:ext uri="{FF2B5EF4-FFF2-40B4-BE49-F238E27FC236}">
                <a16:creationId xmlns:a16="http://schemas.microsoft.com/office/drawing/2014/main" id="{752303FF-ACD4-F9C7-D9FE-B42C8D20590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9032" y="284150"/>
            <a:ext cx="9448800" cy="65021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10141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CB4AAC5-9730-4EB8-A792-81424D8B29C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43646594"/>
              </p:ext>
            </p:extLst>
          </p:nvPr>
        </p:nvGraphicFramePr>
        <p:xfrm>
          <a:off x="993057" y="943897"/>
          <a:ext cx="9399640" cy="5012743"/>
        </p:xfrm>
        <a:graphic>
          <a:graphicData uri="http://schemas.openxmlformats.org/drawingml/2006/table">
            <a:tbl>
              <a:tblPr/>
              <a:tblGrid>
                <a:gridCol w="4699820">
                  <a:extLst>
                    <a:ext uri="{9D8B030D-6E8A-4147-A177-3AD203B41FA5}">
                      <a16:colId xmlns:a16="http://schemas.microsoft.com/office/drawing/2014/main" val="93031347"/>
                    </a:ext>
                  </a:extLst>
                </a:gridCol>
                <a:gridCol w="4699820">
                  <a:extLst>
                    <a:ext uri="{9D8B030D-6E8A-4147-A177-3AD203B41FA5}">
                      <a16:colId xmlns:a16="http://schemas.microsoft.com/office/drawing/2014/main" val="684803484"/>
                    </a:ext>
                  </a:extLst>
                </a:gridCol>
              </a:tblGrid>
              <a:tr h="669993">
                <a:tc>
                  <a:txBody>
                    <a:bodyPr/>
                    <a:lstStyle/>
                    <a:p>
                      <a:pPr algn="l" fontAlgn="t"/>
                      <a:r>
                        <a:rPr lang="en-I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Method</a:t>
                      </a:r>
                    </a:p>
                  </a:txBody>
                  <a:tcPr marT="91440" marB="91440">
                    <a:lnL w="7620" cap="flat" cmpd="sng" algn="ctr">
                      <a:solidFill>
                        <a:srgbClr val="F0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0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IN" sz="280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marT="91440" marB="91440">
                    <a:lnL w="7620" cap="flat" cmpd="sng" algn="ctr">
                      <a:solidFill>
                        <a:srgbClr val="F0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F0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F0DBB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7CC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3769620"/>
                  </a:ext>
                </a:extLst>
              </a:tr>
              <a:tr h="982655">
                <a:tc>
                  <a:txBody>
                    <a:bodyPr/>
                    <a:lstStyle/>
                    <a:p>
                      <a:pPr algn="just" fontAlgn="t"/>
                      <a:r>
                        <a:rPr lang="en-US" sz="2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public void add(Component c)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8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add a component on another component.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44250424"/>
                  </a:ext>
                </a:extLst>
              </a:tr>
              <a:tr h="934513">
                <a:tc>
                  <a:txBody>
                    <a:bodyPr/>
                    <a:lstStyle/>
                    <a:p>
                      <a:pPr algn="just" fontAlgn="t"/>
                      <a:r>
                        <a:rPr lang="en-US" sz="2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public void </a:t>
                      </a:r>
                      <a:r>
                        <a:rPr lang="en-US" sz="28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setSize</a:t>
                      </a:r>
                      <a:r>
                        <a:rPr lang="en-US" sz="2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(int </a:t>
                      </a:r>
                      <a:r>
                        <a:rPr lang="en-US" sz="2800" dirty="0" err="1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width,int</a:t>
                      </a:r>
                      <a:r>
                        <a:rPr lang="en-US" sz="2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 height)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8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sets size of the component.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4728697"/>
                  </a:ext>
                </a:extLst>
              </a:tr>
              <a:tr h="982655">
                <a:tc>
                  <a:txBody>
                    <a:bodyPr/>
                    <a:lstStyle/>
                    <a:p>
                      <a:pPr algn="just" fontAlgn="t"/>
                      <a:r>
                        <a:rPr lang="en-US" sz="28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public void setLayout(LayoutManager m)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8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sets the layout manager for the component.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5527140"/>
                  </a:ext>
                </a:extLst>
              </a:tr>
              <a:tr h="1316815">
                <a:tc>
                  <a:txBody>
                    <a:bodyPr/>
                    <a:lstStyle/>
                    <a:p>
                      <a:pPr algn="just" fontAlgn="t"/>
                      <a:r>
                        <a:rPr lang="en-US" sz="280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public void setVisible(boolean b)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tc>
                  <a:txBody>
                    <a:bodyPr/>
                    <a:lstStyle/>
                    <a:p>
                      <a:pPr algn="just" fontAlgn="t"/>
                      <a:r>
                        <a:rPr lang="en-US" sz="2800" dirty="0">
                          <a:solidFill>
                            <a:srgbClr val="333333"/>
                          </a:solidFill>
                          <a:effectLst/>
                          <a:latin typeface="inter-regular"/>
                        </a:rPr>
                        <a:t>sets the visibility of the component. It is by default false.</a:t>
                      </a:r>
                    </a:p>
                  </a:txBody>
                  <a:tcPr marL="60960" marR="60960" marT="60960" marB="60960">
                    <a:lnL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C7CCB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1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1522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9510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ED71C54-095C-4C70-80F9-A1C1B1C5F8E8}"/>
              </a:ext>
            </a:extLst>
          </p:cNvPr>
          <p:cNvSpPr txBox="1">
            <a:spLocks/>
          </p:cNvSpPr>
          <p:nvPr/>
        </p:nvSpPr>
        <p:spPr>
          <a:xfrm>
            <a:off x="476867" y="1688690"/>
            <a:ext cx="6056670" cy="4999704"/>
          </a:xfrm>
          <a:prstGeom prst="rect">
            <a:avLst/>
          </a:prstGeom>
          <a:ln>
            <a:solidFill>
              <a:srgbClr val="FF8837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import 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javax.swing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.*;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public class </a:t>
            </a:r>
            <a:r>
              <a:rPr lang="en-US" sz="1800" dirty="0">
                <a:latin typeface="Consolas" panose="020B0609020204030204" pitchFamily="49" charset="0"/>
              </a:rPr>
              <a:t>example{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 public static void </a:t>
            </a:r>
            <a:r>
              <a:rPr lang="en-US" sz="1800" dirty="0">
                <a:latin typeface="Consolas" panose="020B0609020204030204" pitchFamily="49" charset="0"/>
              </a:rPr>
              <a:t>main(String </a:t>
            </a:r>
            <a:r>
              <a:rPr lang="en-US" sz="1800" dirty="0" err="1">
                <a:latin typeface="Consolas" panose="020B0609020204030204" pitchFamily="49" charset="0"/>
              </a:rPr>
              <a:t>args</a:t>
            </a:r>
            <a:r>
              <a:rPr lang="en-US" sz="1800" dirty="0">
                <a:latin typeface="Consolas" panose="020B0609020204030204" pitchFamily="49" charset="0"/>
              </a:rPr>
              <a:t>[]) {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</a:t>
            </a:r>
            <a:r>
              <a:rPr lang="en-US" sz="1800" dirty="0" err="1">
                <a:latin typeface="Consolas" panose="020B0609020204030204" pitchFamily="49" charset="0"/>
              </a:rPr>
              <a:t>JFrame</a:t>
            </a:r>
            <a:r>
              <a:rPr lang="en-US" sz="1800" dirty="0">
                <a:latin typeface="Consolas" panose="020B0609020204030204" pitchFamily="49" charset="0"/>
              </a:rPr>
              <a:t> a =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JFrame</a:t>
            </a:r>
            <a:r>
              <a:rPr lang="en-US" sz="1800" dirty="0">
                <a:latin typeface="Consolas" panose="020B0609020204030204" pitchFamily="49" charset="0"/>
              </a:rPr>
              <a:t>("</a:t>
            </a:r>
            <a: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  <a:t>example</a:t>
            </a:r>
            <a:r>
              <a:rPr lang="en-US" sz="1800" dirty="0">
                <a:latin typeface="Consolas" panose="020B0609020204030204" pitchFamily="49" charset="0"/>
              </a:rPr>
              <a:t>");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</a:t>
            </a:r>
            <a:r>
              <a:rPr lang="en-US" sz="1800" dirty="0" err="1">
                <a:latin typeface="Consolas" panose="020B0609020204030204" pitchFamily="49" charset="0"/>
              </a:rPr>
              <a:t>JButton</a:t>
            </a:r>
            <a:r>
              <a:rPr lang="en-US" sz="1800" dirty="0">
                <a:latin typeface="Consolas" panose="020B0609020204030204" pitchFamily="49" charset="0"/>
              </a:rPr>
              <a:t> b =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JButton</a:t>
            </a:r>
            <a:r>
              <a:rPr lang="en-US" sz="1800" dirty="0">
                <a:latin typeface="Consolas" panose="020B0609020204030204" pitchFamily="49" charset="0"/>
              </a:rPr>
              <a:t>("</a:t>
            </a:r>
            <a: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  <a:t>click me</a:t>
            </a:r>
            <a:r>
              <a:rPr lang="en-US" sz="1800" dirty="0">
                <a:latin typeface="Consolas" panose="020B0609020204030204" pitchFamily="49" charset="0"/>
              </a:rPr>
              <a:t>");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</a:t>
            </a:r>
            <a:r>
              <a:rPr lang="en-US" sz="1800" dirty="0" err="1">
                <a:latin typeface="Consolas" panose="020B0609020204030204" pitchFamily="49" charset="0"/>
              </a:rPr>
              <a:t>b.setBounds</a:t>
            </a:r>
            <a:r>
              <a:rPr lang="en-US" sz="1800" dirty="0"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</a:rPr>
              <a:t>40,90,85,20</a:t>
            </a:r>
            <a:r>
              <a:rPr lang="en-US" sz="18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</a:t>
            </a:r>
            <a:r>
              <a:rPr lang="en-US" sz="1800" dirty="0" err="1">
                <a:latin typeface="Consolas" panose="020B0609020204030204" pitchFamily="49" charset="0"/>
              </a:rPr>
              <a:t>a.add</a:t>
            </a:r>
            <a:r>
              <a:rPr lang="en-US" sz="1800" dirty="0">
                <a:latin typeface="Consolas" panose="020B0609020204030204" pitchFamily="49" charset="0"/>
              </a:rPr>
              <a:t>(b);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</a:t>
            </a:r>
            <a:r>
              <a:rPr lang="en-US" sz="1800" dirty="0" err="1">
                <a:latin typeface="Consolas" panose="020B0609020204030204" pitchFamily="49" charset="0"/>
              </a:rPr>
              <a:t>a.setSize</a:t>
            </a:r>
            <a:r>
              <a:rPr lang="en-US" sz="1800" dirty="0"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</a:rPr>
              <a:t>300,300</a:t>
            </a:r>
            <a:r>
              <a:rPr lang="en-US" sz="18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</a:t>
            </a:r>
            <a:r>
              <a:rPr lang="en-US" sz="1800" dirty="0" err="1">
                <a:latin typeface="Consolas" panose="020B0609020204030204" pitchFamily="49" charset="0"/>
              </a:rPr>
              <a:t>a.setLayout</a:t>
            </a:r>
            <a:r>
              <a:rPr lang="en-US" sz="1800" dirty="0"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  <a:t>null</a:t>
            </a:r>
            <a:r>
              <a:rPr lang="en-US" sz="18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</a:t>
            </a:r>
            <a:r>
              <a:rPr lang="en-US" sz="1800" dirty="0" err="1">
                <a:latin typeface="Consolas" panose="020B0609020204030204" pitchFamily="49" charset="0"/>
              </a:rPr>
              <a:t>a.setVisible</a:t>
            </a:r>
            <a:r>
              <a:rPr lang="en-US" sz="1800" dirty="0"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B0F0"/>
                </a:solidFill>
                <a:latin typeface="Consolas" panose="020B0609020204030204" pitchFamily="49" charset="0"/>
              </a:rPr>
              <a:t>true</a:t>
            </a:r>
            <a:r>
              <a:rPr lang="en-US" sz="18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}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49D43FB-7082-4B3E-B144-A2134A6BA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866239" cy="1124462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  <a:latin typeface="Open Sans"/>
              </a:rPr>
              <a:t>Example – </a:t>
            </a:r>
            <a:r>
              <a:rPr lang="en-IN" b="1" dirty="0" err="1">
                <a:solidFill>
                  <a:srgbClr val="002060"/>
                </a:solidFill>
                <a:latin typeface="Open Sans"/>
              </a:rPr>
              <a:t>Jbutton</a:t>
            </a:r>
            <a:r>
              <a:rPr lang="en-IN" b="1" dirty="0">
                <a:solidFill>
                  <a:srgbClr val="002060"/>
                </a:solidFill>
                <a:latin typeface="Open Sans"/>
              </a:rPr>
              <a:t> Class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C244C70-AD2B-4DF8-802D-52DC218C73C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936" t="38489" r="27903" b="14607"/>
          <a:stretch/>
        </p:blipFill>
        <p:spPr>
          <a:xfrm>
            <a:off x="7447935" y="2308122"/>
            <a:ext cx="3067665" cy="3215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716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ED71C54-095C-4C70-80F9-A1C1B1C5F8E8}"/>
              </a:ext>
            </a:extLst>
          </p:cNvPr>
          <p:cNvSpPr txBox="1">
            <a:spLocks/>
          </p:cNvSpPr>
          <p:nvPr/>
        </p:nvSpPr>
        <p:spPr>
          <a:xfrm>
            <a:off x="476867" y="1688690"/>
            <a:ext cx="6056670" cy="4999704"/>
          </a:xfrm>
          <a:prstGeom prst="rect">
            <a:avLst/>
          </a:prstGeom>
          <a:ln>
            <a:solidFill>
              <a:srgbClr val="FF8837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import </a:t>
            </a:r>
            <a:r>
              <a:rPr lang="en-US" sz="1800" dirty="0" err="1">
                <a:solidFill>
                  <a:srgbClr val="0070C0"/>
                </a:solidFill>
                <a:latin typeface="Consolas" panose="020B0609020204030204" pitchFamily="49" charset="0"/>
              </a:rPr>
              <a:t>javax.swing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.*;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public class </a:t>
            </a:r>
            <a:r>
              <a:rPr lang="en-US" sz="1800" dirty="0">
                <a:latin typeface="Consolas" panose="020B0609020204030204" pitchFamily="49" charset="0"/>
              </a:rPr>
              <a:t>example{</a:t>
            </a:r>
          </a:p>
          <a:p>
            <a:pPr marL="0" indent="0">
              <a:buNone/>
            </a:pP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public static void </a:t>
            </a:r>
            <a:r>
              <a:rPr lang="en-US" sz="1800" dirty="0">
                <a:latin typeface="Consolas" panose="020B0609020204030204" pitchFamily="49" charset="0"/>
              </a:rPr>
              <a:t>main(String </a:t>
            </a:r>
            <a:r>
              <a:rPr lang="en-US" sz="1800" dirty="0" err="1">
                <a:latin typeface="Consolas" panose="020B0609020204030204" pitchFamily="49" charset="0"/>
              </a:rPr>
              <a:t>args</a:t>
            </a:r>
            <a:r>
              <a:rPr lang="en-US" sz="1800" dirty="0">
                <a:latin typeface="Consolas" panose="020B0609020204030204" pitchFamily="49" charset="0"/>
              </a:rPr>
              <a:t>[]) {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</a:t>
            </a:r>
            <a:r>
              <a:rPr lang="en-US" sz="1800" dirty="0" err="1">
                <a:latin typeface="Consolas" panose="020B0609020204030204" pitchFamily="49" charset="0"/>
              </a:rPr>
              <a:t>JFrame</a:t>
            </a:r>
            <a:r>
              <a:rPr lang="en-US" sz="1800" dirty="0">
                <a:latin typeface="Consolas" panose="020B0609020204030204" pitchFamily="49" charset="0"/>
              </a:rPr>
              <a:t> a =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new</a:t>
            </a:r>
            <a:r>
              <a:rPr lang="en-US" sz="1800" dirty="0">
                <a:latin typeface="Consolas" panose="020B0609020204030204" pitchFamily="49" charset="0"/>
              </a:rPr>
              <a:t> </a:t>
            </a:r>
            <a:r>
              <a:rPr lang="en-US" sz="1800" dirty="0" err="1">
                <a:latin typeface="Consolas" panose="020B0609020204030204" pitchFamily="49" charset="0"/>
              </a:rPr>
              <a:t>JFrame</a:t>
            </a:r>
            <a:r>
              <a:rPr lang="en-US" sz="1800" dirty="0">
                <a:latin typeface="Consolas" panose="020B0609020204030204" pitchFamily="49" charset="0"/>
              </a:rPr>
              <a:t>("</a:t>
            </a: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</a:rPr>
              <a:t>example</a:t>
            </a:r>
            <a:r>
              <a:rPr lang="en-US" sz="1800" dirty="0">
                <a:latin typeface="Consolas" panose="020B0609020204030204" pitchFamily="49" charset="0"/>
              </a:rPr>
              <a:t>");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</a:t>
            </a:r>
            <a:r>
              <a:rPr lang="en-US" sz="1800" dirty="0" err="1">
                <a:latin typeface="Consolas" panose="020B0609020204030204" pitchFamily="49" charset="0"/>
              </a:rPr>
              <a:t>JTextField</a:t>
            </a:r>
            <a:r>
              <a:rPr lang="en-US" sz="1800" dirty="0">
                <a:latin typeface="Consolas" panose="020B0609020204030204" pitchFamily="49" charset="0"/>
              </a:rPr>
              <a:t> b = 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new </a:t>
            </a:r>
            <a:r>
              <a:rPr lang="en-US" sz="1800" dirty="0" err="1">
                <a:latin typeface="Consolas" panose="020B0609020204030204" pitchFamily="49" charset="0"/>
              </a:rPr>
              <a:t>JTextField</a:t>
            </a:r>
            <a:r>
              <a:rPr lang="en-US" sz="1800" dirty="0">
                <a:latin typeface="Consolas" panose="020B0609020204030204" pitchFamily="49" charset="0"/>
              </a:rPr>
              <a:t>(“</a:t>
            </a: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</a:rPr>
              <a:t>Hello</a:t>
            </a:r>
            <a:r>
              <a:rPr lang="en-US" sz="1800" dirty="0">
                <a:latin typeface="Consolas" panose="020B0609020204030204" pitchFamily="49" charset="0"/>
              </a:rPr>
              <a:t>");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</a:t>
            </a:r>
            <a:r>
              <a:rPr lang="en-US" sz="1800" dirty="0" err="1">
                <a:latin typeface="Consolas" panose="020B0609020204030204" pitchFamily="49" charset="0"/>
              </a:rPr>
              <a:t>b.setBounds</a:t>
            </a:r>
            <a:r>
              <a:rPr lang="en-US" sz="1800" dirty="0"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</a:rPr>
              <a:t>50,100,200,30</a:t>
            </a:r>
            <a:r>
              <a:rPr lang="en-US" sz="18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</a:t>
            </a:r>
            <a:r>
              <a:rPr lang="en-US" sz="1800" dirty="0" err="1">
                <a:latin typeface="Consolas" panose="020B0609020204030204" pitchFamily="49" charset="0"/>
              </a:rPr>
              <a:t>a.add</a:t>
            </a:r>
            <a:r>
              <a:rPr lang="en-US" sz="1800" dirty="0">
                <a:latin typeface="Consolas" panose="020B0609020204030204" pitchFamily="49" charset="0"/>
              </a:rPr>
              <a:t>(b);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</a:t>
            </a:r>
            <a:r>
              <a:rPr lang="en-US" sz="1800" dirty="0" err="1">
                <a:latin typeface="Consolas" panose="020B0609020204030204" pitchFamily="49" charset="0"/>
              </a:rPr>
              <a:t>a.setSize</a:t>
            </a:r>
            <a:r>
              <a:rPr lang="en-US" sz="1800" dirty="0"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B050"/>
                </a:solidFill>
                <a:latin typeface="Consolas" panose="020B0609020204030204" pitchFamily="49" charset="0"/>
              </a:rPr>
              <a:t>300,300</a:t>
            </a:r>
            <a:r>
              <a:rPr lang="en-US" sz="18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</a:t>
            </a:r>
            <a:r>
              <a:rPr lang="en-US" sz="1800" dirty="0" err="1">
                <a:latin typeface="Consolas" panose="020B0609020204030204" pitchFamily="49" charset="0"/>
              </a:rPr>
              <a:t>a.setLayout</a:t>
            </a:r>
            <a:r>
              <a:rPr lang="en-US" sz="1800" dirty="0"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null</a:t>
            </a:r>
            <a:r>
              <a:rPr lang="en-US" sz="18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 </a:t>
            </a:r>
            <a:r>
              <a:rPr lang="en-US" sz="1800" dirty="0" err="1">
                <a:latin typeface="Consolas" panose="020B0609020204030204" pitchFamily="49" charset="0"/>
              </a:rPr>
              <a:t>a.setVisible</a:t>
            </a:r>
            <a:r>
              <a:rPr lang="en-US" sz="1800" dirty="0"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70C0"/>
                </a:solidFill>
                <a:latin typeface="Consolas" panose="020B0609020204030204" pitchFamily="49" charset="0"/>
              </a:rPr>
              <a:t>true</a:t>
            </a:r>
            <a:r>
              <a:rPr lang="en-US" sz="1800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 }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49D43FB-7082-4B3E-B144-A2134A6BA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866239" cy="1124462"/>
          </a:xfrm>
        </p:spPr>
        <p:txBody>
          <a:bodyPr/>
          <a:lstStyle/>
          <a:p>
            <a:r>
              <a:rPr lang="en-IN" b="1" dirty="0">
                <a:solidFill>
                  <a:srgbClr val="002060"/>
                </a:solidFill>
                <a:latin typeface="Open Sans"/>
              </a:rPr>
              <a:t>Example – </a:t>
            </a:r>
            <a:r>
              <a:rPr lang="en-IN" b="1" dirty="0" err="1">
                <a:solidFill>
                  <a:srgbClr val="002060"/>
                </a:solidFill>
                <a:latin typeface="Open Sans"/>
              </a:rPr>
              <a:t>JTextField</a:t>
            </a:r>
            <a:r>
              <a:rPr lang="en-IN" b="1" dirty="0">
                <a:solidFill>
                  <a:srgbClr val="002060"/>
                </a:solidFill>
                <a:latin typeface="Open Sans"/>
              </a:rPr>
              <a:t> Class</a:t>
            </a:r>
          </a:p>
        </p:txBody>
      </p:sp>
      <p:pic>
        <p:nvPicPr>
          <p:cNvPr id="1030" name="Picture 6" descr="output-java swing-edureka">
            <a:extLst>
              <a:ext uri="{FF2B5EF4-FFF2-40B4-BE49-F238E27FC236}">
                <a16:creationId xmlns:a16="http://schemas.microsoft.com/office/drawing/2014/main" id="{35A963C1-5F47-42CF-98E1-9FA742BFDC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8849" y="2323332"/>
            <a:ext cx="3460493" cy="3460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987669B-142F-4FA6-AF1A-6A261C1C0442}"/>
              </a:ext>
            </a:extLst>
          </p:cNvPr>
          <p:cNvSpPr/>
          <p:nvPr/>
        </p:nvSpPr>
        <p:spPr>
          <a:xfrm>
            <a:off x="7801897" y="3952567"/>
            <a:ext cx="884903" cy="2949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Hello</a:t>
            </a:r>
          </a:p>
        </p:txBody>
      </p:sp>
    </p:spTree>
    <p:extLst>
      <p:ext uri="{BB962C8B-B14F-4D97-AF65-F5344CB8AC3E}">
        <p14:creationId xmlns:p14="http://schemas.microsoft.com/office/powerpoint/2010/main" val="3109096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Abs val="5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C1184-F442-41DF-AC72-CA62B7CA9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ECF2DD-A08C-4B96-966B-FFC6075ADF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75" y="1239938"/>
            <a:ext cx="2985679" cy="30686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F88AD5-22DD-442A-9B92-7E674BF81723}"/>
              </a:ext>
            </a:extLst>
          </p:cNvPr>
          <p:cNvSpPr txBox="1"/>
          <p:nvPr/>
        </p:nvSpPr>
        <p:spPr>
          <a:xfrm>
            <a:off x="691366" y="4400200"/>
            <a:ext cx="18524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 err="1">
                <a:solidFill>
                  <a:srgbClr val="C00000"/>
                </a:solidFill>
                <a:latin typeface="Open Sans"/>
              </a:rPr>
              <a:t>JScrollBar</a:t>
            </a:r>
            <a:r>
              <a:rPr lang="en-IN" b="1" dirty="0">
                <a:solidFill>
                  <a:srgbClr val="C00000"/>
                </a:solidFill>
                <a:latin typeface="Open Sans"/>
              </a:rPr>
              <a:t> Class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DE6A58-1584-47B7-825F-EF86A294C2A6}"/>
              </a:ext>
            </a:extLst>
          </p:cNvPr>
          <p:cNvSpPr txBox="1"/>
          <p:nvPr/>
        </p:nvSpPr>
        <p:spPr>
          <a:xfrm>
            <a:off x="3862397" y="3606916"/>
            <a:ext cx="15119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IN" b="1" i="0" dirty="0" err="1">
                <a:solidFill>
                  <a:srgbClr val="C00000"/>
                </a:solidFill>
                <a:effectLst/>
                <a:latin typeface="Open Sans"/>
              </a:rPr>
              <a:t>JMenu</a:t>
            </a:r>
            <a:r>
              <a:rPr lang="en-IN" b="1" i="0" dirty="0">
                <a:solidFill>
                  <a:srgbClr val="C00000"/>
                </a:solidFill>
                <a:effectLst/>
                <a:latin typeface="Open Sans"/>
              </a:rPr>
              <a:t> Class</a:t>
            </a:r>
            <a:endParaRPr lang="en-IN" b="0" i="0" dirty="0">
              <a:solidFill>
                <a:srgbClr val="C00000"/>
              </a:solidFill>
              <a:effectLst/>
              <a:latin typeface="Open Sans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0EEE0BCA-BBC7-4888-8E76-5F26E08CB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6080" y="555884"/>
            <a:ext cx="2985679" cy="30362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79F966D-3FE0-4A1C-A1D4-AC1A0957C621}"/>
              </a:ext>
            </a:extLst>
          </p:cNvPr>
          <p:cNvSpPr txBox="1"/>
          <p:nvPr/>
        </p:nvSpPr>
        <p:spPr>
          <a:xfrm>
            <a:off x="6998721" y="3293014"/>
            <a:ext cx="14490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i="0" dirty="0" err="1">
                <a:solidFill>
                  <a:srgbClr val="C00000"/>
                </a:solidFill>
                <a:effectLst/>
                <a:latin typeface="Open Sans"/>
              </a:rPr>
              <a:t>JList</a:t>
            </a:r>
            <a:r>
              <a:rPr lang="en-IN" b="1" i="0" dirty="0">
                <a:solidFill>
                  <a:srgbClr val="C00000"/>
                </a:solidFill>
                <a:effectLst/>
                <a:latin typeface="Open Sans"/>
              </a:rPr>
              <a:t> Class</a:t>
            </a:r>
            <a:endParaRPr lang="en-IN" b="0" i="0" dirty="0">
              <a:solidFill>
                <a:srgbClr val="C00000"/>
              </a:solidFill>
              <a:effectLst/>
              <a:latin typeface="Open Sans"/>
            </a:endParaRP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7B6B6B86-4FCB-48A0-8BEA-641BB14524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347" y="135337"/>
            <a:ext cx="2985680" cy="30362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59893FEA-B1CD-48B8-9DF5-DB83EAD9D2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620" y="3743776"/>
            <a:ext cx="2985680" cy="3005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AA06F562-0E58-4526-9BAE-A8087FEC4E2E}"/>
              </a:ext>
            </a:extLst>
          </p:cNvPr>
          <p:cNvSpPr txBox="1"/>
          <p:nvPr/>
        </p:nvSpPr>
        <p:spPr>
          <a:xfrm>
            <a:off x="3974091" y="6302116"/>
            <a:ext cx="184353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err="1">
                <a:solidFill>
                  <a:srgbClr val="C00000"/>
                </a:solidFill>
                <a:latin typeface="Open Sans"/>
              </a:rPr>
              <a:t>JLabel</a:t>
            </a:r>
            <a:r>
              <a:rPr lang="en-IN" b="1" dirty="0">
                <a:solidFill>
                  <a:srgbClr val="C00000"/>
                </a:solidFill>
                <a:latin typeface="Open Sans"/>
              </a:rPr>
              <a:t> Class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283D85D-BA45-4352-BD65-F82785355CE8}"/>
              </a:ext>
            </a:extLst>
          </p:cNvPr>
          <p:cNvSpPr txBox="1"/>
          <p:nvPr/>
        </p:nvSpPr>
        <p:spPr>
          <a:xfrm>
            <a:off x="9624440" y="6399035"/>
            <a:ext cx="21440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1" i="0" dirty="0" err="1">
                <a:solidFill>
                  <a:srgbClr val="C00000"/>
                </a:solidFill>
                <a:effectLst/>
                <a:latin typeface="Open Sans"/>
              </a:rPr>
              <a:t>JComboBox</a:t>
            </a:r>
            <a:r>
              <a:rPr lang="en-IN" b="1" i="0" dirty="0">
                <a:solidFill>
                  <a:srgbClr val="C00000"/>
                </a:solidFill>
                <a:effectLst/>
                <a:latin typeface="Open Sans"/>
              </a:rPr>
              <a:t> Class</a:t>
            </a:r>
            <a:endParaRPr lang="en-IN" b="0" i="0" dirty="0">
              <a:solidFill>
                <a:srgbClr val="C00000"/>
              </a:solidFill>
              <a:effectLst/>
              <a:latin typeface="Open Sans"/>
            </a:endParaRPr>
          </a:p>
        </p:txBody>
      </p:sp>
      <p:pic>
        <p:nvPicPr>
          <p:cNvPr id="3080" name="Picture 8">
            <a:extLst>
              <a:ext uri="{FF2B5EF4-FFF2-40B4-BE49-F238E27FC236}">
                <a16:creationId xmlns:a16="http://schemas.microsoft.com/office/drawing/2014/main" id="{9763A4D9-4A31-4F0C-9A3A-5121D0E33D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68892" y="3432270"/>
            <a:ext cx="3195093" cy="29667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9208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30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0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3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/>
      <p:bldP spid="12" grpId="0"/>
      <p:bldP spid="14" grpId="0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82219-5A4F-44F7-8E50-C25C8343F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solidFill>
                  <a:srgbClr val="002060"/>
                </a:solidFill>
                <a:latin typeface="Open Sans"/>
              </a:rPr>
              <a:t>Layout Manager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AB85E4-70D2-4D94-8769-636FEDBAFF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Gill Sans MT" panose="020B0502020104020203" pitchFamily="34" charset="0"/>
              </a:rPr>
              <a:t> </a:t>
            </a:r>
            <a:r>
              <a:rPr lang="en-US" b="0" i="0" dirty="0">
                <a:solidFill>
                  <a:srgbClr val="4A4A4A"/>
                </a:solidFill>
                <a:effectLst/>
                <a:latin typeface="Gill Sans MT" panose="020B0502020104020203" pitchFamily="34" charset="0"/>
              </a:rPr>
              <a:t>To arrange the components inside a container we use the layout manager.</a:t>
            </a:r>
          </a:p>
          <a:p>
            <a:pPr lvl="1" algn="just">
              <a:buFont typeface="+mj-lt"/>
              <a:buAutoNum type="arabicPeriod"/>
            </a:pPr>
            <a:r>
              <a:rPr lang="en-US" b="0" i="0" dirty="0">
                <a:solidFill>
                  <a:srgbClr val="4A4A4A"/>
                </a:solidFill>
                <a:effectLst/>
                <a:latin typeface="Gill Sans MT" panose="020B0502020104020203" pitchFamily="34" charset="0"/>
              </a:rPr>
              <a:t>Border layout</a:t>
            </a:r>
            <a:r>
              <a:rPr lang="en-US" dirty="0">
                <a:solidFill>
                  <a:srgbClr val="4A4A4A"/>
                </a:solidFill>
                <a:latin typeface="Gill Sans MT" panose="020B0502020104020203" pitchFamily="34" charset="0"/>
              </a:rPr>
              <a:t>: The </a:t>
            </a:r>
            <a:r>
              <a:rPr lang="en-US" dirty="0" err="1">
                <a:solidFill>
                  <a:srgbClr val="4A4A4A"/>
                </a:solidFill>
                <a:latin typeface="Gill Sans MT" panose="020B0502020104020203" pitchFamily="34" charset="0"/>
              </a:rPr>
              <a:t>borderlayout</a:t>
            </a:r>
            <a:r>
              <a:rPr lang="en-US" dirty="0">
                <a:solidFill>
                  <a:srgbClr val="4A4A4A"/>
                </a:solidFill>
                <a:latin typeface="Gill Sans MT" panose="020B0502020104020203" pitchFamily="34" charset="0"/>
              </a:rPr>
              <a:t> arranges the components to fit in the five regions: east, west, north, south, and center.</a:t>
            </a:r>
            <a:endParaRPr lang="en-US" b="0" i="0" dirty="0">
              <a:solidFill>
                <a:srgbClr val="4A4A4A"/>
              </a:solidFill>
              <a:effectLst/>
              <a:latin typeface="Gill Sans MT" panose="020B0502020104020203" pitchFamily="34" charset="0"/>
            </a:endParaRPr>
          </a:p>
          <a:p>
            <a:pPr lvl="1" algn="just">
              <a:buFont typeface="+mj-lt"/>
              <a:buAutoNum type="arabicPeriod"/>
            </a:pPr>
            <a:r>
              <a:rPr lang="en-US" b="0" i="0" dirty="0">
                <a:solidFill>
                  <a:srgbClr val="4A4A4A"/>
                </a:solidFill>
                <a:effectLst/>
                <a:latin typeface="Gill Sans MT" panose="020B0502020104020203" pitchFamily="34" charset="0"/>
              </a:rPr>
              <a:t>Flow layout</a:t>
            </a:r>
            <a:r>
              <a:rPr lang="en-US" dirty="0">
                <a:solidFill>
                  <a:srgbClr val="4A4A4A"/>
                </a:solidFill>
                <a:latin typeface="Gill Sans MT" panose="020B0502020104020203" pitchFamily="34" charset="0"/>
              </a:rPr>
              <a:t>: The </a:t>
            </a:r>
            <a:r>
              <a:rPr lang="en-US" dirty="0" err="1">
                <a:solidFill>
                  <a:srgbClr val="4A4A4A"/>
                </a:solidFill>
                <a:latin typeface="Gill Sans MT" panose="020B0502020104020203" pitchFamily="34" charset="0"/>
              </a:rPr>
              <a:t>FlowLayout</a:t>
            </a:r>
            <a:r>
              <a:rPr lang="en-US" dirty="0">
                <a:solidFill>
                  <a:srgbClr val="4A4A4A"/>
                </a:solidFill>
                <a:latin typeface="Gill Sans MT" panose="020B0502020104020203" pitchFamily="34" charset="0"/>
              </a:rPr>
              <a:t> is the default layout. It layout the components in a directional flow.</a:t>
            </a:r>
            <a:endParaRPr lang="en-US" b="0" i="0" dirty="0">
              <a:solidFill>
                <a:srgbClr val="4A4A4A"/>
              </a:solidFill>
              <a:effectLst/>
              <a:latin typeface="Gill Sans MT" panose="020B0502020104020203" pitchFamily="34" charset="0"/>
            </a:endParaRPr>
          </a:p>
          <a:p>
            <a:pPr lvl="1" algn="just">
              <a:buFont typeface="+mj-lt"/>
              <a:buAutoNum type="arabicPeriod"/>
            </a:pPr>
            <a:r>
              <a:rPr lang="en-US" b="0" i="0" dirty="0" err="1">
                <a:solidFill>
                  <a:srgbClr val="4A4A4A"/>
                </a:solidFill>
                <a:effectLst/>
                <a:latin typeface="Gill Sans MT" panose="020B0502020104020203" pitchFamily="34" charset="0"/>
              </a:rPr>
              <a:t>GridBag</a:t>
            </a:r>
            <a:r>
              <a:rPr lang="en-US" dirty="0">
                <a:solidFill>
                  <a:srgbClr val="4A4A4A"/>
                </a:solidFill>
                <a:latin typeface="Gill Sans MT" panose="020B0502020104020203" pitchFamily="34" charset="0"/>
              </a:rPr>
              <a:t> layout: The </a:t>
            </a:r>
            <a:r>
              <a:rPr lang="en-US" dirty="0" err="1">
                <a:solidFill>
                  <a:srgbClr val="4A4A4A"/>
                </a:solidFill>
                <a:latin typeface="Gill Sans MT" panose="020B0502020104020203" pitchFamily="34" charset="0"/>
              </a:rPr>
              <a:t>GridLayout</a:t>
            </a:r>
            <a:r>
              <a:rPr lang="en-US" dirty="0">
                <a:solidFill>
                  <a:srgbClr val="4A4A4A"/>
                </a:solidFill>
                <a:latin typeface="Gill Sans MT" panose="020B0502020104020203" pitchFamily="34" charset="0"/>
              </a:rPr>
              <a:t> manages the components in the form of a rectangular grid.</a:t>
            </a:r>
            <a:endParaRPr lang="en-US" b="0" i="0" dirty="0">
              <a:solidFill>
                <a:srgbClr val="4A4A4A"/>
              </a:solidFill>
              <a:effectLst/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56235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61D1BF-0F9C-9721-44FD-872ECFEA7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5DCAC9-030D-0B66-08C3-681F799A78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https://cse.iitkgp.ac.in/~dsamanta/java/ch10.htm</a:t>
            </a:r>
          </a:p>
        </p:txBody>
      </p:sp>
    </p:spTree>
    <p:extLst>
      <p:ext uri="{BB962C8B-B14F-4D97-AF65-F5344CB8AC3E}">
        <p14:creationId xmlns:p14="http://schemas.microsoft.com/office/powerpoint/2010/main" val="9110890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1644</TotalTime>
  <Words>550</Words>
  <Application>Microsoft Office PowerPoint</Application>
  <PresentationFormat>Widescreen</PresentationFormat>
  <Paragraphs>73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1" baseType="lpstr">
      <vt:lpstr>Arial</vt:lpstr>
      <vt:lpstr>Arial Rounded MT Bold</vt:lpstr>
      <vt:lpstr>Calibri</vt:lpstr>
      <vt:lpstr>Calibri Light</vt:lpstr>
      <vt:lpstr>Consolas</vt:lpstr>
      <vt:lpstr>Gill Sans MT</vt:lpstr>
      <vt:lpstr>inter-regular</vt:lpstr>
      <vt:lpstr>Open Sans</vt:lpstr>
      <vt:lpstr>times new roman</vt:lpstr>
      <vt:lpstr>Office Theme</vt:lpstr>
      <vt:lpstr>PowerPoint Presentation</vt:lpstr>
      <vt:lpstr>JAVA Swings</vt:lpstr>
      <vt:lpstr>PowerPoint Presentation</vt:lpstr>
      <vt:lpstr>Container Class</vt:lpstr>
      <vt:lpstr>PowerPoint Presentation</vt:lpstr>
      <vt:lpstr>PowerPoint Presentation</vt:lpstr>
      <vt:lpstr>Example – Jbutton Class </vt:lpstr>
      <vt:lpstr>Example – JTextField Class</vt:lpstr>
      <vt:lpstr>PowerPoint Presentation</vt:lpstr>
      <vt:lpstr>Layout Manager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Oriented Paradigm</dc:title>
  <dc:creator>Sreedevi A G</dc:creator>
  <cp:lastModifiedBy>Priyanka C</cp:lastModifiedBy>
  <cp:revision>131</cp:revision>
  <dcterms:created xsi:type="dcterms:W3CDTF">2020-09-27T16:05:01Z</dcterms:created>
  <dcterms:modified xsi:type="dcterms:W3CDTF">2026-04-08T07:50:21Z</dcterms:modified>
</cp:coreProperties>
</file>