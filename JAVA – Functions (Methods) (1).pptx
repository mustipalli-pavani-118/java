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8" r:id="rId9"/>
    <p:sldId id="279" r:id="rId10"/>
    <p:sldId id="280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11069-D69A-F76E-01EE-B909A389D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02F35-4BC6-12E8-158A-98216E0D2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7F523-6785-94D0-A758-DDF44F26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31252-F0C0-4686-88E2-C4F6555B7CB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BD81-0BBB-6935-D12F-F317C27F7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65697-C701-5AA3-54C7-9E215017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755D5-E502-4B57-A6B7-BB1ABBB7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852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2CA9-6FE6-3BD0-7864-A9649D6C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60B3A-99E0-2815-8848-CD7A35B3B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3BEE9-5701-7D40-B5BE-AD0876871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31252-F0C0-4686-88E2-C4F6555B7CB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EF76E-677A-64A3-3ABF-7D349AAB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CF0A2-E9CC-061B-0B5A-F817224E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755D5-E502-4B57-A6B7-BB1ABBB7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758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67D45-83DA-D692-C7ED-9BDE86A2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75C76-8E6F-5AC5-8E26-973EA68B6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65850-E77C-290C-A303-4D38103D1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31252-F0C0-4686-88E2-C4F6555B7CB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A6740-13D3-592E-BB61-BEF27BB2B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2A203-42BD-B865-B6E4-2373761C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755D5-E502-4B57-A6B7-BB1ABBB7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83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9D674-2DBA-9C79-0D6B-22CDAD14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86CDE-15CA-B3F9-1EC3-14EA8DD2F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4A511-E34E-5A6E-5998-9A05C5D44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5E389-9E45-4628-0BC0-D1FCBB558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31252-F0C0-4686-88E2-C4F6555B7CB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3392D-0AC1-2FC4-E2DC-0F8F6427C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32DF3-12B3-09CE-517F-2734E877E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755D5-E502-4B57-A6B7-BB1ABBB7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03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71E2D-B0C1-1758-38F0-A080B1896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5D4F7-4AC5-69CA-302F-6EBD9E412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DA8C1-F334-303E-905D-CF8756FDE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58527E-B8AC-8B12-CE4F-F87C1C5FB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5DA602-13F3-29A9-396A-108BE05DE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F7E6CA-31A1-619F-03C5-90621FCB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31252-F0C0-4686-88E2-C4F6555B7CB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4E409-D16D-CBD5-6128-65DF2F2AC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1ADBE-13FE-7E5D-90B5-21483BEC0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755D5-E502-4B57-A6B7-BB1ABBB7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427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80F33-563B-CEB2-F209-3DB9D205F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566CBF-260D-306E-0521-0CCD59A3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31252-F0C0-4686-88E2-C4F6555B7CB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6C23F-A645-1768-843A-6F5A4056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FFDC5-947B-DE26-F725-6589E14E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755D5-E502-4B57-A6B7-BB1ABBB7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096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7CEF3-29D8-4AC7-C433-FB655CBAC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31252-F0C0-4686-88E2-C4F6555B7CB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CC4FCD-CB42-E33D-A839-F1F8E12A0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47E0C-CE86-B115-4FBC-0C238EC1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755D5-E502-4B57-A6B7-BB1ABBB7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06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AC1C-7814-FE13-075D-582EFACCC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030DF-2F53-DC0E-0D00-09D7EAC8F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F8B45-6405-25AD-915F-E4A2FF72D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93932-7053-8AD7-E158-2C72E2F2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31252-F0C0-4686-88E2-C4F6555B7CB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C4E09-32F8-1B0D-63A8-1206E4A90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F4BA8-F352-BB69-9DE9-87FDD4D1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755D5-E502-4B57-A6B7-BB1ABBB7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046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861D6-FB40-22CF-CF3B-B1B629604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7CB1CD-E2B1-41AC-1AF9-53A27342B3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333EA-591C-088A-9BDA-32197D522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BBED3-D4B1-E536-C2EB-190CFA9A6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31252-F0C0-4686-88E2-C4F6555B7CB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AA4E2-3612-453B-8596-F0F220609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E7CF9-02EF-FAD9-FA82-B102460A4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755D5-E502-4B57-A6B7-BB1ABBB7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76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D3E69-0CA6-ECFA-D92D-1F61A0544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E2951-984D-7F99-0505-DA69B3F5D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0ADA7-381D-6266-1A57-C3B3C3E5C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31252-F0C0-4686-88E2-C4F6555B7CB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54403-5B03-A778-9500-E434917A8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451DA-7D8F-F024-64CD-B90289F2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755D5-E502-4B57-A6B7-BB1ABBB7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496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409002-8144-1F0C-5C7D-8E188287C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4B397-4BA7-5EFA-2102-31257DD44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D37FB-1D2C-C812-5ADD-D5BADDBE0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31252-F0C0-4686-88E2-C4F6555B7CB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D307E-EF69-6065-85DA-6C739BD2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276DC-B2B5-FE36-D69B-7182A0C37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755D5-E502-4B57-A6B7-BB1ABBB7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833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51BEFE-BFD2-9AFF-8D4A-04ACA490A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48C78-0B69-EEE5-9365-320AD349A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D61F8-DE73-A60D-F274-A31006B30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31252-F0C0-4686-88E2-C4F6555B7CB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0E00B-4C5F-764F-C6E3-BBF3137311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17183-0CED-9BDF-ED75-1B4ED038C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755D5-E502-4B57-A6B7-BB1ABBB7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966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028C1-353E-2C14-0EA5-BA0E056DF5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JAVA – Functions (Methods)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7798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8898D-48C2-0271-379A-9E64EB484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Function (Method)?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EEC1A-1E2E-F2A7-0ABE-B353A96B1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function</a:t>
            </a:r>
            <a:r>
              <a:rPr lang="en-US" dirty="0"/>
              <a:t> in Java is a block of code that performs a specific task.</a:t>
            </a:r>
          </a:p>
          <a:p>
            <a:pPr marL="0" indent="0">
              <a:buNone/>
            </a:pPr>
            <a:r>
              <a:rPr lang="en-US" dirty="0"/>
              <a:t>In Java, functions are called </a:t>
            </a:r>
            <a:r>
              <a:rPr lang="en-US" b="1" dirty="0"/>
              <a:t>Methods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✔ A method executes only when it is called</a:t>
            </a:r>
            <a:br>
              <a:rPr lang="en-US" dirty="0"/>
            </a:br>
            <a:r>
              <a:rPr lang="en-US" dirty="0"/>
              <a:t>✔ Helps in code reusability</a:t>
            </a:r>
            <a:br>
              <a:rPr lang="en-US" dirty="0"/>
            </a:br>
            <a:r>
              <a:rPr lang="en-US" dirty="0"/>
              <a:t>✔ Improves program readability and structure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4898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6219B-6C44-43F6-1E8E-C6F33917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Methods?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55C7B-7F98-9B7C-A0F6-C5F7CDC71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Avoids repetition of code</a:t>
            </a:r>
          </a:p>
          <a:p>
            <a:r>
              <a:rPr lang="en-US" dirty="0"/>
              <a:t>Makes program modular</a:t>
            </a:r>
          </a:p>
          <a:p>
            <a:r>
              <a:rPr lang="en-US" dirty="0"/>
              <a:t>Improves maintainability</a:t>
            </a:r>
          </a:p>
          <a:p>
            <a:r>
              <a:rPr lang="en-US" dirty="0"/>
              <a:t>Reduces complexity</a:t>
            </a:r>
          </a:p>
          <a:p>
            <a:r>
              <a:rPr lang="en-US" dirty="0"/>
              <a:t>Supports Object-Oriented Programming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4010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42CC-88AE-4404-28EE-98D912024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General Syntax of a Method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B1E96-CD0A-7A3B-E14E-541E196FB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returnType</a:t>
            </a:r>
            <a:r>
              <a:rPr lang="en-US" dirty="0"/>
              <a:t> </a:t>
            </a:r>
            <a:r>
              <a:rPr lang="en-US" dirty="0" err="1"/>
              <a:t>methodName</a:t>
            </a:r>
            <a:r>
              <a:rPr lang="en-US" dirty="0"/>
              <a:t>(parameters) {</a:t>
            </a:r>
          </a:p>
          <a:p>
            <a:pPr marL="0" indent="0">
              <a:buNone/>
            </a:pPr>
            <a:r>
              <a:rPr lang="en-US" dirty="0"/>
              <a:t>    // body of method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Eg:</a:t>
            </a:r>
          </a:p>
          <a:p>
            <a:pPr marL="0" indent="0">
              <a:buNone/>
            </a:pPr>
            <a:r>
              <a:rPr lang="en-IN" dirty="0"/>
              <a:t>void </a:t>
            </a:r>
            <a:r>
              <a:rPr lang="en-IN" dirty="0" err="1"/>
              <a:t>displayMessage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("Welcome to Java Programming");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507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A509E-6824-3F90-4985-E4DF630BD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Parts of a Method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D59C84-81B0-DDDE-FDC8-DF6BF4BC60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786959"/>
              </p:ext>
            </p:extLst>
          </p:nvPr>
        </p:nvGraphicFramePr>
        <p:xfrm>
          <a:off x="838200" y="2074172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328533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961400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524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 returned by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336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Name used to call the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00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572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 body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Code to execute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49081"/>
                  </a:ext>
                </a:extLst>
              </a:tr>
            </a:tbl>
          </a:graphicData>
        </a:graphic>
      </p:graphicFrame>
      <p:pic>
        <p:nvPicPr>
          <p:cNvPr id="6" name="Picture 5" descr="A close-up of a text&#10;&#10;AI-generated content may be incorrect.">
            <a:extLst>
              <a:ext uri="{FF2B5EF4-FFF2-40B4-BE49-F238E27FC236}">
                <a16:creationId xmlns:a16="http://schemas.microsoft.com/office/drawing/2014/main" id="{6931BAE6-8ABA-E104-DC35-299666D1A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88337"/>
            <a:ext cx="6211167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0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024C-0BD2-DE66-E331-B7B2CEDC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Calling a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9AE27-B7DB-3AF1-59F3-FD1D2261A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14716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method executes </a:t>
            </a:r>
            <a:r>
              <a:rPr lang="en-US" b="1" dirty="0"/>
              <a:t>only when it is called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4630923-1EAC-C00B-B987-7090D4C13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74" y="2154006"/>
            <a:ext cx="8837696" cy="456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58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BC366-ABB2-F95F-6D4F-D33A996F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Methods in Java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45CFF04-9836-109A-1EC2-65AB70E57A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6355" y="1690688"/>
            <a:ext cx="7229864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 without parameters &amp; return value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 with parameters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 with return value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 with parameters and return value</a:t>
            </a:r>
          </a:p>
        </p:txBody>
      </p:sp>
    </p:spTree>
    <p:extLst>
      <p:ext uri="{BB962C8B-B14F-4D97-AF65-F5344CB8AC3E}">
        <p14:creationId xmlns:p14="http://schemas.microsoft.com/office/powerpoint/2010/main" val="3445080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CF178-5702-DCF8-6C25-E6348ADB2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b="1" dirty="0"/>
              <a:t>Return Value</a:t>
            </a:r>
            <a:r>
              <a:rPr lang="en-US" dirty="0"/>
              <a:t> in Java?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E839F-373C-4168-38B7-D6DA440ED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return value</a:t>
            </a:r>
            <a:r>
              <a:rPr lang="en-US" dirty="0"/>
              <a:t> is the </a:t>
            </a:r>
            <a:r>
              <a:rPr lang="en-US" b="1" dirty="0"/>
              <a:t>result sent back by a method</a:t>
            </a:r>
            <a:r>
              <a:rPr lang="en-US" dirty="0"/>
              <a:t> after it finishes executing.</a:t>
            </a:r>
          </a:p>
          <a:p>
            <a:r>
              <a:rPr lang="en-US" dirty="0"/>
              <a:t>A </a:t>
            </a:r>
            <a:r>
              <a:rPr lang="en-US" b="1" dirty="0"/>
              <a:t>return value</a:t>
            </a:r>
            <a:r>
              <a:rPr lang="en-US" dirty="0"/>
              <a:t> is the value that a method sends back using the keyword: </a:t>
            </a:r>
            <a:r>
              <a:rPr lang="en-US" b="1" dirty="0"/>
              <a:t>return</a:t>
            </a:r>
            <a:r>
              <a:rPr lang="en-US" dirty="0"/>
              <a:t>;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25688-5876-E4C7-EB3D-C615152B186F}"/>
              </a:ext>
            </a:extLst>
          </p:cNvPr>
          <p:cNvSpPr txBox="1"/>
          <p:nvPr/>
        </p:nvSpPr>
        <p:spPr>
          <a:xfrm>
            <a:off x="838200" y="37293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static int add(int a, int b) {</a:t>
            </a:r>
          </a:p>
          <a:p>
            <a:r>
              <a:rPr lang="en-IN" sz="2400" dirty="0"/>
              <a:t>    return a + b;</a:t>
            </a:r>
          </a:p>
          <a:p>
            <a:r>
              <a:rPr lang="en-IN" sz="2400" dirty="0"/>
              <a:t>}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5D3DBE1-1B70-7C19-42A2-CFB8FDB58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091648"/>
            <a:ext cx="303784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the method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the return type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 + 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the return value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572EB-E562-4103-3481-F112E7DE71D2}"/>
              </a:ext>
            </a:extLst>
          </p:cNvPr>
          <p:cNvSpPr txBox="1"/>
          <p:nvPr/>
        </p:nvSpPr>
        <p:spPr>
          <a:xfrm>
            <a:off x="4587242" y="3981589"/>
            <a:ext cx="37287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Ex:</a:t>
            </a:r>
            <a:br>
              <a:rPr lang="en-IN" b="1" dirty="0"/>
            </a:br>
            <a:r>
              <a:rPr lang="en-IN" b="1" dirty="0"/>
              <a:t>int result = add(10, 20);</a:t>
            </a:r>
          </a:p>
          <a:p>
            <a:r>
              <a:rPr lang="en-IN" b="1" dirty="0"/>
              <a:t>add(10, 20) </a:t>
            </a:r>
            <a:r>
              <a:rPr lang="en-IN" dirty="0"/>
              <a:t>is called</a:t>
            </a:r>
          </a:p>
          <a:p>
            <a:endParaRPr lang="en-IN" dirty="0"/>
          </a:p>
          <a:p>
            <a:r>
              <a:rPr lang="en-IN" dirty="0"/>
              <a:t>Inside the method → 10 + 20 = 30</a:t>
            </a:r>
          </a:p>
          <a:p>
            <a:endParaRPr lang="en-IN" dirty="0"/>
          </a:p>
          <a:p>
            <a:r>
              <a:rPr lang="en-IN" dirty="0"/>
              <a:t>return 30; sends value back</a:t>
            </a:r>
          </a:p>
          <a:p>
            <a:endParaRPr lang="en-IN" dirty="0"/>
          </a:p>
          <a:p>
            <a:r>
              <a:rPr lang="en-IN" dirty="0"/>
              <a:t>30 is stored in result</a:t>
            </a:r>
          </a:p>
        </p:txBody>
      </p:sp>
    </p:spTree>
    <p:extLst>
      <p:ext uri="{BB962C8B-B14F-4D97-AF65-F5344CB8AC3E}">
        <p14:creationId xmlns:p14="http://schemas.microsoft.com/office/powerpoint/2010/main" val="2746145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7BEB5-FA06-C479-2205-2E3921C6B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82905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en-US" b="1" dirty="0"/>
              <a:t>Why Do We Need Return Values?</a:t>
            </a:r>
          </a:p>
          <a:p>
            <a:pPr>
              <a:buNone/>
            </a:pPr>
            <a:r>
              <a:rPr lang="en-US" dirty="0"/>
              <a:t>  ✔ To use results later</a:t>
            </a:r>
            <a:br>
              <a:rPr lang="en-US" dirty="0"/>
            </a:br>
            <a:r>
              <a:rPr lang="en-US" dirty="0"/>
              <a:t>✔ To perform further calculations</a:t>
            </a:r>
            <a:br>
              <a:rPr lang="en-US" dirty="0"/>
            </a:br>
            <a:r>
              <a:rPr lang="en-US" dirty="0"/>
              <a:t>✔ To avoid printing directly inside methods</a:t>
            </a:r>
            <a:br>
              <a:rPr lang="en-US" dirty="0"/>
            </a:br>
            <a:r>
              <a:rPr lang="en-US" dirty="0"/>
              <a:t>✔ To make code reusable</a:t>
            </a:r>
          </a:p>
          <a:p>
            <a:pPr marL="0" indent="0">
              <a:buNone/>
            </a:pPr>
            <a:r>
              <a:rPr lang="en-US" b="1" dirty="0"/>
              <a:t> Types of Return Values</a:t>
            </a:r>
          </a:p>
          <a:p>
            <a:pPr marL="0" indent="0">
              <a:buNone/>
            </a:pPr>
            <a:endParaRPr lang="en-US" b="1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15E4C-A035-8ABC-0E71-1C3DA30511EC}"/>
              </a:ext>
            </a:extLst>
          </p:cNvPr>
          <p:cNvSpPr txBox="1"/>
          <p:nvPr/>
        </p:nvSpPr>
        <p:spPr>
          <a:xfrm>
            <a:off x="609600" y="315395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Returning an Integer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static int square(int n)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return n * n;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49A185-869E-30C2-579B-38ABBD709F22}"/>
              </a:ext>
            </a:extLst>
          </p:cNvPr>
          <p:cNvSpPr txBox="1"/>
          <p:nvPr/>
        </p:nvSpPr>
        <p:spPr>
          <a:xfrm>
            <a:off x="609600" y="473424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Returning a Decimal Value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static double average(int a, int b)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return (a + b) / 2.0;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EBBB31-E16C-184C-CCF9-7CBB5C607D06}"/>
              </a:ext>
            </a:extLst>
          </p:cNvPr>
          <p:cNvSpPr txBox="1"/>
          <p:nvPr/>
        </p:nvSpPr>
        <p:spPr>
          <a:xfrm>
            <a:off x="6207760" y="315395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Returning Boolean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static </a:t>
            </a:r>
            <a:r>
              <a:rPr lang="en-US" dirty="0" err="1">
                <a:latin typeface="Courier New" panose="02070309020205020404" pitchFamily="49" charset="0"/>
              </a:rPr>
              <a:t>boolean</a:t>
            </a: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</a:rPr>
              <a:t>isEven</a:t>
            </a:r>
            <a:r>
              <a:rPr lang="en-US" dirty="0">
                <a:latin typeface="Courier New" panose="02070309020205020404" pitchFamily="49" charset="0"/>
              </a:rPr>
              <a:t>(int n)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return n % 2 == 0;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4EBF7E-835C-6ABB-2D49-EB014A4E0D98}"/>
              </a:ext>
            </a:extLst>
          </p:cNvPr>
          <p:cNvSpPr txBox="1"/>
          <p:nvPr/>
        </p:nvSpPr>
        <p:spPr>
          <a:xfrm>
            <a:off x="6207760" y="4734243"/>
            <a:ext cx="6151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Returning String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static String greet(String name)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return "Hello " + name;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8701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3BCE-B962-D74E-E20B-48D334532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Without Return Value (void)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7E313-DCAE-62A1-41B2-EAA8AA42E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method does </a:t>
            </a:r>
            <a:r>
              <a:rPr lang="en-US" b="1" dirty="0"/>
              <a:t>not return anything</a:t>
            </a:r>
            <a:r>
              <a:rPr lang="en-US" dirty="0"/>
              <a:t>, use void.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ECC10-C933-1E94-7D3D-7C7B29D1DE7E}"/>
              </a:ext>
            </a:extLst>
          </p:cNvPr>
          <p:cNvSpPr txBox="1"/>
          <p:nvPr/>
        </p:nvSpPr>
        <p:spPr>
          <a:xfrm>
            <a:off x="838200" y="242377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static void display()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("Hello");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➡ Cannot use return value;</a:t>
            </a:r>
          </a:p>
          <a:p>
            <a:r>
              <a:rPr lang="en-IN" dirty="0"/>
              <a:t>➡ Only return; is allowed (optional)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158396-650C-B3B6-61C3-E49CC4DE8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255454"/>
              </p:ext>
            </p:extLst>
          </p:nvPr>
        </p:nvGraphicFramePr>
        <p:xfrm>
          <a:off x="5633720" y="2510081"/>
          <a:ext cx="6096000" cy="1463040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2158677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5775465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568440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return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void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88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Sends value 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128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in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37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store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8773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CE66DE6-C3AB-FDBA-490C-40455B9AE722}"/>
              </a:ext>
            </a:extLst>
          </p:cNvPr>
          <p:cNvSpPr txBox="1"/>
          <p:nvPr/>
        </p:nvSpPr>
        <p:spPr>
          <a:xfrm>
            <a:off x="3393440" y="4541406"/>
            <a:ext cx="6096000" cy="2134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Important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✔ Return type must match the value</a:t>
            </a:r>
            <a:br>
              <a:rPr lang="en-US" dirty="0"/>
            </a:br>
            <a:r>
              <a:rPr lang="en-US" dirty="0"/>
              <a:t>✔ A method can return only </a:t>
            </a:r>
            <a:r>
              <a:rPr lang="en-US" b="1" dirty="0"/>
              <a:t>one value</a:t>
            </a:r>
            <a:br>
              <a:rPr lang="en-US" dirty="0"/>
            </a:br>
            <a:r>
              <a:rPr lang="en-US" dirty="0"/>
              <a:t>✔ Code after </a:t>
            </a:r>
            <a:r>
              <a:rPr lang="en-US" dirty="0">
                <a:latin typeface="Courier New" panose="02070309020205020404" pitchFamily="49" charset="0"/>
              </a:rPr>
              <a:t>return</a:t>
            </a:r>
            <a:r>
              <a:rPr lang="en-US" dirty="0"/>
              <a:t> is not executed</a:t>
            </a:r>
            <a:br>
              <a:rPr lang="en-US" dirty="0"/>
            </a:br>
            <a:r>
              <a:rPr lang="en-US" dirty="0"/>
              <a:t>✔ </a:t>
            </a:r>
            <a:r>
              <a:rPr lang="en-US" dirty="0">
                <a:latin typeface="Courier New" panose="02070309020205020404" pitchFamily="49" charset="0"/>
              </a:rPr>
              <a:t>return</a:t>
            </a:r>
            <a:r>
              <a:rPr lang="en-US" dirty="0"/>
              <a:t> ends method execution</a:t>
            </a:r>
          </a:p>
        </p:txBody>
      </p:sp>
    </p:spTree>
    <p:extLst>
      <p:ext uri="{BB962C8B-B14F-4D97-AF65-F5344CB8AC3E}">
        <p14:creationId xmlns:p14="http://schemas.microsoft.com/office/powerpoint/2010/main" val="2130133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9DF75-2B43-9300-85FA-1B33A5592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Method WITHOUT Parameters &amp; WITHOUT Return Value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BC15-A0D2-5E24-3C03-26CFB2BF2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not take input</a:t>
            </a:r>
          </a:p>
          <a:p>
            <a:r>
              <a:rPr lang="en-US" dirty="0"/>
              <a:t>Does not return output</a:t>
            </a:r>
          </a:p>
          <a:p>
            <a:r>
              <a:rPr lang="en-US" dirty="0"/>
              <a:t>Just performs an action</a:t>
            </a:r>
          </a:p>
          <a:p>
            <a:endParaRPr lang="en-IN" dirty="0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B54A7C1-8FDC-2827-DF35-E55E1115D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52311"/>
            <a:ext cx="6620799" cy="3505689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24423A06-BF63-E167-BE90-65CA7F23F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393" y="5141327"/>
            <a:ext cx="380640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parameters inside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no return value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simple display tasks</a:t>
            </a:r>
          </a:p>
        </p:txBody>
      </p:sp>
    </p:spTree>
    <p:extLst>
      <p:ext uri="{BB962C8B-B14F-4D97-AF65-F5344CB8AC3E}">
        <p14:creationId xmlns:p14="http://schemas.microsoft.com/office/powerpoint/2010/main" val="2353477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B9374-8BF3-303D-9339-715989BB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Method WITH Parameters &amp; WITHOUT Return Value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8A942-5CCC-9946-17DC-047562BDC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Takes input values</a:t>
            </a:r>
          </a:p>
          <a:p>
            <a:r>
              <a:rPr lang="en-US"/>
              <a:t>Does not return any value</a:t>
            </a:r>
          </a:p>
          <a:p>
            <a:endParaRPr lang="en-IN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C5A6914-9058-68F5-F7B7-852B4B764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05148"/>
            <a:ext cx="6858957" cy="36009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7626D9-1360-321F-1AD6-7A757338D45A}"/>
              </a:ext>
            </a:extLst>
          </p:cNvPr>
          <p:cNvSpPr txBox="1"/>
          <p:nvPr/>
        </p:nvSpPr>
        <p:spPr>
          <a:xfrm>
            <a:off x="7990952" y="5665569"/>
            <a:ext cx="336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Parameters are passed</a:t>
            </a:r>
            <a:br>
              <a:rPr lang="en-US" dirty="0"/>
            </a:br>
            <a:r>
              <a:rPr lang="en-US" dirty="0"/>
              <a:t>✖ No return 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4964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CC8E-27E5-81B3-718E-7913DDBF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3: Method WITHOUT Parameters &amp; WITH Return Value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1D3BB-B1A6-BD15-2013-B4BAF2A7F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not take input</a:t>
            </a:r>
          </a:p>
          <a:p>
            <a:r>
              <a:rPr lang="en-US" dirty="0"/>
              <a:t>Returns a value</a:t>
            </a:r>
            <a:endParaRPr lang="en-IN" dirty="0"/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238852AC-D290-A463-E3AD-9936E3900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77" y="2885521"/>
            <a:ext cx="5820587" cy="39724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7CF175-97B0-3918-F92F-3278446D582A}"/>
              </a:ext>
            </a:extLst>
          </p:cNvPr>
          <p:cNvSpPr txBox="1"/>
          <p:nvPr/>
        </p:nvSpPr>
        <p:spPr>
          <a:xfrm>
            <a:off x="6658787" y="4871760"/>
            <a:ext cx="27113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Difference from Type 2:</a:t>
            </a:r>
          </a:p>
          <a:p>
            <a:pPr>
              <a:buNone/>
            </a:pPr>
            <a:r>
              <a:rPr lang="en-US" dirty="0"/>
              <a:t>✔ Returns a value</a:t>
            </a:r>
            <a:br>
              <a:rPr lang="en-US" dirty="0"/>
            </a:br>
            <a:r>
              <a:rPr lang="en-US" dirty="0"/>
              <a:t>✖ No parameters</a:t>
            </a:r>
          </a:p>
        </p:txBody>
      </p:sp>
    </p:spTree>
    <p:extLst>
      <p:ext uri="{BB962C8B-B14F-4D97-AF65-F5344CB8AC3E}">
        <p14:creationId xmlns:p14="http://schemas.microsoft.com/office/powerpoint/2010/main" val="2919025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FC838-8B05-7328-3C0D-E1AF98802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WITH Parameters &amp; WITH Return Value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EC9F5-C8A1-A64B-89DA-5A2D29F5C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Takes input</a:t>
            </a:r>
          </a:p>
          <a:p>
            <a:r>
              <a:rPr lang="en-IN" dirty="0"/>
              <a:t>Returns output</a:t>
            </a:r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FA0FD5D-84BE-6728-00FF-9C7AC1EF6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44463"/>
            <a:ext cx="5515745" cy="390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94731C-67BB-C947-78F4-E8EB226E2212}"/>
              </a:ext>
            </a:extLst>
          </p:cNvPr>
          <p:cNvSpPr txBox="1"/>
          <p:nvPr/>
        </p:nvSpPr>
        <p:spPr>
          <a:xfrm>
            <a:off x="6688241" y="5388570"/>
            <a:ext cx="32620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Difference from Type 3:</a:t>
            </a:r>
          </a:p>
          <a:p>
            <a:pPr>
              <a:buNone/>
            </a:pPr>
            <a:r>
              <a:rPr lang="en-US" dirty="0"/>
              <a:t>✔ Takes parameters</a:t>
            </a:r>
            <a:br>
              <a:rPr lang="en-US" dirty="0"/>
            </a:br>
            <a:r>
              <a:rPr lang="en-US" dirty="0"/>
              <a:t>✔ Returns value</a:t>
            </a:r>
          </a:p>
        </p:txBody>
      </p:sp>
    </p:spTree>
    <p:extLst>
      <p:ext uri="{BB962C8B-B14F-4D97-AF65-F5344CB8AC3E}">
        <p14:creationId xmlns:p14="http://schemas.microsoft.com/office/powerpoint/2010/main" val="3969220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3445-D00F-40C9-0EE0-7B7B5C6FC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STATIC KEYWORD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C832F-4490-2296-0132-E9070309D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static?</a:t>
            </a:r>
          </a:p>
          <a:p>
            <a:r>
              <a:rPr lang="en-US" dirty="0"/>
              <a:t>static means </a:t>
            </a:r>
            <a:r>
              <a:rPr lang="en-US" b="1" dirty="0"/>
              <a:t>belongs to the class</a:t>
            </a:r>
            <a:r>
              <a:rPr lang="en-US" dirty="0"/>
              <a:t>, not to the object.</a:t>
            </a:r>
          </a:p>
          <a:p>
            <a:r>
              <a:rPr lang="en-US" dirty="0"/>
              <a:t>A static method can be called </a:t>
            </a:r>
            <a:r>
              <a:rPr lang="en-US" b="1" dirty="0"/>
              <a:t>without creating an object</a:t>
            </a:r>
            <a:r>
              <a:rPr lang="en-US" dirty="0"/>
              <a:t>.</a:t>
            </a:r>
          </a:p>
          <a:p>
            <a:r>
              <a:rPr lang="en-US" dirty="0"/>
              <a:t>The main() method is always </a:t>
            </a:r>
            <a:r>
              <a:rPr lang="en-US" b="1" dirty="0"/>
              <a:t>static</a:t>
            </a:r>
            <a:r>
              <a:rPr lang="en-US" dirty="0"/>
              <a:t> because JVM must call it directly.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421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4F8F9-0CDF-5EC2-C9D4-F730DADCA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2B6E945-3F5B-5878-6D7D-756D33B4A5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8864477"/>
              </p:ext>
            </p:extLst>
          </p:nvPr>
        </p:nvGraphicFramePr>
        <p:xfrm>
          <a:off x="651387" y="4937763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8748819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17907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076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static void showMessage()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Declares a static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043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showMessage();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Called directly without creating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354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main()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Entry point of Java 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628953"/>
                  </a:ext>
                </a:extLst>
              </a:tr>
            </a:tbl>
          </a:graphicData>
        </a:graphic>
      </p:graphicFrame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802625C-BB84-7130-772F-B4E6CEE18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74" y="365125"/>
            <a:ext cx="7440063" cy="4572638"/>
          </a:xfrm>
          <a:prstGeom prst="rect">
            <a:avLst/>
          </a:prstGeom>
        </p:spPr>
      </p:pic>
      <p:pic>
        <p:nvPicPr>
          <p:cNvPr id="7" name="Picture 6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144468E5-5AA1-00B6-CC70-D2CF8C3A7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263" y="3970708"/>
            <a:ext cx="3353268" cy="7621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E4466E-79DD-6ADB-AD33-3BF77D41F93A}"/>
              </a:ext>
            </a:extLst>
          </p:cNvPr>
          <p:cNvSpPr txBox="1"/>
          <p:nvPr/>
        </p:nvSpPr>
        <p:spPr>
          <a:xfrm>
            <a:off x="412955" y="64210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✔ No object is required because both methods are </a:t>
            </a:r>
            <a:r>
              <a:rPr lang="en-US" dirty="0">
                <a:latin typeface="Courier New" panose="02070309020205020404" pitchFamily="49" charset="0"/>
              </a:rPr>
              <a:t>static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5442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EC58-90D6-B1D7-3BA5-776606F60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NON-STATIC METHOD (OBJECT REQUIRED)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F4272-F3BA-9336-FA92-2AFB8BEB1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502"/>
            <a:ext cx="10515600" cy="4351338"/>
          </a:xfrm>
        </p:spPr>
        <p:txBody>
          <a:bodyPr/>
          <a:lstStyle/>
          <a:p>
            <a:r>
              <a:rPr lang="en-US" dirty="0"/>
              <a:t>Non-static methods belong to an object</a:t>
            </a:r>
          </a:p>
          <a:p>
            <a:r>
              <a:rPr lang="en-US" dirty="0"/>
              <a:t>You must create an object to call them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0B8B418-1B8B-2F3C-85AB-1BEF96B25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00016"/>
            <a:ext cx="6982375" cy="4294245"/>
          </a:xfrm>
          <a:prstGeom prst="rect">
            <a:avLst/>
          </a:prstGeom>
        </p:spPr>
      </p:pic>
      <p:pic>
        <p:nvPicPr>
          <p:cNvPr id="8" name="Picture 7" descr="A close-up of a word&#10;&#10;AI-generated content may be incorrect.">
            <a:extLst>
              <a:ext uri="{FF2B5EF4-FFF2-40B4-BE49-F238E27FC236}">
                <a16:creationId xmlns:a16="http://schemas.microsoft.com/office/drawing/2014/main" id="{7475CB25-F663-A8B6-7B46-04A837497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575" y="4798221"/>
            <a:ext cx="3953427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1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559F53-972A-060E-BF6A-EEA121AD70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0589024"/>
              </p:ext>
            </p:extLst>
          </p:nvPr>
        </p:nvGraphicFramePr>
        <p:xfrm>
          <a:off x="838200" y="1205000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5617647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057750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Statement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451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Demo obj = new Demo();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Object 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912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obj.display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();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Method call using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187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display()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Non-static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1517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16B7304-5C59-56E2-9246-00BD2AB3BC42}"/>
              </a:ext>
            </a:extLst>
          </p:cNvPr>
          <p:cNvSpPr txBox="1"/>
          <p:nvPr/>
        </p:nvSpPr>
        <p:spPr>
          <a:xfrm>
            <a:off x="838200" y="3163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Without object → non-static methods cannot be accessed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633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A1148-298E-22F5-D77D-0F533978E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WITH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25679-23DA-8D00-BFC9-DC1E3FEBF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1451999"/>
            <a:ext cx="10515600" cy="4351338"/>
          </a:xfrm>
        </p:spPr>
        <p:txBody>
          <a:bodyPr/>
          <a:lstStyle/>
          <a:p>
            <a:r>
              <a:rPr lang="en-US" dirty="0"/>
              <a:t>Parameters allow data to be passed to a method.</a:t>
            </a:r>
          </a:p>
          <a:p>
            <a:r>
              <a:rPr lang="en-US" dirty="0"/>
              <a:t>Helps make programs dynamic.</a:t>
            </a:r>
          </a:p>
          <a:p>
            <a:endParaRPr lang="en-IN" dirty="0"/>
          </a:p>
        </p:txBody>
      </p:sp>
      <p:pic>
        <p:nvPicPr>
          <p:cNvPr id="6" name="Picture 5" descr="A computer code with colorful text&#10;&#10;AI-generated content may be incorrect.">
            <a:extLst>
              <a:ext uri="{FF2B5EF4-FFF2-40B4-BE49-F238E27FC236}">
                <a16:creationId xmlns:a16="http://schemas.microsoft.com/office/drawing/2014/main" id="{2F23B24C-80A1-FCAE-5B23-A87DBC1D1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7" y="2485143"/>
            <a:ext cx="6210477" cy="4372857"/>
          </a:xfrm>
          <a:prstGeom prst="rect">
            <a:avLst/>
          </a:prstGeom>
        </p:spPr>
      </p:pic>
      <p:pic>
        <p:nvPicPr>
          <p:cNvPr id="8" name="Picture 7" descr="A number equation with numbers and a few black lines&#10;&#10;AI-generated content may be incorrect.">
            <a:extLst>
              <a:ext uri="{FF2B5EF4-FFF2-40B4-BE49-F238E27FC236}">
                <a16:creationId xmlns:a16="http://schemas.microsoft.com/office/drawing/2014/main" id="{E8510887-63BF-B863-35E4-F0E5B9272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690" y="5050625"/>
            <a:ext cx="1933845" cy="1181265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8D920AAA-4C57-A7D7-18A6-AA2BCCE95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3893" y="3367445"/>
            <a:ext cx="444990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parameters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 are passed during method call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method reused multiple times</a:t>
            </a:r>
          </a:p>
        </p:txBody>
      </p:sp>
    </p:spTree>
    <p:extLst>
      <p:ext uri="{BB962C8B-B14F-4D97-AF65-F5344CB8AC3E}">
        <p14:creationId xmlns:p14="http://schemas.microsoft.com/office/powerpoint/2010/main" val="1493766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90F37-D3D9-94EB-EEF4-BE8A6AFA7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WITH RETURN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2E2A2-712A-26CD-BC55-A881F386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587" y="136340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method can return a value using return</a:t>
            </a:r>
          </a:p>
          <a:p>
            <a:pPr marL="0" indent="0">
              <a:buNone/>
            </a:pPr>
            <a:r>
              <a:rPr lang="en-US" dirty="0"/>
              <a:t>Returned value must match return type</a:t>
            </a:r>
            <a:endParaRPr lang="en-IN" dirty="0"/>
          </a:p>
        </p:txBody>
      </p:sp>
      <p:pic>
        <p:nvPicPr>
          <p:cNvPr id="6" name="Picture 5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D9FB2D1E-C9C8-85C2-2E5D-98C4D9668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87" y="2415582"/>
            <a:ext cx="6275749" cy="4297433"/>
          </a:xfrm>
          <a:prstGeom prst="rect">
            <a:avLst/>
          </a:prstGeom>
        </p:spPr>
      </p:pic>
      <p:pic>
        <p:nvPicPr>
          <p:cNvPr id="8" name="Picture 7" descr="A black and yellow text&#10;&#10;AI-generated content may be incorrect.">
            <a:extLst>
              <a:ext uri="{FF2B5EF4-FFF2-40B4-BE49-F238E27FC236}">
                <a16:creationId xmlns:a16="http://schemas.microsoft.com/office/drawing/2014/main" id="{88808E7B-4DDD-E964-974B-ABA7A3703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574" y="5912803"/>
            <a:ext cx="1876687" cy="80021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E78B8CE-A7C8-BF2D-61EB-446F4E9BC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20281"/>
              </p:ext>
            </p:extLst>
          </p:nvPr>
        </p:nvGraphicFramePr>
        <p:xfrm>
          <a:off x="7437574" y="2971193"/>
          <a:ext cx="4411228" cy="1463040"/>
        </p:xfrm>
        <a:graphic>
          <a:graphicData uri="http://schemas.openxmlformats.org/drawingml/2006/table">
            <a:tbl>
              <a:tblPr/>
              <a:tblGrid>
                <a:gridCol w="2205614">
                  <a:extLst>
                    <a:ext uri="{9D8B030D-6E8A-4147-A177-3AD203B41FA5}">
                      <a16:colId xmlns:a16="http://schemas.microsoft.com/office/drawing/2014/main" val="1876326338"/>
                    </a:ext>
                  </a:extLst>
                </a:gridCol>
                <a:gridCol w="2205614">
                  <a:extLst>
                    <a:ext uri="{9D8B030D-6E8A-4147-A177-3AD203B41FA5}">
                      <a16:colId xmlns:a16="http://schemas.microsoft.com/office/drawing/2014/main" val="1016020029"/>
                    </a:ext>
                  </a:extLst>
                </a:gridCol>
              </a:tblGrid>
              <a:tr h="353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408646"/>
                  </a:ext>
                </a:extLst>
              </a:tr>
              <a:tr h="353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findSquare(6)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 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131282"/>
                  </a:ext>
                </a:extLst>
              </a:tr>
              <a:tr h="353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return n*n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Sends value 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454285"/>
                  </a:ext>
                </a:extLst>
              </a:tr>
              <a:tr h="353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result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Stores returned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191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045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6C111-B8FD-E38C-FFB1-B24FEC00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WITH PARAMETERS &amp; RETURN VALUE</a:t>
            </a:r>
            <a:endParaRPr lang="en-IN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BD14F88-66AD-6090-2146-35986E8F7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324612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19B4C4-E53D-79B8-BC74-788BA8AF6050}"/>
              </a:ext>
            </a:extLst>
          </p:cNvPr>
          <p:cNvSpPr txBox="1"/>
          <p:nvPr/>
        </p:nvSpPr>
        <p:spPr>
          <a:xfrm>
            <a:off x="8544232" y="5672694"/>
            <a:ext cx="2054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Average = 70.0</a:t>
            </a:r>
          </a:p>
        </p:txBody>
      </p:sp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C18018A-7D33-911F-4ADA-A90913B9F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812" y="1846406"/>
            <a:ext cx="3803697" cy="143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773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C154E-6860-F359-57B3-A9569014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56379-BAC8-05CA-5592-9AF631B1D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Same method name with:</a:t>
            </a:r>
          </a:p>
          <a:p>
            <a:r>
              <a:rPr lang="en-US" dirty="0"/>
              <a:t>Different number of parameters OR</a:t>
            </a:r>
          </a:p>
          <a:p>
            <a:r>
              <a:rPr lang="en-US" dirty="0"/>
              <a:t>Different data types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251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BED3-4DFD-9EDF-8E19-5A534877D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5B5D9-2691-E99C-3CC7-041B378C7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B6C8FE7-E52C-D789-5D2B-184A755FB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32" y="199574"/>
            <a:ext cx="7259063" cy="6458851"/>
          </a:xfrm>
          <a:prstGeom prst="rect">
            <a:avLst/>
          </a:prstGeom>
        </p:spPr>
      </p:pic>
      <p:pic>
        <p:nvPicPr>
          <p:cNvPr id="7" name="Picture 6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3A4D1598-AC4B-1206-6313-3C8E554B7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263" y="5448581"/>
            <a:ext cx="1181265" cy="12098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8066E1-A416-DB76-17EE-AE69B494D8F5}"/>
              </a:ext>
            </a:extLst>
          </p:cNvPr>
          <p:cNvSpPr txBox="1"/>
          <p:nvPr/>
        </p:nvSpPr>
        <p:spPr>
          <a:xfrm>
            <a:off x="8043584" y="2567519"/>
            <a:ext cx="33102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 decides which method to call based on 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is </a:t>
            </a:r>
            <a:r>
              <a:rPr lang="en-US" b="1" dirty="0"/>
              <a:t>compile-time polymorphism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537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9D2D-15F4-2ADA-4898-5FD479518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D6B7-9BF0-C1CC-17B4-4B775DA6C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Problem 1: Electricity Bill Calculation System </a:t>
            </a:r>
          </a:p>
          <a:p>
            <a:pPr marL="0" indent="0">
              <a:buNone/>
            </a:pPr>
            <a:r>
              <a:rPr lang="en-US" dirty="0"/>
              <a:t>An electricity board charges consumers based on the following slabs: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0EB2746-C16F-6FC5-A206-A43E6F2674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301428"/>
              </p:ext>
            </p:extLst>
          </p:nvPr>
        </p:nvGraphicFramePr>
        <p:xfrm>
          <a:off x="838200" y="2866652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257816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20497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Units Consumed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Rate per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519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First 100 units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366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Next 100 units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752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Above 200 units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₹4.00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0588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D35FDB7-E0EC-EB18-5C18-C0B2380F0293}"/>
              </a:ext>
            </a:extLst>
          </p:cNvPr>
          <p:cNvSpPr txBox="1"/>
          <p:nvPr/>
        </p:nvSpPr>
        <p:spPr>
          <a:xfrm>
            <a:off x="717754" y="4329692"/>
            <a:ext cx="9429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Write a Java program using </a:t>
            </a:r>
            <a:r>
              <a:rPr lang="en-US" b="1" dirty="0"/>
              <a:t>functions</a:t>
            </a:r>
            <a:r>
              <a:rPr lang="en-US" dirty="0"/>
              <a:t> to calculate and display the total electricity bill.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E5CEB2-0808-860E-FCB9-0147CC72B1E6}"/>
              </a:ext>
            </a:extLst>
          </p:cNvPr>
          <p:cNvSpPr txBox="1"/>
          <p:nvPr/>
        </p:nvSpPr>
        <p:spPr>
          <a:xfrm>
            <a:off x="776747" y="4684735"/>
            <a:ext cx="73446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method: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static double </a:t>
            </a:r>
            <a:r>
              <a:rPr lang="en-US" dirty="0" err="1">
                <a:latin typeface="Courier New" panose="02070309020205020404" pitchFamily="49" charset="0"/>
              </a:rPr>
              <a:t>calculateBill</a:t>
            </a:r>
            <a:r>
              <a:rPr lang="en-US" dirty="0">
                <a:latin typeface="Courier New" panose="02070309020205020404" pitchFamily="49" charset="0"/>
              </a:rPr>
              <a:t>(int units)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method should return the total bill amount.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>
                <a:latin typeface="Courier New" panose="02070309020205020404" pitchFamily="49" charset="0"/>
              </a:rPr>
              <a:t>main()</a:t>
            </a:r>
            <a:r>
              <a:rPr lang="en-US" dirty="0"/>
              <a:t>, take input from the user and print the bill.</a:t>
            </a:r>
          </a:p>
        </p:txBody>
      </p:sp>
    </p:spTree>
    <p:extLst>
      <p:ext uri="{BB962C8B-B14F-4D97-AF65-F5344CB8AC3E}">
        <p14:creationId xmlns:p14="http://schemas.microsoft.com/office/powerpoint/2010/main" val="1283629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A7BC-3ADE-1011-9C47-4B68A1AE3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2: ATM Transaction Simulation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90BDF-A077-78F4-4F19-C86FFA9522D3}"/>
              </a:ext>
            </a:extLst>
          </p:cNvPr>
          <p:cNvSpPr txBox="1"/>
          <p:nvPr/>
        </p:nvSpPr>
        <p:spPr>
          <a:xfrm>
            <a:off x="924232" y="1498852"/>
            <a:ext cx="83770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Design a Java program to simulate basic ATM operations using </a:t>
            </a:r>
            <a:r>
              <a:rPr lang="en-US" b="1" dirty="0"/>
              <a:t>functions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Operations:</a:t>
            </a:r>
          </a:p>
          <a:p>
            <a:pPr>
              <a:buFont typeface="+mj-lt"/>
              <a:buAutoNum type="arabicPeriod"/>
            </a:pPr>
            <a:r>
              <a:rPr lang="en-US" dirty="0"/>
              <a:t>Check Balance</a:t>
            </a:r>
          </a:p>
          <a:p>
            <a:pPr>
              <a:buFont typeface="+mj-lt"/>
              <a:buAutoNum type="arabicPeriod"/>
            </a:pPr>
            <a:r>
              <a:rPr lang="en-US" dirty="0"/>
              <a:t>Deposit Money</a:t>
            </a:r>
          </a:p>
          <a:p>
            <a:pPr>
              <a:buFont typeface="+mj-lt"/>
              <a:buAutoNum type="arabicPeriod"/>
            </a:pPr>
            <a:r>
              <a:rPr lang="en-US" dirty="0"/>
              <a:t>Withdraw Money</a:t>
            </a:r>
          </a:p>
          <a:p>
            <a:pPr>
              <a:buNone/>
            </a:pPr>
            <a:r>
              <a:rPr lang="en-US" b="1" dirty="0"/>
              <a:t>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balance = ₹10,000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Withdrawal amount should not exceed balance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Deposit and withdrawal should update balance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10A084-371C-2D8F-ED33-7E493AEB8184}"/>
              </a:ext>
            </a:extLst>
          </p:cNvPr>
          <p:cNvSpPr txBox="1"/>
          <p:nvPr/>
        </p:nvSpPr>
        <p:spPr>
          <a:xfrm>
            <a:off x="924232" y="408417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static double </a:t>
            </a:r>
            <a:r>
              <a:rPr lang="en-IN" dirty="0" err="1"/>
              <a:t>checkBalance</a:t>
            </a:r>
            <a:r>
              <a:rPr lang="en-IN" dirty="0"/>
              <a:t>(double balance)</a:t>
            </a:r>
          </a:p>
          <a:p>
            <a:r>
              <a:rPr lang="en-IN" dirty="0"/>
              <a:t>static double deposit(double balance, double amount)</a:t>
            </a:r>
          </a:p>
          <a:p>
            <a:r>
              <a:rPr lang="en-IN" dirty="0"/>
              <a:t>static double withdraw(double balance, double amount)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2972B9-555D-AC49-7BB4-4331F133423E}"/>
              </a:ext>
            </a:extLst>
          </p:cNvPr>
          <p:cNvSpPr txBox="1"/>
          <p:nvPr/>
        </p:nvSpPr>
        <p:spPr>
          <a:xfrm>
            <a:off x="924232" y="501554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Program Flow</a:t>
            </a:r>
          </a:p>
          <a:p>
            <a:pPr>
              <a:buFont typeface="+mj-lt"/>
              <a:buAutoNum type="arabicPeriod"/>
            </a:pPr>
            <a:r>
              <a:rPr lang="en-US" dirty="0"/>
              <a:t>Display menu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selects option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Appropriate method is called</a:t>
            </a:r>
          </a:p>
          <a:p>
            <a:pPr>
              <a:buFont typeface="+mj-lt"/>
              <a:buAutoNum type="arabicPeriod"/>
            </a:pPr>
            <a:r>
              <a:rPr lang="en-US" dirty="0"/>
              <a:t>Updated balance is shown</a:t>
            </a:r>
          </a:p>
        </p:txBody>
      </p:sp>
    </p:spTree>
    <p:extLst>
      <p:ext uri="{BB962C8B-B14F-4D97-AF65-F5344CB8AC3E}">
        <p14:creationId xmlns:p14="http://schemas.microsoft.com/office/powerpoint/2010/main" val="2895558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1033</Words>
  <Application>Microsoft Office PowerPoint</Application>
  <PresentationFormat>Widescreen</PresentationFormat>
  <Paragraphs>204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 Unicode MS</vt:lpstr>
      <vt:lpstr>Calibri</vt:lpstr>
      <vt:lpstr>Calibri Light</vt:lpstr>
      <vt:lpstr>Courier New</vt:lpstr>
      <vt:lpstr>Office Theme</vt:lpstr>
      <vt:lpstr>JAVA – Functions (Methods)</vt:lpstr>
      <vt:lpstr>What is a Function (Method)?</vt:lpstr>
      <vt:lpstr>Why Do We Need Methods?</vt:lpstr>
      <vt:lpstr>General Syntax of a Method</vt:lpstr>
      <vt:lpstr>Parts of a Method</vt:lpstr>
      <vt:lpstr>Calling a Method</vt:lpstr>
      <vt:lpstr>Types of Methods in Java</vt:lpstr>
      <vt:lpstr>What is a Return Value in Java?</vt:lpstr>
      <vt:lpstr>PowerPoint Presentation</vt:lpstr>
      <vt:lpstr>Method Without Return Value (void)</vt:lpstr>
      <vt:lpstr>1. Method WITHOUT Parameters &amp; WITHOUT Return Value</vt:lpstr>
      <vt:lpstr>2: Method WITH Parameters &amp; WITHOUT Return Value</vt:lpstr>
      <vt:lpstr>3: Method WITHOUT Parameters &amp; WITH Return Value</vt:lpstr>
      <vt:lpstr>Method WITH Parameters &amp; WITH Return Value</vt:lpstr>
      <vt:lpstr>STATIC KEYWORD IN JAVA</vt:lpstr>
      <vt:lpstr>PowerPoint Presentation</vt:lpstr>
      <vt:lpstr>NON-STATIC METHOD (OBJECT REQUIRED)</vt:lpstr>
      <vt:lpstr>PowerPoint Presentation</vt:lpstr>
      <vt:lpstr>METHOD WITH PARAMETERS</vt:lpstr>
      <vt:lpstr>METHOD WITH RETURN VALUE</vt:lpstr>
      <vt:lpstr>METHOD WITH PARAMETERS &amp; RETURN VALUE</vt:lpstr>
      <vt:lpstr>METHOD OVERLOADING</vt:lpstr>
      <vt:lpstr>PowerPoint Presentation</vt:lpstr>
      <vt:lpstr>Exercise </vt:lpstr>
      <vt:lpstr>Problem 2: ATM Transaction 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priyankahpi7@outlook.com</dc:creator>
  <cp:lastModifiedBy>priyankahpi7@outlook.com</cp:lastModifiedBy>
  <cp:revision>14</cp:revision>
  <dcterms:created xsi:type="dcterms:W3CDTF">2026-01-02T14:24:15Z</dcterms:created>
  <dcterms:modified xsi:type="dcterms:W3CDTF">2026-01-03T03:49:10Z</dcterms:modified>
</cp:coreProperties>
</file>